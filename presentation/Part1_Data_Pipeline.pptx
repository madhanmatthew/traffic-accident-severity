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400321d-29eb-472f-22d9-f79bffd17d28}">
          <p14:sldIdLst>
            <p14:sldId id="256"/>
            <p14:sldId id="257"/>
            <p14:sldId id="258"/>
          </p14:sldIdLst>
        </p14:section>
        <p14:section name="Data and architecture" id="{9a6c0ad0-cc32-e950-32f4-5cdc32fa4574}">
          <p14:sldIdLst>
            <p14:sldId id="259"/>
            <p14:sldId id="260"/>
            <p14:sldId id="261"/>
          </p14:sldIdLst>
        </p14:section>
        <p14:section name="How I solved the hard parts" id="{45eb1d48-aeff-3c5d-7658-8ecebbf26078}">
          <p14:sldIdLst>
            <p14:sldId id="262"/>
            <p14:sldId id="263"/>
            <p14:sldId id="264"/>
            <p14:sldId id="265"/>
          </p14:sldIdLst>
        </p14:section>
        <p14:section name="Results" id="{fed3f923-c021-7a36-b624-4bd8af39e3ee}">
          <p14:sldIdLst>
            <p14:sldId id="266"/>
            <p14:sldId id="267"/>
            <p14:sldId id="268"/>
          </p14:sldIdLst>
        </p14:section>
        <p14:section name="Wrap-up" id="{91e81c8f-7dab-238e-317e-ead7ab4de871}">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Severity</c:v>
                </c:pt>
              </c:strCache>
            </c:strRef>
          </c:tx>
          <c:spPr>
            <a:solidFill>
              <a:schemeClr val="accent1"/>
            </a:solidFill>
            <a:ln w="9525" cap="flat">
              <a:solidFill>
                <a:srgbClr val="F9F9F9"/>
              </a:solidFill>
              <a:prstDash val="solid"/>
              <a:round/>
            </a:ln>
            <a:effectLst/>
          </c:spPr>
          <c:dPt>
            <c:idx val="0"/>
            <c:bubble3D val="0"/>
            <c:spPr>
              <a:solidFill>
                <a:srgbClr val="6C757D"/>
              </a:solidFill>
              <a:effectLst/>
            </c:spPr>
          </c:dPt>
          <c:dPt>
            <c:idx val="1"/>
            <c:bubble3D val="0"/>
            <c:spPr>
              <a:solidFill>
                <a:srgbClr val="F2A900"/>
              </a:solidFill>
              <a:effectLst/>
            </c:spPr>
          </c:dPt>
          <c:dPt>
            <c:idx val="2"/>
            <c:bubble3D val="0"/>
            <c:spPr>
              <a:solidFill>
                <a:srgbClr val="C8323F"/>
              </a:solidFill>
              <a:effectLst/>
            </c:spPr>
          </c:dPt>
          <c:dLbls>
            <c:dLbl>
              <c:idx val="0"/>
              <c:numFmt formatCode="0.0&quot;%&quot;" sourceLinked="0"/>
              <c:spPr/>
              <c:txPr>
                <a:bodyPr/>
                <a:lstStyle/>
                <a:p>
                  <a:pPr>
                    <a:defRPr sz="1400" b="0" i="0" u="none" strike="noStrike">
                      <a:solidFill>
                        <a:srgbClr val="1B1F24"/>
                      </a:solidFill>
                      <a:latin typeface="+mn-lt"/>
                    </a:defRPr>
                  </a:pPr>
                </a:p>
              </c:txPr>
              <c:showLegendKey val="0"/>
              <c:showVal val="0"/>
              <c:showCatName val="0"/>
              <c:showSerName val="0"/>
              <c:showPercent val="0"/>
              <c:showBubbleSize val="0"/>
            </c:dLbl>
            <c:dLbl>
              <c:idx val="1"/>
              <c:numFmt formatCode="0.0&quot;%&quot;" sourceLinked="0"/>
              <c:spPr/>
              <c:txPr>
                <a:bodyPr/>
                <a:lstStyle/>
                <a:p>
                  <a:pPr>
                    <a:defRPr sz="1400" b="0" i="0" u="none" strike="noStrike">
                      <a:solidFill>
                        <a:srgbClr val="1B1F24"/>
                      </a:solidFill>
                      <a:latin typeface="+mn-lt"/>
                    </a:defRPr>
                  </a:pPr>
                </a:p>
              </c:txPr>
              <c:showLegendKey val="0"/>
              <c:showVal val="0"/>
              <c:showCatName val="0"/>
              <c:showSerName val="0"/>
              <c:showPercent val="0"/>
              <c:showBubbleSize val="0"/>
            </c:dLbl>
            <c:dLbl>
              <c:idx val="2"/>
              <c:numFmt formatCode="0.0&quot;%&quot;" sourceLinked="0"/>
              <c:spPr/>
              <c:txPr>
                <a:bodyPr/>
                <a:lstStyle/>
                <a:p>
                  <a:pPr>
                    <a:defRPr sz="1400" b="0" i="0" u="none" strike="noStrike">
                      <a:solidFill>
                        <a:srgbClr val="1B1F24"/>
                      </a:solidFill>
                      <a:latin typeface="+mn-lt"/>
                    </a:defRPr>
                  </a:pPr>
                </a:p>
              </c:txPr>
              <c:showLegendKey val="0"/>
              <c:showVal val="0"/>
              <c:showCatName val="0"/>
              <c:showSerName val="0"/>
              <c:showPercent val="0"/>
              <c:showBubbleSize val="0"/>
            </c:dLbl>
            <c:numFmt formatCode="0.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Slight 75.6%</c:v>
                </c:pt>
                <c:pt idx="1">
                  <c:v>Serious 22.9%</c:v>
                </c:pt>
                <c:pt idx="2">
                  <c:v>Fatal 1.5%</c:v>
                </c:pt>
              </c:strCache>
            </c:strRef>
          </c:cat>
          <c:val>
            <c:numRef>
              <c:f>Sheet1!$B$2:$B$4</c:f>
              <c:numCache>
                <c:ptCount val="3"/>
                <c:pt idx="0">
                  <c:v>75.6</c:v>
                </c:pt>
                <c:pt idx="1">
                  <c:v>22.9</c:v>
                </c:pt>
                <c:pt idx="2">
                  <c:v>1.5</c:v>
                </c:pt>
              </c:numCache>
            </c:numRef>
          </c:val>
        </c:ser>
        <c:firstSliceAng val="0"/>
        <c:holeSize val="55"/>
      </c:doughnutChart>
      <c:spPr>
        <a:noFill/>
        <a:ln>
          <a:noFill/>
        </a:ln>
        <a:effectLst/>
      </c:spPr>
    </c:plotArea>
    <c:legend>
      <c:legendPos val="r"/>
      <c:overlay val="0"/>
      <c:txPr>
        <a:bodyPr/>
        <a:lstStyle/>
        <a:p>
          <a:pPr>
            <a:defRPr sz="1600">
              <a:solidFill>
                <a:srgbClr val="1B1F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6C757D"/>
                </a:solidFill>
                <a:latin typeface="+mn-lt"/>
              </a:defRPr>
            </a:pPr>
            <a:r>
              <a:rPr sz="1300" b="0" i="0" u="none" strike="noStrike">
                <a:solidFill>
                  <a:srgbClr val="6C757D"/>
                </a:solidFill>
                <a:latin typeface="+mn-lt"/>
              </a:rPr>
              <a:t>KSI rate by condition (share of collisions that are fatal or serious)</a:t>
            </a:r>
          </a:p>
        </c:rich>
      </c:tx>
      <c:layout/>
      <c:overlay val="0"/>
    </c:title>
    <c:autoTitleDeleted val="0"/>
    <c:plotArea>
      <c:layout/>
      <c:barChart>
        <c:barDir val="bar"/>
        <c:grouping val="clustered"/>
        <c:varyColors val="0"/>
        <c:ser>
          <c:idx val="0"/>
          <c:order val="0"/>
          <c:tx>
            <c:strRef>
              <c:f>Sheet1!$B$1</c:f>
              <c:strCache>
                <c:ptCount val="1"/>
                <c:pt idx="0">
                  <c:v>KSI rate %</c:v>
                </c:pt>
              </c:strCache>
            </c:strRef>
          </c:tx>
          <c:spPr>
            <a:solidFill>
              <a:srgbClr val="6C757D"/>
            </a:solidFill>
            <a:effectLst/>
          </c:spPr>
          <c:invertIfNegative val="0"/>
          <c:dLbls>
            <c:numFmt formatCode="0.0&quot;%&quot;"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dPt>
            <c:idx val="0"/>
            <c:invertIfNegative val="0"/>
            <c:bubble3D val="0"/>
            <c:spPr>
              <a:solidFill>
                <a:srgbClr val="6C757D"/>
              </a:solidFill>
              <a:effectLst/>
            </c:spPr>
          </c:dPt>
          <c:dPt>
            <c:idx val="1"/>
            <c:invertIfNegative val="0"/>
            <c:bubble3D val="0"/>
            <c:spPr>
              <a:solidFill>
                <a:srgbClr val="6C757D"/>
              </a:solidFill>
              <a:effectLst/>
            </c:spPr>
          </c:dPt>
          <c:dPt>
            <c:idx val="2"/>
            <c:invertIfNegative val="0"/>
            <c:bubble3D val="0"/>
            <c:spPr>
              <a:solidFill>
                <a:srgbClr val="6C757D"/>
              </a:solidFill>
              <a:effectLst/>
            </c:spPr>
          </c:dPt>
          <c:dPt>
            <c:idx val="3"/>
            <c:invertIfNegative val="0"/>
            <c:bubble3D val="0"/>
            <c:spPr>
              <a:solidFill>
                <a:srgbClr val="6C757D"/>
              </a:solidFill>
              <a:effectLst/>
            </c:spPr>
          </c:dPt>
          <c:dPt>
            <c:idx val="4"/>
            <c:invertIfNegative val="0"/>
            <c:bubble3D val="0"/>
            <c:spPr>
              <a:solidFill>
                <a:srgbClr val="6C757D"/>
              </a:solidFill>
              <a:effectLst/>
            </c:spPr>
          </c:dPt>
          <c:dPt>
            <c:idx val="5"/>
            <c:invertIfNegative val="0"/>
            <c:bubble3D val="0"/>
            <c:spPr>
              <a:solidFill>
                <a:srgbClr val="6C757D"/>
              </a:solidFill>
              <a:effectLst/>
            </c:spPr>
          </c:dPt>
          <c:dPt>
            <c:idx val="6"/>
            <c:invertIfNegative val="0"/>
            <c:bubble3D val="0"/>
            <c:spPr>
              <a:solidFill>
                <a:srgbClr val="C8323F"/>
              </a:solidFill>
              <a:effectLst/>
            </c:spPr>
          </c:dPt>
          <c:dPt>
            <c:idx val="7"/>
            <c:invertIfNegative val="0"/>
            <c:bubble3D val="0"/>
            <c:spPr>
              <a:solidFill>
                <a:srgbClr val="C8323F"/>
              </a:solidFill>
              <a:effectLst/>
            </c:spPr>
          </c:dPt>
          <c:dPt>
            <c:idx val="8"/>
            <c:invertIfNegative val="0"/>
            <c:bubble3D val="0"/>
            <c:spPr>
              <a:solidFill>
                <a:srgbClr val="C8323F"/>
              </a:solidFill>
              <a:effectLst/>
            </c:spPr>
          </c:dPt>
          <c:dPt>
            <c:idx val="9"/>
            <c:invertIfNegative val="0"/>
            <c:bubble3D val="0"/>
            <c:spPr>
              <a:solidFill>
                <a:srgbClr val="C8323F"/>
              </a:solidFill>
              <a:effectLst/>
            </c:spPr>
          </c:dPt>
          <c:cat>
            <c:multiLvlStrRef>
              <c:f>Sheet1!$A$2:$A$11</c:f>
              <c:multiLvlStrCache>
                <c:ptCount val="10"/>
                <c:lvl>
                  <c:pt idx="0">
                    <c:v>20 mph limit</c:v>
                  </c:pt>
                  <c:pt idx="1">
                    <c:v>Urban</c:v>
                  </c:pt>
                  <c:pt idx="2">
                    <c:v>Morning peak</c:v>
                  </c:pt>
                  <c:pt idx="3">
                    <c:v>Heavy rain (&gt;2 mm/h)</c:v>
                  </c:pt>
                  <c:pt idx="4">
                    <c:v>Daylight</c:v>
                  </c:pt>
                  <c:pt idx="5">
                    <c:v>Dry</c:v>
                  </c:pt>
                  <c:pt idx="6">
                    <c:v>Rural</c:v>
                  </c:pt>
                  <c:pt idx="7">
                    <c:v>Night 00–05h</c:v>
                  </c:pt>
                  <c:pt idx="8">
                    <c:v>60 mph limit</c:v>
                  </c:pt>
                  <c:pt idx="9">
                    <c:v>Dark, no street lights</c:v>
                  </c:pt>
                </c:lvl>
              </c:multiLvlStrCache>
            </c:multiLvlStrRef>
          </c:cat>
          <c:val>
            <c:numRef>
              <c:f>Sheet1!$B$2:$B$11</c:f>
              <c:numCache>
                <c:formatCode>General</c:formatCode>
                <c:ptCount val="10"/>
                <c:pt idx="0">
                  <c:v>19.7</c:v>
                </c:pt>
                <c:pt idx="1">
                  <c:v>21.9</c:v>
                </c:pt>
                <c:pt idx="2">
                  <c:v>21.9</c:v>
                </c:pt>
                <c:pt idx="3">
                  <c:v>22.5</c:v>
                </c:pt>
                <c:pt idx="4">
                  <c:v>23.3</c:v>
                </c:pt>
                <c:pt idx="5">
                  <c:v>24.6</c:v>
                </c:pt>
                <c:pt idx="6">
                  <c:v>29.4</c:v>
                </c:pt>
                <c:pt idx="7">
                  <c:v>30.5</c:v>
                </c:pt>
                <c:pt idx="8">
                  <c:v>34.3</c:v>
                </c:pt>
                <c:pt idx="9">
                  <c:v>34.5</c:v>
                </c:pt>
              </c:numCache>
            </c:numRef>
          </c:val>
        </c:ser>
        <c:dLbls>
          <c:numFmt formatCode="0.0&quot;%&quot;" sourceLinked="0"/>
          <c:txPr>
            <a:bodyPr/>
            <a:lstStyle/>
            <a:p>
              <a:pPr>
                <a:defRPr b="0" i="0" strike="noStrike" sz="1200" u="none">
                  <a:solidFill>
                    <a:srgbClr val="1B1F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F24"/>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Madhan Matthew S, USN 1CR23AI052, from 7A AIML. My project is Project 4: Traffic Accident Severity Analytics and Prediction. It has two parts. Today, in Part 1, I'll explain the data pipeline.
In one sentence: I built an automated pipeline that downloads every police-reported road collision in Great Britain for 2023 and 2024, adds the real measured weather at the time of each crash, checks and cleans the data, stores it in a proper data warehouse, and shows the patterns on a dashboard.
The cleaned output of this part is also the input for Part 2, where I train a machine-learning model to predict how severe a collision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why does this matter?
Great Britain records around 100,000 road collisions with injuries every year. About one in four of them kills or seriously injures someone. We call that KSI: Killed or Seriously Injured. That is the main road-safety measure the UK government uses.
Road-safety teams want to know when, where and under which conditions a collision becomes severe, so they can decide where to put speed cameras, street lighting, or gritting in winter.
The problem is the data. The police records describe the weather only as the officer saw it, like "raining" or "fine". They don't have measured values like temperature or millimetres of rain. And the data is spread across three separate files: collisions, vehicles and casualties.
So my job was to bring all of this together into one reliable, automated system. I covered 205,185 collisions over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my five objectives.
One: Ingest. Download the public collision data and enrich every collision with hourly weather.
Two: Validate. Check the data with clear rules and keep a record of every row I reject, and why.
Three: Store. Put the data into a warehouse that understands both time and location, so we can ask "where" and "when" questions quickly.
Four: Visualise. Build a dashboard so anyone can explore the patterns.
Five: Prepare for machine learning. Produce a clean, model-ready table for Part 2. The important word here is "leakage-free". I'll explain that later.
And the whole thing had to be automated and repeatable, not a one-off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two open data sources.
The first is STATS19. This is the official road-safety dataset from the UK Department for Transport. Every injury collision the police record goes into it. It comes as three CSV files per year: collisions, vehicles and casualties. They are linked by a collision ID. For two years that's six files and about 840,000 rows.
The second is Open-Meteo. It's a free historical weather API, and it doesn't need an API key. For every location and hour it gives the temperature, precipitation, rain, snowfall, wind speed and gusts, cloud cover and humidity. I downloaded just over one million hourly weather rows.
Both are open licences, and there is no personal data. Any database passwords come only from environment variables. They are never written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The data moves through layers from left to right, and each layer has one job.
Raw: an exact copy of what I downloaded. I never change it, so I can always go back to the original.
Staging: here I harmonise column names and fix data types. One real issue: in the 2024 files the Department for Transport renamed the columns from "accident" to "collision". Staging maps both versions to the same names, so the rest of the pipeline doesn't break.
Cleaned: this is where the 22 validation rules run.
Analytics: here I add the weather, create the features, and build the star schema tables.
Warehouse: PostgreSQL with the PostGIS extension for location queries.
Then the dashboard and the machine-learning table for Part 2 read from the warehouse.
Each layer is saved as Parquet files in its own folder per run, so I can open and inspect every intermediate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Apache Airflow automates the pipeline. It's a workflow scheduler: you define the tasks and the order they run in, and Airflow runs them on a schedule, retries failures and shows logs.
My DAG has ten tasks, from extract STATS19 through to publish run log. It runs automatically at 2 a.m. on the first of every month.
The key design idea is idempotency. That means you can run a task again and get the same result without breaking anything. Every task gets the same run ID, and the tasks pass data through run-specific folders instead of through Airflow's memory. So if one task fails, I can re-run just that task.
Retries: each task retries twice. The weather task retries three times, with 30-minute gaps, because of API limits.
And the last task, publish run log, runs even if something earlier failed. That way failed runs are also recorded in the warehouse.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biggest technical challenge in Part 1.
To match weather to each collision, I divided Great Britain into a grid. Every collision is "snapped" to its grid cell, and I download hourly weather for each cell.
My first design used a fine half-degree grid: 192 cells. But Open-Meteo's free tier charges each request by the number of locations times the number of days. That design would have cost about 10,000 weighted calls. The API started returning HTTP 429, which means "Too Many Requests". My retry logic handled it, but it would have taken far too long.
So I changed the design. First, a one-degree grid: 59 cells, which is about 3,000 calls. Second, the code calculates the weight of every request in advance and sleeps just enough to stay under 500 calls per minute. Third, after any 429 it waits at least 65 seconds.
I also designed a safe failure path. If a weather request still fails, it's logged as FAILED and the pipeline continues. Those collisions still keep the police-recorded weather. So a weather problem degrades the enrichment, but it never stops the warehouse refresh.
Result: 117 weather responses, over one million hourly rows, zero failures, in about seven minutes. Every single collision was matched to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data quality. I wrote 22 validation rules. They check things like missing IDs, duplicates, invalid dates and times, a severity that isn't 1, 2 or 3, missing coordinates or coordinates outside the UK, impossible speed limits, orphaned vehicle or casualty records, unrealistic ages, and impossible weather values.
Every rule takes one of two actions. REJECT removes the whole row, for example a collision with no location. NULLIFY keeps the row but blanks one bad value, for example a driver age of 150.
Every rule hit is written to a rejected-records file and a database table: which record, which rule, which field, what value, and from which file. So nothing disappears silently.
There's also a quality gate. If more than 5 percent of collisions are rejected, the whole run fails. That stops a broken source file from ever reaching the warehouse.
On the real data, only 46 records were rejected: 12 collisions with no coordinates, plus the 34 vehicles and casualties attached to them. That's 0.006 percent. The government data is well curated, so here the rules are mainly safeguards for future monthly refreshes.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cleaning, the transform step makes the data useful.
Standardise: I build a proper date-time and derive the hour, weekday, month, season and time band. The data stores categories as numeric codes. For example, light conditions code 6 means "darkness, no lighting". I map more than 20 coded fields to readable labels. If an unknown code ever appears, it becomes "Unknown (code N)" instead of crashing the pipeline.
Weather join: each collision is joined to its grid cell's weather for that hour. I enforced a many-to-one check, so one weather hour can never duplicate a collision. The match rate was 100 percent.
Vehicle and casualty features: for each collision I calculate things like whether a motorcycle, bicycle, bus or goods vehicle was involved, whether a pedestrian was hurt, and the youngest driver's age.
Finally, the ML-ready table: 205,173 rows and 44 columns. The key point is that it only contains information that is known at the moment a collision is reported. I deliberately removed casualty severity counts and police attendance, because those are only known after the outcome. If they were left in, the model would effectively be seeing the answer. That's called target leakage, and it makes a model look great in testing but useless in real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storage I used a star schema. It's the standard design for analytical warehouses.
In the middle is the fact table, fact_accident: one row per collision with the measurements. Around it are dimension tables that describe the context: date, time of day, location, road, weather and severity. With this design, a question like "KSI rate on rural roads at night in the rain" is just a simple join. There are also fact tables for vehicles and casualties.
On top of that I built an accident mart. These are pre-aggregated tables by hour, by day, by road type, by condition, and a hotspot grid. They make the dashboard fast.
PostGIS adds real geographic point columns with a spatial index, so the warehouse can do radius and hotspot queries.
After loading, a verify step reconciles the row counts of all 16 tables against the Parquet files and checks the foreign keys. The run loaded over a million rows in 51 seconds.
All the tables come from one SQLAlchemy schema definition. That same definition also generates the SQL DDL and the data dictionary, so the documentation can never drift away from the real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the data useful for people, I built a Streamlit dashboard that queries the star schema.
On the left are filters for year, nation, urban or rural, police force and severity. At the top are six KPIs: total collisions, fatal, serious, the KSI rate, casualties and the weather match rate.
It has six tabs. Severity distribution and monthly trend. Time patterns, including an hour-by-weekday heat map. Weather and road conditions, where you pick a factor and see its volume and KSI rate. A hotspot map. Vehicles and casualties. And a pipeline and data-quality tab that shows the run logs and the rejected records, so the audit trail is visible to users too.
[If possible, switch to the live dashboard here and show the hotspot map and the conditions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findings, starting with the most important one.
Severity is very imbalanced. 75.6 percent of collisions are slight, 22.9 percent serious and only 1.5 percent fatal. So about one in four collisions is KSI.
This matters a lot for Part 2. A machine-learning model trained on this data can just predict "slight" every time and still look about 76 percent accurate. Handling this imbalance is the main modelling challenge, and I'll show how I dealt with it in Part 2.
On volume: collisions peak in the weekday evening rush hour, from 3 to 6 p.m. Friday is the busiest day with 33,600 collisions, and Sunday is the quietest with 23,100.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favourite finding. The chart shows the KSI rate, meaning the share of collisions that are fatal or serious, under different conditions.
The red bars are the most dangerous conditions. Darkness with no street lighting: 34.5 percent KSI, compared with 23.3 percent in daylight. 60 mph roads: 34.3 percent, compared with 19.7 percent on 20 mph roads. Night-time between midnight and 5 a.m.: 30.5 percent. Rural roads: 29.4 percent, against 21.9 percent urban.
An interesting one is rain. Heavy rain increases the number of collisions, but the KSI rate actually drops slightly, 22.5 versus 24.6 when it's dry. This makes sense, because people drive slower in bad weather.
Also, 31 percent of pedestrian casualties are KSI, compared with 20 percent of drivers and riders. And the five busiest 5 km hotspot cells are all in central London.
So the conclusion for road safety is that the conditions that make crashes frequent, urban rush hour, are different from the ones that make them severe: unlit, rural, high-speed roads at night. They need different interventions. This also motivates Part 2: predicting severity is a different problem from predicting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engineering practices that make the pipeline trustworthy.
Full audit trail: every download, step and rejection is logged both as CSV and in database tables.
Quality gate: bad data stops the run instead of reaching users.
Load verification: row counts and foreign keys are checked after every load.
Safe re-runs: tasks are idempotent, and the annual raw files are cached, so a monthly refresh doesn't download everything again.
Single source of truth: the schema is defined once in code, and the DDL and data dictionary are generated from it.
Tested and containerised: 12 pytest tests cover the rules, joins, banding, keys and calendar. Docker Compose starts PostGIS, Airflow and the dashboard with one command. And no credentials are ever stored in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want to be honest about the limitations.
First, the one-degree weather grid gives regional weather, not street-level weather. A finer grid is supported in the code, but it needs about three times more API quota, or a paid tier.
Second, STATS19 only includes injury collisions that the police recorded, and some severity misclassification is known.
Third, I don't have traffic-volume data. So my rates are "the share of collisions that are severe", not "risk per vehicle-kilometre".
For future work: add OpenStreetMap road context like lighting and number of lanes, switch to incremental loads instead of a full refresh, and add formal data contracts with a tool like Great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Part 1.
What I built: an automated monthly Airflow pipeline that takes two open data sources, about 1.9 million input rows, through raw, staging, cleaned and analytics layers into a PostGIS star schema and a dashboard.
What I solved: API rate limits, by redesigning the weather grid and pacing requests. Schema changes between years, by harmonising in staging. And data quality, with 22 rules, a quality gate and a full audit trail.
What I delivered: clear road-safety insights, and a leakage-free, model-ready table that is the starting point for Part 2.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232A33"/>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8412480" cy="411480"/>
          </a:xfrm>
          <a:prstGeom prst="rect">
            <a:avLst/>
          </a:prstGeom>
          <a:noFill/>
          <a:ln/>
        </p:spPr>
        <p:txBody>
          <a:bodyPr wrap="square" rtlCol="0"/>
          <a:lstStyle>
            <a:lvl1pPr indent="0" marL="0">
              <a:buNone/>
              <a:defRPr lang="en-US" sz="1400" b="1" spc="2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731520" y="1920240"/>
            <a:ext cx="822960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731520" y="3931920"/>
            <a:ext cx="7863840" cy="11887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Dark">
    <p:bg>
      <p:bgPr>
        <a:solidFill>
          <a:srgbClr val="232A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Project 4 · Part 1 – Data pipeline</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4.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2-1.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3-1.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body" hasCustomPrompt="1"/>
          </p:nvPr>
        </p:nvSpPr>
        <p:spPr>
          <a:xfrm>
            <a:off x="731520" y="1417320"/>
            <a:ext cx="8412480" cy="411480"/>
          </a:xfrm>
          <a:prstGeom prst="rect">
            <a:avLst/>
          </a:prstGeom>
          <a:noFill/>
          <a:ln/>
        </p:spPr>
        <p:txBody>
          <a:bodyPr wrap="square" lIns="0" tIns="0" rIns="0" bIns="0" rtlCol="0"/>
          <a:lstStyle/>
          <a:p>
            <a:pPr indent="0" marL="0">
              <a:buNone/>
            </a:pPr>
            <a:r>
              <a:rPr lang="en-US" sz="1400" b="1" spc="200" kern="0" dirty="0">
                <a:solidFill>
                  <a:schemeClr val="accent1"/>
                </a:solidFill>
              </a:rPr>
              <a:t>PROJECT 4  ·  DATA ENGINEERING AND MLOPS  ·  PART 1</a:t>
            </a:r>
            <a:endParaRPr lang="en-US" sz="1400" dirty="0"/>
          </a:p>
        </p:txBody>
      </p:sp>
      <p:sp>
        <p:nvSpPr>
          <p:cNvPr id="4" name="Text 0"/>
          <p:cNvSpPr/>
          <p:nvPr>
            <p:ph idx="101" type="title" hasCustomPrompt="1"/>
          </p:nvPr>
        </p:nvSpPr>
        <p:spPr>
          <a:xfrm>
            <a:off x="731520" y="1920240"/>
            <a:ext cx="8229600" cy="1828800"/>
          </a:xfrm>
          <a:prstGeom prst="rect">
            <a:avLst/>
          </a:prstGeom>
          <a:noFill/>
          <a:ln/>
        </p:spPr>
        <p:txBody>
          <a:bodyPr wrap="square" lIns="0" tIns="0" rIns="0" bIns="0" rtlCol="0" anchor="t"/>
          <a:lstStyle/>
          <a:p>
            <a:pPr algn="l" indent="0" marL="0">
              <a:buNone/>
            </a:pPr>
            <a:r>
              <a:rPr lang="en-US" sz="4400" b="1" dirty="0">
                <a:solidFill>
                  <a:schemeClr val="bg1"/>
                </a:solidFill>
              </a:rPr>
              <a:t>Traffic Accident Severity Analytics</a:t>
            </a:r>
            <a:endParaRPr lang="en-US" sz="4400" dirty="0"/>
          </a:p>
        </p:txBody>
      </p:sp>
      <p:sp>
        <p:nvSpPr>
          <p:cNvPr id="5" name="Text 0"/>
          <p:cNvSpPr/>
          <p:nvPr>
            <p:ph idx="102" type="body" hasCustomPrompt="1"/>
          </p:nvPr>
        </p:nvSpPr>
        <p:spPr>
          <a:xfrm>
            <a:off x="731520" y="3931920"/>
            <a:ext cx="7863840" cy="1188720"/>
          </a:xfrm>
          <a:prstGeom prst="rect">
            <a:avLst/>
          </a:prstGeom>
          <a:noFill/>
          <a:ln/>
        </p:spPr>
        <p:txBody>
          <a:bodyPr wrap="square" lIns="0" tIns="0" rIns="0" bIns="0" rtlCol="0" anchor="t"/>
          <a:lstStyle/>
          <a:p>
            <a:pPr indent="0" marL="0">
              <a:buNone/>
            </a:pPr>
            <a:r>
              <a:rPr lang="en-US" sz="2000" dirty="0">
                <a:solidFill>
                  <a:schemeClr val="bg2"/>
                </a:solidFill>
              </a:rPr>
              <a:t>An automated data pipeline: police collision records + hourly weather → validated warehouse → dashboard</a:t>
            </a:r>
            <a:endParaRPr lang="en-US" sz="2000" dirty="0"/>
          </a:p>
        </p:txBody>
      </p:sp>
      <p:sp>
        <p:nvSpPr>
          <p:cNvPr id="6" name="Text 3"/>
          <p:cNvSpPr txBox="1"/>
          <p:nvPr/>
        </p:nvSpPr>
        <p:spPr>
          <a:xfrm>
            <a:off x="731520" y="5257800"/>
            <a:ext cx="7863840" cy="822960"/>
          </a:xfrm>
          <a:prstGeom prst="rect">
            <a:avLst/>
          </a:prstGeom>
          <a:noFill/>
          <a:ln/>
        </p:spPr>
        <p:txBody>
          <a:bodyPr wrap="square" lIns="0" tIns="0" rIns="0" bIns="0" rtlCol="0" anchor="t"/>
          <a:lstStyle/>
          <a:p>
            <a:pPr indent="0" marL="0">
              <a:buNone/>
            </a:pPr>
            <a:r>
              <a:rPr lang="en-US" sz="1800" b="1" dirty="0">
                <a:solidFill>
                  <a:schemeClr val="bg1"/>
                </a:solidFill>
              </a:rPr>
              <a:t>Madhan Matthew S</a:t>
            </a:r>
            <a:endParaRPr lang="en-US" sz="1800" dirty="0"/>
          </a:p>
          <a:p>
            <a:pPr indent="0" marL="0">
              <a:buNone/>
            </a:pPr>
            <a:r>
              <a:rPr lang="en-US" sz="1800" dirty="0">
                <a:solidFill>
                  <a:schemeClr val="accent1"/>
                </a:solidFill>
              </a:rPr>
              <a:t>USN 1CR23AI052  ·  7A AIML</a:t>
            </a:r>
            <a:endParaRPr lang="en-US" sz="1800" dirty="0"/>
          </a:p>
        </p:txBody>
      </p:sp>
      <p:sp>
        <p:nvSpPr>
          <p:cNvPr id="7" name="icon-circle FaRoad"/>
          <p:cNvSpPr/>
          <p:nvPr/>
        </p:nvSpPr>
        <p:spPr>
          <a:xfrm>
            <a:off x="9464040" y="2148840"/>
            <a:ext cx="2011680" cy="2011680"/>
          </a:xfrm>
          <a:prstGeom prst="ellipse">
            <a:avLst/>
          </a:prstGeom>
          <a:solidFill>
            <a:schemeClr val="accent1"/>
          </a:solidFill>
          <a:ln/>
        </p:spPr>
      </p:sp>
      <p:pic>
        <p:nvPicPr>
          <p:cNvPr id="8" name="icon FaRoad" descr="Road icon">    </p:cNvPr>
          <p:cNvPicPr>
            <a:picLocks noChangeAspect="1"/>
          </p:cNvPicPr>
          <p:nvPr/>
        </p:nvPicPr>
        <p:blipFill>
          <a:blip r:embed="rId1"/>
          <a:stretch>
            <a:fillRect/>
          </a:stretch>
        </p:blipFill>
        <p:spPr>
          <a:xfrm>
            <a:off x="9946843" y="2631643"/>
            <a:ext cx="1046074" cy="10460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Why this problem matters</a:t>
            </a:r>
            <a:endParaRPr lang="en-US" sz="3200" dirty="0"/>
          </a:p>
        </p:txBody>
      </p:sp>
      <p:sp>
        <p:nvSpPr>
          <p:cNvPr id="4" name="Text 1"/>
          <p:cNvSpPr txBox="1"/>
          <p:nvPr/>
        </p:nvSpPr>
        <p:spPr>
          <a:xfrm>
            <a:off x="548640" y="1463040"/>
            <a:ext cx="3291840" cy="777240"/>
          </a:xfrm>
          <a:prstGeom prst="rect">
            <a:avLst/>
          </a:prstGeom>
          <a:noFill/>
          <a:ln/>
        </p:spPr>
        <p:txBody>
          <a:bodyPr wrap="square" lIns="0" tIns="0" rIns="0" bIns="0" rtlCol="0" anchor="b"/>
          <a:lstStyle/>
          <a:p>
            <a:pPr indent="0" marL="0">
              <a:buNone/>
            </a:pPr>
            <a:r>
              <a:rPr lang="en-US" sz="4400" b="1" dirty="0">
                <a:solidFill>
                  <a:schemeClr val="tx2"/>
                </a:solidFill>
                <a:latin typeface="Arial" pitchFamily="34" charset="0"/>
                <a:ea typeface="Arial" pitchFamily="34" charset="-122"/>
                <a:cs typeface="Arial" pitchFamily="34" charset="-120"/>
              </a:rPr>
              <a:t>~100,000</a:t>
            </a:r>
            <a:endParaRPr lang="en-US" sz="4400" dirty="0"/>
          </a:p>
        </p:txBody>
      </p:sp>
      <p:sp>
        <p:nvSpPr>
          <p:cNvPr id="5" name="Text 2"/>
          <p:cNvSpPr txBox="1"/>
          <p:nvPr/>
        </p:nvSpPr>
        <p:spPr>
          <a:xfrm>
            <a:off x="548640" y="2304288"/>
            <a:ext cx="3291840" cy="685800"/>
          </a:xfrm>
          <a:prstGeom prst="rect">
            <a:avLst/>
          </a:prstGeom>
          <a:noFill/>
          <a:ln/>
        </p:spPr>
        <p:txBody>
          <a:bodyPr wrap="square" lIns="0" tIns="0" rIns="0" bIns="0" rtlCol="0" anchor="t"/>
          <a:lstStyle/>
          <a:p>
            <a:pPr indent="0" marL="0">
              <a:buNone/>
            </a:pPr>
            <a:r>
              <a:rPr lang="en-US" sz="1400" dirty="0">
                <a:solidFill>
                  <a:schemeClr val="accent4"/>
                </a:solidFill>
              </a:rPr>
              <a:t>injury road collisions in Great Britain every year</a:t>
            </a:r>
            <a:endParaRPr lang="en-US" sz="1400" dirty="0"/>
          </a:p>
        </p:txBody>
      </p:sp>
      <p:sp>
        <p:nvSpPr>
          <p:cNvPr id="6" name="Text 3"/>
          <p:cNvSpPr txBox="1"/>
          <p:nvPr/>
        </p:nvSpPr>
        <p:spPr>
          <a:xfrm>
            <a:off x="4343400" y="1463040"/>
            <a:ext cx="3291840" cy="777240"/>
          </a:xfrm>
          <a:prstGeom prst="rect">
            <a:avLst/>
          </a:prstGeom>
          <a:noFill/>
          <a:ln/>
        </p:spPr>
        <p:txBody>
          <a:bodyPr wrap="square" lIns="0" tIns="0" rIns="0" bIns="0" rtlCol="0" anchor="b"/>
          <a:lstStyle/>
          <a:p>
            <a:pPr indent="0" marL="0">
              <a:buNone/>
            </a:pPr>
            <a:r>
              <a:rPr lang="en-US" sz="4400" b="1" dirty="0">
                <a:solidFill>
                  <a:schemeClr val="accent2"/>
                </a:solidFill>
                <a:latin typeface="Arial" pitchFamily="34" charset="0"/>
                <a:ea typeface="Arial" pitchFamily="34" charset="-122"/>
                <a:cs typeface="Arial" pitchFamily="34" charset="-120"/>
              </a:rPr>
              <a:t>24.4%</a:t>
            </a:r>
            <a:endParaRPr lang="en-US" sz="4400" dirty="0"/>
          </a:p>
        </p:txBody>
      </p:sp>
      <p:sp>
        <p:nvSpPr>
          <p:cNvPr id="7" name="Text 4"/>
          <p:cNvSpPr txBox="1"/>
          <p:nvPr/>
        </p:nvSpPr>
        <p:spPr>
          <a:xfrm>
            <a:off x="4343400" y="2304288"/>
            <a:ext cx="3291840" cy="685800"/>
          </a:xfrm>
          <a:prstGeom prst="rect">
            <a:avLst/>
          </a:prstGeom>
          <a:noFill/>
          <a:ln/>
        </p:spPr>
        <p:txBody>
          <a:bodyPr wrap="square" lIns="0" tIns="0" rIns="0" bIns="0" rtlCol="0" anchor="t"/>
          <a:lstStyle/>
          <a:p>
            <a:pPr indent="0" marL="0">
              <a:buNone/>
            </a:pPr>
            <a:r>
              <a:rPr lang="en-US" sz="1400" dirty="0">
                <a:solidFill>
                  <a:schemeClr val="accent4"/>
                </a:solidFill>
              </a:rPr>
              <a:t>of them kill or seriously injure someone (KSI)</a:t>
            </a:r>
            <a:endParaRPr lang="en-US" sz="1400" dirty="0"/>
          </a:p>
        </p:txBody>
      </p:sp>
      <p:sp>
        <p:nvSpPr>
          <p:cNvPr id="8" name="Text 5"/>
          <p:cNvSpPr txBox="1"/>
          <p:nvPr/>
        </p:nvSpPr>
        <p:spPr>
          <a:xfrm>
            <a:off x="8138160" y="1463040"/>
            <a:ext cx="3474720" cy="777240"/>
          </a:xfrm>
          <a:prstGeom prst="rect">
            <a:avLst/>
          </a:prstGeom>
          <a:noFill/>
          <a:ln/>
        </p:spPr>
        <p:txBody>
          <a:bodyPr wrap="square" lIns="0" tIns="0" rIns="0" bIns="0" rtlCol="0" anchor="b"/>
          <a:lstStyle/>
          <a:p>
            <a:pPr indent="0" marL="0">
              <a:buNone/>
            </a:pPr>
            <a:r>
              <a:rPr lang="en-US" sz="4400" b="1" dirty="0">
                <a:solidFill>
                  <a:schemeClr val="tx2"/>
                </a:solidFill>
                <a:latin typeface="Arial" pitchFamily="34" charset="0"/>
                <a:ea typeface="Arial" pitchFamily="34" charset="-122"/>
                <a:cs typeface="Arial" pitchFamily="34" charset="-120"/>
              </a:rPr>
              <a:t>205,185</a:t>
            </a:r>
            <a:endParaRPr lang="en-US" sz="4400" dirty="0"/>
          </a:p>
        </p:txBody>
      </p:sp>
      <p:sp>
        <p:nvSpPr>
          <p:cNvPr id="9" name="Text 6"/>
          <p:cNvSpPr txBox="1"/>
          <p:nvPr/>
        </p:nvSpPr>
        <p:spPr>
          <a:xfrm>
            <a:off x="8138160" y="2304288"/>
            <a:ext cx="3474720" cy="685800"/>
          </a:xfrm>
          <a:prstGeom prst="rect">
            <a:avLst/>
          </a:prstGeom>
          <a:noFill/>
          <a:ln/>
        </p:spPr>
        <p:txBody>
          <a:bodyPr wrap="square" lIns="0" tIns="0" rIns="0" bIns="0" rtlCol="0" anchor="t"/>
          <a:lstStyle/>
          <a:p>
            <a:pPr indent="0" marL="0">
              <a:buNone/>
            </a:pPr>
            <a:r>
              <a:rPr lang="en-US" sz="1400" dirty="0">
                <a:solidFill>
                  <a:schemeClr val="accent4"/>
                </a:solidFill>
              </a:rPr>
              <a:t>collisions analysed, 2023–2024</a:t>
            </a:r>
            <a:endParaRPr lang="en-US" sz="1400" dirty="0"/>
          </a:p>
        </p:txBody>
      </p:sp>
      <p:sp>
        <p:nvSpPr>
          <p:cNvPr id="10" name="gap card"/>
          <p:cNvSpPr/>
          <p:nvPr/>
        </p:nvSpPr>
        <p:spPr>
          <a:xfrm>
            <a:off x="548640" y="3429000"/>
            <a:ext cx="11064240" cy="2194560"/>
          </a:xfrm>
          <a:prstGeom prst="roundRect">
            <a:avLst>
              <a:gd name="adj" fmla="val 4167"/>
            </a:avLst>
          </a:prstGeom>
          <a:solidFill>
            <a:schemeClr val="bg2"/>
          </a:solidFill>
          <a:ln/>
        </p:spPr>
      </p:sp>
      <p:sp>
        <p:nvSpPr>
          <p:cNvPr id="11" name="icon-circle FaSearch"/>
          <p:cNvSpPr/>
          <p:nvPr/>
        </p:nvSpPr>
        <p:spPr>
          <a:xfrm>
            <a:off x="914400" y="3794760"/>
            <a:ext cx="640080" cy="640080"/>
          </a:xfrm>
          <a:prstGeom prst="ellipse">
            <a:avLst/>
          </a:prstGeom>
          <a:solidFill>
            <a:schemeClr val="accent1"/>
          </a:solidFill>
          <a:ln/>
        </p:spPr>
      </p:sp>
      <p:pic>
        <p:nvPicPr>
          <p:cNvPr id="12" name="icon FaSearch" descr="Search icon">    </p:cNvPr>
          <p:cNvPicPr>
            <a:picLocks noChangeAspect="1"/>
          </p:cNvPicPr>
          <p:nvPr/>
        </p:nvPicPr>
        <p:blipFill>
          <a:blip r:embed="rId1"/>
          <a:stretch>
            <a:fillRect/>
          </a:stretch>
        </p:blipFill>
        <p:spPr>
          <a:xfrm>
            <a:off x="1068019" y="3948379"/>
            <a:ext cx="332842" cy="332842"/>
          </a:xfrm>
          <a:prstGeom prst="rect">
            <a:avLst/>
          </a:prstGeom>
        </p:spPr>
      </p:pic>
      <p:sp>
        <p:nvSpPr>
          <p:cNvPr id="13" name="Text 9"/>
          <p:cNvSpPr txBox="1"/>
          <p:nvPr/>
        </p:nvSpPr>
        <p:spPr>
          <a:xfrm>
            <a:off x="1783080" y="3794760"/>
            <a:ext cx="9144000" cy="365760"/>
          </a:xfrm>
          <a:prstGeom prst="rect">
            <a:avLst/>
          </a:prstGeom>
          <a:noFill/>
          <a:ln/>
        </p:spPr>
        <p:txBody>
          <a:bodyPr wrap="square" lIns="0" tIns="0" rIns="0" bIns="0" rtlCol="0" anchor="t"/>
          <a:lstStyle/>
          <a:p>
            <a:pPr indent="0" marL="0">
              <a:buNone/>
            </a:pPr>
            <a:r>
              <a:rPr lang="en-US" sz="1800" b="1" dirty="0">
                <a:solidFill>
                  <a:schemeClr val="tx2"/>
                </a:solidFill>
                <a:latin typeface="Arial" pitchFamily="34" charset="0"/>
                <a:ea typeface="Arial" pitchFamily="34" charset="-122"/>
                <a:cs typeface="Arial" pitchFamily="34" charset="-120"/>
              </a:rPr>
              <a:t>The gap I had to close</a:t>
            </a:r>
            <a:endParaRPr lang="en-US" sz="1800" dirty="0"/>
          </a:p>
        </p:txBody>
      </p:sp>
      <p:sp>
        <p:nvSpPr>
          <p:cNvPr id="14" name="Text 10"/>
          <p:cNvSpPr txBox="1"/>
          <p:nvPr/>
        </p:nvSpPr>
        <p:spPr>
          <a:xfrm>
            <a:off x="1783080" y="4297680"/>
            <a:ext cx="9509760" cy="16002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Road-safety teams need to know when, where and under which conditions collisions become severe</a:t>
            </a:r>
            <a:endParaRPr lang="en-US" sz="1500" dirty="0"/>
          </a:p>
          <a:p>
            <a:pPr marL="228600" indent="-228600">
              <a:spcAft>
                <a:spcPts val="800"/>
              </a:spcAft>
              <a:buSzPct val="100000"/>
              <a:buChar char="•"/>
            </a:pPr>
            <a:r>
              <a:rPr lang="en-US" sz="1500" dirty="0">
                <a:solidFill>
                  <a:schemeClr val="tx1"/>
                </a:solidFill>
              </a:rPr>
              <a:t>Police records describe weather only as the officer saw it – no measured temperature, rain or wind</a:t>
            </a:r>
            <a:endParaRPr lang="en-US" sz="1500" dirty="0"/>
          </a:p>
          <a:p>
            <a:pPr marL="228600" indent="-228600">
              <a:spcAft>
                <a:spcPts val="800"/>
              </a:spcAft>
              <a:buSzPct val="100000"/>
              <a:buChar char="•"/>
            </a:pPr>
            <a:r>
              <a:rPr lang="en-US" sz="1500" dirty="0">
                <a:solidFill>
                  <a:schemeClr val="tx1"/>
                </a:solidFill>
              </a:rPr>
              <a:t>Data is split across three related files (collisions, vehicles, casualties) and changes format between years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What I set out to build</a:t>
            </a:r>
            <a:endParaRPr lang="en-US" sz="3200" dirty="0"/>
          </a:p>
        </p:txBody>
      </p:sp>
      <p:sp>
        <p:nvSpPr>
          <p:cNvPr id="4" name="objective card"/>
          <p:cNvSpPr/>
          <p:nvPr/>
        </p:nvSpPr>
        <p:spPr>
          <a:xfrm>
            <a:off x="548640" y="1508760"/>
            <a:ext cx="2057400" cy="3566160"/>
          </a:xfrm>
          <a:prstGeom prst="roundRect">
            <a:avLst>
              <a:gd name="adj" fmla="val 4444"/>
            </a:avLst>
          </a:prstGeom>
          <a:solidFill>
            <a:schemeClr val="bg2"/>
          </a:solidFill>
          <a:ln/>
        </p:spPr>
      </p:sp>
      <p:sp>
        <p:nvSpPr>
          <p:cNvPr id="5" name="icon-circle FaDownload"/>
          <p:cNvSpPr/>
          <p:nvPr/>
        </p:nvSpPr>
        <p:spPr>
          <a:xfrm>
            <a:off x="777240" y="1783080"/>
            <a:ext cx="640080" cy="640080"/>
          </a:xfrm>
          <a:prstGeom prst="ellipse">
            <a:avLst/>
          </a:prstGeom>
          <a:solidFill>
            <a:schemeClr val="accent1"/>
          </a:solidFill>
          <a:ln/>
        </p:spPr>
      </p:sp>
      <p:pic>
        <p:nvPicPr>
          <p:cNvPr id="6" name="icon FaDownload" descr="Download icon">    </p:cNvPr>
          <p:cNvPicPr>
            <a:picLocks noChangeAspect="1"/>
          </p:cNvPicPr>
          <p:nvPr/>
        </p:nvPicPr>
        <p:blipFill>
          <a:blip r:embed="rId1"/>
          <a:stretch>
            <a:fillRect/>
          </a:stretch>
        </p:blipFill>
        <p:spPr>
          <a:xfrm>
            <a:off x="930859" y="1936699"/>
            <a:ext cx="332842" cy="332842"/>
          </a:xfrm>
          <a:prstGeom prst="rect">
            <a:avLst/>
          </a:prstGeom>
        </p:spPr>
      </p:pic>
      <p:sp>
        <p:nvSpPr>
          <p:cNvPr id="7" name="Text 3"/>
          <p:cNvSpPr txBox="1"/>
          <p:nvPr/>
        </p:nvSpPr>
        <p:spPr>
          <a:xfrm>
            <a:off x="777240" y="2606040"/>
            <a:ext cx="16459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1. Ingest</a:t>
            </a:r>
            <a:endParaRPr lang="en-US" sz="1700" dirty="0"/>
          </a:p>
        </p:txBody>
      </p:sp>
      <p:sp>
        <p:nvSpPr>
          <p:cNvPr id="8" name="Text 4"/>
          <p:cNvSpPr txBox="1"/>
          <p:nvPr/>
        </p:nvSpPr>
        <p:spPr>
          <a:xfrm>
            <a:off x="777240" y="3017520"/>
            <a:ext cx="1645920" cy="2011680"/>
          </a:xfrm>
          <a:prstGeom prst="rect">
            <a:avLst/>
          </a:prstGeom>
          <a:noFill/>
          <a:ln/>
        </p:spPr>
        <p:txBody>
          <a:bodyPr wrap="square" lIns="0" tIns="0" rIns="0" bIns="0" rtlCol="0" anchor="t"/>
          <a:lstStyle/>
          <a:p>
            <a:pPr indent="0" marL="0">
              <a:buNone/>
            </a:pPr>
            <a:r>
              <a:rPr lang="en-US" sz="1400" dirty="0">
                <a:solidFill>
                  <a:schemeClr val="tx1"/>
                </a:solidFill>
              </a:rPr>
              <a:t>Download STATS19 collision files and enrich every collision with hourly weather</a:t>
            </a:r>
            <a:endParaRPr lang="en-US" sz="1400" dirty="0"/>
          </a:p>
        </p:txBody>
      </p:sp>
      <p:sp>
        <p:nvSpPr>
          <p:cNvPr id="9" name="objective card"/>
          <p:cNvSpPr/>
          <p:nvPr/>
        </p:nvSpPr>
        <p:spPr>
          <a:xfrm>
            <a:off x="2816352" y="1508760"/>
            <a:ext cx="2057400" cy="3566160"/>
          </a:xfrm>
          <a:prstGeom prst="roundRect">
            <a:avLst>
              <a:gd name="adj" fmla="val 4444"/>
            </a:avLst>
          </a:prstGeom>
          <a:solidFill>
            <a:schemeClr val="bg2"/>
          </a:solidFill>
          <a:ln/>
        </p:spPr>
      </p:sp>
      <p:sp>
        <p:nvSpPr>
          <p:cNvPr id="10" name="icon-circle FaClipboardCheck"/>
          <p:cNvSpPr/>
          <p:nvPr/>
        </p:nvSpPr>
        <p:spPr>
          <a:xfrm>
            <a:off x="3044952" y="1783080"/>
            <a:ext cx="640080" cy="640080"/>
          </a:xfrm>
          <a:prstGeom prst="ellipse">
            <a:avLst/>
          </a:prstGeom>
          <a:solidFill>
            <a:schemeClr val="accent1"/>
          </a:solidFill>
          <a:ln/>
        </p:spPr>
      </p:sp>
      <p:pic>
        <p:nvPicPr>
          <p:cNvPr id="11" name="icon FaClipboardCheck" descr="ClipboardCheck icon">    </p:cNvPr>
          <p:cNvPicPr>
            <a:picLocks noChangeAspect="1"/>
          </p:cNvPicPr>
          <p:nvPr/>
        </p:nvPicPr>
        <p:blipFill>
          <a:blip r:embed="rId2"/>
          <a:stretch>
            <a:fillRect/>
          </a:stretch>
        </p:blipFill>
        <p:spPr>
          <a:xfrm>
            <a:off x="3198571" y="1936699"/>
            <a:ext cx="332842" cy="332842"/>
          </a:xfrm>
          <a:prstGeom prst="rect">
            <a:avLst/>
          </a:prstGeom>
        </p:spPr>
      </p:pic>
      <p:sp>
        <p:nvSpPr>
          <p:cNvPr id="12" name="Text 7"/>
          <p:cNvSpPr txBox="1"/>
          <p:nvPr/>
        </p:nvSpPr>
        <p:spPr>
          <a:xfrm>
            <a:off x="3044952" y="2606040"/>
            <a:ext cx="16459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2. Validate</a:t>
            </a:r>
            <a:endParaRPr lang="en-US" sz="1700" dirty="0"/>
          </a:p>
        </p:txBody>
      </p:sp>
      <p:sp>
        <p:nvSpPr>
          <p:cNvPr id="13" name="Text 8"/>
          <p:cNvSpPr txBox="1"/>
          <p:nvPr/>
        </p:nvSpPr>
        <p:spPr>
          <a:xfrm>
            <a:off x="3044952" y="3017520"/>
            <a:ext cx="1645920" cy="2011680"/>
          </a:xfrm>
          <a:prstGeom prst="rect">
            <a:avLst/>
          </a:prstGeom>
          <a:noFill/>
          <a:ln/>
        </p:spPr>
        <p:txBody>
          <a:bodyPr wrap="square" lIns="0" tIns="0" rIns="0" bIns="0" rtlCol="0" anchor="t"/>
          <a:lstStyle/>
          <a:p>
            <a:pPr indent="0" marL="0">
              <a:buNone/>
            </a:pPr>
            <a:r>
              <a:rPr lang="en-US" sz="1400" dirty="0">
                <a:solidFill>
                  <a:schemeClr val="tx1"/>
                </a:solidFill>
              </a:rPr>
              <a:t>Clean the data with clear rules and log every rejected record</a:t>
            </a:r>
            <a:endParaRPr lang="en-US" sz="1400" dirty="0"/>
          </a:p>
        </p:txBody>
      </p:sp>
      <p:sp>
        <p:nvSpPr>
          <p:cNvPr id="14" name="objective card"/>
          <p:cNvSpPr/>
          <p:nvPr/>
        </p:nvSpPr>
        <p:spPr>
          <a:xfrm>
            <a:off x="5084064" y="1508760"/>
            <a:ext cx="2057400" cy="3566160"/>
          </a:xfrm>
          <a:prstGeom prst="roundRect">
            <a:avLst>
              <a:gd name="adj" fmla="val 4444"/>
            </a:avLst>
          </a:prstGeom>
          <a:solidFill>
            <a:schemeClr val="bg2"/>
          </a:solidFill>
          <a:ln/>
        </p:spPr>
      </p:sp>
      <p:sp>
        <p:nvSpPr>
          <p:cNvPr id="15" name="icon-circle FaDatabase"/>
          <p:cNvSpPr/>
          <p:nvPr/>
        </p:nvSpPr>
        <p:spPr>
          <a:xfrm>
            <a:off x="5312664" y="1783080"/>
            <a:ext cx="640080" cy="640080"/>
          </a:xfrm>
          <a:prstGeom prst="ellipse">
            <a:avLst/>
          </a:prstGeom>
          <a:solidFill>
            <a:schemeClr val="accent1"/>
          </a:solidFill>
          <a:ln/>
        </p:spPr>
      </p:sp>
      <p:pic>
        <p:nvPicPr>
          <p:cNvPr id="16" name="icon FaDatabase" descr="Database icon">    </p:cNvPr>
          <p:cNvPicPr>
            <a:picLocks noChangeAspect="1"/>
          </p:cNvPicPr>
          <p:nvPr/>
        </p:nvPicPr>
        <p:blipFill>
          <a:blip r:embed="rId3"/>
          <a:stretch>
            <a:fillRect/>
          </a:stretch>
        </p:blipFill>
        <p:spPr>
          <a:xfrm>
            <a:off x="5466283" y="1936699"/>
            <a:ext cx="332842" cy="332842"/>
          </a:xfrm>
          <a:prstGeom prst="rect">
            <a:avLst/>
          </a:prstGeom>
        </p:spPr>
      </p:pic>
      <p:sp>
        <p:nvSpPr>
          <p:cNvPr id="17" name="Text 11"/>
          <p:cNvSpPr txBox="1"/>
          <p:nvPr/>
        </p:nvSpPr>
        <p:spPr>
          <a:xfrm>
            <a:off x="5312664" y="2606040"/>
            <a:ext cx="16459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3. Store</a:t>
            </a:r>
            <a:endParaRPr lang="en-US" sz="1700" dirty="0"/>
          </a:p>
        </p:txBody>
      </p:sp>
      <p:sp>
        <p:nvSpPr>
          <p:cNvPr id="18" name="Text 12"/>
          <p:cNvSpPr txBox="1"/>
          <p:nvPr/>
        </p:nvSpPr>
        <p:spPr>
          <a:xfrm>
            <a:off x="5312664" y="3017520"/>
            <a:ext cx="1645920" cy="2011680"/>
          </a:xfrm>
          <a:prstGeom prst="rect">
            <a:avLst/>
          </a:prstGeom>
          <a:noFill/>
          <a:ln/>
        </p:spPr>
        <p:txBody>
          <a:bodyPr wrap="square" lIns="0" tIns="0" rIns="0" bIns="0" rtlCol="0" anchor="t"/>
          <a:lstStyle/>
          <a:p>
            <a:pPr indent="0" marL="0">
              <a:buNone/>
            </a:pPr>
            <a:r>
              <a:rPr lang="en-US" sz="1400" dirty="0">
                <a:solidFill>
                  <a:schemeClr val="tx1"/>
                </a:solidFill>
              </a:rPr>
              <a:t>Location- and time-aware warehouse: PostgreSQL + PostGIS star schema</a:t>
            </a:r>
            <a:endParaRPr lang="en-US" sz="1400" dirty="0"/>
          </a:p>
        </p:txBody>
      </p:sp>
      <p:sp>
        <p:nvSpPr>
          <p:cNvPr id="19" name="objective card"/>
          <p:cNvSpPr/>
          <p:nvPr/>
        </p:nvSpPr>
        <p:spPr>
          <a:xfrm>
            <a:off x="7351776" y="1508760"/>
            <a:ext cx="2057400" cy="3566160"/>
          </a:xfrm>
          <a:prstGeom prst="roundRect">
            <a:avLst>
              <a:gd name="adj" fmla="val 4444"/>
            </a:avLst>
          </a:prstGeom>
          <a:solidFill>
            <a:schemeClr val="bg2"/>
          </a:solidFill>
          <a:ln/>
        </p:spPr>
      </p:sp>
      <p:sp>
        <p:nvSpPr>
          <p:cNvPr id="20" name="icon-circle FaChartBar"/>
          <p:cNvSpPr/>
          <p:nvPr/>
        </p:nvSpPr>
        <p:spPr>
          <a:xfrm>
            <a:off x="7580376" y="1783080"/>
            <a:ext cx="640080" cy="640080"/>
          </a:xfrm>
          <a:prstGeom prst="ellipse">
            <a:avLst/>
          </a:prstGeom>
          <a:solidFill>
            <a:schemeClr val="accent1"/>
          </a:solidFill>
          <a:ln/>
        </p:spPr>
      </p:sp>
      <p:pic>
        <p:nvPicPr>
          <p:cNvPr id="21" name="icon FaChartBar" descr="ChartBar icon">    </p:cNvPr>
          <p:cNvPicPr>
            <a:picLocks noChangeAspect="1"/>
          </p:cNvPicPr>
          <p:nvPr/>
        </p:nvPicPr>
        <p:blipFill>
          <a:blip r:embed="rId4"/>
          <a:stretch>
            <a:fillRect/>
          </a:stretch>
        </p:blipFill>
        <p:spPr>
          <a:xfrm>
            <a:off x="7733995" y="1936699"/>
            <a:ext cx="332842" cy="332842"/>
          </a:xfrm>
          <a:prstGeom prst="rect">
            <a:avLst/>
          </a:prstGeom>
        </p:spPr>
      </p:pic>
      <p:sp>
        <p:nvSpPr>
          <p:cNvPr id="22" name="Text 15"/>
          <p:cNvSpPr txBox="1"/>
          <p:nvPr/>
        </p:nvSpPr>
        <p:spPr>
          <a:xfrm>
            <a:off x="7580376" y="2606040"/>
            <a:ext cx="16459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4. Visualise</a:t>
            </a:r>
            <a:endParaRPr lang="en-US" sz="1700" dirty="0"/>
          </a:p>
        </p:txBody>
      </p:sp>
      <p:sp>
        <p:nvSpPr>
          <p:cNvPr id="23" name="Text 16"/>
          <p:cNvSpPr txBox="1"/>
          <p:nvPr/>
        </p:nvSpPr>
        <p:spPr>
          <a:xfrm>
            <a:off x="7580376" y="3017520"/>
            <a:ext cx="1645920" cy="2011680"/>
          </a:xfrm>
          <a:prstGeom prst="rect">
            <a:avLst/>
          </a:prstGeom>
          <a:noFill/>
          <a:ln/>
        </p:spPr>
        <p:txBody>
          <a:bodyPr wrap="square" lIns="0" tIns="0" rIns="0" bIns="0" rtlCol="0" anchor="t"/>
          <a:lstStyle/>
          <a:p>
            <a:pPr indent="0" marL="0">
              <a:buNone/>
            </a:pPr>
            <a:r>
              <a:rPr lang="en-US" sz="1400" dirty="0">
                <a:solidFill>
                  <a:schemeClr val="tx1"/>
                </a:solidFill>
              </a:rPr>
              <a:t>Interactive dashboard to explore when and where severe crashes happen</a:t>
            </a:r>
            <a:endParaRPr lang="en-US" sz="1400" dirty="0"/>
          </a:p>
        </p:txBody>
      </p:sp>
      <p:sp>
        <p:nvSpPr>
          <p:cNvPr id="24" name="objective card"/>
          <p:cNvSpPr/>
          <p:nvPr/>
        </p:nvSpPr>
        <p:spPr>
          <a:xfrm>
            <a:off x="9619488" y="1508760"/>
            <a:ext cx="2057400" cy="3566160"/>
          </a:xfrm>
          <a:prstGeom prst="roundRect">
            <a:avLst>
              <a:gd name="adj" fmla="val 4444"/>
            </a:avLst>
          </a:prstGeom>
          <a:solidFill>
            <a:schemeClr val="bg2"/>
          </a:solidFill>
          <a:ln/>
        </p:spPr>
      </p:sp>
      <p:sp>
        <p:nvSpPr>
          <p:cNvPr id="25" name="icon-circle FaRobot"/>
          <p:cNvSpPr/>
          <p:nvPr/>
        </p:nvSpPr>
        <p:spPr>
          <a:xfrm>
            <a:off x="9848088" y="1783080"/>
            <a:ext cx="640080" cy="640080"/>
          </a:xfrm>
          <a:prstGeom prst="ellipse">
            <a:avLst/>
          </a:prstGeom>
          <a:solidFill>
            <a:schemeClr val="accent1"/>
          </a:solidFill>
          <a:ln/>
        </p:spPr>
      </p:sp>
      <p:pic>
        <p:nvPicPr>
          <p:cNvPr id="26" name="icon FaRobot" descr="Robot icon">    </p:cNvPr>
          <p:cNvPicPr>
            <a:picLocks noChangeAspect="1"/>
          </p:cNvPicPr>
          <p:nvPr/>
        </p:nvPicPr>
        <p:blipFill>
          <a:blip r:embed="rId5"/>
          <a:stretch>
            <a:fillRect/>
          </a:stretch>
        </p:blipFill>
        <p:spPr>
          <a:xfrm>
            <a:off x="10001707" y="1936699"/>
            <a:ext cx="332842" cy="332842"/>
          </a:xfrm>
          <a:prstGeom prst="rect">
            <a:avLst/>
          </a:prstGeom>
        </p:spPr>
      </p:pic>
      <p:sp>
        <p:nvSpPr>
          <p:cNvPr id="27" name="Text 19"/>
          <p:cNvSpPr txBox="1"/>
          <p:nvPr/>
        </p:nvSpPr>
        <p:spPr>
          <a:xfrm>
            <a:off x="9848088" y="2606040"/>
            <a:ext cx="16459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5. ML table</a:t>
            </a:r>
            <a:endParaRPr lang="en-US" sz="1700" dirty="0"/>
          </a:p>
        </p:txBody>
      </p:sp>
      <p:sp>
        <p:nvSpPr>
          <p:cNvPr id="28" name="Text 20"/>
          <p:cNvSpPr txBox="1"/>
          <p:nvPr/>
        </p:nvSpPr>
        <p:spPr>
          <a:xfrm>
            <a:off x="9848088" y="3017520"/>
            <a:ext cx="1645920" cy="2011680"/>
          </a:xfrm>
          <a:prstGeom prst="rect">
            <a:avLst/>
          </a:prstGeom>
          <a:noFill/>
          <a:ln/>
        </p:spPr>
        <p:txBody>
          <a:bodyPr wrap="square" lIns="0" tIns="0" rIns="0" bIns="0" rtlCol="0" anchor="t"/>
          <a:lstStyle/>
          <a:p>
            <a:pPr indent="0" marL="0">
              <a:buNone/>
            </a:pPr>
            <a:r>
              <a:rPr lang="en-US" sz="1400" dirty="0">
                <a:solidFill>
                  <a:schemeClr val="tx1"/>
                </a:solidFill>
              </a:rPr>
              <a:t>A leakage-free, model-ready table that feeds the Part 2 classifier</a:t>
            </a:r>
            <a:endParaRPr lang="en-US" sz="1400" dirty="0"/>
          </a:p>
        </p:txBody>
      </p:sp>
      <p:sp>
        <p:nvSpPr>
          <p:cNvPr id="29" name="Text 21"/>
          <p:cNvSpPr txBox="1"/>
          <p:nvPr/>
        </p:nvSpPr>
        <p:spPr>
          <a:xfrm>
            <a:off x="548640" y="5394960"/>
            <a:ext cx="11064240" cy="365760"/>
          </a:xfrm>
          <a:prstGeom prst="rect">
            <a:avLst/>
          </a:prstGeom>
          <a:noFill/>
          <a:ln/>
        </p:spPr>
        <p:txBody>
          <a:bodyPr wrap="square" lIns="0" tIns="0" rIns="0" bIns="0" rtlCol="0" anchor="t"/>
          <a:lstStyle/>
          <a:p>
            <a:pPr indent="0" marL="0">
              <a:buNone/>
            </a:pPr>
            <a:r>
              <a:rPr lang="en-US" sz="1500" i="1" dirty="0">
                <a:solidFill>
                  <a:schemeClr val="accent4"/>
                </a:solidFill>
              </a:rPr>
              <a:t>All of it automated, repeatable and auditable – orchestrated monthly by Apache Airflow</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Two open data sources</a:t>
            </a:r>
            <a:endParaRPr lang="en-US" sz="3200" dirty="0"/>
          </a:p>
        </p:txBody>
      </p:sp>
      <p:sp>
        <p:nvSpPr>
          <p:cNvPr id="4" name="source card"/>
          <p:cNvSpPr/>
          <p:nvPr/>
        </p:nvSpPr>
        <p:spPr>
          <a:xfrm>
            <a:off x="548640" y="1463040"/>
            <a:ext cx="5394960" cy="4526280"/>
          </a:xfrm>
          <a:prstGeom prst="roundRect">
            <a:avLst>
              <a:gd name="adj" fmla="val 2020"/>
            </a:avLst>
          </a:prstGeom>
          <a:solidFill>
            <a:schemeClr val="bg2"/>
          </a:solidFill>
          <a:ln/>
          <a:effectLst>
            <a:outerShdw sx="100000" sy="100000" kx="0" ky="0" algn="bl" rotWithShape="0" blurRad="76200" dist="25400" dir="5400000">
              <a:srgbClr val="000000">
                <a:alpha val="12000"/>
              </a:srgbClr>
            </a:outerShdw>
          </a:effectLst>
        </p:spPr>
      </p:sp>
      <p:sp>
        <p:nvSpPr>
          <p:cNvPr id="5" name="icon-circle FaCarCrash"/>
          <p:cNvSpPr/>
          <p:nvPr/>
        </p:nvSpPr>
        <p:spPr>
          <a:xfrm>
            <a:off x="868680" y="1737360"/>
            <a:ext cx="731520" cy="731520"/>
          </a:xfrm>
          <a:prstGeom prst="ellipse">
            <a:avLst/>
          </a:prstGeom>
          <a:solidFill>
            <a:schemeClr val="accent1"/>
          </a:solidFill>
          <a:ln/>
        </p:spPr>
      </p:sp>
      <p:pic>
        <p:nvPicPr>
          <p:cNvPr id="6" name="icon FaCarCrash" descr="CarCrash icon">    </p:cNvPr>
          <p:cNvPicPr>
            <a:picLocks noChangeAspect="1"/>
          </p:cNvPicPr>
          <p:nvPr/>
        </p:nvPicPr>
        <p:blipFill>
          <a:blip r:embed="rId1"/>
          <a:stretch>
            <a:fillRect/>
          </a:stretch>
        </p:blipFill>
        <p:spPr>
          <a:xfrm>
            <a:off x="1044245" y="1912925"/>
            <a:ext cx="380390" cy="380390"/>
          </a:xfrm>
          <a:prstGeom prst="rect">
            <a:avLst/>
          </a:prstGeom>
        </p:spPr>
      </p:pic>
      <p:sp>
        <p:nvSpPr>
          <p:cNvPr id="7" name="Text 3"/>
          <p:cNvSpPr txBox="1"/>
          <p:nvPr/>
        </p:nvSpPr>
        <p:spPr>
          <a:xfrm>
            <a:off x="1828800" y="1783080"/>
            <a:ext cx="3931920" cy="6400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STATS19 – Department for Transport</a:t>
            </a:r>
            <a:endParaRPr lang="en-US" sz="1800" dirty="0"/>
          </a:p>
        </p:txBody>
      </p:sp>
      <p:sp>
        <p:nvSpPr>
          <p:cNvPr id="8" name="Text 4"/>
          <p:cNvSpPr txBox="1"/>
          <p:nvPr/>
        </p:nvSpPr>
        <p:spPr>
          <a:xfrm>
            <a:off x="914400" y="2697480"/>
            <a:ext cx="475488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Official police records of every injury collision</a:t>
            </a:r>
            <a:endParaRPr lang="en-US" sz="1500" dirty="0"/>
          </a:p>
          <a:p>
            <a:pPr marL="228600" indent="-228600">
              <a:spcAft>
                <a:spcPts val="800"/>
              </a:spcAft>
              <a:buSzPct val="100000"/>
              <a:buChar char="•"/>
            </a:pPr>
            <a:r>
              <a:rPr lang="en-US" sz="1500" dirty="0">
                <a:solidFill>
                  <a:schemeClr val="tx1"/>
                </a:solidFill>
              </a:rPr>
              <a:t>3 linked tables: collision, vehicle, casualty</a:t>
            </a:r>
            <a:endParaRPr lang="en-US" sz="1500" dirty="0"/>
          </a:p>
          <a:p>
            <a:pPr marL="228600" indent="-228600">
              <a:spcAft>
                <a:spcPts val="800"/>
              </a:spcAft>
              <a:buSzPct val="100000"/>
              <a:buChar char="•"/>
            </a:pPr>
            <a:r>
              <a:rPr lang="en-US" sz="1500" dirty="0">
                <a:solidFill>
                  <a:schemeClr val="tx1"/>
                </a:solidFill>
              </a:rPr>
              <a:t>2023 + 2024 → 6 CSV files</a:t>
            </a:r>
            <a:endParaRPr lang="en-US" sz="1500" dirty="0"/>
          </a:p>
          <a:p>
            <a:pPr marL="228600" indent="-228600">
              <a:spcAft>
                <a:spcPts val="800"/>
              </a:spcAft>
              <a:buSzPct val="100000"/>
              <a:buChar char="•"/>
            </a:pPr>
            <a:r>
              <a:rPr lang="en-US" sz="1500" dirty="0">
                <a:solidFill>
                  <a:schemeClr val="tx1"/>
                </a:solidFill>
              </a:rPr>
              <a:t>Open Government Licence v3.0</a:t>
            </a:r>
            <a:endParaRPr lang="en-US" sz="1500" dirty="0"/>
          </a:p>
        </p:txBody>
      </p:sp>
      <p:sp>
        <p:nvSpPr>
          <p:cNvPr id="9" name="Text 5"/>
          <p:cNvSpPr txBox="1"/>
          <p:nvPr/>
        </p:nvSpPr>
        <p:spPr>
          <a:xfrm>
            <a:off x="914400" y="4526280"/>
            <a:ext cx="2743200" cy="640080"/>
          </a:xfrm>
          <a:prstGeom prst="rect">
            <a:avLst/>
          </a:prstGeom>
          <a:noFill/>
          <a:ln/>
        </p:spPr>
        <p:txBody>
          <a:bodyPr wrap="square" lIns="0" tIns="0" rIns="0" bIns="0" rtlCol="0" anchor="b"/>
          <a:lstStyle/>
          <a:p>
            <a:pPr indent="0" marL="0">
              <a:buNone/>
            </a:pPr>
            <a:r>
              <a:rPr lang="en-US" sz="3600" b="1" dirty="0">
                <a:solidFill>
                  <a:schemeClr val="accent3"/>
                </a:solidFill>
                <a:latin typeface="Arial" pitchFamily="34" charset="0"/>
                <a:ea typeface="Arial" pitchFamily="34" charset="-122"/>
                <a:cs typeface="Arial" pitchFamily="34" charset="-120"/>
              </a:rPr>
              <a:t>839,763</a:t>
            </a:r>
            <a:endParaRPr lang="en-US" sz="3600" dirty="0"/>
          </a:p>
        </p:txBody>
      </p:sp>
      <p:sp>
        <p:nvSpPr>
          <p:cNvPr id="10" name="Text 6"/>
          <p:cNvSpPr txBox="1"/>
          <p:nvPr/>
        </p:nvSpPr>
        <p:spPr>
          <a:xfrm>
            <a:off x="914400" y="5212080"/>
            <a:ext cx="3657600" cy="320040"/>
          </a:xfrm>
          <a:prstGeom prst="rect">
            <a:avLst/>
          </a:prstGeom>
          <a:noFill/>
          <a:ln/>
        </p:spPr>
        <p:txBody>
          <a:bodyPr wrap="square" lIns="0" tIns="0" rIns="0" bIns="0" rtlCol="0" anchor="t"/>
          <a:lstStyle/>
          <a:p>
            <a:pPr indent="0" marL="0">
              <a:buNone/>
            </a:pPr>
            <a:r>
              <a:rPr lang="en-US" sz="1400" dirty="0">
                <a:solidFill>
                  <a:schemeClr val="accent4"/>
                </a:solidFill>
              </a:rPr>
              <a:t>rows ingested</a:t>
            </a:r>
            <a:endParaRPr lang="en-US" sz="1400" dirty="0"/>
          </a:p>
        </p:txBody>
      </p:sp>
      <p:sp>
        <p:nvSpPr>
          <p:cNvPr id="11" name="source card"/>
          <p:cNvSpPr/>
          <p:nvPr/>
        </p:nvSpPr>
        <p:spPr>
          <a:xfrm>
            <a:off x="6217920" y="1463040"/>
            <a:ext cx="5394960" cy="4526280"/>
          </a:xfrm>
          <a:prstGeom prst="roundRect">
            <a:avLst>
              <a:gd name="adj" fmla="val 2020"/>
            </a:avLst>
          </a:prstGeom>
          <a:solidFill>
            <a:schemeClr val="bg2"/>
          </a:solidFill>
          <a:ln/>
          <a:effectLst>
            <a:outerShdw sx="100000" sy="100000" kx="0" ky="0" algn="bl" rotWithShape="0" blurRad="76200" dist="25400" dir="5400000">
              <a:srgbClr val="000000">
                <a:alpha val="12000"/>
              </a:srgbClr>
            </a:outerShdw>
          </a:effectLst>
        </p:spPr>
      </p:sp>
      <p:sp>
        <p:nvSpPr>
          <p:cNvPr id="12" name="icon-circle FaCloudSunRain"/>
          <p:cNvSpPr/>
          <p:nvPr/>
        </p:nvSpPr>
        <p:spPr>
          <a:xfrm>
            <a:off x="6537960" y="1737360"/>
            <a:ext cx="731520" cy="731520"/>
          </a:xfrm>
          <a:prstGeom prst="ellipse">
            <a:avLst/>
          </a:prstGeom>
          <a:solidFill>
            <a:schemeClr val="accent1"/>
          </a:solidFill>
          <a:ln/>
        </p:spPr>
      </p:sp>
      <p:pic>
        <p:nvPicPr>
          <p:cNvPr id="13" name="icon FaCloudSunRain" descr="CloudSunRain icon">    </p:cNvPr>
          <p:cNvPicPr>
            <a:picLocks noChangeAspect="1"/>
          </p:cNvPicPr>
          <p:nvPr/>
        </p:nvPicPr>
        <p:blipFill>
          <a:blip r:embed="rId2"/>
          <a:stretch>
            <a:fillRect/>
          </a:stretch>
        </p:blipFill>
        <p:spPr>
          <a:xfrm>
            <a:off x="6713525" y="1912925"/>
            <a:ext cx="380390" cy="380390"/>
          </a:xfrm>
          <a:prstGeom prst="rect">
            <a:avLst/>
          </a:prstGeom>
        </p:spPr>
      </p:pic>
      <p:sp>
        <p:nvSpPr>
          <p:cNvPr id="14" name="Text 9"/>
          <p:cNvSpPr txBox="1"/>
          <p:nvPr/>
        </p:nvSpPr>
        <p:spPr>
          <a:xfrm>
            <a:off x="7498080" y="1783080"/>
            <a:ext cx="3931920" cy="6400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Open-Meteo Historical Weather API</a:t>
            </a:r>
            <a:endParaRPr lang="en-US" sz="1800" dirty="0"/>
          </a:p>
        </p:txBody>
      </p:sp>
      <p:sp>
        <p:nvSpPr>
          <p:cNvPr id="15" name="Text 10"/>
          <p:cNvSpPr txBox="1"/>
          <p:nvPr/>
        </p:nvSpPr>
        <p:spPr>
          <a:xfrm>
            <a:off x="6583680" y="2697480"/>
            <a:ext cx="475488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Hourly temperature, rain, snow, wind, cloud, humidity</a:t>
            </a:r>
            <a:endParaRPr lang="en-US" sz="1500" dirty="0"/>
          </a:p>
          <a:p>
            <a:pPr marL="228600" indent="-228600">
              <a:spcAft>
                <a:spcPts val="800"/>
              </a:spcAft>
              <a:buSzPct val="100000"/>
              <a:buChar char="•"/>
            </a:pPr>
            <a:r>
              <a:rPr lang="en-US" sz="1500" dirty="0">
                <a:solidFill>
                  <a:schemeClr val="tx1"/>
                </a:solidFill>
              </a:rPr>
              <a:t>Free archive API – no key required</a:t>
            </a:r>
            <a:endParaRPr lang="en-US" sz="1500" dirty="0"/>
          </a:p>
          <a:p>
            <a:pPr marL="228600" indent="-228600">
              <a:spcAft>
                <a:spcPts val="800"/>
              </a:spcAft>
              <a:buSzPct val="100000"/>
              <a:buChar char="•"/>
            </a:pPr>
            <a:r>
              <a:rPr lang="en-US" sz="1500" dirty="0">
                <a:solidFill>
                  <a:schemeClr val="tx1"/>
                </a:solidFill>
              </a:rPr>
              <a:t>59 grid cells covering Great Britain</a:t>
            </a:r>
            <a:endParaRPr lang="en-US" sz="1500" dirty="0"/>
          </a:p>
          <a:p>
            <a:pPr marL="228600" indent="-228600">
              <a:spcAft>
                <a:spcPts val="800"/>
              </a:spcAft>
              <a:buSzPct val="100000"/>
              <a:buChar char="•"/>
            </a:pPr>
            <a:r>
              <a:rPr lang="en-US" sz="1500" dirty="0">
                <a:solidFill>
                  <a:schemeClr val="tx1"/>
                </a:solidFill>
              </a:rPr>
              <a:t>CC BY 4.0 licence</a:t>
            </a:r>
            <a:endParaRPr lang="en-US" sz="1500" dirty="0"/>
          </a:p>
        </p:txBody>
      </p:sp>
      <p:sp>
        <p:nvSpPr>
          <p:cNvPr id="16" name="Text 11"/>
          <p:cNvSpPr txBox="1"/>
          <p:nvPr/>
        </p:nvSpPr>
        <p:spPr>
          <a:xfrm>
            <a:off x="6583680" y="4526280"/>
            <a:ext cx="2743200" cy="640080"/>
          </a:xfrm>
          <a:prstGeom prst="rect">
            <a:avLst/>
          </a:prstGeom>
          <a:noFill/>
          <a:ln/>
        </p:spPr>
        <p:txBody>
          <a:bodyPr wrap="square" lIns="0" tIns="0" rIns="0" bIns="0" rtlCol="0" anchor="b"/>
          <a:lstStyle/>
          <a:p>
            <a:pPr indent="0" marL="0">
              <a:buNone/>
            </a:pPr>
            <a:r>
              <a:rPr lang="en-US" sz="3600" b="1" dirty="0">
                <a:solidFill>
                  <a:schemeClr val="accent3"/>
                </a:solidFill>
                <a:latin typeface="Arial" pitchFamily="34" charset="0"/>
                <a:ea typeface="Arial" pitchFamily="34" charset="-122"/>
                <a:cs typeface="Arial" pitchFamily="34" charset="-120"/>
              </a:rPr>
              <a:t>1,026,312</a:t>
            </a:r>
            <a:endParaRPr lang="en-US" sz="3600" dirty="0"/>
          </a:p>
        </p:txBody>
      </p:sp>
      <p:sp>
        <p:nvSpPr>
          <p:cNvPr id="17" name="Text 12"/>
          <p:cNvSpPr txBox="1"/>
          <p:nvPr/>
        </p:nvSpPr>
        <p:spPr>
          <a:xfrm>
            <a:off x="6583680" y="5212080"/>
            <a:ext cx="3657600" cy="320040"/>
          </a:xfrm>
          <a:prstGeom prst="rect">
            <a:avLst/>
          </a:prstGeom>
          <a:noFill/>
          <a:ln/>
        </p:spPr>
        <p:txBody>
          <a:bodyPr wrap="square" lIns="0" tIns="0" rIns="0" bIns="0" rtlCol="0" anchor="t"/>
          <a:lstStyle/>
          <a:p>
            <a:pPr indent="0" marL="0">
              <a:buNone/>
            </a:pPr>
            <a:r>
              <a:rPr lang="en-US" sz="1400" dirty="0">
                <a:solidFill>
                  <a:schemeClr val="accent4"/>
                </a:solidFill>
              </a:rPr>
              <a:t>hourly weather rows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Architecture: data moves through layers</a:t>
            </a:r>
            <a:endParaRPr lang="en-US" sz="3200" dirty="0"/>
          </a:p>
        </p:txBody>
      </p:sp>
      <p:sp>
        <p:nvSpPr>
          <p:cNvPr id="4" name="layer Sources"/>
          <p:cNvSpPr/>
          <p:nvPr/>
        </p:nvSpPr>
        <p:spPr>
          <a:xfrm>
            <a:off x="548640" y="1828800"/>
            <a:ext cx="1371600" cy="914400"/>
          </a:xfrm>
          <a:prstGeom prst="roundRect">
            <a:avLst>
              <a:gd name="adj" fmla="val 10000"/>
            </a:avLst>
          </a:prstGeom>
          <a:solidFill>
            <a:schemeClr val="accent1"/>
          </a:solidFill>
          <a:ln/>
        </p:spPr>
      </p:sp>
      <p:sp>
        <p:nvSpPr>
          <p:cNvPr id="5" name="Text 2"/>
          <p:cNvSpPr txBox="1"/>
          <p:nvPr/>
        </p:nvSpPr>
        <p:spPr>
          <a:xfrm>
            <a:off x="548640" y="1828800"/>
            <a:ext cx="1371600" cy="914400"/>
          </a:xfrm>
          <a:prstGeom prst="rect">
            <a:avLst/>
          </a:prstGeom>
          <a:noFill/>
          <a:ln/>
        </p:spPr>
        <p:txBody>
          <a:bodyPr wrap="square" lIns="0" tIns="0" rIns="0" bIns="0" rtlCol="0" anchor="ctr"/>
          <a:lstStyle/>
          <a:p>
            <a:pPr algn="ctr" indent="0" marL="0">
              <a:buNone/>
            </a:pPr>
            <a:r>
              <a:rPr lang="en-US" sz="1500" b="1" dirty="0">
                <a:solidFill>
                  <a:schemeClr val="tx1"/>
                </a:solidFill>
                <a:latin typeface="Arial" pitchFamily="34" charset="0"/>
                <a:ea typeface="Arial" pitchFamily="34" charset="-122"/>
                <a:cs typeface="Arial" pitchFamily="34" charset="-120"/>
              </a:rPr>
              <a:t>Sources</a:t>
            </a:r>
            <a:endParaRPr lang="en-US" sz="1500" dirty="0"/>
          </a:p>
        </p:txBody>
      </p:sp>
      <p:sp>
        <p:nvSpPr>
          <p:cNvPr id="6" name="Text 3"/>
          <p:cNvSpPr txBox="1"/>
          <p:nvPr/>
        </p:nvSpPr>
        <p:spPr>
          <a:xfrm>
            <a:off x="502920" y="2880360"/>
            <a:ext cx="1463040" cy="822960"/>
          </a:xfrm>
          <a:prstGeom prst="rect">
            <a:avLst/>
          </a:prstGeom>
          <a:noFill/>
          <a:ln/>
        </p:spPr>
        <p:txBody>
          <a:bodyPr wrap="square" lIns="0" tIns="0" rIns="0" bIns="0" rtlCol="0" anchor="t"/>
          <a:lstStyle/>
          <a:p>
            <a:pPr algn="ctr" indent="0" marL="0">
              <a:buNone/>
            </a:pPr>
            <a:r>
              <a:rPr lang="en-US" sz="1300" dirty="0">
                <a:solidFill>
                  <a:schemeClr val="tx1"/>
                </a:solidFill>
              </a:rPr>
              <a:t>DfT CSVs + weather API</a:t>
            </a:r>
            <a:endParaRPr lang="en-US" sz="1300" dirty="0"/>
          </a:p>
        </p:txBody>
      </p:sp>
      <p:sp>
        <p:nvSpPr>
          <p:cNvPr id="7" name="Shape 4"/>
          <p:cNvSpPr/>
          <p:nvPr/>
        </p:nvSpPr>
        <p:spPr>
          <a:xfrm>
            <a:off x="1947672" y="2286000"/>
            <a:ext cx="192024" cy="914"/>
          </a:xfrm>
          <a:prstGeom prst="line">
            <a:avLst/>
          </a:prstGeom>
          <a:noFill/>
          <a:ln w="25400">
            <a:solidFill>
              <a:schemeClr val="accent4"/>
            </a:solidFill>
            <a:prstDash val="solid"/>
            <a:tailEnd type="triangle"/>
          </a:ln>
        </p:spPr>
      </p:sp>
      <p:sp>
        <p:nvSpPr>
          <p:cNvPr id="8" name="layer Raw"/>
          <p:cNvSpPr/>
          <p:nvPr/>
        </p:nvSpPr>
        <p:spPr>
          <a:xfrm>
            <a:off x="2167128" y="1828800"/>
            <a:ext cx="1371600" cy="914400"/>
          </a:xfrm>
          <a:prstGeom prst="roundRect">
            <a:avLst>
              <a:gd name="adj" fmla="val 10000"/>
            </a:avLst>
          </a:prstGeom>
          <a:solidFill>
            <a:schemeClr val="tx2"/>
          </a:solidFill>
          <a:ln/>
        </p:spPr>
      </p:sp>
      <p:sp>
        <p:nvSpPr>
          <p:cNvPr id="9" name="Text 6"/>
          <p:cNvSpPr txBox="1"/>
          <p:nvPr/>
        </p:nvSpPr>
        <p:spPr>
          <a:xfrm>
            <a:off x="2167128" y="1828800"/>
            <a:ext cx="1371600" cy="9144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Raw</a:t>
            </a:r>
            <a:endParaRPr lang="en-US" sz="1500" dirty="0"/>
          </a:p>
        </p:txBody>
      </p:sp>
      <p:sp>
        <p:nvSpPr>
          <p:cNvPr id="10" name="Text 7"/>
          <p:cNvSpPr txBox="1"/>
          <p:nvPr/>
        </p:nvSpPr>
        <p:spPr>
          <a:xfrm>
            <a:off x="2121408" y="2880360"/>
            <a:ext cx="1463040" cy="822960"/>
          </a:xfrm>
          <a:prstGeom prst="rect">
            <a:avLst/>
          </a:prstGeom>
          <a:noFill/>
          <a:ln/>
        </p:spPr>
        <p:txBody>
          <a:bodyPr wrap="square" lIns="0" tIns="0" rIns="0" bIns="0" rtlCol="0" anchor="t"/>
          <a:lstStyle/>
          <a:p>
            <a:pPr algn="ctr" indent="0" marL="0">
              <a:buNone/>
            </a:pPr>
            <a:r>
              <a:rPr lang="en-US" sz="1300" dirty="0">
                <a:solidFill>
                  <a:schemeClr val="tx1"/>
                </a:solidFill>
              </a:rPr>
              <a:t>Immutable copy, checksums</a:t>
            </a:r>
            <a:endParaRPr lang="en-US" sz="1300" dirty="0"/>
          </a:p>
        </p:txBody>
      </p:sp>
      <p:sp>
        <p:nvSpPr>
          <p:cNvPr id="11" name="Shape 8"/>
          <p:cNvSpPr/>
          <p:nvPr/>
        </p:nvSpPr>
        <p:spPr>
          <a:xfrm>
            <a:off x="3566160" y="2286000"/>
            <a:ext cx="192024" cy="914"/>
          </a:xfrm>
          <a:prstGeom prst="line">
            <a:avLst/>
          </a:prstGeom>
          <a:noFill/>
          <a:ln w="25400">
            <a:solidFill>
              <a:schemeClr val="accent4"/>
            </a:solidFill>
            <a:prstDash val="solid"/>
            <a:tailEnd type="triangle"/>
          </a:ln>
        </p:spPr>
      </p:sp>
      <p:sp>
        <p:nvSpPr>
          <p:cNvPr id="12" name="layer Staging"/>
          <p:cNvSpPr/>
          <p:nvPr/>
        </p:nvSpPr>
        <p:spPr>
          <a:xfrm>
            <a:off x="3785616" y="1828800"/>
            <a:ext cx="1371600" cy="914400"/>
          </a:xfrm>
          <a:prstGeom prst="roundRect">
            <a:avLst>
              <a:gd name="adj" fmla="val 10000"/>
            </a:avLst>
          </a:prstGeom>
          <a:solidFill>
            <a:schemeClr val="tx2"/>
          </a:solidFill>
          <a:ln/>
        </p:spPr>
      </p:sp>
      <p:sp>
        <p:nvSpPr>
          <p:cNvPr id="13" name="Text 10"/>
          <p:cNvSpPr txBox="1"/>
          <p:nvPr/>
        </p:nvSpPr>
        <p:spPr>
          <a:xfrm>
            <a:off x="3785616" y="1828800"/>
            <a:ext cx="1371600" cy="9144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Staging</a:t>
            </a:r>
            <a:endParaRPr lang="en-US" sz="1500" dirty="0"/>
          </a:p>
        </p:txBody>
      </p:sp>
      <p:sp>
        <p:nvSpPr>
          <p:cNvPr id="14" name="Text 11"/>
          <p:cNvSpPr txBox="1"/>
          <p:nvPr/>
        </p:nvSpPr>
        <p:spPr>
          <a:xfrm>
            <a:off x="3739896" y="2880360"/>
            <a:ext cx="1463040" cy="822960"/>
          </a:xfrm>
          <a:prstGeom prst="rect">
            <a:avLst/>
          </a:prstGeom>
          <a:noFill/>
          <a:ln/>
        </p:spPr>
        <p:txBody>
          <a:bodyPr wrap="square" lIns="0" tIns="0" rIns="0" bIns="0" rtlCol="0" anchor="t"/>
          <a:lstStyle/>
          <a:p>
            <a:pPr algn="ctr" indent="0" marL="0">
              <a:buNone/>
            </a:pPr>
            <a:r>
              <a:rPr lang="en-US" sz="1300" dirty="0">
                <a:solidFill>
                  <a:schemeClr val="tx1"/>
                </a:solidFill>
              </a:rPr>
              <a:t>Harmonise names, cast types</a:t>
            </a:r>
            <a:endParaRPr lang="en-US" sz="1300" dirty="0"/>
          </a:p>
        </p:txBody>
      </p:sp>
      <p:sp>
        <p:nvSpPr>
          <p:cNvPr id="15" name="Shape 12"/>
          <p:cNvSpPr/>
          <p:nvPr/>
        </p:nvSpPr>
        <p:spPr>
          <a:xfrm>
            <a:off x="5184648" y="2286000"/>
            <a:ext cx="192024" cy="914"/>
          </a:xfrm>
          <a:prstGeom prst="line">
            <a:avLst/>
          </a:prstGeom>
          <a:noFill/>
          <a:ln w="25400">
            <a:solidFill>
              <a:schemeClr val="accent4"/>
            </a:solidFill>
            <a:prstDash val="solid"/>
            <a:tailEnd type="triangle"/>
          </a:ln>
        </p:spPr>
      </p:sp>
      <p:sp>
        <p:nvSpPr>
          <p:cNvPr id="16" name="layer Cleaned"/>
          <p:cNvSpPr/>
          <p:nvPr/>
        </p:nvSpPr>
        <p:spPr>
          <a:xfrm>
            <a:off x="5404104" y="1828800"/>
            <a:ext cx="1371600" cy="914400"/>
          </a:xfrm>
          <a:prstGeom prst="roundRect">
            <a:avLst>
              <a:gd name="adj" fmla="val 10000"/>
            </a:avLst>
          </a:prstGeom>
          <a:solidFill>
            <a:schemeClr val="tx2"/>
          </a:solidFill>
          <a:ln/>
        </p:spPr>
      </p:sp>
      <p:sp>
        <p:nvSpPr>
          <p:cNvPr id="17" name="Text 14"/>
          <p:cNvSpPr txBox="1"/>
          <p:nvPr/>
        </p:nvSpPr>
        <p:spPr>
          <a:xfrm>
            <a:off x="5404104" y="1828800"/>
            <a:ext cx="1371600" cy="9144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Cleaned</a:t>
            </a:r>
            <a:endParaRPr lang="en-US" sz="1500" dirty="0"/>
          </a:p>
        </p:txBody>
      </p:sp>
      <p:sp>
        <p:nvSpPr>
          <p:cNvPr id="18" name="Text 15"/>
          <p:cNvSpPr txBox="1"/>
          <p:nvPr/>
        </p:nvSpPr>
        <p:spPr>
          <a:xfrm>
            <a:off x="5358384" y="2880360"/>
            <a:ext cx="1463040" cy="822960"/>
          </a:xfrm>
          <a:prstGeom prst="rect">
            <a:avLst/>
          </a:prstGeom>
          <a:noFill/>
          <a:ln/>
        </p:spPr>
        <p:txBody>
          <a:bodyPr wrap="square" lIns="0" tIns="0" rIns="0" bIns="0" rtlCol="0" anchor="t"/>
          <a:lstStyle/>
          <a:p>
            <a:pPr algn="ctr" indent="0" marL="0">
              <a:buNone/>
            </a:pPr>
            <a:r>
              <a:rPr lang="en-US" sz="1300" dirty="0">
                <a:solidFill>
                  <a:schemeClr val="tx1"/>
                </a:solidFill>
              </a:rPr>
              <a:t>22 rules + reject log</a:t>
            </a:r>
            <a:endParaRPr lang="en-US" sz="1300" dirty="0"/>
          </a:p>
        </p:txBody>
      </p:sp>
      <p:sp>
        <p:nvSpPr>
          <p:cNvPr id="19" name="Shape 16"/>
          <p:cNvSpPr/>
          <p:nvPr/>
        </p:nvSpPr>
        <p:spPr>
          <a:xfrm>
            <a:off x="6803136" y="2286000"/>
            <a:ext cx="192024" cy="914"/>
          </a:xfrm>
          <a:prstGeom prst="line">
            <a:avLst/>
          </a:prstGeom>
          <a:noFill/>
          <a:ln w="25400">
            <a:solidFill>
              <a:schemeClr val="accent4"/>
            </a:solidFill>
            <a:prstDash val="solid"/>
            <a:tailEnd type="triangle"/>
          </a:ln>
        </p:spPr>
      </p:sp>
      <p:sp>
        <p:nvSpPr>
          <p:cNvPr id="20" name="layer Analytics"/>
          <p:cNvSpPr/>
          <p:nvPr/>
        </p:nvSpPr>
        <p:spPr>
          <a:xfrm>
            <a:off x="7022592" y="1828800"/>
            <a:ext cx="1371600" cy="914400"/>
          </a:xfrm>
          <a:prstGeom prst="roundRect">
            <a:avLst>
              <a:gd name="adj" fmla="val 10000"/>
            </a:avLst>
          </a:prstGeom>
          <a:solidFill>
            <a:schemeClr val="tx2"/>
          </a:solidFill>
          <a:ln/>
        </p:spPr>
      </p:sp>
      <p:sp>
        <p:nvSpPr>
          <p:cNvPr id="21" name="Text 18"/>
          <p:cNvSpPr txBox="1"/>
          <p:nvPr/>
        </p:nvSpPr>
        <p:spPr>
          <a:xfrm>
            <a:off x="7022592" y="1828800"/>
            <a:ext cx="1371600" cy="9144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Analytics</a:t>
            </a:r>
            <a:endParaRPr lang="en-US" sz="1500" dirty="0"/>
          </a:p>
        </p:txBody>
      </p:sp>
      <p:sp>
        <p:nvSpPr>
          <p:cNvPr id="22" name="Text 19"/>
          <p:cNvSpPr txBox="1"/>
          <p:nvPr/>
        </p:nvSpPr>
        <p:spPr>
          <a:xfrm>
            <a:off x="6976872" y="2880360"/>
            <a:ext cx="1463040" cy="822960"/>
          </a:xfrm>
          <a:prstGeom prst="rect">
            <a:avLst/>
          </a:prstGeom>
          <a:noFill/>
          <a:ln/>
        </p:spPr>
        <p:txBody>
          <a:bodyPr wrap="square" lIns="0" tIns="0" rIns="0" bIns="0" rtlCol="0" anchor="t"/>
          <a:lstStyle/>
          <a:p>
            <a:pPr algn="ctr" indent="0" marL="0">
              <a:buNone/>
            </a:pPr>
            <a:r>
              <a:rPr lang="en-US" sz="1300" dirty="0">
                <a:solidFill>
                  <a:schemeClr val="tx1"/>
                </a:solidFill>
              </a:rPr>
              <a:t>Weather join, features, star schema</a:t>
            </a:r>
            <a:endParaRPr lang="en-US" sz="1300" dirty="0"/>
          </a:p>
        </p:txBody>
      </p:sp>
      <p:sp>
        <p:nvSpPr>
          <p:cNvPr id="23" name="Shape 20"/>
          <p:cNvSpPr/>
          <p:nvPr/>
        </p:nvSpPr>
        <p:spPr>
          <a:xfrm>
            <a:off x="8421624" y="2286000"/>
            <a:ext cx="192024" cy="914"/>
          </a:xfrm>
          <a:prstGeom prst="line">
            <a:avLst/>
          </a:prstGeom>
          <a:noFill/>
          <a:ln w="25400">
            <a:solidFill>
              <a:schemeClr val="accent4"/>
            </a:solidFill>
            <a:prstDash val="solid"/>
            <a:tailEnd type="triangle"/>
          </a:ln>
        </p:spPr>
      </p:sp>
      <p:sp>
        <p:nvSpPr>
          <p:cNvPr id="24" name="layer Warehouse"/>
          <p:cNvSpPr/>
          <p:nvPr/>
        </p:nvSpPr>
        <p:spPr>
          <a:xfrm>
            <a:off x="8641080" y="1828800"/>
            <a:ext cx="1371600" cy="914400"/>
          </a:xfrm>
          <a:prstGeom prst="roundRect">
            <a:avLst>
              <a:gd name="adj" fmla="val 10000"/>
            </a:avLst>
          </a:prstGeom>
          <a:solidFill>
            <a:schemeClr val="tx2"/>
          </a:solidFill>
          <a:ln/>
        </p:spPr>
      </p:sp>
      <p:sp>
        <p:nvSpPr>
          <p:cNvPr id="25" name="Text 22"/>
          <p:cNvSpPr txBox="1"/>
          <p:nvPr/>
        </p:nvSpPr>
        <p:spPr>
          <a:xfrm>
            <a:off x="8641080" y="1828800"/>
            <a:ext cx="1371600" cy="914400"/>
          </a:xfrm>
          <a:prstGeom prst="rect">
            <a:avLst/>
          </a:prstGeom>
          <a:noFill/>
          <a:ln/>
        </p:spPr>
        <p:txBody>
          <a:bodyPr wrap="square" lIns="0" tIns="0" rIns="0" bIns="0" rtlCol="0" anchor="ctr"/>
          <a:lstStyle/>
          <a:p>
            <a:pPr algn="ctr" indent="0" marL="0">
              <a:buNone/>
            </a:pPr>
            <a:r>
              <a:rPr lang="en-US" sz="1500" b="1" dirty="0">
                <a:solidFill>
                  <a:schemeClr val="bg1"/>
                </a:solidFill>
                <a:latin typeface="Arial" pitchFamily="34" charset="0"/>
                <a:ea typeface="Arial" pitchFamily="34" charset="-122"/>
                <a:cs typeface="Arial" pitchFamily="34" charset="-120"/>
              </a:rPr>
              <a:t>Warehouse</a:t>
            </a:r>
            <a:endParaRPr lang="en-US" sz="1500" dirty="0"/>
          </a:p>
        </p:txBody>
      </p:sp>
      <p:sp>
        <p:nvSpPr>
          <p:cNvPr id="26" name="Text 23"/>
          <p:cNvSpPr txBox="1"/>
          <p:nvPr/>
        </p:nvSpPr>
        <p:spPr>
          <a:xfrm>
            <a:off x="8595360" y="2880360"/>
            <a:ext cx="1463040" cy="822960"/>
          </a:xfrm>
          <a:prstGeom prst="rect">
            <a:avLst/>
          </a:prstGeom>
          <a:noFill/>
          <a:ln/>
        </p:spPr>
        <p:txBody>
          <a:bodyPr wrap="square" lIns="0" tIns="0" rIns="0" bIns="0" rtlCol="0" anchor="t"/>
          <a:lstStyle/>
          <a:p>
            <a:pPr algn="ctr" indent="0" marL="0">
              <a:buNone/>
            </a:pPr>
            <a:r>
              <a:rPr lang="en-US" sz="1300" dirty="0">
                <a:solidFill>
                  <a:schemeClr val="tx1"/>
                </a:solidFill>
              </a:rPr>
              <a:t>PostgreSQL + PostGIS</a:t>
            </a:r>
            <a:endParaRPr lang="en-US" sz="1300" dirty="0"/>
          </a:p>
        </p:txBody>
      </p:sp>
      <p:sp>
        <p:nvSpPr>
          <p:cNvPr id="27" name="Shape 24"/>
          <p:cNvSpPr/>
          <p:nvPr/>
        </p:nvSpPr>
        <p:spPr>
          <a:xfrm>
            <a:off x="10040112" y="2286000"/>
            <a:ext cx="192024" cy="914"/>
          </a:xfrm>
          <a:prstGeom prst="line">
            <a:avLst/>
          </a:prstGeom>
          <a:noFill/>
          <a:ln w="25400">
            <a:solidFill>
              <a:schemeClr val="accent4"/>
            </a:solidFill>
            <a:prstDash val="solid"/>
            <a:tailEnd type="triangle"/>
          </a:ln>
        </p:spPr>
      </p:sp>
      <p:sp>
        <p:nvSpPr>
          <p:cNvPr id="28" name="layer Consumers"/>
          <p:cNvSpPr/>
          <p:nvPr/>
        </p:nvSpPr>
        <p:spPr>
          <a:xfrm>
            <a:off x="10259568" y="1828800"/>
            <a:ext cx="1371600" cy="914400"/>
          </a:xfrm>
          <a:prstGeom prst="roundRect">
            <a:avLst>
              <a:gd name="adj" fmla="val 10000"/>
            </a:avLst>
          </a:prstGeom>
          <a:solidFill>
            <a:schemeClr val="accent1"/>
          </a:solidFill>
          <a:ln/>
        </p:spPr>
      </p:sp>
      <p:sp>
        <p:nvSpPr>
          <p:cNvPr id="29" name="Text 26"/>
          <p:cNvSpPr txBox="1"/>
          <p:nvPr/>
        </p:nvSpPr>
        <p:spPr>
          <a:xfrm>
            <a:off x="10259568" y="1828800"/>
            <a:ext cx="1371600" cy="914400"/>
          </a:xfrm>
          <a:prstGeom prst="rect">
            <a:avLst/>
          </a:prstGeom>
          <a:noFill/>
          <a:ln/>
        </p:spPr>
        <p:txBody>
          <a:bodyPr wrap="square" lIns="0" tIns="0" rIns="0" bIns="0" rtlCol="0" anchor="ctr"/>
          <a:lstStyle/>
          <a:p>
            <a:pPr algn="ctr" indent="0" marL="0">
              <a:buNone/>
            </a:pPr>
            <a:r>
              <a:rPr lang="en-US" sz="1500" b="1" dirty="0">
                <a:solidFill>
                  <a:schemeClr val="tx1"/>
                </a:solidFill>
                <a:latin typeface="Arial" pitchFamily="34" charset="0"/>
                <a:ea typeface="Arial" pitchFamily="34" charset="-122"/>
                <a:cs typeface="Arial" pitchFamily="34" charset="-120"/>
              </a:rPr>
              <a:t>Consumers</a:t>
            </a:r>
            <a:endParaRPr lang="en-US" sz="1500" dirty="0"/>
          </a:p>
        </p:txBody>
      </p:sp>
      <p:sp>
        <p:nvSpPr>
          <p:cNvPr id="30" name="Text 27"/>
          <p:cNvSpPr txBox="1"/>
          <p:nvPr/>
        </p:nvSpPr>
        <p:spPr>
          <a:xfrm>
            <a:off x="10213848" y="2880360"/>
            <a:ext cx="1463040" cy="822960"/>
          </a:xfrm>
          <a:prstGeom prst="rect">
            <a:avLst/>
          </a:prstGeom>
          <a:noFill/>
          <a:ln/>
        </p:spPr>
        <p:txBody>
          <a:bodyPr wrap="square" lIns="0" tIns="0" rIns="0" bIns="0" rtlCol="0" anchor="t"/>
          <a:lstStyle/>
          <a:p>
            <a:pPr algn="ctr" indent="0" marL="0">
              <a:buNone/>
            </a:pPr>
            <a:r>
              <a:rPr lang="en-US" sz="1300" dirty="0">
                <a:solidFill>
                  <a:schemeClr val="tx1"/>
                </a:solidFill>
              </a:rPr>
              <a:t>Dashboard · ML table → Part 2</a:t>
            </a:r>
            <a:endParaRPr lang="en-US" sz="1300" dirty="0"/>
          </a:p>
        </p:txBody>
      </p:sp>
      <p:sp>
        <p:nvSpPr>
          <p:cNvPr id="31" name="orchestration card"/>
          <p:cNvSpPr/>
          <p:nvPr/>
        </p:nvSpPr>
        <p:spPr>
          <a:xfrm>
            <a:off x="548640" y="4069080"/>
            <a:ext cx="11064240" cy="1920240"/>
          </a:xfrm>
          <a:prstGeom prst="roundRect">
            <a:avLst>
              <a:gd name="adj" fmla="val 4762"/>
            </a:avLst>
          </a:prstGeom>
          <a:solidFill>
            <a:schemeClr val="bg2"/>
          </a:solidFill>
          <a:ln/>
        </p:spPr>
      </p:sp>
      <p:sp>
        <p:nvSpPr>
          <p:cNvPr id="32" name="icon-circle FaCogs"/>
          <p:cNvSpPr/>
          <p:nvPr/>
        </p:nvSpPr>
        <p:spPr>
          <a:xfrm>
            <a:off x="868680" y="4389120"/>
            <a:ext cx="640080" cy="640080"/>
          </a:xfrm>
          <a:prstGeom prst="ellipse">
            <a:avLst/>
          </a:prstGeom>
          <a:solidFill>
            <a:schemeClr val="accent1"/>
          </a:solidFill>
          <a:ln/>
        </p:spPr>
      </p:sp>
      <p:pic>
        <p:nvPicPr>
          <p:cNvPr id="33" name="icon FaCogs" descr="Cogs icon">    </p:cNvPr>
          <p:cNvPicPr>
            <a:picLocks noChangeAspect="1"/>
          </p:cNvPicPr>
          <p:nvPr/>
        </p:nvPicPr>
        <p:blipFill>
          <a:blip r:embed="rId1"/>
          <a:stretch>
            <a:fillRect/>
          </a:stretch>
        </p:blipFill>
        <p:spPr>
          <a:xfrm>
            <a:off x="1022299" y="4542739"/>
            <a:ext cx="332842" cy="332842"/>
          </a:xfrm>
          <a:prstGeom prst="rect">
            <a:avLst/>
          </a:prstGeom>
        </p:spPr>
      </p:pic>
      <p:sp>
        <p:nvSpPr>
          <p:cNvPr id="34" name="Text 30"/>
          <p:cNvSpPr txBox="1"/>
          <p:nvPr/>
        </p:nvSpPr>
        <p:spPr>
          <a:xfrm>
            <a:off x="1737360" y="4389120"/>
            <a:ext cx="914400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Orchestration and storage format</a:t>
            </a:r>
            <a:endParaRPr lang="en-US" sz="1700" dirty="0"/>
          </a:p>
        </p:txBody>
      </p:sp>
      <p:sp>
        <p:nvSpPr>
          <p:cNvPr id="35" name="Text 31"/>
          <p:cNvSpPr txBox="1"/>
          <p:nvPr/>
        </p:nvSpPr>
        <p:spPr>
          <a:xfrm>
            <a:off x="1737360" y="4800600"/>
            <a:ext cx="9601200" cy="11430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Apache Airflow runs every step; the same steps also run from a CLI (traffic-pipeline run)</a:t>
            </a:r>
            <a:endParaRPr lang="en-US" sz="1400" dirty="0"/>
          </a:p>
          <a:p>
            <a:pPr marL="228600" indent="-228600">
              <a:spcAft>
                <a:spcPts val="800"/>
              </a:spcAft>
              <a:buSzPct val="100000"/>
              <a:buChar char="•"/>
            </a:pPr>
            <a:r>
              <a:rPr lang="en-US" sz="1400" dirty="0">
                <a:solidFill>
                  <a:schemeClr val="tx1"/>
                </a:solidFill>
              </a:rPr>
              <a:t>Each layer is saved as Parquet in its own folder per run – every intermediate state can be inspected</a:t>
            </a:r>
            <a:endParaRPr lang="en-US" sz="1400" dirty="0"/>
          </a:p>
          <a:p>
            <a:pPr marL="228600" indent="-228600">
              <a:spcAft>
                <a:spcPts val="800"/>
              </a:spcAft>
              <a:buSzPct val="100000"/>
              <a:buChar char="•"/>
            </a:pPr>
            <a:r>
              <a:rPr lang="en-US" sz="1400" dirty="0">
                <a:solidFill>
                  <a:schemeClr val="tx1"/>
                </a:solidFill>
              </a:rPr>
              <a:t>The warehouse is rebuilt from the cleaned layer on every run, so it always matches one pipeline run</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Airflow runs ten idempotent tasks</a:t>
            </a:r>
            <a:endParaRPr lang="en-US" sz="3200" dirty="0"/>
          </a:p>
        </p:txBody>
      </p:sp>
      <p:sp>
        <p:nvSpPr>
          <p:cNvPr id="4" name="task extract_stats19"/>
          <p:cNvSpPr/>
          <p:nvPr/>
        </p:nvSpPr>
        <p:spPr>
          <a:xfrm>
            <a:off x="548640" y="1508760"/>
            <a:ext cx="1965960" cy="640080"/>
          </a:xfrm>
          <a:prstGeom prst="roundRect">
            <a:avLst>
              <a:gd name="adj" fmla="val 50000"/>
            </a:avLst>
          </a:prstGeom>
          <a:solidFill>
            <a:schemeClr val="bg2"/>
          </a:solidFill>
          <a:ln w="12700">
            <a:solidFill>
              <a:schemeClr val="tx2"/>
            </a:solidFill>
            <a:prstDash val="solid"/>
          </a:ln>
        </p:spPr>
      </p:sp>
      <p:sp>
        <p:nvSpPr>
          <p:cNvPr id="5" name="task number"/>
          <p:cNvSpPr/>
          <p:nvPr/>
        </p:nvSpPr>
        <p:spPr>
          <a:xfrm>
            <a:off x="640080" y="1618488"/>
            <a:ext cx="420624" cy="420624"/>
          </a:xfrm>
          <a:prstGeom prst="ellipse">
            <a:avLst/>
          </a:prstGeom>
          <a:solidFill>
            <a:schemeClr val="accent1"/>
          </a:solidFill>
          <a:ln/>
        </p:spPr>
      </p:sp>
      <p:sp>
        <p:nvSpPr>
          <p:cNvPr id="6" name="Text 3"/>
          <p:cNvSpPr txBox="1"/>
          <p:nvPr/>
        </p:nvSpPr>
        <p:spPr>
          <a:xfrm>
            <a:off x="640080" y="161848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1097280" y="1508760"/>
            <a:ext cx="1399032" cy="640080"/>
          </a:xfrm>
          <a:prstGeom prst="rect">
            <a:avLst/>
          </a:prstGeom>
          <a:noFill/>
          <a:ln/>
        </p:spPr>
        <p:txBody>
          <a:bodyPr wrap="square" lIns="0" tIns="0" rIns="0" bIns="0" rtlCol="0" anchor="ctr"/>
          <a:lstStyle/>
          <a:p>
            <a:pPr indent="0" marL="0">
              <a:buNone/>
            </a:pPr>
            <a:r>
              <a:rPr lang="en-US" sz="1300" dirty="0">
                <a:solidFill>
                  <a:schemeClr val="tx2"/>
                </a:solidFill>
              </a:rPr>
              <a:t>extract_stats19</a:t>
            </a:r>
            <a:endParaRPr lang="en-US" sz="1300" dirty="0"/>
          </a:p>
        </p:txBody>
      </p:sp>
      <p:sp>
        <p:nvSpPr>
          <p:cNvPr id="8" name="Shape 5"/>
          <p:cNvSpPr/>
          <p:nvPr/>
        </p:nvSpPr>
        <p:spPr>
          <a:xfrm>
            <a:off x="2551176" y="1828800"/>
            <a:ext cx="228600" cy="914"/>
          </a:xfrm>
          <a:prstGeom prst="line">
            <a:avLst/>
          </a:prstGeom>
          <a:noFill/>
          <a:ln w="25400">
            <a:solidFill>
              <a:schemeClr val="accent4"/>
            </a:solidFill>
            <a:prstDash val="solid"/>
            <a:tailEnd type="triangle"/>
          </a:ln>
        </p:spPr>
      </p:sp>
      <p:sp>
        <p:nvSpPr>
          <p:cNvPr id="9" name="task stage_stats19"/>
          <p:cNvSpPr/>
          <p:nvPr/>
        </p:nvSpPr>
        <p:spPr>
          <a:xfrm>
            <a:off x="2816352" y="1508760"/>
            <a:ext cx="1965960" cy="640080"/>
          </a:xfrm>
          <a:prstGeom prst="roundRect">
            <a:avLst>
              <a:gd name="adj" fmla="val 50000"/>
            </a:avLst>
          </a:prstGeom>
          <a:solidFill>
            <a:schemeClr val="bg2"/>
          </a:solidFill>
          <a:ln w="12700">
            <a:solidFill>
              <a:schemeClr val="tx2"/>
            </a:solidFill>
            <a:prstDash val="solid"/>
          </a:ln>
        </p:spPr>
      </p:sp>
      <p:sp>
        <p:nvSpPr>
          <p:cNvPr id="10" name="task number"/>
          <p:cNvSpPr/>
          <p:nvPr/>
        </p:nvSpPr>
        <p:spPr>
          <a:xfrm>
            <a:off x="2907792" y="1618488"/>
            <a:ext cx="420624" cy="420624"/>
          </a:xfrm>
          <a:prstGeom prst="ellipse">
            <a:avLst/>
          </a:prstGeom>
          <a:solidFill>
            <a:schemeClr val="accent1"/>
          </a:solidFill>
          <a:ln/>
        </p:spPr>
      </p:sp>
      <p:sp>
        <p:nvSpPr>
          <p:cNvPr id="11" name="Text 8"/>
          <p:cNvSpPr txBox="1"/>
          <p:nvPr/>
        </p:nvSpPr>
        <p:spPr>
          <a:xfrm>
            <a:off x="2907792" y="161848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3364992" y="1508760"/>
            <a:ext cx="1399032" cy="640080"/>
          </a:xfrm>
          <a:prstGeom prst="rect">
            <a:avLst/>
          </a:prstGeom>
          <a:noFill/>
          <a:ln/>
        </p:spPr>
        <p:txBody>
          <a:bodyPr wrap="square" lIns="0" tIns="0" rIns="0" bIns="0" rtlCol="0" anchor="ctr"/>
          <a:lstStyle/>
          <a:p>
            <a:pPr indent="0" marL="0">
              <a:buNone/>
            </a:pPr>
            <a:r>
              <a:rPr lang="en-US" sz="1300" dirty="0">
                <a:solidFill>
                  <a:schemeClr val="tx2"/>
                </a:solidFill>
              </a:rPr>
              <a:t>stage_stats19</a:t>
            </a:r>
            <a:endParaRPr lang="en-US" sz="1300" dirty="0"/>
          </a:p>
        </p:txBody>
      </p:sp>
      <p:sp>
        <p:nvSpPr>
          <p:cNvPr id="13" name="Shape 10"/>
          <p:cNvSpPr/>
          <p:nvPr/>
        </p:nvSpPr>
        <p:spPr>
          <a:xfrm>
            <a:off x="4818888" y="1828800"/>
            <a:ext cx="228600" cy="914"/>
          </a:xfrm>
          <a:prstGeom prst="line">
            <a:avLst/>
          </a:prstGeom>
          <a:noFill/>
          <a:ln w="25400">
            <a:solidFill>
              <a:schemeClr val="accent4"/>
            </a:solidFill>
            <a:prstDash val="solid"/>
            <a:tailEnd type="triangle"/>
          </a:ln>
        </p:spPr>
      </p:sp>
      <p:sp>
        <p:nvSpPr>
          <p:cNvPr id="14" name="task extract_weather"/>
          <p:cNvSpPr/>
          <p:nvPr/>
        </p:nvSpPr>
        <p:spPr>
          <a:xfrm>
            <a:off x="5084064" y="1508760"/>
            <a:ext cx="1965960" cy="640080"/>
          </a:xfrm>
          <a:prstGeom prst="roundRect">
            <a:avLst>
              <a:gd name="adj" fmla="val 50000"/>
            </a:avLst>
          </a:prstGeom>
          <a:solidFill>
            <a:schemeClr val="bg2"/>
          </a:solidFill>
          <a:ln w="12700">
            <a:solidFill>
              <a:schemeClr val="tx2"/>
            </a:solidFill>
            <a:prstDash val="solid"/>
          </a:ln>
        </p:spPr>
      </p:sp>
      <p:sp>
        <p:nvSpPr>
          <p:cNvPr id="15" name="task number"/>
          <p:cNvSpPr/>
          <p:nvPr/>
        </p:nvSpPr>
        <p:spPr>
          <a:xfrm>
            <a:off x="5175504" y="1618488"/>
            <a:ext cx="420624" cy="420624"/>
          </a:xfrm>
          <a:prstGeom prst="ellipse">
            <a:avLst/>
          </a:prstGeom>
          <a:solidFill>
            <a:schemeClr val="accent1"/>
          </a:solidFill>
          <a:ln/>
        </p:spPr>
      </p:sp>
      <p:sp>
        <p:nvSpPr>
          <p:cNvPr id="16" name="Text 13"/>
          <p:cNvSpPr txBox="1"/>
          <p:nvPr/>
        </p:nvSpPr>
        <p:spPr>
          <a:xfrm>
            <a:off x="5175504" y="161848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5632704" y="1508760"/>
            <a:ext cx="1399032" cy="640080"/>
          </a:xfrm>
          <a:prstGeom prst="rect">
            <a:avLst/>
          </a:prstGeom>
          <a:noFill/>
          <a:ln/>
        </p:spPr>
        <p:txBody>
          <a:bodyPr wrap="square" lIns="0" tIns="0" rIns="0" bIns="0" rtlCol="0" anchor="ctr"/>
          <a:lstStyle/>
          <a:p>
            <a:pPr indent="0" marL="0">
              <a:buNone/>
            </a:pPr>
            <a:r>
              <a:rPr lang="en-US" sz="1300" dirty="0">
                <a:solidFill>
                  <a:schemeClr val="tx2"/>
                </a:solidFill>
              </a:rPr>
              <a:t>extract_weather</a:t>
            </a:r>
            <a:endParaRPr lang="en-US" sz="1300" dirty="0"/>
          </a:p>
        </p:txBody>
      </p:sp>
      <p:sp>
        <p:nvSpPr>
          <p:cNvPr id="18" name="Shape 15"/>
          <p:cNvSpPr/>
          <p:nvPr/>
        </p:nvSpPr>
        <p:spPr>
          <a:xfrm>
            <a:off x="7086600" y="1828800"/>
            <a:ext cx="228600" cy="914"/>
          </a:xfrm>
          <a:prstGeom prst="line">
            <a:avLst/>
          </a:prstGeom>
          <a:noFill/>
          <a:ln w="25400">
            <a:solidFill>
              <a:schemeClr val="accent4"/>
            </a:solidFill>
            <a:prstDash val="solid"/>
            <a:tailEnd type="triangle"/>
          </a:ln>
        </p:spPr>
      </p:sp>
      <p:sp>
        <p:nvSpPr>
          <p:cNvPr id="19" name="task stage_weather"/>
          <p:cNvSpPr/>
          <p:nvPr/>
        </p:nvSpPr>
        <p:spPr>
          <a:xfrm>
            <a:off x="7351776" y="1508760"/>
            <a:ext cx="1965960" cy="640080"/>
          </a:xfrm>
          <a:prstGeom prst="roundRect">
            <a:avLst>
              <a:gd name="adj" fmla="val 50000"/>
            </a:avLst>
          </a:prstGeom>
          <a:solidFill>
            <a:schemeClr val="bg2"/>
          </a:solidFill>
          <a:ln w="12700">
            <a:solidFill>
              <a:schemeClr val="tx2"/>
            </a:solidFill>
            <a:prstDash val="solid"/>
          </a:ln>
        </p:spPr>
      </p:sp>
      <p:sp>
        <p:nvSpPr>
          <p:cNvPr id="20" name="task number"/>
          <p:cNvSpPr/>
          <p:nvPr/>
        </p:nvSpPr>
        <p:spPr>
          <a:xfrm>
            <a:off x="7443216" y="1618488"/>
            <a:ext cx="420624" cy="420624"/>
          </a:xfrm>
          <a:prstGeom prst="ellipse">
            <a:avLst/>
          </a:prstGeom>
          <a:solidFill>
            <a:schemeClr val="accent1"/>
          </a:solidFill>
          <a:ln/>
        </p:spPr>
      </p:sp>
      <p:sp>
        <p:nvSpPr>
          <p:cNvPr id="21" name="Text 18"/>
          <p:cNvSpPr txBox="1"/>
          <p:nvPr/>
        </p:nvSpPr>
        <p:spPr>
          <a:xfrm>
            <a:off x="7443216" y="161848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2" name="Text 19"/>
          <p:cNvSpPr txBox="1"/>
          <p:nvPr/>
        </p:nvSpPr>
        <p:spPr>
          <a:xfrm>
            <a:off x="7900416" y="1508760"/>
            <a:ext cx="1399032" cy="640080"/>
          </a:xfrm>
          <a:prstGeom prst="rect">
            <a:avLst/>
          </a:prstGeom>
          <a:noFill/>
          <a:ln/>
        </p:spPr>
        <p:txBody>
          <a:bodyPr wrap="square" lIns="0" tIns="0" rIns="0" bIns="0" rtlCol="0" anchor="ctr"/>
          <a:lstStyle/>
          <a:p>
            <a:pPr indent="0" marL="0">
              <a:buNone/>
            </a:pPr>
            <a:r>
              <a:rPr lang="en-US" sz="1300" dirty="0">
                <a:solidFill>
                  <a:schemeClr val="tx2"/>
                </a:solidFill>
              </a:rPr>
              <a:t>stage_weather</a:t>
            </a:r>
            <a:endParaRPr lang="en-US" sz="1300" dirty="0"/>
          </a:p>
        </p:txBody>
      </p:sp>
      <p:sp>
        <p:nvSpPr>
          <p:cNvPr id="23" name="Shape 20"/>
          <p:cNvSpPr/>
          <p:nvPr/>
        </p:nvSpPr>
        <p:spPr>
          <a:xfrm>
            <a:off x="9354312" y="1828800"/>
            <a:ext cx="228600" cy="914"/>
          </a:xfrm>
          <a:prstGeom prst="line">
            <a:avLst/>
          </a:prstGeom>
          <a:noFill/>
          <a:ln w="25400">
            <a:solidFill>
              <a:schemeClr val="accent4"/>
            </a:solidFill>
            <a:prstDash val="solid"/>
            <a:tailEnd type="triangle"/>
          </a:ln>
        </p:spPr>
      </p:sp>
      <p:sp>
        <p:nvSpPr>
          <p:cNvPr id="24" name="task validate_and_clean"/>
          <p:cNvSpPr/>
          <p:nvPr/>
        </p:nvSpPr>
        <p:spPr>
          <a:xfrm>
            <a:off x="9619488" y="1508760"/>
            <a:ext cx="1965960" cy="640080"/>
          </a:xfrm>
          <a:prstGeom prst="roundRect">
            <a:avLst>
              <a:gd name="adj" fmla="val 50000"/>
            </a:avLst>
          </a:prstGeom>
          <a:solidFill>
            <a:schemeClr val="bg2"/>
          </a:solidFill>
          <a:ln w="12700">
            <a:solidFill>
              <a:schemeClr val="tx2"/>
            </a:solidFill>
            <a:prstDash val="solid"/>
          </a:ln>
        </p:spPr>
      </p:sp>
      <p:sp>
        <p:nvSpPr>
          <p:cNvPr id="25" name="task number"/>
          <p:cNvSpPr/>
          <p:nvPr/>
        </p:nvSpPr>
        <p:spPr>
          <a:xfrm>
            <a:off x="9710928" y="1618488"/>
            <a:ext cx="420624" cy="420624"/>
          </a:xfrm>
          <a:prstGeom prst="ellipse">
            <a:avLst/>
          </a:prstGeom>
          <a:solidFill>
            <a:schemeClr val="accent1"/>
          </a:solidFill>
          <a:ln/>
        </p:spPr>
      </p:sp>
      <p:sp>
        <p:nvSpPr>
          <p:cNvPr id="26" name="Text 23"/>
          <p:cNvSpPr txBox="1"/>
          <p:nvPr/>
        </p:nvSpPr>
        <p:spPr>
          <a:xfrm>
            <a:off x="9710928" y="161848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7" name="Text 24"/>
          <p:cNvSpPr txBox="1"/>
          <p:nvPr/>
        </p:nvSpPr>
        <p:spPr>
          <a:xfrm>
            <a:off x="10168128" y="1508760"/>
            <a:ext cx="1399032" cy="640080"/>
          </a:xfrm>
          <a:prstGeom prst="rect">
            <a:avLst/>
          </a:prstGeom>
          <a:noFill/>
          <a:ln/>
        </p:spPr>
        <p:txBody>
          <a:bodyPr wrap="square" lIns="0" tIns="0" rIns="0" bIns="0" rtlCol="0" anchor="ctr"/>
          <a:lstStyle/>
          <a:p>
            <a:pPr indent="0" marL="0">
              <a:buNone/>
            </a:pPr>
            <a:r>
              <a:rPr lang="en-US" sz="1300" dirty="0">
                <a:solidFill>
                  <a:schemeClr val="tx2"/>
                </a:solidFill>
              </a:rPr>
              <a:t>validate_and_clean</a:t>
            </a:r>
            <a:endParaRPr lang="en-US" sz="1300" dirty="0"/>
          </a:p>
        </p:txBody>
      </p:sp>
      <p:sp>
        <p:nvSpPr>
          <p:cNvPr id="28" name="task transform"/>
          <p:cNvSpPr/>
          <p:nvPr/>
        </p:nvSpPr>
        <p:spPr>
          <a:xfrm>
            <a:off x="548640" y="2560320"/>
            <a:ext cx="1965960" cy="640080"/>
          </a:xfrm>
          <a:prstGeom prst="roundRect">
            <a:avLst>
              <a:gd name="adj" fmla="val 50000"/>
            </a:avLst>
          </a:prstGeom>
          <a:solidFill>
            <a:schemeClr val="bg2"/>
          </a:solidFill>
          <a:ln w="12700">
            <a:solidFill>
              <a:schemeClr val="tx2"/>
            </a:solidFill>
            <a:prstDash val="solid"/>
          </a:ln>
        </p:spPr>
      </p:sp>
      <p:sp>
        <p:nvSpPr>
          <p:cNvPr id="29" name="task number"/>
          <p:cNvSpPr/>
          <p:nvPr/>
        </p:nvSpPr>
        <p:spPr>
          <a:xfrm>
            <a:off x="640080" y="2670048"/>
            <a:ext cx="420624" cy="420624"/>
          </a:xfrm>
          <a:prstGeom prst="ellipse">
            <a:avLst/>
          </a:prstGeom>
          <a:solidFill>
            <a:schemeClr val="accent1"/>
          </a:solidFill>
          <a:ln/>
        </p:spPr>
      </p:sp>
      <p:sp>
        <p:nvSpPr>
          <p:cNvPr id="30" name="Text 27"/>
          <p:cNvSpPr txBox="1"/>
          <p:nvPr/>
        </p:nvSpPr>
        <p:spPr>
          <a:xfrm>
            <a:off x="640080" y="267004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1" name="Text 28"/>
          <p:cNvSpPr txBox="1"/>
          <p:nvPr/>
        </p:nvSpPr>
        <p:spPr>
          <a:xfrm>
            <a:off x="1097280" y="2560320"/>
            <a:ext cx="1399032" cy="640080"/>
          </a:xfrm>
          <a:prstGeom prst="rect">
            <a:avLst/>
          </a:prstGeom>
          <a:noFill/>
          <a:ln/>
        </p:spPr>
        <p:txBody>
          <a:bodyPr wrap="square" lIns="0" tIns="0" rIns="0" bIns="0" rtlCol="0" anchor="ctr"/>
          <a:lstStyle/>
          <a:p>
            <a:pPr indent="0" marL="0">
              <a:buNone/>
            </a:pPr>
            <a:r>
              <a:rPr lang="en-US" sz="1300" dirty="0">
                <a:solidFill>
                  <a:schemeClr val="tx2"/>
                </a:solidFill>
              </a:rPr>
              <a:t>transform</a:t>
            </a:r>
            <a:endParaRPr lang="en-US" sz="1300" dirty="0"/>
          </a:p>
        </p:txBody>
      </p:sp>
      <p:sp>
        <p:nvSpPr>
          <p:cNvPr id="32" name="Shape 29"/>
          <p:cNvSpPr/>
          <p:nvPr/>
        </p:nvSpPr>
        <p:spPr>
          <a:xfrm>
            <a:off x="2551176" y="2880360"/>
            <a:ext cx="228600" cy="914"/>
          </a:xfrm>
          <a:prstGeom prst="line">
            <a:avLst/>
          </a:prstGeom>
          <a:noFill/>
          <a:ln w="25400">
            <a:solidFill>
              <a:schemeClr val="accent4"/>
            </a:solidFill>
            <a:prstDash val="solid"/>
            <a:tailEnd type="triangle"/>
          </a:ln>
        </p:spPr>
      </p:sp>
      <p:sp>
        <p:nvSpPr>
          <p:cNvPr id="33" name="task build_marts"/>
          <p:cNvSpPr/>
          <p:nvPr/>
        </p:nvSpPr>
        <p:spPr>
          <a:xfrm>
            <a:off x="2816352" y="2560320"/>
            <a:ext cx="1965960" cy="640080"/>
          </a:xfrm>
          <a:prstGeom prst="roundRect">
            <a:avLst>
              <a:gd name="adj" fmla="val 50000"/>
            </a:avLst>
          </a:prstGeom>
          <a:solidFill>
            <a:schemeClr val="bg2"/>
          </a:solidFill>
          <a:ln w="12700">
            <a:solidFill>
              <a:schemeClr val="tx2"/>
            </a:solidFill>
            <a:prstDash val="solid"/>
          </a:ln>
        </p:spPr>
      </p:sp>
      <p:sp>
        <p:nvSpPr>
          <p:cNvPr id="34" name="task number"/>
          <p:cNvSpPr/>
          <p:nvPr/>
        </p:nvSpPr>
        <p:spPr>
          <a:xfrm>
            <a:off x="2907792" y="2670048"/>
            <a:ext cx="420624" cy="420624"/>
          </a:xfrm>
          <a:prstGeom prst="ellipse">
            <a:avLst/>
          </a:prstGeom>
          <a:solidFill>
            <a:schemeClr val="accent1"/>
          </a:solidFill>
          <a:ln/>
        </p:spPr>
      </p:sp>
      <p:sp>
        <p:nvSpPr>
          <p:cNvPr id="35" name="Text 32"/>
          <p:cNvSpPr txBox="1"/>
          <p:nvPr/>
        </p:nvSpPr>
        <p:spPr>
          <a:xfrm>
            <a:off x="2907792" y="267004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36" name="Text 33"/>
          <p:cNvSpPr txBox="1"/>
          <p:nvPr/>
        </p:nvSpPr>
        <p:spPr>
          <a:xfrm>
            <a:off x="3364992" y="2560320"/>
            <a:ext cx="1399032" cy="640080"/>
          </a:xfrm>
          <a:prstGeom prst="rect">
            <a:avLst/>
          </a:prstGeom>
          <a:noFill/>
          <a:ln/>
        </p:spPr>
        <p:txBody>
          <a:bodyPr wrap="square" lIns="0" tIns="0" rIns="0" bIns="0" rtlCol="0" anchor="ctr"/>
          <a:lstStyle/>
          <a:p>
            <a:pPr indent="0" marL="0">
              <a:buNone/>
            </a:pPr>
            <a:r>
              <a:rPr lang="en-US" sz="1300" dirty="0">
                <a:solidFill>
                  <a:schemeClr val="tx2"/>
                </a:solidFill>
              </a:rPr>
              <a:t>build_marts</a:t>
            </a:r>
            <a:endParaRPr lang="en-US" sz="1300" dirty="0"/>
          </a:p>
        </p:txBody>
      </p:sp>
      <p:sp>
        <p:nvSpPr>
          <p:cNvPr id="37" name="Shape 34"/>
          <p:cNvSpPr/>
          <p:nvPr/>
        </p:nvSpPr>
        <p:spPr>
          <a:xfrm>
            <a:off x="4818888" y="2880360"/>
            <a:ext cx="228600" cy="914"/>
          </a:xfrm>
          <a:prstGeom prst="line">
            <a:avLst/>
          </a:prstGeom>
          <a:noFill/>
          <a:ln w="25400">
            <a:solidFill>
              <a:schemeClr val="accent4"/>
            </a:solidFill>
            <a:prstDash val="solid"/>
            <a:tailEnd type="triangle"/>
          </a:ln>
        </p:spPr>
      </p:sp>
      <p:sp>
        <p:nvSpPr>
          <p:cNvPr id="38" name="task load_warehouse"/>
          <p:cNvSpPr/>
          <p:nvPr/>
        </p:nvSpPr>
        <p:spPr>
          <a:xfrm>
            <a:off x="5084064" y="2560320"/>
            <a:ext cx="1965960" cy="640080"/>
          </a:xfrm>
          <a:prstGeom prst="roundRect">
            <a:avLst>
              <a:gd name="adj" fmla="val 50000"/>
            </a:avLst>
          </a:prstGeom>
          <a:solidFill>
            <a:schemeClr val="bg2"/>
          </a:solidFill>
          <a:ln w="12700">
            <a:solidFill>
              <a:schemeClr val="tx2"/>
            </a:solidFill>
            <a:prstDash val="solid"/>
          </a:ln>
        </p:spPr>
      </p:sp>
      <p:sp>
        <p:nvSpPr>
          <p:cNvPr id="39" name="task number"/>
          <p:cNvSpPr/>
          <p:nvPr/>
        </p:nvSpPr>
        <p:spPr>
          <a:xfrm>
            <a:off x="5175504" y="2670048"/>
            <a:ext cx="420624" cy="420624"/>
          </a:xfrm>
          <a:prstGeom prst="ellipse">
            <a:avLst/>
          </a:prstGeom>
          <a:solidFill>
            <a:schemeClr val="accent1"/>
          </a:solidFill>
          <a:ln/>
        </p:spPr>
      </p:sp>
      <p:sp>
        <p:nvSpPr>
          <p:cNvPr id="40" name="Text 37"/>
          <p:cNvSpPr txBox="1"/>
          <p:nvPr/>
        </p:nvSpPr>
        <p:spPr>
          <a:xfrm>
            <a:off x="5175504" y="267004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8</a:t>
            </a:r>
            <a:endParaRPr lang="en-US" sz="1400" dirty="0"/>
          </a:p>
        </p:txBody>
      </p:sp>
      <p:sp>
        <p:nvSpPr>
          <p:cNvPr id="41" name="Text 38"/>
          <p:cNvSpPr txBox="1"/>
          <p:nvPr/>
        </p:nvSpPr>
        <p:spPr>
          <a:xfrm>
            <a:off x="5632704" y="2560320"/>
            <a:ext cx="1399032" cy="640080"/>
          </a:xfrm>
          <a:prstGeom prst="rect">
            <a:avLst/>
          </a:prstGeom>
          <a:noFill/>
          <a:ln/>
        </p:spPr>
        <p:txBody>
          <a:bodyPr wrap="square" lIns="0" tIns="0" rIns="0" bIns="0" rtlCol="0" anchor="ctr"/>
          <a:lstStyle/>
          <a:p>
            <a:pPr indent="0" marL="0">
              <a:buNone/>
            </a:pPr>
            <a:r>
              <a:rPr lang="en-US" sz="1300" dirty="0">
                <a:solidFill>
                  <a:schemeClr val="tx2"/>
                </a:solidFill>
              </a:rPr>
              <a:t>load_warehouse</a:t>
            </a:r>
            <a:endParaRPr lang="en-US" sz="1300" dirty="0"/>
          </a:p>
        </p:txBody>
      </p:sp>
      <p:sp>
        <p:nvSpPr>
          <p:cNvPr id="42" name="Shape 39"/>
          <p:cNvSpPr/>
          <p:nvPr/>
        </p:nvSpPr>
        <p:spPr>
          <a:xfrm>
            <a:off x="7086600" y="2880360"/>
            <a:ext cx="228600" cy="914"/>
          </a:xfrm>
          <a:prstGeom prst="line">
            <a:avLst/>
          </a:prstGeom>
          <a:noFill/>
          <a:ln w="25400">
            <a:solidFill>
              <a:schemeClr val="accent4"/>
            </a:solidFill>
            <a:prstDash val="solid"/>
            <a:tailEnd type="triangle"/>
          </a:ln>
        </p:spPr>
      </p:sp>
      <p:sp>
        <p:nvSpPr>
          <p:cNvPr id="43" name="task verify_load"/>
          <p:cNvSpPr/>
          <p:nvPr/>
        </p:nvSpPr>
        <p:spPr>
          <a:xfrm>
            <a:off x="7351776" y="2560320"/>
            <a:ext cx="1965960" cy="640080"/>
          </a:xfrm>
          <a:prstGeom prst="roundRect">
            <a:avLst>
              <a:gd name="adj" fmla="val 50000"/>
            </a:avLst>
          </a:prstGeom>
          <a:solidFill>
            <a:schemeClr val="bg2"/>
          </a:solidFill>
          <a:ln w="12700">
            <a:solidFill>
              <a:schemeClr val="tx2"/>
            </a:solidFill>
            <a:prstDash val="solid"/>
          </a:ln>
        </p:spPr>
      </p:sp>
      <p:sp>
        <p:nvSpPr>
          <p:cNvPr id="44" name="task number"/>
          <p:cNvSpPr/>
          <p:nvPr/>
        </p:nvSpPr>
        <p:spPr>
          <a:xfrm>
            <a:off x="7443216" y="2670048"/>
            <a:ext cx="420624" cy="420624"/>
          </a:xfrm>
          <a:prstGeom prst="ellipse">
            <a:avLst/>
          </a:prstGeom>
          <a:solidFill>
            <a:schemeClr val="accent1"/>
          </a:solidFill>
          <a:ln/>
        </p:spPr>
      </p:sp>
      <p:sp>
        <p:nvSpPr>
          <p:cNvPr id="45" name="Text 42"/>
          <p:cNvSpPr txBox="1"/>
          <p:nvPr/>
        </p:nvSpPr>
        <p:spPr>
          <a:xfrm>
            <a:off x="7443216" y="267004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9</a:t>
            </a:r>
            <a:endParaRPr lang="en-US" sz="1400" dirty="0"/>
          </a:p>
        </p:txBody>
      </p:sp>
      <p:sp>
        <p:nvSpPr>
          <p:cNvPr id="46" name="Text 43"/>
          <p:cNvSpPr txBox="1"/>
          <p:nvPr/>
        </p:nvSpPr>
        <p:spPr>
          <a:xfrm>
            <a:off x="7900416" y="2560320"/>
            <a:ext cx="1399032" cy="640080"/>
          </a:xfrm>
          <a:prstGeom prst="rect">
            <a:avLst/>
          </a:prstGeom>
          <a:noFill/>
          <a:ln/>
        </p:spPr>
        <p:txBody>
          <a:bodyPr wrap="square" lIns="0" tIns="0" rIns="0" bIns="0" rtlCol="0" anchor="ctr"/>
          <a:lstStyle/>
          <a:p>
            <a:pPr indent="0" marL="0">
              <a:buNone/>
            </a:pPr>
            <a:r>
              <a:rPr lang="en-US" sz="1300" dirty="0">
                <a:solidFill>
                  <a:schemeClr val="tx2"/>
                </a:solidFill>
              </a:rPr>
              <a:t>verify_load</a:t>
            </a:r>
            <a:endParaRPr lang="en-US" sz="1300" dirty="0"/>
          </a:p>
        </p:txBody>
      </p:sp>
      <p:sp>
        <p:nvSpPr>
          <p:cNvPr id="47" name="Shape 44"/>
          <p:cNvSpPr/>
          <p:nvPr/>
        </p:nvSpPr>
        <p:spPr>
          <a:xfrm>
            <a:off x="9354312" y="2880360"/>
            <a:ext cx="228600" cy="914"/>
          </a:xfrm>
          <a:prstGeom prst="line">
            <a:avLst/>
          </a:prstGeom>
          <a:noFill/>
          <a:ln w="25400">
            <a:solidFill>
              <a:schemeClr val="accent4"/>
            </a:solidFill>
            <a:prstDash val="solid"/>
            <a:tailEnd type="triangle"/>
          </a:ln>
        </p:spPr>
      </p:sp>
      <p:sp>
        <p:nvSpPr>
          <p:cNvPr id="48" name="task publish_run_log"/>
          <p:cNvSpPr/>
          <p:nvPr/>
        </p:nvSpPr>
        <p:spPr>
          <a:xfrm>
            <a:off x="9619488" y="2560320"/>
            <a:ext cx="1965960" cy="640080"/>
          </a:xfrm>
          <a:prstGeom prst="roundRect">
            <a:avLst>
              <a:gd name="adj" fmla="val 50000"/>
            </a:avLst>
          </a:prstGeom>
          <a:solidFill>
            <a:schemeClr val="bg2"/>
          </a:solidFill>
          <a:ln w="12700">
            <a:solidFill>
              <a:schemeClr val="tx2"/>
            </a:solidFill>
            <a:prstDash val="solid"/>
          </a:ln>
        </p:spPr>
      </p:sp>
      <p:sp>
        <p:nvSpPr>
          <p:cNvPr id="49" name="task number"/>
          <p:cNvSpPr/>
          <p:nvPr/>
        </p:nvSpPr>
        <p:spPr>
          <a:xfrm>
            <a:off x="9710928" y="2670048"/>
            <a:ext cx="420624" cy="420624"/>
          </a:xfrm>
          <a:prstGeom prst="ellipse">
            <a:avLst/>
          </a:prstGeom>
          <a:solidFill>
            <a:schemeClr val="accent1"/>
          </a:solidFill>
          <a:ln/>
        </p:spPr>
      </p:sp>
      <p:sp>
        <p:nvSpPr>
          <p:cNvPr id="50" name="Text 47"/>
          <p:cNvSpPr txBox="1"/>
          <p:nvPr/>
        </p:nvSpPr>
        <p:spPr>
          <a:xfrm>
            <a:off x="9710928" y="2670048"/>
            <a:ext cx="420624" cy="420624"/>
          </a:xfrm>
          <a:prstGeom prst="rect">
            <a:avLst/>
          </a:prstGeom>
          <a:noFill/>
          <a:ln/>
        </p:spPr>
        <p:txBody>
          <a:bodyPr wrap="square" lIns="0" tIns="0" rIns="0" bIns="0" rtlCol="0" anchor="ctr"/>
          <a:lstStyle/>
          <a:p>
            <a:pPr algn="ctr" indent="0" marL="0">
              <a:buNone/>
            </a:pPr>
            <a:r>
              <a:rPr lang="en-US" sz="1400" b="1" dirty="0">
                <a:solidFill>
                  <a:schemeClr val="tx1"/>
                </a:solidFill>
              </a:rPr>
              <a:t>10</a:t>
            </a:r>
            <a:endParaRPr lang="en-US" sz="1400" dirty="0"/>
          </a:p>
        </p:txBody>
      </p:sp>
      <p:sp>
        <p:nvSpPr>
          <p:cNvPr id="51" name="Text 48"/>
          <p:cNvSpPr txBox="1"/>
          <p:nvPr/>
        </p:nvSpPr>
        <p:spPr>
          <a:xfrm>
            <a:off x="10168128" y="2560320"/>
            <a:ext cx="1399032" cy="640080"/>
          </a:xfrm>
          <a:prstGeom prst="rect">
            <a:avLst/>
          </a:prstGeom>
          <a:noFill/>
          <a:ln/>
        </p:spPr>
        <p:txBody>
          <a:bodyPr wrap="square" lIns="0" tIns="0" rIns="0" bIns="0" rtlCol="0" anchor="ctr"/>
          <a:lstStyle/>
          <a:p>
            <a:pPr indent="0" marL="0">
              <a:buNone/>
            </a:pPr>
            <a:r>
              <a:rPr lang="en-US" sz="1300" dirty="0">
                <a:solidFill>
                  <a:schemeClr val="tx2"/>
                </a:solidFill>
              </a:rPr>
              <a:t>publish_run_log</a:t>
            </a:r>
            <a:endParaRPr lang="en-US" sz="1300" dirty="0"/>
          </a:p>
        </p:txBody>
      </p:sp>
      <p:sp>
        <p:nvSpPr>
          <p:cNvPr id="52" name="Shape 49"/>
          <p:cNvSpPr/>
          <p:nvPr/>
        </p:nvSpPr>
        <p:spPr>
          <a:xfrm>
            <a:off x="10602468" y="2148840"/>
            <a:ext cx="914" cy="228600"/>
          </a:xfrm>
          <a:prstGeom prst="line">
            <a:avLst/>
          </a:prstGeom>
          <a:noFill/>
          <a:ln w="25400">
            <a:solidFill>
              <a:schemeClr val="accent4"/>
            </a:solidFill>
            <a:prstDash val="solid"/>
          </a:ln>
        </p:spPr>
      </p:sp>
      <p:sp>
        <p:nvSpPr>
          <p:cNvPr id="53" name="Shape 50"/>
          <p:cNvSpPr/>
          <p:nvPr/>
        </p:nvSpPr>
        <p:spPr>
          <a:xfrm>
            <a:off x="1531620" y="2377440"/>
            <a:ext cx="9070848" cy="914"/>
          </a:xfrm>
          <a:prstGeom prst="line">
            <a:avLst/>
          </a:prstGeom>
          <a:noFill/>
          <a:ln w="25400">
            <a:solidFill>
              <a:schemeClr val="accent4"/>
            </a:solidFill>
            <a:prstDash val="solid"/>
          </a:ln>
        </p:spPr>
      </p:sp>
      <p:sp>
        <p:nvSpPr>
          <p:cNvPr id="54" name="Shape 51"/>
          <p:cNvSpPr/>
          <p:nvPr/>
        </p:nvSpPr>
        <p:spPr>
          <a:xfrm>
            <a:off x="1531620" y="2377440"/>
            <a:ext cx="914" cy="164592"/>
          </a:xfrm>
          <a:prstGeom prst="line">
            <a:avLst/>
          </a:prstGeom>
          <a:noFill/>
          <a:ln w="25400">
            <a:solidFill>
              <a:schemeClr val="accent4"/>
            </a:solidFill>
            <a:prstDash val="solid"/>
            <a:tailEnd type="triangle"/>
          </a:ln>
        </p:spPr>
      </p:sp>
      <p:sp>
        <p:nvSpPr>
          <p:cNvPr id="55" name="icon-circle FaCalendarAlt"/>
          <p:cNvSpPr/>
          <p:nvPr/>
        </p:nvSpPr>
        <p:spPr>
          <a:xfrm>
            <a:off x="548640" y="3611880"/>
            <a:ext cx="548640" cy="548640"/>
          </a:xfrm>
          <a:prstGeom prst="ellipse">
            <a:avLst/>
          </a:prstGeom>
          <a:solidFill>
            <a:schemeClr val="accent1"/>
          </a:solidFill>
          <a:ln/>
        </p:spPr>
      </p:sp>
      <p:pic>
        <p:nvPicPr>
          <p:cNvPr id="56" name="icon FaCalendarAlt" descr="CalendarAlt icon">    </p:cNvPr>
          <p:cNvPicPr>
            <a:picLocks noChangeAspect="1"/>
          </p:cNvPicPr>
          <p:nvPr/>
        </p:nvPicPr>
        <p:blipFill>
          <a:blip r:embed="rId1"/>
          <a:stretch>
            <a:fillRect/>
          </a:stretch>
        </p:blipFill>
        <p:spPr>
          <a:xfrm>
            <a:off x="680314" y="3743554"/>
            <a:ext cx="285293" cy="285293"/>
          </a:xfrm>
          <a:prstGeom prst="rect">
            <a:avLst/>
          </a:prstGeom>
        </p:spPr>
      </p:pic>
      <p:sp>
        <p:nvSpPr>
          <p:cNvPr id="57" name="Text 53"/>
          <p:cNvSpPr txBox="1"/>
          <p:nvPr/>
        </p:nvSpPr>
        <p:spPr>
          <a:xfrm>
            <a:off x="548640" y="4343400"/>
            <a:ext cx="25603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Monthly schedule</a:t>
            </a:r>
            <a:endParaRPr lang="en-US" sz="1700" dirty="0"/>
          </a:p>
        </p:txBody>
      </p:sp>
      <p:sp>
        <p:nvSpPr>
          <p:cNvPr id="58" name="Text 54"/>
          <p:cNvSpPr txBox="1"/>
          <p:nvPr/>
        </p:nvSpPr>
        <p:spPr>
          <a:xfrm>
            <a:off x="548640" y="4754880"/>
            <a:ext cx="2560320" cy="1097280"/>
          </a:xfrm>
          <a:prstGeom prst="rect">
            <a:avLst/>
          </a:prstGeom>
          <a:noFill/>
          <a:ln/>
        </p:spPr>
        <p:txBody>
          <a:bodyPr wrap="square" lIns="0" tIns="0" rIns="0" bIns="0" rtlCol="0" anchor="t"/>
          <a:lstStyle/>
          <a:p>
            <a:pPr indent="0" marL="0">
              <a:buNone/>
            </a:pPr>
            <a:r>
              <a:rPr lang="en-US" sz="1400" dirty="0">
                <a:solidFill>
                  <a:schemeClr val="tx1"/>
                </a:solidFill>
              </a:rPr>
              <a:t>02:00 on the 1st of each month; one run at a time, no catch-up</a:t>
            </a:r>
            <a:endParaRPr lang="en-US" sz="1400" dirty="0"/>
          </a:p>
        </p:txBody>
      </p:sp>
      <p:sp>
        <p:nvSpPr>
          <p:cNvPr id="59" name="icon-circle FaRedo"/>
          <p:cNvSpPr/>
          <p:nvPr/>
        </p:nvSpPr>
        <p:spPr>
          <a:xfrm>
            <a:off x="3383280" y="3611880"/>
            <a:ext cx="548640" cy="548640"/>
          </a:xfrm>
          <a:prstGeom prst="ellipse">
            <a:avLst/>
          </a:prstGeom>
          <a:solidFill>
            <a:schemeClr val="accent1"/>
          </a:solidFill>
          <a:ln/>
        </p:spPr>
      </p:sp>
      <p:pic>
        <p:nvPicPr>
          <p:cNvPr id="60" name="icon FaRedo" descr="Redo icon">    </p:cNvPr>
          <p:cNvPicPr>
            <a:picLocks noChangeAspect="1"/>
          </p:cNvPicPr>
          <p:nvPr/>
        </p:nvPicPr>
        <p:blipFill>
          <a:blip r:embed="rId2"/>
          <a:stretch>
            <a:fillRect/>
          </a:stretch>
        </p:blipFill>
        <p:spPr>
          <a:xfrm>
            <a:off x="3514954" y="3743554"/>
            <a:ext cx="285293" cy="285293"/>
          </a:xfrm>
          <a:prstGeom prst="rect">
            <a:avLst/>
          </a:prstGeom>
        </p:spPr>
      </p:pic>
      <p:sp>
        <p:nvSpPr>
          <p:cNvPr id="61" name="Text 56"/>
          <p:cNvSpPr txBox="1"/>
          <p:nvPr/>
        </p:nvSpPr>
        <p:spPr>
          <a:xfrm>
            <a:off x="3383280" y="4343400"/>
            <a:ext cx="25603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Retries</a:t>
            </a:r>
            <a:endParaRPr lang="en-US" sz="1700" dirty="0"/>
          </a:p>
        </p:txBody>
      </p:sp>
      <p:sp>
        <p:nvSpPr>
          <p:cNvPr id="62" name="Text 57"/>
          <p:cNvSpPr txBox="1"/>
          <p:nvPr/>
        </p:nvSpPr>
        <p:spPr>
          <a:xfrm>
            <a:off x="3383280" y="4754880"/>
            <a:ext cx="2560320" cy="1097280"/>
          </a:xfrm>
          <a:prstGeom prst="rect">
            <a:avLst/>
          </a:prstGeom>
          <a:noFill/>
          <a:ln/>
        </p:spPr>
        <p:txBody>
          <a:bodyPr wrap="square" lIns="0" tIns="0" rIns="0" bIns="0" rtlCol="0" anchor="t"/>
          <a:lstStyle/>
          <a:p>
            <a:pPr indent="0" marL="0">
              <a:buNone/>
            </a:pPr>
            <a:r>
              <a:rPr lang="en-US" sz="1400" dirty="0">
                <a:solidFill>
                  <a:schemeClr val="tx1"/>
                </a:solidFill>
              </a:rPr>
              <a:t>2 retries per task; weather gets 3 with 30-minute delays (API quota)</a:t>
            </a:r>
            <a:endParaRPr lang="en-US" sz="1400" dirty="0"/>
          </a:p>
        </p:txBody>
      </p:sp>
      <p:sp>
        <p:nvSpPr>
          <p:cNvPr id="63" name="icon-circle FaFingerprint"/>
          <p:cNvSpPr/>
          <p:nvPr/>
        </p:nvSpPr>
        <p:spPr>
          <a:xfrm>
            <a:off x="6217920" y="3611880"/>
            <a:ext cx="548640" cy="548640"/>
          </a:xfrm>
          <a:prstGeom prst="ellipse">
            <a:avLst/>
          </a:prstGeom>
          <a:solidFill>
            <a:schemeClr val="accent1"/>
          </a:solidFill>
          <a:ln/>
        </p:spPr>
      </p:sp>
      <p:pic>
        <p:nvPicPr>
          <p:cNvPr id="64" name="icon FaFingerprint" descr="Fingerprint icon">    </p:cNvPr>
          <p:cNvPicPr>
            <a:picLocks noChangeAspect="1"/>
          </p:cNvPicPr>
          <p:nvPr/>
        </p:nvPicPr>
        <p:blipFill>
          <a:blip r:embed="rId3"/>
          <a:stretch>
            <a:fillRect/>
          </a:stretch>
        </p:blipFill>
        <p:spPr>
          <a:xfrm>
            <a:off x="6349594" y="3743554"/>
            <a:ext cx="285293" cy="285293"/>
          </a:xfrm>
          <a:prstGeom prst="rect">
            <a:avLst/>
          </a:prstGeom>
        </p:spPr>
      </p:pic>
      <p:sp>
        <p:nvSpPr>
          <p:cNvPr id="65" name="Text 59"/>
          <p:cNvSpPr txBox="1"/>
          <p:nvPr/>
        </p:nvSpPr>
        <p:spPr>
          <a:xfrm>
            <a:off x="6217920" y="4343400"/>
            <a:ext cx="25603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Idempotent</a:t>
            </a:r>
            <a:endParaRPr lang="en-US" sz="1700" dirty="0"/>
          </a:p>
        </p:txBody>
      </p:sp>
      <p:sp>
        <p:nvSpPr>
          <p:cNvPr id="66" name="Text 60"/>
          <p:cNvSpPr txBox="1"/>
          <p:nvPr/>
        </p:nvSpPr>
        <p:spPr>
          <a:xfrm>
            <a:off x="6217920" y="4754880"/>
            <a:ext cx="2560320" cy="1097280"/>
          </a:xfrm>
          <a:prstGeom prst="rect">
            <a:avLst/>
          </a:prstGeom>
          <a:noFill/>
          <a:ln/>
        </p:spPr>
        <p:txBody>
          <a:bodyPr wrap="square" lIns="0" tIns="0" rIns="0" bIns="0" rtlCol="0" anchor="t"/>
          <a:lstStyle/>
          <a:p>
            <a:pPr indent="0" marL="0">
              <a:buNone/>
            </a:pPr>
            <a:r>
              <a:rPr lang="en-US" sz="1400" dirty="0">
                <a:solidFill>
                  <a:schemeClr val="tx1"/>
                </a:solidFill>
              </a:rPr>
              <a:t>Shared run_id; data passes via run folders, so any task can re-run alone</a:t>
            </a:r>
            <a:endParaRPr lang="en-US" sz="1400" dirty="0"/>
          </a:p>
        </p:txBody>
      </p:sp>
      <p:sp>
        <p:nvSpPr>
          <p:cNvPr id="67" name="icon-circle FaHistory"/>
          <p:cNvSpPr/>
          <p:nvPr/>
        </p:nvSpPr>
        <p:spPr>
          <a:xfrm>
            <a:off x="9052560" y="3611880"/>
            <a:ext cx="548640" cy="548640"/>
          </a:xfrm>
          <a:prstGeom prst="ellipse">
            <a:avLst/>
          </a:prstGeom>
          <a:solidFill>
            <a:schemeClr val="accent1"/>
          </a:solidFill>
          <a:ln/>
        </p:spPr>
      </p:sp>
      <p:pic>
        <p:nvPicPr>
          <p:cNvPr id="68" name="icon FaHistory" descr="History icon">    </p:cNvPr>
          <p:cNvPicPr>
            <a:picLocks noChangeAspect="1"/>
          </p:cNvPicPr>
          <p:nvPr/>
        </p:nvPicPr>
        <p:blipFill>
          <a:blip r:embed="rId4"/>
          <a:stretch>
            <a:fillRect/>
          </a:stretch>
        </p:blipFill>
        <p:spPr>
          <a:xfrm>
            <a:off x="9184234" y="3743554"/>
            <a:ext cx="285293" cy="285293"/>
          </a:xfrm>
          <a:prstGeom prst="rect">
            <a:avLst/>
          </a:prstGeom>
        </p:spPr>
      </p:pic>
      <p:sp>
        <p:nvSpPr>
          <p:cNvPr id="69" name="Text 62"/>
          <p:cNvSpPr txBox="1"/>
          <p:nvPr/>
        </p:nvSpPr>
        <p:spPr>
          <a:xfrm>
            <a:off x="9052560" y="4343400"/>
            <a:ext cx="256032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Always logged</a:t>
            </a:r>
            <a:endParaRPr lang="en-US" sz="1700" dirty="0"/>
          </a:p>
        </p:txBody>
      </p:sp>
      <p:sp>
        <p:nvSpPr>
          <p:cNvPr id="70" name="Text 63"/>
          <p:cNvSpPr txBox="1"/>
          <p:nvPr/>
        </p:nvSpPr>
        <p:spPr>
          <a:xfrm>
            <a:off x="9052560" y="4754880"/>
            <a:ext cx="2560320" cy="1097280"/>
          </a:xfrm>
          <a:prstGeom prst="rect">
            <a:avLst/>
          </a:prstGeom>
          <a:noFill/>
          <a:ln/>
        </p:spPr>
        <p:txBody>
          <a:bodyPr wrap="square" lIns="0" tIns="0" rIns="0" bIns="0" rtlCol="0" anchor="t"/>
          <a:lstStyle/>
          <a:p>
            <a:pPr indent="0" marL="0">
              <a:buNone/>
            </a:pPr>
            <a:r>
              <a:rPr lang="en-US" sz="1400" dirty="0">
                <a:solidFill>
                  <a:schemeClr val="tx1"/>
                </a:solidFill>
              </a:rPr>
              <a:t>publish_run_log runs even after a failure (trigger rule ALL_DONE)</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Challenge: the weather API kept blocking me</a:t>
            </a:r>
            <a:endParaRPr lang="en-US" sz="3200" dirty="0"/>
          </a:p>
        </p:txBody>
      </p:sp>
      <p:sp>
        <p:nvSpPr>
          <p:cNvPr id="4" name="challenge card"/>
          <p:cNvSpPr/>
          <p:nvPr/>
        </p:nvSpPr>
        <p:spPr>
          <a:xfrm>
            <a:off x="548640" y="1463040"/>
            <a:ext cx="3474720" cy="3794760"/>
          </a:xfrm>
          <a:prstGeom prst="roundRect">
            <a:avLst>
              <a:gd name="adj" fmla="val 2632"/>
            </a:avLst>
          </a:prstGeom>
          <a:solidFill>
            <a:schemeClr val="bg2"/>
          </a:solidFill>
          <a:ln/>
          <a:effectLst>
            <a:outerShdw sx="100000" sy="100000" kx="0" ky="0" algn="bl" rotWithShape="0" blurRad="76200" dist="25400" dir="5400000">
              <a:srgbClr val="000000">
                <a:alpha val="12000"/>
              </a:srgbClr>
            </a:outerShdw>
          </a:effectLst>
        </p:spPr>
      </p:sp>
      <p:sp>
        <p:nvSpPr>
          <p:cNvPr id="5" name="icon-circle FaExclamationTriangle"/>
          <p:cNvSpPr/>
          <p:nvPr/>
        </p:nvSpPr>
        <p:spPr>
          <a:xfrm>
            <a:off x="868680" y="1737360"/>
            <a:ext cx="685800" cy="685800"/>
          </a:xfrm>
          <a:prstGeom prst="ellipse">
            <a:avLst/>
          </a:prstGeom>
          <a:solidFill>
            <a:schemeClr val="accent2"/>
          </a:solidFill>
          <a:ln/>
        </p:spPr>
      </p:sp>
      <p:pic>
        <p:nvPicPr>
          <p:cNvPr id="6" name="icon FaExclamationTriangle" descr="ExclamationTriangle icon">    </p:cNvPr>
          <p:cNvPicPr>
            <a:picLocks noChangeAspect="1"/>
          </p:cNvPicPr>
          <p:nvPr/>
        </p:nvPicPr>
        <p:blipFill>
          <a:blip r:embed="rId1"/>
          <a:stretch>
            <a:fillRect/>
          </a:stretch>
        </p:blipFill>
        <p:spPr>
          <a:xfrm>
            <a:off x="1033272" y="1901952"/>
            <a:ext cx="356616" cy="356616"/>
          </a:xfrm>
          <a:prstGeom prst="rect">
            <a:avLst/>
          </a:prstGeom>
        </p:spPr>
      </p:pic>
      <p:sp>
        <p:nvSpPr>
          <p:cNvPr id="7" name="Text 3"/>
          <p:cNvSpPr txBox="1"/>
          <p:nvPr/>
        </p:nvSpPr>
        <p:spPr>
          <a:xfrm>
            <a:off x="1737360" y="1737360"/>
            <a:ext cx="2194560" cy="6858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Problem</a:t>
            </a:r>
            <a:endParaRPr lang="en-US" sz="2000" dirty="0"/>
          </a:p>
        </p:txBody>
      </p:sp>
      <p:sp>
        <p:nvSpPr>
          <p:cNvPr id="8" name="Text 4"/>
          <p:cNvSpPr txBox="1"/>
          <p:nvPr/>
        </p:nvSpPr>
        <p:spPr>
          <a:xfrm>
            <a:off x="868680" y="2697480"/>
            <a:ext cx="2926080"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First design: fine 0.5° grid = 192 cells</a:t>
            </a:r>
            <a:endParaRPr lang="en-US" sz="1500" dirty="0"/>
          </a:p>
          <a:p>
            <a:pPr marL="228600" indent="-228600">
              <a:spcAft>
                <a:spcPts val="800"/>
              </a:spcAft>
              <a:buSzPct val="100000"/>
              <a:buChar char="•"/>
            </a:pPr>
            <a:r>
              <a:rPr lang="en-US" sz="1500" dirty="0">
                <a:solidFill>
                  <a:schemeClr val="tx1"/>
                </a:solidFill>
              </a:rPr>
              <a:t>Free tier charges locations × days → ~10,000 weighted calls</a:t>
            </a:r>
            <a:endParaRPr lang="en-US" sz="1500" dirty="0"/>
          </a:p>
          <a:p>
            <a:pPr marL="228600" indent="-228600">
              <a:spcAft>
                <a:spcPts val="800"/>
              </a:spcAft>
              <a:buSzPct val="100000"/>
              <a:buChar char="•"/>
            </a:pPr>
            <a:r>
              <a:rPr lang="en-US" sz="1500" dirty="0">
                <a:solidFill>
                  <a:schemeClr val="tx1"/>
                </a:solidFill>
              </a:rPr>
              <a:t>API answered HTTP 429 – Too Many Requests</a:t>
            </a:r>
            <a:endParaRPr lang="en-US" sz="1500" dirty="0"/>
          </a:p>
        </p:txBody>
      </p:sp>
      <p:sp>
        <p:nvSpPr>
          <p:cNvPr id="9" name="Shape 5"/>
          <p:cNvSpPr/>
          <p:nvPr/>
        </p:nvSpPr>
        <p:spPr>
          <a:xfrm>
            <a:off x="4050792" y="3383280"/>
            <a:ext cx="219456" cy="914"/>
          </a:xfrm>
          <a:prstGeom prst="line">
            <a:avLst/>
          </a:prstGeom>
          <a:noFill/>
          <a:ln w="25400">
            <a:solidFill>
              <a:schemeClr val="tx2"/>
            </a:solidFill>
            <a:prstDash val="solid"/>
            <a:tailEnd type="triangle"/>
          </a:ln>
        </p:spPr>
      </p:sp>
      <p:sp>
        <p:nvSpPr>
          <p:cNvPr id="10" name="challenge card"/>
          <p:cNvSpPr/>
          <p:nvPr/>
        </p:nvSpPr>
        <p:spPr>
          <a:xfrm>
            <a:off x="4297680" y="1463040"/>
            <a:ext cx="3474720" cy="3794760"/>
          </a:xfrm>
          <a:prstGeom prst="roundRect">
            <a:avLst>
              <a:gd name="adj" fmla="val 2632"/>
            </a:avLst>
          </a:prstGeom>
          <a:solidFill>
            <a:schemeClr val="bg2"/>
          </a:solidFill>
          <a:ln/>
          <a:effectLst>
            <a:outerShdw sx="100000" sy="100000" kx="0" ky="0" algn="bl" rotWithShape="0" blurRad="76200" dist="25400" dir="5400000">
              <a:srgbClr val="000000">
                <a:alpha val="12000"/>
              </a:srgbClr>
            </a:outerShdw>
          </a:effectLst>
        </p:spPr>
      </p:sp>
      <p:sp>
        <p:nvSpPr>
          <p:cNvPr id="11" name="icon-circle FaTools"/>
          <p:cNvSpPr/>
          <p:nvPr/>
        </p:nvSpPr>
        <p:spPr>
          <a:xfrm>
            <a:off x="4617720" y="1737360"/>
            <a:ext cx="685800" cy="685800"/>
          </a:xfrm>
          <a:prstGeom prst="ellipse">
            <a:avLst/>
          </a:prstGeom>
          <a:solidFill>
            <a:schemeClr val="accent1"/>
          </a:solidFill>
          <a:ln/>
        </p:spPr>
      </p:sp>
      <p:pic>
        <p:nvPicPr>
          <p:cNvPr id="12" name="icon FaTools" descr="Tools icon">    </p:cNvPr>
          <p:cNvPicPr>
            <a:picLocks noChangeAspect="1"/>
          </p:cNvPicPr>
          <p:nvPr/>
        </p:nvPicPr>
        <p:blipFill>
          <a:blip r:embed="rId2"/>
          <a:stretch>
            <a:fillRect/>
          </a:stretch>
        </p:blipFill>
        <p:spPr>
          <a:xfrm>
            <a:off x="4782312" y="1901952"/>
            <a:ext cx="356616" cy="356616"/>
          </a:xfrm>
          <a:prstGeom prst="rect">
            <a:avLst/>
          </a:prstGeom>
        </p:spPr>
      </p:pic>
      <p:sp>
        <p:nvSpPr>
          <p:cNvPr id="13" name="Text 8"/>
          <p:cNvSpPr txBox="1"/>
          <p:nvPr/>
        </p:nvSpPr>
        <p:spPr>
          <a:xfrm>
            <a:off x="5486400" y="1737360"/>
            <a:ext cx="2194560" cy="6858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I changed</a:t>
            </a:r>
            <a:endParaRPr lang="en-US" sz="2000" dirty="0"/>
          </a:p>
        </p:txBody>
      </p:sp>
      <p:sp>
        <p:nvSpPr>
          <p:cNvPr id="14" name="Text 9"/>
          <p:cNvSpPr txBox="1"/>
          <p:nvPr/>
        </p:nvSpPr>
        <p:spPr>
          <a:xfrm>
            <a:off x="4617720" y="2697480"/>
            <a:ext cx="2926080"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Coarser 1° grid = 59 cells → ~3,000 calls</a:t>
            </a:r>
            <a:endParaRPr lang="en-US" sz="1500" dirty="0"/>
          </a:p>
          <a:p>
            <a:pPr marL="228600" indent="-228600">
              <a:spcAft>
                <a:spcPts val="800"/>
              </a:spcAft>
              <a:buSzPct val="100000"/>
              <a:buChar char="•"/>
            </a:pPr>
            <a:r>
              <a:rPr lang="en-US" sz="1500" dirty="0">
                <a:solidFill>
                  <a:schemeClr val="tx1"/>
                </a:solidFill>
              </a:rPr>
              <a:t>Compute each request's weight; pace under 500 calls/min</a:t>
            </a:r>
            <a:endParaRPr lang="en-US" sz="1500" dirty="0"/>
          </a:p>
          <a:p>
            <a:pPr marL="228600" indent="-228600">
              <a:spcAft>
                <a:spcPts val="800"/>
              </a:spcAft>
              <a:buSzPct val="100000"/>
              <a:buChar char="•"/>
            </a:pPr>
            <a:r>
              <a:rPr lang="en-US" sz="1500" dirty="0">
                <a:solidFill>
                  <a:schemeClr val="tx1"/>
                </a:solidFill>
              </a:rPr>
              <a:t>Wait ≥ 65 s after any 429</a:t>
            </a:r>
            <a:endParaRPr lang="en-US" sz="1500" dirty="0"/>
          </a:p>
          <a:p>
            <a:pPr marL="228600" indent="-228600">
              <a:spcAft>
                <a:spcPts val="800"/>
              </a:spcAft>
              <a:buSzPct val="100000"/>
              <a:buChar char="•"/>
            </a:pPr>
            <a:r>
              <a:rPr lang="en-US" sz="1500" dirty="0">
                <a:solidFill>
                  <a:schemeClr val="tx1"/>
                </a:solidFill>
              </a:rPr>
              <a:t>If still failing: log FAILED, keep police weather, continue</a:t>
            </a:r>
            <a:endParaRPr lang="en-US" sz="1500" dirty="0"/>
          </a:p>
        </p:txBody>
      </p:sp>
      <p:sp>
        <p:nvSpPr>
          <p:cNvPr id="15" name="Shape 10"/>
          <p:cNvSpPr/>
          <p:nvPr/>
        </p:nvSpPr>
        <p:spPr>
          <a:xfrm>
            <a:off x="7799832" y="3383280"/>
            <a:ext cx="219456" cy="914"/>
          </a:xfrm>
          <a:prstGeom prst="line">
            <a:avLst/>
          </a:prstGeom>
          <a:noFill/>
          <a:ln w="25400">
            <a:solidFill>
              <a:schemeClr val="tx2"/>
            </a:solidFill>
            <a:prstDash val="solid"/>
            <a:tailEnd type="triangle"/>
          </a:ln>
        </p:spPr>
      </p:sp>
      <p:sp>
        <p:nvSpPr>
          <p:cNvPr id="16" name="challenge card"/>
          <p:cNvSpPr/>
          <p:nvPr/>
        </p:nvSpPr>
        <p:spPr>
          <a:xfrm>
            <a:off x="8046720" y="1463040"/>
            <a:ext cx="3474720" cy="3794760"/>
          </a:xfrm>
          <a:prstGeom prst="roundRect">
            <a:avLst>
              <a:gd name="adj" fmla="val 2632"/>
            </a:avLst>
          </a:prstGeom>
          <a:solidFill>
            <a:schemeClr val="bg2"/>
          </a:solidFill>
          <a:ln/>
          <a:effectLst>
            <a:outerShdw sx="100000" sy="100000" kx="0" ky="0" algn="bl" rotWithShape="0" blurRad="76200" dist="25400" dir="5400000">
              <a:srgbClr val="000000">
                <a:alpha val="12000"/>
              </a:srgbClr>
            </a:outerShdw>
          </a:effectLst>
        </p:spPr>
      </p:sp>
      <p:sp>
        <p:nvSpPr>
          <p:cNvPr id="17" name="icon-circle FaCheckCircle"/>
          <p:cNvSpPr/>
          <p:nvPr/>
        </p:nvSpPr>
        <p:spPr>
          <a:xfrm>
            <a:off x="8366760" y="1737360"/>
            <a:ext cx="685800" cy="685800"/>
          </a:xfrm>
          <a:prstGeom prst="ellipse">
            <a:avLst/>
          </a:prstGeom>
          <a:solidFill>
            <a:schemeClr val="accent5"/>
          </a:solidFill>
          <a:ln/>
        </p:spPr>
      </p:sp>
      <p:pic>
        <p:nvPicPr>
          <p:cNvPr id="18" name="icon FaCheckCircle" descr="CheckCircle icon">    </p:cNvPr>
          <p:cNvPicPr>
            <a:picLocks noChangeAspect="1"/>
          </p:cNvPicPr>
          <p:nvPr/>
        </p:nvPicPr>
        <p:blipFill>
          <a:blip r:embed="rId3"/>
          <a:stretch>
            <a:fillRect/>
          </a:stretch>
        </p:blipFill>
        <p:spPr>
          <a:xfrm>
            <a:off x="8531352" y="1901952"/>
            <a:ext cx="356616" cy="356616"/>
          </a:xfrm>
          <a:prstGeom prst="rect">
            <a:avLst/>
          </a:prstGeom>
        </p:spPr>
      </p:pic>
      <p:sp>
        <p:nvSpPr>
          <p:cNvPr id="19" name="Text 13"/>
          <p:cNvSpPr txBox="1"/>
          <p:nvPr/>
        </p:nvSpPr>
        <p:spPr>
          <a:xfrm>
            <a:off x="9235440" y="1737360"/>
            <a:ext cx="2194560" cy="6858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Result</a:t>
            </a:r>
            <a:endParaRPr lang="en-US" sz="2000" dirty="0"/>
          </a:p>
        </p:txBody>
      </p:sp>
      <p:sp>
        <p:nvSpPr>
          <p:cNvPr id="20" name="Text 14"/>
          <p:cNvSpPr txBox="1"/>
          <p:nvPr/>
        </p:nvSpPr>
        <p:spPr>
          <a:xfrm>
            <a:off x="8366760" y="2697480"/>
            <a:ext cx="2926080" cy="24688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117 cell-year responses</a:t>
            </a:r>
            <a:endParaRPr lang="en-US" sz="1500" dirty="0"/>
          </a:p>
          <a:p>
            <a:pPr marL="228600" indent="-228600">
              <a:spcAft>
                <a:spcPts val="800"/>
              </a:spcAft>
              <a:buSzPct val="100000"/>
              <a:buChar char="•"/>
            </a:pPr>
            <a:r>
              <a:rPr lang="en-US" sz="1500" dirty="0">
                <a:solidFill>
                  <a:schemeClr val="tx1"/>
                </a:solidFill>
              </a:rPr>
              <a:t>1,026,312 hourly rows</a:t>
            </a:r>
            <a:endParaRPr lang="en-US" sz="1500" dirty="0"/>
          </a:p>
          <a:p>
            <a:pPr marL="228600" indent="-228600">
              <a:spcAft>
                <a:spcPts val="800"/>
              </a:spcAft>
              <a:buSzPct val="100000"/>
              <a:buChar char="•"/>
            </a:pPr>
            <a:r>
              <a:rPr lang="en-US" sz="1500" dirty="0">
                <a:solidFill>
                  <a:schemeClr val="tx1"/>
                </a:solidFill>
              </a:rPr>
              <a:t>0 failures in 430 s</a:t>
            </a:r>
            <a:endParaRPr lang="en-US" sz="1500" dirty="0"/>
          </a:p>
          <a:p>
            <a:pPr marL="228600" indent="-228600">
              <a:spcAft>
                <a:spcPts val="800"/>
              </a:spcAft>
              <a:buSzPct val="100000"/>
              <a:buChar char="•"/>
            </a:pPr>
            <a:r>
              <a:rPr lang="en-US" sz="1500" dirty="0">
                <a:solidFill>
                  <a:schemeClr val="tx1"/>
                </a:solidFill>
              </a:rPr>
              <a:t>100% of collisions matched to weather</a:t>
            </a:r>
            <a:endParaRPr lang="en-US" sz="1500" dirty="0"/>
          </a:p>
        </p:txBody>
      </p:sp>
      <p:sp>
        <p:nvSpPr>
          <p:cNvPr id="21" name="Text 15"/>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600" b="1" dirty="0">
                <a:solidFill>
                  <a:schemeClr val="tx2"/>
                </a:solidFill>
              </a:rPr>
              <a:t>Design principle: </a:t>
            </a:r>
            <a:pPr indent="0" marL="0">
              <a:buNone/>
            </a:pPr>
            <a:r>
              <a:rPr lang="en-US" sz="1600" dirty="0">
                <a:solidFill>
                  <a:schemeClr val="tx2"/>
                </a:solidFill>
              </a:rPr>
              <a:t>a weather failure degrades the enrichment – it never stops the warehouse refresh.</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22 validation rules guard the warehouse</a:t>
            </a:r>
            <a:endParaRPr lang="en-US" sz="3200" dirty="0"/>
          </a:p>
        </p:txBody>
      </p:sp>
      <p:sp>
        <p:nvSpPr>
          <p:cNvPr id="4" name="reject card"/>
          <p:cNvSpPr/>
          <p:nvPr/>
        </p:nvSpPr>
        <p:spPr>
          <a:xfrm>
            <a:off x="548640" y="1463040"/>
            <a:ext cx="3429000" cy="2057400"/>
          </a:xfrm>
          <a:prstGeom prst="roundRect">
            <a:avLst>
              <a:gd name="adj" fmla="val 4444"/>
            </a:avLst>
          </a:prstGeom>
          <a:solidFill>
            <a:schemeClr val="bg2"/>
          </a:solidFill>
          <a:ln/>
        </p:spPr>
      </p:sp>
      <p:sp>
        <p:nvSpPr>
          <p:cNvPr id="5" name="icon-circle FaTimesCircle"/>
          <p:cNvSpPr/>
          <p:nvPr/>
        </p:nvSpPr>
        <p:spPr>
          <a:xfrm>
            <a:off x="777240" y="1691640"/>
            <a:ext cx="548640" cy="548640"/>
          </a:xfrm>
          <a:prstGeom prst="ellipse">
            <a:avLst/>
          </a:prstGeom>
          <a:solidFill>
            <a:schemeClr val="accent2"/>
          </a:solidFill>
          <a:ln/>
        </p:spPr>
      </p:sp>
      <p:pic>
        <p:nvPicPr>
          <p:cNvPr id="6" name="icon FaTimesCircle" descr="TimesCircle icon">    </p:cNvPr>
          <p:cNvPicPr>
            <a:picLocks noChangeAspect="1"/>
          </p:cNvPicPr>
          <p:nvPr/>
        </p:nvPicPr>
        <p:blipFill>
          <a:blip r:embed="rId1"/>
          <a:stretch>
            <a:fillRect/>
          </a:stretch>
        </p:blipFill>
        <p:spPr>
          <a:xfrm>
            <a:off x="908914" y="1823314"/>
            <a:ext cx="285293" cy="285293"/>
          </a:xfrm>
          <a:prstGeom prst="rect">
            <a:avLst/>
          </a:prstGeom>
        </p:spPr>
      </p:pic>
      <p:sp>
        <p:nvSpPr>
          <p:cNvPr id="7" name="Text 3"/>
          <p:cNvSpPr txBox="1"/>
          <p:nvPr/>
        </p:nvSpPr>
        <p:spPr>
          <a:xfrm>
            <a:off x="1554480" y="1673352"/>
            <a:ext cx="23317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REJECT</a:t>
            </a:r>
            <a:endParaRPr lang="en-US" sz="1600" dirty="0"/>
          </a:p>
        </p:txBody>
      </p:sp>
      <p:sp>
        <p:nvSpPr>
          <p:cNvPr id="8" name="Text 4"/>
          <p:cNvSpPr txBox="1"/>
          <p:nvPr/>
        </p:nvSpPr>
        <p:spPr>
          <a:xfrm>
            <a:off x="1554480" y="2020824"/>
            <a:ext cx="2331720" cy="1188720"/>
          </a:xfrm>
          <a:prstGeom prst="rect">
            <a:avLst/>
          </a:prstGeom>
          <a:noFill/>
          <a:ln/>
        </p:spPr>
        <p:txBody>
          <a:bodyPr wrap="square" lIns="0" tIns="0" rIns="0" bIns="0" rtlCol="0" anchor="t"/>
          <a:lstStyle/>
          <a:p>
            <a:pPr indent="0" marL="0">
              <a:buNone/>
            </a:pPr>
            <a:r>
              <a:rPr lang="en-US" sz="1400" dirty="0">
                <a:solidFill>
                  <a:schemeClr val="tx1"/>
                </a:solidFill>
              </a:rPr>
              <a:t>Row is removed – e.g. a collision with no latitude/longitude</a:t>
            </a:r>
            <a:endParaRPr lang="en-US" sz="1400" dirty="0"/>
          </a:p>
        </p:txBody>
      </p:sp>
      <p:sp>
        <p:nvSpPr>
          <p:cNvPr id="9" name="nullify card"/>
          <p:cNvSpPr/>
          <p:nvPr/>
        </p:nvSpPr>
        <p:spPr>
          <a:xfrm>
            <a:off x="4206240" y="1463040"/>
            <a:ext cx="3429000" cy="2057400"/>
          </a:xfrm>
          <a:prstGeom prst="roundRect">
            <a:avLst>
              <a:gd name="adj" fmla="val 4444"/>
            </a:avLst>
          </a:prstGeom>
          <a:solidFill>
            <a:schemeClr val="bg2"/>
          </a:solidFill>
          <a:ln/>
        </p:spPr>
      </p:sp>
      <p:sp>
        <p:nvSpPr>
          <p:cNvPr id="10" name="icon-circle FaEraser"/>
          <p:cNvSpPr/>
          <p:nvPr/>
        </p:nvSpPr>
        <p:spPr>
          <a:xfrm>
            <a:off x="4434840" y="1691640"/>
            <a:ext cx="548640" cy="548640"/>
          </a:xfrm>
          <a:prstGeom prst="ellipse">
            <a:avLst/>
          </a:prstGeom>
          <a:solidFill>
            <a:schemeClr val="accent1"/>
          </a:solidFill>
          <a:ln/>
        </p:spPr>
      </p:sp>
      <p:pic>
        <p:nvPicPr>
          <p:cNvPr id="11" name="icon FaEraser" descr="Eraser icon">    </p:cNvPr>
          <p:cNvPicPr>
            <a:picLocks noChangeAspect="1"/>
          </p:cNvPicPr>
          <p:nvPr/>
        </p:nvPicPr>
        <p:blipFill>
          <a:blip r:embed="rId2"/>
          <a:stretch>
            <a:fillRect/>
          </a:stretch>
        </p:blipFill>
        <p:spPr>
          <a:xfrm>
            <a:off x="4566514" y="1823314"/>
            <a:ext cx="285293" cy="285293"/>
          </a:xfrm>
          <a:prstGeom prst="rect">
            <a:avLst/>
          </a:prstGeom>
        </p:spPr>
      </p:pic>
      <p:sp>
        <p:nvSpPr>
          <p:cNvPr id="12" name="Text 7"/>
          <p:cNvSpPr txBox="1"/>
          <p:nvPr/>
        </p:nvSpPr>
        <p:spPr>
          <a:xfrm>
            <a:off x="5212080" y="1673352"/>
            <a:ext cx="23317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NULLIFY</a:t>
            </a:r>
            <a:endParaRPr lang="en-US" sz="1600" dirty="0"/>
          </a:p>
        </p:txBody>
      </p:sp>
      <p:sp>
        <p:nvSpPr>
          <p:cNvPr id="13" name="Text 8"/>
          <p:cNvSpPr txBox="1"/>
          <p:nvPr/>
        </p:nvSpPr>
        <p:spPr>
          <a:xfrm>
            <a:off x="5212080" y="2020824"/>
            <a:ext cx="2331720" cy="1188720"/>
          </a:xfrm>
          <a:prstGeom prst="rect">
            <a:avLst/>
          </a:prstGeom>
          <a:noFill/>
          <a:ln/>
        </p:spPr>
        <p:txBody>
          <a:bodyPr wrap="square" lIns="0" tIns="0" rIns="0" bIns="0" rtlCol="0" anchor="t"/>
          <a:lstStyle/>
          <a:p>
            <a:pPr indent="0" marL="0">
              <a:buNone/>
            </a:pPr>
            <a:r>
              <a:rPr lang="en-US" sz="1400" dirty="0">
                <a:solidFill>
                  <a:schemeClr val="tx1"/>
                </a:solidFill>
              </a:rPr>
              <a:t>Row is kept, the bad value becomes NULL – e.g. driver age of 150</a:t>
            </a:r>
            <a:endParaRPr lang="en-US" sz="1400" dirty="0"/>
          </a:p>
        </p:txBody>
      </p:sp>
      <p:sp>
        <p:nvSpPr>
          <p:cNvPr id="14" name="gate card"/>
          <p:cNvSpPr/>
          <p:nvPr/>
        </p:nvSpPr>
        <p:spPr>
          <a:xfrm>
            <a:off x="548640" y="3749040"/>
            <a:ext cx="7086600" cy="2286000"/>
          </a:xfrm>
          <a:prstGeom prst="roundRect">
            <a:avLst>
              <a:gd name="adj" fmla="val 4000"/>
            </a:avLst>
          </a:prstGeom>
          <a:solidFill>
            <a:schemeClr val="bg2"/>
          </a:solidFill>
          <a:ln/>
        </p:spPr>
      </p:sp>
      <p:sp>
        <p:nvSpPr>
          <p:cNvPr id="15" name="icon-circle FaShieldAlt"/>
          <p:cNvSpPr/>
          <p:nvPr/>
        </p:nvSpPr>
        <p:spPr>
          <a:xfrm>
            <a:off x="777240" y="3977640"/>
            <a:ext cx="548640" cy="548640"/>
          </a:xfrm>
          <a:prstGeom prst="ellipse">
            <a:avLst/>
          </a:prstGeom>
          <a:solidFill>
            <a:schemeClr val="tx2"/>
          </a:solidFill>
          <a:ln/>
        </p:spPr>
      </p:sp>
      <p:pic>
        <p:nvPicPr>
          <p:cNvPr id="16" name="icon FaShieldAlt" descr="ShieldAlt icon">    </p:cNvPr>
          <p:cNvPicPr>
            <a:picLocks noChangeAspect="1"/>
          </p:cNvPicPr>
          <p:nvPr/>
        </p:nvPicPr>
        <p:blipFill>
          <a:blip r:embed="rId3"/>
          <a:stretch>
            <a:fillRect/>
          </a:stretch>
        </p:blipFill>
        <p:spPr>
          <a:xfrm>
            <a:off x="908914" y="4109314"/>
            <a:ext cx="285293" cy="285293"/>
          </a:xfrm>
          <a:prstGeom prst="rect">
            <a:avLst/>
          </a:prstGeom>
        </p:spPr>
      </p:pic>
      <p:sp>
        <p:nvSpPr>
          <p:cNvPr id="17" name="Text 11"/>
          <p:cNvSpPr txBox="1"/>
          <p:nvPr/>
        </p:nvSpPr>
        <p:spPr>
          <a:xfrm>
            <a:off x="1554480" y="3959352"/>
            <a:ext cx="589788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Quality gate + audit trail</a:t>
            </a:r>
            <a:endParaRPr lang="en-US" sz="1600" dirty="0"/>
          </a:p>
        </p:txBody>
      </p:sp>
      <p:sp>
        <p:nvSpPr>
          <p:cNvPr id="18" name="Text 12"/>
          <p:cNvSpPr txBox="1"/>
          <p:nvPr/>
        </p:nvSpPr>
        <p:spPr>
          <a:xfrm>
            <a:off x="1554480" y="4306824"/>
            <a:ext cx="5897880" cy="640080"/>
          </a:xfrm>
          <a:prstGeom prst="rect">
            <a:avLst/>
          </a:prstGeom>
          <a:noFill/>
          <a:ln/>
        </p:spPr>
        <p:txBody>
          <a:bodyPr wrap="square" lIns="0" tIns="0" rIns="0" bIns="0" rtlCol="0" anchor="t"/>
          <a:lstStyle/>
          <a:p>
            <a:pPr indent="0" marL="0">
              <a:buNone/>
            </a:pPr>
            <a:endParaRPr lang="en-US" sz="1400" dirty="0"/>
          </a:p>
        </p:txBody>
      </p:sp>
      <p:sp>
        <p:nvSpPr>
          <p:cNvPr id="19" name="Text 13"/>
          <p:cNvSpPr txBox="1"/>
          <p:nvPr/>
        </p:nvSpPr>
        <p:spPr>
          <a:xfrm>
            <a:off x="1554480" y="4389120"/>
            <a:ext cx="5897880" cy="15544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Run fails if more than 5% of collisions are rejected</a:t>
            </a:r>
            <a:endParaRPr lang="en-US" sz="1400" dirty="0"/>
          </a:p>
          <a:p>
            <a:pPr marL="228600" indent="-228600">
              <a:spcAft>
                <a:spcPts val="800"/>
              </a:spcAft>
              <a:buSzPct val="100000"/>
              <a:buChar char="•"/>
            </a:pPr>
            <a:r>
              <a:rPr lang="en-US" sz="1400" dirty="0">
                <a:solidFill>
                  <a:schemeClr val="tx1"/>
                </a:solidFill>
              </a:rPr>
              <a:t>Every hit logged with record key, rule, field, value and source file</a:t>
            </a:r>
            <a:endParaRPr lang="en-US" sz="1400" dirty="0"/>
          </a:p>
          <a:p>
            <a:pPr marL="228600" indent="-228600">
              <a:spcAft>
                <a:spcPts val="800"/>
              </a:spcAft>
              <a:buSzPct val="100000"/>
              <a:buChar char="•"/>
            </a:pPr>
            <a:r>
              <a:rPr lang="en-US" sz="1400" dirty="0">
                <a:solidFill>
                  <a:schemeClr val="tx1"/>
                </a:solidFill>
              </a:rPr>
              <a:t>Checks: keys, duplicates, dates, UK bounds, speed limits, orphans, ages, weather ranges</a:t>
            </a:r>
            <a:endParaRPr lang="en-US" sz="1400" dirty="0"/>
          </a:p>
        </p:txBody>
      </p:sp>
      <p:sp>
        <p:nvSpPr>
          <p:cNvPr id="20" name="Text 14"/>
          <p:cNvSpPr txBox="1"/>
          <p:nvPr/>
        </p:nvSpPr>
        <p:spPr>
          <a:xfrm>
            <a:off x="8001000" y="1463040"/>
            <a:ext cx="3657600" cy="365760"/>
          </a:xfrm>
          <a:prstGeom prst="rect">
            <a:avLst/>
          </a:prstGeom>
          <a:noFill/>
          <a:ln/>
        </p:spPr>
        <p:txBody>
          <a:bodyPr wrap="square" lIns="0" tIns="0" rIns="0" bIns="0" rtlCol="0" anchor="t"/>
          <a:lstStyle/>
          <a:p>
            <a:pPr indent="0" marL="0">
              <a:buNone/>
            </a:pPr>
            <a:r>
              <a:rPr lang="en-US" sz="1700" b="1" dirty="0">
                <a:solidFill>
                  <a:schemeClr val="tx2"/>
                </a:solidFill>
                <a:latin typeface="Arial" pitchFamily="34" charset="0"/>
                <a:ea typeface="Arial" pitchFamily="34" charset="-122"/>
                <a:cs typeface="Arial" pitchFamily="34" charset="-120"/>
              </a:rPr>
              <a:t>Result on real data</a:t>
            </a:r>
            <a:endParaRPr lang="en-US" sz="1700" dirty="0"/>
          </a:p>
        </p:txBody>
      </p:sp>
      <p:sp>
        <p:nvSpPr>
          <p:cNvPr id="21" name="Text 15"/>
          <p:cNvSpPr txBox="1"/>
          <p:nvPr/>
        </p:nvSpPr>
        <p:spPr>
          <a:xfrm>
            <a:off x="8001000" y="1783080"/>
            <a:ext cx="3657600" cy="777240"/>
          </a:xfrm>
          <a:prstGeom prst="rect">
            <a:avLst/>
          </a:prstGeom>
          <a:noFill/>
          <a:ln/>
        </p:spPr>
        <p:txBody>
          <a:bodyPr wrap="square" lIns="0" tIns="0" rIns="0" bIns="0" rtlCol="0" anchor="b"/>
          <a:lstStyle/>
          <a:p>
            <a:pPr indent="0" marL="0">
              <a:buNone/>
            </a:pPr>
            <a:r>
              <a:rPr lang="en-US" sz="4800" b="1" dirty="0">
                <a:solidFill>
                  <a:schemeClr val="accent3"/>
                </a:solidFill>
                <a:latin typeface="Arial" pitchFamily="34" charset="0"/>
                <a:ea typeface="Arial" pitchFamily="34" charset="-122"/>
                <a:cs typeface="Arial" pitchFamily="34" charset="-120"/>
              </a:rPr>
              <a:t>46</a:t>
            </a:r>
            <a:endParaRPr lang="en-US" sz="4800" dirty="0"/>
          </a:p>
        </p:txBody>
      </p:sp>
      <p:sp>
        <p:nvSpPr>
          <p:cNvPr id="22" name="Text 16"/>
          <p:cNvSpPr txBox="1"/>
          <p:nvPr/>
        </p:nvSpPr>
        <p:spPr>
          <a:xfrm>
            <a:off x="8001000" y="2624328"/>
            <a:ext cx="3657600" cy="685800"/>
          </a:xfrm>
          <a:prstGeom prst="rect">
            <a:avLst/>
          </a:prstGeom>
          <a:noFill/>
          <a:ln/>
        </p:spPr>
        <p:txBody>
          <a:bodyPr wrap="square" lIns="0" tIns="0" rIns="0" bIns="0" rtlCol="0" anchor="t"/>
          <a:lstStyle/>
          <a:p>
            <a:pPr indent="0" marL="0">
              <a:buNone/>
            </a:pPr>
            <a:r>
              <a:rPr lang="en-US" sz="1400" dirty="0">
                <a:solidFill>
                  <a:schemeClr val="accent4"/>
                </a:solidFill>
              </a:rPr>
              <a:t>records rejected out of 1.87 million</a:t>
            </a:r>
            <a:endParaRPr lang="en-US" sz="1400" dirty="0"/>
          </a:p>
        </p:txBody>
      </p:sp>
      <p:graphicFrame>
        <p:nvGraphicFramePr>
          <p:cNvPr id="9" name="rule hits table"/>
          <p:cNvGraphicFramePr>
            <a:graphicFrameLocks noGrp="1"/>
          </p:cNvGraphicFramePr>
          <p:nvPr>
            <p:extLst>
              <p:ext uri="{D42A27DB-BD31-4B8C-83A1-F6EECF244321}">
                <p14:modId xmlns:p14="http://schemas.microsoft.com/office/powerpoint/2010/main" val="1579011935"/>
              </p:ext>
            </p:extLst>
          </p:nvPr>
        </p:nvGraphicFramePr>
        <p:xfrm>
          <a:off x="8001000" y="3520440"/>
          <a:ext cx="3611880" cy="914400"/>
        </p:xfrm>
        <a:graphic>
          <a:graphicData uri="http://schemas.openxmlformats.org/drawingml/2006/table">
            <a:tbl>
              <a:tblPr/>
              <a:tblGrid>
                <a:gridCol w="822960"/>
                <a:gridCol w="640080"/>
                <a:gridCol w="2148840"/>
              </a:tblGrid>
              <a:tr h="384048">
                <a:tc>
                  <a:txBody>
                    <a:bodyPr/>
                    <a:lstStyle/>
                    <a:p>
                      <a:pPr indent="0" marL="0">
                        <a:buNone/>
                      </a:pPr>
                      <a:r>
                        <a:rPr lang="en-US" sz="1300" b="1" dirty="0">
                          <a:solidFill>
                            <a:schemeClr val="bg1"/>
                          </a:solidFill>
                        </a:rPr>
                        <a:t>Rule</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Rows</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Reason</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tx2"/>
                    </a:solidFill>
                  </a:tcPr>
                </a:tc>
              </a:tr>
              <a:tr h="384048">
                <a:tc>
                  <a:txBody>
                    <a:bodyPr/>
                    <a:lstStyle/>
                    <a:p>
                      <a:pPr indent="0" marL="0">
                        <a:buNone/>
                      </a:pPr>
                      <a:r>
                        <a:rPr lang="en-US" sz="1300" dirty="0">
                          <a:solidFill>
                            <a:schemeClr val="tx1"/>
                          </a:solidFill>
                        </a:rPr>
                        <a:t>DQ007</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Collision missing coordinates</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2"/>
                    </a:solidFill>
                  </a:tcPr>
                </a:tc>
              </a:tr>
              <a:tr h="384048">
                <a:tc>
                  <a:txBody>
                    <a:bodyPr/>
                    <a:lstStyle/>
                    <a:p>
                      <a:pPr indent="0" marL="0">
                        <a:buNone/>
                      </a:pPr>
                      <a:r>
                        <a:rPr lang="en-US" sz="1300" dirty="0">
                          <a:solidFill>
                            <a:schemeClr val="tx1"/>
                          </a:solidFill>
                        </a:rPr>
                        <a:t>DQ101</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21</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Orphan vehicle</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rPr>
                        <a:t>DQ201</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13</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Orphan casualty</a:t>
                      </a:r>
                      <a:endParaRPr lang="en-US" sz="1300" dirty="0"/>
                    </a:p>
                  </a:txBody>
                  <a:tcPr marL="91440" marR="91440" marT="45720" marB="4572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chemeClr val="bg2"/>
                    </a:solidFill>
                  </a:tcPr>
                </a:tc>
              </a:tr>
            </a:tbl>
          </a:graphicData>
        </a:graphic>
      </p:graphicFrame>
      <p:sp>
        <p:nvSpPr>
          <p:cNvPr id="24" name="Text 17"/>
          <p:cNvSpPr txBox="1"/>
          <p:nvPr/>
        </p:nvSpPr>
        <p:spPr>
          <a:xfrm>
            <a:off x="8001000" y="5257800"/>
            <a:ext cx="3611880" cy="365760"/>
          </a:xfrm>
          <a:prstGeom prst="rect">
            <a:avLst/>
          </a:prstGeom>
          <a:noFill/>
          <a:ln/>
        </p:spPr>
        <p:txBody>
          <a:bodyPr wrap="square" lIns="0" tIns="0" rIns="0" bIns="0" rtlCol="0" anchor="t"/>
          <a:lstStyle/>
          <a:p>
            <a:pPr indent="0" marL="0">
              <a:buNone/>
            </a:pPr>
            <a:r>
              <a:rPr lang="en-US" sz="1500" b="1" dirty="0">
                <a:solidFill>
                  <a:schemeClr val="accent5"/>
                </a:solidFill>
              </a:rPr>
              <a:t>Collision reject rate: 0.006%</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Transformation: enriching every collision</a:t>
            </a:r>
            <a:endParaRPr lang="en-US" sz="3200" dirty="0"/>
          </a:p>
        </p:txBody>
      </p:sp>
      <p:sp>
        <p:nvSpPr>
          <p:cNvPr id="4" name="transform card"/>
          <p:cNvSpPr/>
          <p:nvPr/>
        </p:nvSpPr>
        <p:spPr>
          <a:xfrm>
            <a:off x="548640" y="1463040"/>
            <a:ext cx="6309360" cy="1371600"/>
          </a:xfrm>
          <a:prstGeom prst="roundRect">
            <a:avLst>
              <a:gd name="adj" fmla="val 6667"/>
            </a:avLst>
          </a:prstGeom>
          <a:solidFill>
            <a:schemeClr val="bg2"/>
          </a:solidFill>
          <a:ln/>
        </p:spPr>
      </p:sp>
      <p:sp>
        <p:nvSpPr>
          <p:cNvPr id="5" name="icon-circle FaClock"/>
          <p:cNvSpPr/>
          <p:nvPr/>
        </p:nvSpPr>
        <p:spPr>
          <a:xfrm>
            <a:off x="777240" y="1691640"/>
            <a:ext cx="548640" cy="548640"/>
          </a:xfrm>
          <a:prstGeom prst="ellipse">
            <a:avLst/>
          </a:prstGeom>
          <a:solidFill>
            <a:schemeClr val="accent1"/>
          </a:solidFill>
          <a:ln/>
        </p:spPr>
      </p:sp>
      <p:pic>
        <p:nvPicPr>
          <p:cNvPr id="6" name="icon FaClock" descr="Clock icon">    </p:cNvPr>
          <p:cNvPicPr>
            <a:picLocks noChangeAspect="1"/>
          </p:cNvPicPr>
          <p:nvPr/>
        </p:nvPicPr>
        <p:blipFill>
          <a:blip r:embed="rId1"/>
          <a:stretch>
            <a:fillRect/>
          </a:stretch>
        </p:blipFill>
        <p:spPr>
          <a:xfrm>
            <a:off x="908914" y="1823314"/>
            <a:ext cx="285293" cy="285293"/>
          </a:xfrm>
          <a:prstGeom prst="rect">
            <a:avLst/>
          </a:prstGeom>
        </p:spPr>
      </p:pic>
      <p:sp>
        <p:nvSpPr>
          <p:cNvPr id="7" name="Text 3"/>
          <p:cNvSpPr txBox="1"/>
          <p:nvPr/>
        </p:nvSpPr>
        <p:spPr>
          <a:xfrm>
            <a:off x="1554480" y="1673352"/>
            <a:ext cx="516636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Standardise</a:t>
            </a:r>
            <a:endParaRPr lang="en-US" sz="1600" dirty="0"/>
          </a:p>
        </p:txBody>
      </p:sp>
      <p:sp>
        <p:nvSpPr>
          <p:cNvPr id="8" name="Text 4"/>
          <p:cNvSpPr txBox="1"/>
          <p:nvPr/>
        </p:nvSpPr>
        <p:spPr>
          <a:xfrm>
            <a:off x="1554480" y="2020824"/>
            <a:ext cx="5166360" cy="777240"/>
          </a:xfrm>
          <a:prstGeom prst="rect">
            <a:avLst/>
          </a:prstGeom>
          <a:noFill/>
          <a:ln/>
        </p:spPr>
        <p:txBody>
          <a:bodyPr wrap="square" lIns="0" tIns="0" rIns="0" bIns="0" rtlCol="0" anchor="t"/>
          <a:lstStyle/>
          <a:p>
            <a:pPr indent="0" marL="0">
              <a:buNone/>
            </a:pPr>
            <a:r>
              <a:rPr lang="en-US" sz="1400" dirty="0">
                <a:solidFill>
                  <a:schemeClr val="tx1"/>
                </a:solidFill>
              </a:rPr>
              <a:t>Date-time, hour, weekday, month, season, time band. 20+ coded fields mapped to labels; unknown codes become 'Unknown (code N)'</a:t>
            </a:r>
            <a:endParaRPr lang="en-US" sz="1400" dirty="0"/>
          </a:p>
        </p:txBody>
      </p:sp>
      <p:sp>
        <p:nvSpPr>
          <p:cNvPr id="9" name="transform card"/>
          <p:cNvSpPr/>
          <p:nvPr/>
        </p:nvSpPr>
        <p:spPr>
          <a:xfrm>
            <a:off x="548640" y="3017520"/>
            <a:ext cx="6309360" cy="1371600"/>
          </a:xfrm>
          <a:prstGeom prst="roundRect">
            <a:avLst>
              <a:gd name="adj" fmla="val 6667"/>
            </a:avLst>
          </a:prstGeom>
          <a:solidFill>
            <a:schemeClr val="bg2"/>
          </a:solidFill>
          <a:ln/>
        </p:spPr>
      </p:sp>
      <p:sp>
        <p:nvSpPr>
          <p:cNvPr id="10" name="icon-circle FaCloudRain"/>
          <p:cNvSpPr/>
          <p:nvPr/>
        </p:nvSpPr>
        <p:spPr>
          <a:xfrm>
            <a:off x="777240" y="3246120"/>
            <a:ext cx="548640" cy="548640"/>
          </a:xfrm>
          <a:prstGeom prst="ellipse">
            <a:avLst/>
          </a:prstGeom>
          <a:solidFill>
            <a:schemeClr val="accent1"/>
          </a:solidFill>
          <a:ln/>
        </p:spPr>
      </p:sp>
      <p:pic>
        <p:nvPicPr>
          <p:cNvPr id="11" name="icon FaCloudRain" descr="CloudRain icon">    </p:cNvPr>
          <p:cNvPicPr>
            <a:picLocks noChangeAspect="1"/>
          </p:cNvPicPr>
          <p:nvPr/>
        </p:nvPicPr>
        <p:blipFill>
          <a:blip r:embed="rId2"/>
          <a:stretch>
            <a:fillRect/>
          </a:stretch>
        </p:blipFill>
        <p:spPr>
          <a:xfrm>
            <a:off x="908914" y="3377794"/>
            <a:ext cx="285293" cy="285293"/>
          </a:xfrm>
          <a:prstGeom prst="rect">
            <a:avLst/>
          </a:prstGeom>
        </p:spPr>
      </p:pic>
      <p:sp>
        <p:nvSpPr>
          <p:cNvPr id="12" name="Text 7"/>
          <p:cNvSpPr txBox="1"/>
          <p:nvPr/>
        </p:nvSpPr>
        <p:spPr>
          <a:xfrm>
            <a:off x="1554480" y="3227832"/>
            <a:ext cx="516636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Join weather</a:t>
            </a:r>
            <a:endParaRPr lang="en-US" sz="1600" dirty="0"/>
          </a:p>
        </p:txBody>
      </p:sp>
      <p:sp>
        <p:nvSpPr>
          <p:cNvPr id="13" name="Text 8"/>
          <p:cNvSpPr txBox="1"/>
          <p:nvPr/>
        </p:nvSpPr>
        <p:spPr>
          <a:xfrm>
            <a:off x="1554480" y="3575304"/>
            <a:ext cx="5166360" cy="777240"/>
          </a:xfrm>
          <a:prstGeom prst="rect">
            <a:avLst/>
          </a:prstGeom>
          <a:noFill/>
          <a:ln/>
        </p:spPr>
        <p:txBody>
          <a:bodyPr wrap="square" lIns="0" tIns="0" rIns="0" bIns="0" rtlCol="0" anchor="t"/>
          <a:lstStyle/>
          <a:p>
            <a:pPr indent="0" marL="0">
              <a:buNone/>
            </a:pPr>
            <a:r>
              <a:rPr lang="en-US" sz="1400" dirty="0">
                <a:solidFill>
                  <a:schemeClr val="tx1"/>
                </a:solidFill>
              </a:rPr>
              <a:t>Match on grid cell + collision hour, enforced many-to-one so a collision is never duplicated. Match rate: 100%</a:t>
            </a:r>
            <a:endParaRPr lang="en-US" sz="1400" dirty="0"/>
          </a:p>
        </p:txBody>
      </p:sp>
      <p:sp>
        <p:nvSpPr>
          <p:cNvPr id="14" name="transform card"/>
          <p:cNvSpPr/>
          <p:nvPr/>
        </p:nvSpPr>
        <p:spPr>
          <a:xfrm>
            <a:off x="548640" y="4572000"/>
            <a:ext cx="6309360" cy="1371600"/>
          </a:xfrm>
          <a:prstGeom prst="roundRect">
            <a:avLst>
              <a:gd name="adj" fmla="val 6667"/>
            </a:avLst>
          </a:prstGeom>
          <a:solidFill>
            <a:schemeClr val="bg2"/>
          </a:solidFill>
          <a:ln/>
        </p:spPr>
      </p:sp>
      <p:sp>
        <p:nvSpPr>
          <p:cNvPr id="15" name="icon-circle FaUsers"/>
          <p:cNvSpPr/>
          <p:nvPr/>
        </p:nvSpPr>
        <p:spPr>
          <a:xfrm>
            <a:off x="777240" y="4800600"/>
            <a:ext cx="548640" cy="548640"/>
          </a:xfrm>
          <a:prstGeom prst="ellipse">
            <a:avLst/>
          </a:prstGeom>
          <a:solidFill>
            <a:schemeClr val="accent1"/>
          </a:solidFill>
          <a:ln/>
        </p:spPr>
      </p:sp>
      <p:pic>
        <p:nvPicPr>
          <p:cNvPr id="16" name="icon FaUsers" descr="Users icon">    </p:cNvPr>
          <p:cNvPicPr>
            <a:picLocks noChangeAspect="1"/>
          </p:cNvPicPr>
          <p:nvPr/>
        </p:nvPicPr>
        <p:blipFill>
          <a:blip r:embed="rId3"/>
          <a:stretch>
            <a:fillRect/>
          </a:stretch>
        </p:blipFill>
        <p:spPr>
          <a:xfrm>
            <a:off x="908914" y="4932274"/>
            <a:ext cx="285293" cy="285293"/>
          </a:xfrm>
          <a:prstGeom prst="rect">
            <a:avLst/>
          </a:prstGeom>
        </p:spPr>
      </p:pic>
      <p:sp>
        <p:nvSpPr>
          <p:cNvPr id="17" name="Text 11"/>
          <p:cNvSpPr txBox="1"/>
          <p:nvPr/>
        </p:nvSpPr>
        <p:spPr>
          <a:xfrm>
            <a:off x="1554480" y="4782312"/>
            <a:ext cx="516636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Vehicle &amp; casualty features</a:t>
            </a:r>
            <a:endParaRPr lang="en-US" sz="1600" dirty="0"/>
          </a:p>
        </p:txBody>
      </p:sp>
      <p:sp>
        <p:nvSpPr>
          <p:cNvPr id="18" name="Text 12"/>
          <p:cNvSpPr txBox="1"/>
          <p:nvPr/>
        </p:nvSpPr>
        <p:spPr>
          <a:xfrm>
            <a:off x="1554480" y="5129784"/>
            <a:ext cx="5166360" cy="777240"/>
          </a:xfrm>
          <a:prstGeom prst="rect">
            <a:avLst/>
          </a:prstGeom>
          <a:noFill/>
          <a:ln/>
        </p:spPr>
        <p:txBody>
          <a:bodyPr wrap="square" lIns="0" tIns="0" rIns="0" bIns="0" rtlCol="0" anchor="t"/>
          <a:lstStyle/>
          <a:p>
            <a:pPr indent="0" marL="0">
              <a:buNone/>
            </a:pPr>
            <a:r>
              <a:rPr lang="en-US" sz="1400" dirty="0">
                <a:solidFill>
                  <a:schemeClr val="tx1"/>
                </a:solidFill>
              </a:rPr>
              <a:t>Per collision: cycle, motorcycle, bus, goods vehicle involved; pedestrian or child casualty; mean and youngest driver age</a:t>
            </a:r>
            <a:endParaRPr lang="en-US" sz="1400" dirty="0"/>
          </a:p>
        </p:txBody>
      </p:sp>
      <p:sp>
        <p:nvSpPr>
          <p:cNvPr id="19" name="ml table card"/>
          <p:cNvSpPr/>
          <p:nvPr/>
        </p:nvSpPr>
        <p:spPr>
          <a:xfrm>
            <a:off x="7132320" y="1463040"/>
            <a:ext cx="4480560" cy="4480560"/>
          </a:xfrm>
          <a:prstGeom prst="roundRect">
            <a:avLst>
              <a:gd name="adj" fmla="val 2041"/>
            </a:avLst>
          </a:prstGeom>
          <a:solidFill>
            <a:schemeClr val="tx2"/>
          </a:solidFill>
          <a:ln/>
        </p:spPr>
      </p:sp>
      <p:sp>
        <p:nvSpPr>
          <p:cNvPr id="20" name="icon-circle FaRobot"/>
          <p:cNvSpPr/>
          <p:nvPr/>
        </p:nvSpPr>
        <p:spPr>
          <a:xfrm>
            <a:off x="7452360" y="1783080"/>
            <a:ext cx="685800" cy="685800"/>
          </a:xfrm>
          <a:prstGeom prst="ellipse">
            <a:avLst/>
          </a:prstGeom>
          <a:solidFill>
            <a:schemeClr val="accent1"/>
          </a:solidFill>
          <a:ln/>
        </p:spPr>
      </p:sp>
      <p:pic>
        <p:nvPicPr>
          <p:cNvPr id="21" name="icon FaRobot" descr="Robot icon">    </p:cNvPr>
          <p:cNvPicPr>
            <a:picLocks noChangeAspect="1"/>
          </p:cNvPicPr>
          <p:nvPr/>
        </p:nvPicPr>
        <p:blipFill>
          <a:blip r:embed="rId4"/>
          <a:stretch>
            <a:fillRect/>
          </a:stretch>
        </p:blipFill>
        <p:spPr>
          <a:xfrm>
            <a:off x="7616952" y="1947672"/>
            <a:ext cx="356616" cy="356616"/>
          </a:xfrm>
          <a:prstGeom prst="rect">
            <a:avLst/>
          </a:prstGeom>
        </p:spPr>
      </p:pic>
      <p:sp>
        <p:nvSpPr>
          <p:cNvPr id="22" name="Text 15"/>
          <p:cNvSpPr txBox="1"/>
          <p:nvPr/>
        </p:nvSpPr>
        <p:spPr>
          <a:xfrm>
            <a:off x="8321040" y="1783080"/>
            <a:ext cx="3108960" cy="68580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Model-ready table for Part 2</a:t>
            </a:r>
            <a:endParaRPr lang="en-US" sz="1800" dirty="0"/>
          </a:p>
        </p:txBody>
      </p:sp>
      <p:sp>
        <p:nvSpPr>
          <p:cNvPr id="23" name="Text 16"/>
          <p:cNvSpPr txBox="1"/>
          <p:nvPr/>
        </p:nvSpPr>
        <p:spPr>
          <a:xfrm>
            <a:off x="7452360" y="2697480"/>
            <a:ext cx="3931920" cy="73152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205,173 × 44</a:t>
            </a:r>
            <a:endParaRPr lang="en-US" sz="4000" dirty="0"/>
          </a:p>
        </p:txBody>
      </p:sp>
      <p:sp>
        <p:nvSpPr>
          <p:cNvPr id="24" name="Text 17"/>
          <p:cNvSpPr txBox="1"/>
          <p:nvPr/>
        </p:nvSpPr>
        <p:spPr>
          <a:xfrm>
            <a:off x="7452360" y="3429000"/>
            <a:ext cx="3931920" cy="320040"/>
          </a:xfrm>
          <a:prstGeom prst="rect">
            <a:avLst/>
          </a:prstGeom>
          <a:noFill/>
          <a:ln/>
        </p:spPr>
        <p:txBody>
          <a:bodyPr wrap="square" lIns="0" tIns="0" rIns="0" bIns="0" rtlCol="0" anchor="t"/>
          <a:lstStyle/>
          <a:p>
            <a:pPr indent="0" marL="0">
              <a:buNone/>
            </a:pPr>
            <a:r>
              <a:rPr lang="en-US" sz="1400" dirty="0">
                <a:solidFill>
                  <a:schemeClr val="bg2"/>
                </a:solidFill>
              </a:rPr>
              <a:t>rows × columns in ml_accident_features</a:t>
            </a:r>
            <a:endParaRPr lang="en-US" sz="1400" dirty="0"/>
          </a:p>
        </p:txBody>
      </p:sp>
      <p:sp>
        <p:nvSpPr>
          <p:cNvPr id="25" name="Text 18"/>
          <p:cNvSpPr txBox="1"/>
          <p:nvPr/>
        </p:nvSpPr>
        <p:spPr>
          <a:xfrm>
            <a:off x="7452360" y="3977640"/>
            <a:ext cx="3931920" cy="18288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bg1"/>
                </a:solidFill>
              </a:rPr>
              <a:t>Only information known when a collision is reported</a:t>
            </a:r>
            <a:endParaRPr lang="en-US" sz="1400" dirty="0"/>
          </a:p>
          <a:p>
            <a:pPr marL="228600" indent="-228600">
              <a:spcAft>
                <a:spcPts val="800"/>
              </a:spcAft>
              <a:buSzPct val="100000"/>
              <a:buChar char="•"/>
            </a:pPr>
            <a:r>
              <a:rPr lang="en-US" sz="1400" dirty="0">
                <a:solidFill>
                  <a:schemeClr val="bg1"/>
                </a:solidFill>
              </a:rPr>
              <a:t>Casualty severity counts and police attendance removed – they would leak the answer (target leakage)</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Star schema warehouse in PostgreSQL + PostGIS</a:t>
            </a:r>
            <a:endParaRPr lang="en-US" sz="3200" dirty="0"/>
          </a:p>
        </p:txBody>
      </p:sp>
      <p:sp>
        <p:nvSpPr>
          <p:cNvPr id="4" name="Shape 1"/>
          <p:cNvSpPr/>
          <p:nvPr/>
        </p:nvSpPr>
        <p:spPr>
          <a:xfrm>
            <a:off x="1645920" y="1874520"/>
            <a:ext cx="2194560" cy="1874520"/>
          </a:xfrm>
          <a:prstGeom prst="line">
            <a:avLst/>
          </a:prstGeom>
          <a:noFill/>
          <a:ln w="15875">
            <a:solidFill>
              <a:schemeClr val="accent4"/>
            </a:solidFill>
            <a:prstDash val="solid"/>
          </a:ln>
        </p:spPr>
      </p:sp>
      <p:sp>
        <p:nvSpPr>
          <p:cNvPr id="5" name="Shape 2"/>
          <p:cNvSpPr/>
          <p:nvPr/>
        </p:nvSpPr>
        <p:spPr>
          <a:xfrm>
            <a:off x="3840480" y="1645920"/>
            <a:ext cx="914" cy="2103120"/>
          </a:xfrm>
          <a:prstGeom prst="line">
            <a:avLst/>
          </a:prstGeom>
          <a:noFill/>
          <a:ln w="15875">
            <a:solidFill>
              <a:schemeClr val="accent4"/>
            </a:solidFill>
            <a:prstDash val="solid"/>
          </a:ln>
        </p:spPr>
      </p:sp>
      <p:sp>
        <p:nvSpPr>
          <p:cNvPr id="6" name="Shape 3"/>
          <p:cNvSpPr/>
          <p:nvPr/>
        </p:nvSpPr>
        <p:spPr>
          <a:xfrm flipH="1">
            <a:off x="3840480" y="1874520"/>
            <a:ext cx="2194560" cy="1874520"/>
          </a:xfrm>
          <a:prstGeom prst="line">
            <a:avLst/>
          </a:prstGeom>
          <a:noFill/>
          <a:ln w="15875">
            <a:solidFill>
              <a:schemeClr val="accent4"/>
            </a:solidFill>
            <a:prstDash val="solid"/>
          </a:ln>
        </p:spPr>
      </p:sp>
      <p:sp>
        <p:nvSpPr>
          <p:cNvPr id="7" name="Shape 4"/>
          <p:cNvSpPr/>
          <p:nvPr/>
        </p:nvSpPr>
        <p:spPr>
          <a:xfrm flipH="1">
            <a:off x="1645920" y="3749040"/>
            <a:ext cx="2194560" cy="1874520"/>
          </a:xfrm>
          <a:prstGeom prst="line">
            <a:avLst/>
          </a:prstGeom>
          <a:noFill/>
          <a:ln w="15875">
            <a:solidFill>
              <a:schemeClr val="accent4"/>
            </a:solidFill>
            <a:prstDash val="solid"/>
          </a:ln>
        </p:spPr>
      </p:sp>
      <p:sp>
        <p:nvSpPr>
          <p:cNvPr id="8" name="Shape 5"/>
          <p:cNvSpPr/>
          <p:nvPr/>
        </p:nvSpPr>
        <p:spPr>
          <a:xfrm>
            <a:off x="3840480" y="3749040"/>
            <a:ext cx="914" cy="2057400"/>
          </a:xfrm>
          <a:prstGeom prst="line">
            <a:avLst/>
          </a:prstGeom>
          <a:noFill/>
          <a:ln w="15875">
            <a:solidFill>
              <a:schemeClr val="accent4"/>
            </a:solidFill>
            <a:prstDash val="solid"/>
          </a:ln>
        </p:spPr>
      </p:sp>
      <p:sp>
        <p:nvSpPr>
          <p:cNvPr id="9" name="Shape 6"/>
          <p:cNvSpPr/>
          <p:nvPr/>
        </p:nvSpPr>
        <p:spPr>
          <a:xfrm>
            <a:off x="3840480" y="3749040"/>
            <a:ext cx="2194560" cy="1874520"/>
          </a:xfrm>
          <a:prstGeom prst="line">
            <a:avLst/>
          </a:prstGeom>
          <a:noFill/>
          <a:ln w="15875">
            <a:solidFill>
              <a:schemeClr val="accent4"/>
            </a:solidFill>
            <a:prstDash val="solid"/>
          </a:ln>
        </p:spPr>
      </p:sp>
      <p:sp>
        <p:nvSpPr>
          <p:cNvPr id="10" name="Shape 7"/>
          <p:cNvSpPr/>
          <p:nvPr/>
        </p:nvSpPr>
        <p:spPr>
          <a:xfrm>
            <a:off x="1417320" y="3749040"/>
            <a:ext cx="2423160" cy="914"/>
          </a:xfrm>
          <a:prstGeom prst="line">
            <a:avLst/>
          </a:prstGeom>
          <a:noFill/>
          <a:ln w="15875">
            <a:solidFill>
              <a:schemeClr val="accent4"/>
            </a:solidFill>
            <a:prstDash val="solid"/>
          </a:ln>
        </p:spPr>
      </p:sp>
      <p:sp>
        <p:nvSpPr>
          <p:cNvPr id="11" name="Shape 8"/>
          <p:cNvSpPr/>
          <p:nvPr/>
        </p:nvSpPr>
        <p:spPr>
          <a:xfrm>
            <a:off x="3840480" y="3749040"/>
            <a:ext cx="2423160" cy="914"/>
          </a:xfrm>
          <a:prstGeom prst="line">
            <a:avLst/>
          </a:prstGeom>
          <a:noFill/>
          <a:ln w="15875">
            <a:solidFill>
              <a:schemeClr val="accent4"/>
            </a:solidFill>
            <a:prstDash val="solid"/>
          </a:ln>
        </p:spPr>
      </p:sp>
      <p:sp>
        <p:nvSpPr>
          <p:cNvPr id="12" name="dim_date"/>
          <p:cNvSpPr/>
          <p:nvPr/>
        </p:nvSpPr>
        <p:spPr>
          <a:xfrm>
            <a:off x="777240" y="1600200"/>
            <a:ext cx="1737360" cy="548640"/>
          </a:xfrm>
          <a:prstGeom prst="roundRect">
            <a:avLst>
              <a:gd name="adj" fmla="val 13333"/>
            </a:avLst>
          </a:prstGeom>
          <a:solidFill>
            <a:schemeClr val="bg2"/>
          </a:solidFill>
          <a:ln w="12700">
            <a:solidFill>
              <a:schemeClr val="accent4"/>
            </a:solidFill>
            <a:prstDash val="solid"/>
          </a:ln>
        </p:spPr>
      </p:sp>
      <p:sp>
        <p:nvSpPr>
          <p:cNvPr id="13" name="Text 10"/>
          <p:cNvSpPr txBox="1"/>
          <p:nvPr/>
        </p:nvSpPr>
        <p:spPr>
          <a:xfrm>
            <a:off x="777240" y="1600200"/>
            <a:ext cx="1737360" cy="548640"/>
          </a:xfrm>
          <a:prstGeom prst="rect">
            <a:avLst/>
          </a:prstGeom>
          <a:noFill/>
          <a:ln/>
        </p:spPr>
        <p:txBody>
          <a:bodyPr wrap="square" lIns="0" tIns="0" rIns="0" bIns="0" rtlCol="0" anchor="ctr"/>
          <a:lstStyle/>
          <a:p>
            <a:pPr algn="ctr" indent="0" marL="0">
              <a:buNone/>
            </a:pPr>
            <a:r>
              <a:rPr lang="en-US" sz="1300" dirty="0">
                <a:solidFill>
                  <a:schemeClr val="tx2"/>
                </a:solidFill>
                <a:latin typeface="Courier New" pitchFamily="34" charset="0"/>
                <a:ea typeface="Courier New" pitchFamily="34" charset="-122"/>
                <a:cs typeface="Courier New" pitchFamily="34" charset="-120"/>
              </a:rPr>
              <a:t>dim_date</a:t>
            </a:r>
            <a:endParaRPr lang="en-US" sz="1300" dirty="0"/>
          </a:p>
        </p:txBody>
      </p:sp>
      <p:sp>
        <p:nvSpPr>
          <p:cNvPr id="14" name="dim_time"/>
          <p:cNvSpPr/>
          <p:nvPr/>
        </p:nvSpPr>
        <p:spPr>
          <a:xfrm>
            <a:off x="2971800" y="1371600"/>
            <a:ext cx="1737360" cy="548640"/>
          </a:xfrm>
          <a:prstGeom prst="roundRect">
            <a:avLst>
              <a:gd name="adj" fmla="val 13333"/>
            </a:avLst>
          </a:prstGeom>
          <a:solidFill>
            <a:schemeClr val="bg2"/>
          </a:solidFill>
          <a:ln w="12700">
            <a:solidFill>
              <a:schemeClr val="accent4"/>
            </a:solidFill>
            <a:prstDash val="solid"/>
          </a:ln>
        </p:spPr>
      </p:sp>
      <p:sp>
        <p:nvSpPr>
          <p:cNvPr id="15" name="Text 12"/>
          <p:cNvSpPr txBox="1"/>
          <p:nvPr/>
        </p:nvSpPr>
        <p:spPr>
          <a:xfrm>
            <a:off x="2971800" y="1371600"/>
            <a:ext cx="1737360" cy="548640"/>
          </a:xfrm>
          <a:prstGeom prst="rect">
            <a:avLst/>
          </a:prstGeom>
          <a:noFill/>
          <a:ln/>
        </p:spPr>
        <p:txBody>
          <a:bodyPr wrap="square" lIns="0" tIns="0" rIns="0" bIns="0" rtlCol="0" anchor="ctr"/>
          <a:lstStyle/>
          <a:p>
            <a:pPr algn="ctr" indent="0" marL="0">
              <a:buNone/>
            </a:pPr>
            <a:r>
              <a:rPr lang="en-US" sz="1300" dirty="0">
                <a:solidFill>
                  <a:schemeClr val="tx2"/>
                </a:solidFill>
                <a:latin typeface="Courier New" pitchFamily="34" charset="0"/>
                <a:ea typeface="Courier New" pitchFamily="34" charset="-122"/>
                <a:cs typeface="Courier New" pitchFamily="34" charset="-120"/>
              </a:rPr>
              <a:t>dim_time</a:t>
            </a:r>
            <a:endParaRPr lang="en-US" sz="1300" dirty="0"/>
          </a:p>
        </p:txBody>
      </p:sp>
      <p:sp>
        <p:nvSpPr>
          <p:cNvPr id="16" name="dim_location"/>
          <p:cNvSpPr/>
          <p:nvPr/>
        </p:nvSpPr>
        <p:spPr>
          <a:xfrm>
            <a:off x="5166360" y="1600200"/>
            <a:ext cx="1737360" cy="548640"/>
          </a:xfrm>
          <a:prstGeom prst="roundRect">
            <a:avLst>
              <a:gd name="adj" fmla="val 13333"/>
            </a:avLst>
          </a:prstGeom>
          <a:solidFill>
            <a:schemeClr val="bg2"/>
          </a:solidFill>
          <a:ln w="12700">
            <a:solidFill>
              <a:schemeClr val="accent4"/>
            </a:solidFill>
            <a:prstDash val="solid"/>
          </a:ln>
        </p:spPr>
      </p:sp>
      <p:sp>
        <p:nvSpPr>
          <p:cNvPr id="17" name="Text 14"/>
          <p:cNvSpPr txBox="1"/>
          <p:nvPr/>
        </p:nvSpPr>
        <p:spPr>
          <a:xfrm>
            <a:off x="5166360" y="1600200"/>
            <a:ext cx="1737360" cy="548640"/>
          </a:xfrm>
          <a:prstGeom prst="rect">
            <a:avLst/>
          </a:prstGeom>
          <a:noFill/>
          <a:ln/>
        </p:spPr>
        <p:txBody>
          <a:bodyPr wrap="square" lIns="0" tIns="0" rIns="0" bIns="0" rtlCol="0" anchor="ctr"/>
          <a:lstStyle/>
          <a:p>
            <a:pPr algn="ctr" indent="0" marL="0">
              <a:buNone/>
            </a:pPr>
            <a:r>
              <a:rPr lang="en-US" sz="1300" dirty="0">
                <a:solidFill>
                  <a:schemeClr val="tx2"/>
                </a:solidFill>
                <a:latin typeface="Courier New" pitchFamily="34" charset="0"/>
                <a:ea typeface="Courier New" pitchFamily="34" charset="-122"/>
                <a:cs typeface="Courier New" pitchFamily="34" charset="-120"/>
              </a:rPr>
              <a:t>dim_location</a:t>
            </a:r>
            <a:endParaRPr lang="en-US" sz="1300" dirty="0"/>
          </a:p>
        </p:txBody>
      </p:sp>
      <p:sp>
        <p:nvSpPr>
          <p:cNvPr id="18" name="dim_road"/>
          <p:cNvSpPr/>
          <p:nvPr/>
        </p:nvSpPr>
        <p:spPr>
          <a:xfrm>
            <a:off x="777240" y="5349240"/>
            <a:ext cx="1737360" cy="548640"/>
          </a:xfrm>
          <a:prstGeom prst="roundRect">
            <a:avLst>
              <a:gd name="adj" fmla="val 13333"/>
            </a:avLst>
          </a:prstGeom>
          <a:solidFill>
            <a:schemeClr val="bg2"/>
          </a:solidFill>
          <a:ln w="12700">
            <a:solidFill>
              <a:schemeClr val="accent4"/>
            </a:solidFill>
            <a:prstDash val="solid"/>
          </a:ln>
        </p:spPr>
      </p:sp>
      <p:sp>
        <p:nvSpPr>
          <p:cNvPr id="19" name="Text 16"/>
          <p:cNvSpPr txBox="1"/>
          <p:nvPr/>
        </p:nvSpPr>
        <p:spPr>
          <a:xfrm>
            <a:off x="777240" y="5349240"/>
            <a:ext cx="1737360" cy="548640"/>
          </a:xfrm>
          <a:prstGeom prst="rect">
            <a:avLst/>
          </a:prstGeom>
          <a:noFill/>
          <a:ln/>
        </p:spPr>
        <p:txBody>
          <a:bodyPr wrap="square" lIns="0" tIns="0" rIns="0" bIns="0" rtlCol="0" anchor="ctr"/>
          <a:lstStyle/>
          <a:p>
            <a:pPr algn="ctr" indent="0" marL="0">
              <a:buNone/>
            </a:pPr>
            <a:r>
              <a:rPr lang="en-US" sz="1300" dirty="0">
                <a:solidFill>
                  <a:schemeClr val="tx2"/>
                </a:solidFill>
                <a:latin typeface="Courier New" pitchFamily="34" charset="0"/>
                <a:ea typeface="Courier New" pitchFamily="34" charset="-122"/>
                <a:cs typeface="Courier New" pitchFamily="34" charset="-120"/>
              </a:rPr>
              <a:t>dim_road</a:t>
            </a:r>
            <a:endParaRPr lang="en-US" sz="1300" dirty="0"/>
          </a:p>
        </p:txBody>
      </p:sp>
      <p:sp>
        <p:nvSpPr>
          <p:cNvPr id="20" name="dim_weather"/>
          <p:cNvSpPr/>
          <p:nvPr/>
        </p:nvSpPr>
        <p:spPr>
          <a:xfrm>
            <a:off x="2971800" y="5532120"/>
            <a:ext cx="1737360" cy="548640"/>
          </a:xfrm>
          <a:prstGeom prst="roundRect">
            <a:avLst>
              <a:gd name="adj" fmla="val 13333"/>
            </a:avLst>
          </a:prstGeom>
          <a:solidFill>
            <a:schemeClr val="bg2"/>
          </a:solidFill>
          <a:ln w="12700">
            <a:solidFill>
              <a:schemeClr val="accent4"/>
            </a:solidFill>
            <a:prstDash val="solid"/>
          </a:ln>
        </p:spPr>
      </p:sp>
      <p:sp>
        <p:nvSpPr>
          <p:cNvPr id="21" name="Text 18"/>
          <p:cNvSpPr txBox="1"/>
          <p:nvPr/>
        </p:nvSpPr>
        <p:spPr>
          <a:xfrm>
            <a:off x="2971800" y="5532120"/>
            <a:ext cx="1737360" cy="548640"/>
          </a:xfrm>
          <a:prstGeom prst="rect">
            <a:avLst/>
          </a:prstGeom>
          <a:noFill/>
          <a:ln/>
        </p:spPr>
        <p:txBody>
          <a:bodyPr wrap="square" lIns="0" tIns="0" rIns="0" bIns="0" rtlCol="0" anchor="ctr"/>
          <a:lstStyle/>
          <a:p>
            <a:pPr algn="ctr" indent="0" marL="0">
              <a:buNone/>
            </a:pPr>
            <a:r>
              <a:rPr lang="en-US" sz="1300" dirty="0">
                <a:solidFill>
                  <a:schemeClr val="tx2"/>
                </a:solidFill>
                <a:latin typeface="Courier New" pitchFamily="34" charset="0"/>
                <a:ea typeface="Courier New" pitchFamily="34" charset="-122"/>
                <a:cs typeface="Courier New" pitchFamily="34" charset="-120"/>
              </a:rPr>
              <a:t>dim_weather</a:t>
            </a:r>
            <a:endParaRPr lang="en-US" sz="1300" dirty="0"/>
          </a:p>
        </p:txBody>
      </p:sp>
      <p:sp>
        <p:nvSpPr>
          <p:cNvPr id="22" name="dim_severity"/>
          <p:cNvSpPr/>
          <p:nvPr/>
        </p:nvSpPr>
        <p:spPr>
          <a:xfrm>
            <a:off x="5166360" y="5349240"/>
            <a:ext cx="1737360" cy="548640"/>
          </a:xfrm>
          <a:prstGeom prst="roundRect">
            <a:avLst>
              <a:gd name="adj" fmla="val 13333"/>
            </a:avLst>
          </a:prstGeom>
          <a:solidFill>
            <a:schemeClr val="bg2"/>
          </a:solidFill>
          <a:ln w="12700">
            <a:solidFill>
              <a:schemeClr val="accent4"/>
            </a:solidFill>
            <a:prstDash val="solid"/>
          </a:ln>
        </p:spPr>
      </p:sp>
      <p:sp>
        <p:nvSpPr>
          <p:cNvPr id="23" name="Text 20"/>
          <p:cNvSpPr txBox="1"/>
          <p:nvPr/>
        </p:nvSpPr>
        <p:spPr>
          <a:xfrm>
            <a:off x="5166360" y="5349240"/>
            <a:ext cx="1737360" cy="548640"/>
          </a:xfrm>
          <a:prstGeom prst="rect">
            <a:avLst/>
          </a:prstGeom>
          <a:noFill/>
          <a:ln/>
        </p:spPr>
        <p:txBody>
          <a:bodyPr wrap="square" lIns="0" tIns="0" rIns="0" bIns="0" rtlCol="0" anchor="ctr"/>
          <a:lstStyle/>
          <a:p>
            <a:pPr algn="ctr" indent="0" marL="0">
              <a:buNone/>
            </a:pPr>
            <a:r>
              <a:rPr lang="en-US" sz="1300" dirty="0">
                <a:solidFill>
                  <a:schemeClr val="tx2"/>
                </a:solidFill>
                <a:latin typeface="Courier New" pitchFamily="34" charset="0"/>
                <a:ea typeface="Courier New" pitchFamily="34" charset="-122"/>
                <a:cs typeface="Courier New" pitchFamily="34" charset="-120"/>
              </a:rPr>
              <a:t>dim_severity</a:t>
            </a:r>
            <a:endParaRPr lang="en-US" sz="1300" dirty="0"/>
          </a:p>
        </p:txBody>
      </p:sp>
      <p:sp>
        <p:nvSpPr>
          <p:cNvPr id="24" name="fact_vehicle"/>
          <p:cNvSpPr/>
          <p:nvPr/>
        </p:nvSpPr>
        <p:spPr>
          <a:xfrm>
            <a:off x="548640" y="3474720"/>
            <a:ext cx="1737360" cy="548640"/>
          </a:xfrm>
          <a:prstGeom prst="roundRect">
            <a:avLst>
              <a:gd name="adj" fmla="val 13333"/>
            </a:avLst>
          </a:prstGeom>
          <a:solidFill>
            <a:schemeClr val="accent6"/>
          </a:solidFill>
          <a:ln w="12700">
            <a:solidFill>
              <a:schemeClr val="accent1"/>
            </a:solidFill>
            <a:prstDash val="solid"/>
          </a:ln>
        </p:spPr>
      </p:sp>
      <p:sp>
        <p:nvSpPr>
          <p:cNvPr id="25" name="Text 22"/>
          <p:cNvSpPr txBox="1"/>
          <p:nvPr/>
        </p:nvSpPr>
        <p:spPr>
          <a:xfrm>
            <a:off x="548640" y="3474720"/>
            <a:ext cx="1737360" cy="548640"/>
          </a:xfrm>
          <a:prstGeom prst="rect">
            <a:avLst/>
          </a:prstGeom>
          <a:noFill/>
          <a:ln/>
        </p:spPr>
        <p:txBody>
          <a:bodyPr wrap="square" lIns="0" tIns="0" rIns="0" bIns="0" rtlCol="0" anchor="ctr"/>
          <a:lstStyle/>
          <a:p>
            <a:pPr algn="ctr" indent="0" marL="0">
              <a:buNone/>
            </a:pPr>
            <a:r>
              <a:rPr lang="en-US" sz="1300" dirty="0">
                <a:solidFill>
                  <a:schemeClr val="tx2"/>
                </a:solidFill>
                <a:latin typeface="Courier New" pitchFamily="34" charset="0"/>
                <a:ea typeface="Courier New" pitchFamily="34" charset="-122"/>
                <a:cs typeface="Courier New" pitchFamily="34" charset="-120"/>
              </a:rPr>
              <a:t>fact_vehicle</a:t>
            </a:r>
            <a:endParaRPr lang="en-US" sz="1300" dirty="0"/>
          </a:p>
        </p:txBody>
      </p:sp>
      <p:sp>
        <p:nvSpPr>
          <p:cNvPr id="26" name="fact_casualty"/>
          <p:cNvSpPr/>
          <p:nvPr/>
        </p:nvSpPr>
        <p:spPr>
          <a:xfrm>
            <a:off x="5394960" y="3474720"/>
            <a:ext cx="1737360" cy="548640"/>
          </a:xfrm>
          <a:prstGeom prst="roundRect">
            <a:avLst>
              <a:gd name="adj" fmla="val 13333"/>
            </a:avLst>
          </a:prstGeom>
          <a:solidFill>
            <a:schemeClr val="accent6"/>
          </a:solidFill>
          <a:ln w="12700">
            <a:solidFill>
              <a:schemeClr val="accent1"/>
            </a:solidFill>
            <a:prstDash val="solid"/>
          </a:ln>
        </p:spPr>
      </p:sp>
      <p:sp>
        <p:nvSpPr>
          <p:cNvPr id="27" name="Text 24"/>
          <p:cNvSpPr txBox="1"/>
          <p:nvPr/>
        </p:nvSpPr>
        <p:spPr>
          <a:xfrm>
            <a:off x="5394960" y="3474720"/>
            <a:ext cx="1737360" cy="548640"/>
          </a:xfrm>
          <a:prstGeom prst="rect">
            <a:avLst/>
          </a:prstGeom>
          <a:noFill/>
          <a:ln/>
        </p:spPr>
        <p:txBody>
          <a:bodyPr wrap="square" lIns="0" tIns="0" rIns="0" bIns="0" rtlCol="0" anchor="ctr"/>
          <a:lstStyle/>
          <a:p>
            <a:pPr algn="ctr" indent="0" marL="0">
              <a:buNone/>
            </a:pPr>
            <a:r>
              <a:rPr lang="en-US" sz="1300" dirty="0">
                <a:solidFill>
                  <a:schemeClr val="tx2"/>
                </a:solidFill>
                <a:latin typeface="Courier New" pitchFamily="34" charset="0"/>
                <a:ea typeface="Courier New" pitchFamily="34" charset="-122"/>
                <a:cs typeface="Courier New" pitchFamily="34" charset="-120"/>
              </a:rPr>
              <a:t>fact_casualty</a:t>
            </a:r>
            <a:endParaRPr lang="en-US" sz="1300" dirty="0"/>
          </a:p>
        </p:txBody>
      </p:sp>
      <p:sp>
        <p:nvSpPr>
          <p:cNvPr id="28" name="fact_accident"/>
          <p:cNvSpPr/>
          <p:nvPr/>
        </p:nvSpPr>
        <p:spPr>
          <a:xfrm>
            <a:off x="2697480" y="3291840"/>
            <a:ext cx="2286000" cy="914400"/>
          </a:xfrm>
          <a:prstGeom prst="roundRect">
            <a:avLst>
              <a:gd name="adj" fmla="val 10000"/>
            </a:avLst>
          </a:prstGeom>
          <a:solidFill>
            <a:schemeClr val="tx2"/>
          </a:solidFill>
          <a:ln/>
        </p:spPr>
      </p:sp>
      <p:sp>
        <p:nvSpPr>
          <p:cNvPr id="29" name="Text 26"/>
          <p:cNvSpPr txBox="1"/>
          <p:nvPr/>
        </p:nvSpPr>
        <p:spPr>
          <a:xfrm>
            <a:off x="2697480" y="3291840"/>
            <a:ext cx="2286000" cy="914400"/>
          </a:xfrm>
          <a:prstGeom prst="rect">
            <a:avLst/>
          </a:prstGeom>
          <a:noFill/>
          <a:ln/>
        </p:spPr>
        <p:txBody>
          <a:bodyPr wrap="square" lIns="0" tIns="0" rIns="0" bIns="0" rtlCol="0" anchor="ctr"/>
          <a:lstStyle/>
          <a:p>
            <a:pPr algn="ctr" indent="0" marL="0">
              <a:buNone/>
            </a:pPr>
            <a:r>
              <a:rPr lang="en-US" sz="1500" b="1" dirty="0">
                <a:solidFill>
                  <a:schemeClr val="accent1"/>
                </a:solidFill>
                <a:latin typeface="Courier New" pitchFamily="34" charset="0"/>
                <a:ea typeface="Courier New" pitchFamily="34" charset="-122"/>
                <a:cs typeface="Courier New" pitchFamily="34" charset="-120"/>
              </a:rPr>
              <a:t>fact_accident</a:t>
            </a:r>
            <a:endParaRPr lang="en-US" sz="1400" dirty="0"/>
          </a:p>
          <a:p>
            <a:pPr algn="ctr" indent="0" marL="0">
              <a:buNone/>
            </a:pPr>
            <a:r>
              <a:rPr lang="en-US" sz="1200" dirty="0">
                <a:solidFill>
                  <a:schemeClr val="bg2"/>
                </a:solidFill>
                <a:latin typeface="Courier New" pitchFamily="34" charset="0"/>
                <a:ea typeface="Courier New" pitchFamily="34" charset="-122"/>
                <a:cs typeface="Courier New" pitchFamily="34" charset="-120"/>
              </a:rPr>
              <a:t>1 row per collision</a:t>
            </a:r>
            <a:endParaRPr lang="en-US" sz="1400" dirty="0"/>
          </a:p>
        </p:txBody>
      </p:sp>
      <p:sp>
        <p:nvSpPr>
          <p:cNvPr id="30" name="Text 27"/>
          <p:cNvSpPr txBox="1"/>
          <p:nvPr/>
        </p:nvSpPr>
        <p:spPr>
          <a:xfrm>
            <a:off x="7680960" y="1417320"/>
            <a:ext cx="3931920" cy="777240"/>
          </a:xfrm>
          <a:prstGeom prst="rect">
            <a:avLst/>
          </a:prstGeom>
          <a:noFill/>
          <a:ln/>
        </p:spPr>
        <p:txBody>
          <a:bodyPr wrap="square" lIns="0" tIns="0" rIns="0" bIns="0" rtlCol="0" anchor="b"/>
          <a:lstStyle/>
          <a:p>
            <a:pPr indent="0" marL="0">
              <a:buNone/>
            </a:pPr>
            <a:r>
              <a:rPr lang="en-US" sz="4000" b="1" dirty="0">
                <a:solidFill>
                  <a:schemeClr val="accent3"/>
                </a:solidFill>
                <a:latin typeface="Arial" pitchFamily="34" charset="0"/>
                <a:ea typeface="Arial" pitchFamily="34" charset="-122"/>
                <a:cs typeface="Arial" pitchFamily="34" charset="-120"/>
              </a:rPr>
              <a:t>1,061,721</a:t>
            </a:r>
            <a:endParaRPr lang="en-US" sz="4000" dirty="0"/>
          </a:p>
        </p:txBody>
      </p:sp>
      <p:sp>
        <p:nvSpPr>
          <p:cNvPr id="31" name="Text 28"/>
          <p:cNvSpPr txBox="1"/>
          <p:nvPr/>
        </p:nvSpPr>
        <p:spPr>
          <a:xfrm>
            <a:off x="7680960" y="2258568"/>
            <a:ext cx="3931920" cy="685800"/>
          </a:xfrm>
          <a:prstGeom prst="rect">
            <a:avLst/>
          </a:prstGeom>
          <a:noFill/>
          <a:ln/>
        </p:spPr>
        <p:txBody>
          <a:bodyPr wrap="square" lIns="0" tIns="0" rIns="0" bIns="0" rtlCol="0" anchor="t"/>
          <a:lstStyle/>
          <a:p>
            <a:pPr indent="0" marL="0">
              <a:buNone/>
            </a:pPr>
            <a:r>
              <a:rPr lang="en-US" sz="1400" dirty="0">
                <a:solidFill>
                  <a:schemeClr val="accent4"/>
                </a:solidFill>
              </a:rPr>
              <a:t>rows loaded in 51 seconds</a:t>
            </a:r>
            <a:endParaRPr lang="en-US" sz="1400" dirty="0"/>
          </a:p>
        </p:txBody>
      </p:sp>
      <p:sp>
        <p:nvSpPr>
          <p:cNvPr id="32" name="Text 29"/>
          <p:cNvSpPr txBox="1"/>
          <p:nvPr/>
        </p:nvSpPr>
        <p:spPr>
          <a:xfrm>
            <a:off x="7680960" y="3063240"/>
            <a:ext cx="3931920" cy="301752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Accident mart: by hour, day, road, condition, hotspot grid, vehicle/casualty</a:t>
            </a:r>
            <a:endParaRPr lang="en-US" sz="1400" dirty="0"/>
          </a:p>
          <a:p>
            <a:pPr marL="228600" indent="-228600">
              <a:spcAft>
                <a:spcPts val="800"/>
              </a:spcAft>
              <a:buSzPct val="100000"/>
              <a:buChar char="•"/>
            </a:pPr>
            <a:r>
              <a:rPr lang="en-US" sz="1400" dirty="0">
                <a:solidFill>
                  <a:schemeClr val="tx1"/>
                </a:solidFill>
              </a:rPr>
              <a:t>PostGIS point geometry + spatial index for hotspot and radius queries</a:t>
            </a:r>
            <a:endParaRPr lang="en-US" sz="1400" dirty="0"/>
          </a:p>
          <a:p>
            <a:pPr marL="228600" indent="-228600">
              <a:spcAft>
                <a:spcPts val="800"/>
              </a:spcAft>
              <a:buSzPct val="100000"/>
              <a:buChar char="•"/>
            </a:pPr>
            <a:r>
              <a:rPr lang="en-US" sz="1400" dirty="0">
                <a:solidFill>
                  <a:schemeClr val="tx1"/>
                </a:solidFill>
              </a:rPr>
              <a:t>verify_load reconciles row counts of all 16 tables and checks foreign keys</a:t>
            </a:r>
            <a:endParaRPr lang="en-US" sz="1400" dirty="0"/>
          </a:p>
          <a:p>
            <a:pPr marL="228600" indent="-228600">
              <a:spcAft>
                <a:spcPts val="800"/>
              </a:spcAft>
              <a:buSzPct val="100000"/>
              <a:buChar char="•"/>
            </a:pPr>
            <a:r>
              <a:rPr lang="en-US" sz="1400" dirty="0">
                <a:solidFill>
                  <a:schemeClr val="tx1"/>
                </a:solidFill>
              </a:rPr>
              <a:t>One SQLAlchemy definition generates DDL and the data dictionary</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Interactive Streamlit dashboard</a:t>
            </a:r>
            <a:endParaRPr lang="en-US" sz="3200" dirty="0"/>
          </a:p>
        </p:txBody>
      </p:sp>
      <p:sp>
        <p:nvSpPr>
          <p:cNvPr id="4" name="dashboard mock"/>
          <p:cNvSpPr/>
          <p:nvPr/>
        </p:nvSpPr>
        <p:spPr>
          <a:xfrm>
            <a:off x="548640" y="1463040"/>
            <a:ext cx="6309360" cy="4572000"/>
          </a:xfrm>
          <a:prstGeom prst="roundRect">
            <a:avLst>
              <a:gd name="adj" fmla="val 2000"/>
            </a:avLst>
          </a:prstGeom>
          <a:solidFill>
            <a:schemeClr val="bg2"/>
          </a:solidFill>
          <a:ln/>
          <a:effectLst>
            <a:outerShdw sx="100000" sy="100000" kx="0" ky="0" algn="bl" rotWithShape="0" blurRad="76200" dist="25400" dir="5400000">
              <a:srgbClr val="000000">
                <a:alpha val="12000"/>
              </a:srgbClr>
            </a:outerShdw>
          </a:effectLst>
        </p:spPr>
      </p:sp>
      <p:sp>
        <p:nvSpPr>
          <p:cNvPr id="5" name="window bar"/>
          <p:cNvSpPr/>
          <p:nvPr/>
        </p:nvSpPr>
        <p:spPr>
          <a:xfrm>
            <a:off x="548640" y="1463040"/>
            <a:ext cx="6309360" cy="365760"/>
          </a:xfrm>
          <a:prstGeom prst="rect">
            <a:avLst/>
          </a:prstGeom>
          <a:solidFill>
            <a:schemeClr val="tx2"/>
          </a:solidFill>
          <a:ln/>
        </p:spPr>
      </p:sp>
      <p:sp>
        <p:nvSpPr>
          <p:cNvPr id="6" name="window dot"/>
          <p:cNvSpPr/>
          <p:nvPr/>
        </p:nvSpPr>
        <p:spPr>
          <a:xfrm>
            <a:off x="731520" y="1581912"/>
            <a:ext cx="128016" cy="128016"/>
          </a:xfrm>
          <a:prstGeom prst="ellipse">
            <a:avLst/>
          </a:prstGeom>
          <a:solidFill>
            <a:schemeClr val="accent2"/>
          </a:solidFill>
          <a:ln/>
        </p:spPr>
      </p:sp>
      <p:sp>
        <p:nvSpPr>
          <p:cNvPr id="7" name="window dot"/>
          <p:cNvSpPr/>
          <p:nvPr/>
        </p:nvSpPr>
        <p:spPr>
          <a:xfrm>
            <a:off x="960120" y="1581912"/>
            <a:ext cx="128016" cy="128016"/>
          </a:xfrm>
          <a:prstGeom prst="ellipse">
            <a:avLst/>
          </a:prstGeom>
          <a:solidFill>
            <a:schemeClr val="accent1"/>
          </a:solidFill>
          <a:ln/>
        </p:spPr>
      </p:sp>
      <p:sp>
        <p:nvSpPr>
          <p:cNvPr id="8" name="window dot"/>
          <p:cNvSpPr/>
          <p:nvPr/>
        </p:nvSpPr>
        <p:spPr>
          <a:xfrm>
            <a:off x="1188720" y="1581912"/>
            <a:ext cx="128016" cy="128016"/>
          </a:xfrm>
          <a:prstGeom prst="ellipse">
            <a:avLst/>
          </a:prstGeom>
          <a:solidFill>
            <a:schemeClr val="accent5"/>
          </a:solidFill>
          <a:ln/>
        </p:spPr>
      </p:sp>
      <p:sp>
        <p:nvSpPr>
          <p:cNvPr id="9" name="sidebar"/>
          <p:cNvSpPr/>
          <p:nvPr/>
        </p:nvSpPr>
        <p:spPr>
          <a:xfrm>
            <a:off x="685800" y="1965960"/>
            <a:ext cx="1371600" cy="3931920"/>
          </a:xfrm>
          <a:prstGeom prst="rect">
            <a:avLst/>
          </a:prstGeom>
          <a:solidFill>
            <a:schemeClr val="bg1"/>
          </a:solidFill>
          <a:ln/>
        </p:spPr>
      </p:sp>
      <p:sp>
        <p:nvSpPr>
          <p:cNvPr id="10" name="Text 7"/>
          <p:cNvSpPr txBox="1"/>
          <p:nvPr/>
        </p:nvSpPr>
        <p:spPr>
          <a:xfrm>
            <a:off x="777240" y="2057400"/>
            <a:ext cx="1234440" cy="2194560"/>
          </a:xfrm>
          <a:prstGeom prst="rect">
            <a:avLst/>
          </a:prstGeom>
          <a:noFill/>
          <a:ln/>
        </p:spPr>
        <p:txBody>
          <a:bodyPr wrap="square" lIns="0" tIns="0" rIns="0" bIns="0" rtlCol="0" anchor="t"/>
          <a:lstStyle/>
          <a:p>
            <a:pPr indent="0" marL="0">
              <a:buNone/>
            </a:pPr>
            <a:r>
              <a:rPr lang="en-US" sz="1300" b="1" dirty="0">
                <a:solidFill>
                  <a:schemeClr val="tx1"/>
                </a:solidFill>
              </a:rPr>
              <a:t>Filters</a:t>
            </a:r>
            <a:endParaRPr lang="en-US" sz="1300" dirty="0"/>
          </a:p>
          <a:p>
            <a:pPr indent="0" marL="0">
              <a:buNone/>
            </a:pPr>
            <a:r>
              <a:rPr lang="en-US" sz="1300" dirty="0">
                <a:solidFill>
                  <a:schemeClr val="accent4"/>
                </a:solidFill>
              </a:rPr>
              <a:t>Year</a:t>
            </a:r>
            <a:endParaRPr lang="en-US" sz="1300" dirty="0"/>
          </a:p>
          <a:p>
            <a:pPr indent="0" marL="0">
              <a:buNone/>
            </a:pPr>
            <a:r>
              <a:rPr lang="en-US" sz="1300" dirty="0">
                <a:solidFill>
                  <a:schemeClr val="accent4"/>
                </a:solidFill>
              </a:rPr>
              <a:t>Nation</a:t>
            </a:r>
            <a:endParaRPr lang="en-US" sz="1300" dirty="0"/>
          </a:p>
          <a:p>
            <a:pPr indent="0" marL="0">
              <a:buNone/>
            </a:pPr>
            <a:r>
              <a:rPr lang="en-US" sz="1300" dirty="0">
                <a:solidFill>
                  <a:schemeClr val="accent4"/>
                </a:solidFill>
              </a:rPr>
              <a:t>Urban / rural</a:t>
            </a:r>
            <a:endParaRPr lang="en-US" sz="1300" dirty="0"/>
          </a:p>
          <a:p>
            <a:pPr indent="0" marL="0">
              <a:buNone/>
            </a:pPr>
            <a:r>
              <a:rPr lang="en-US" sz="1300" dirty="0">
                <a:solidFill>
                  <a:schemeClr val="accent4"/>
                </a:solidFill>
              </a:rPr>
              <a:t>Police force</a:t>
            </a:r>
            <a:endParaRPr lang="en-US" sz="1300" dirty="0"/>
          </a:p>
          <a:p>
            <a:pPr indent="0" marL="0">
              <a:buNone/>
            </a:pPr>
            <a:r>
              <a:rPr lang="en-US" sz="1300" dirty="0">
                <a:solidFill>
                  <a:schemeClr val="accent4"/>
                </a:solidFill>
              </a:rPr>
              <a:t>Severity</a:t>
            </a:r>
            <a:endParaRPr lang="en-US" sz="1300" dirty="0"/>
          </a:p>
        </p:txBody>
      </p:sp>
      <p:sp>
        <p:nvSpPr>
          <p:cNvPr id="11" name="kpi tile"/>
          <p:cNvSpPr/>
          <p:nvPr/>
        </p:nvSpPr>
        <p:spPr>
          <a:xfrm>
            <a:off x="2194560" y="1965960"/>
            <a:ext cx="1371600" cy="548640"/>
          </a:xfrm>
          <a:prstGeom prst="roundRect">
            <a:avLst>
              <a:gd name="adj" fmla="val 10000"/>
            </a:avLst>
          </a:prstGeom>
          <a:solidFill>
            <a:schemeClr val="bg1"/>
          </a:solidFill>
          <a:ln/>
        </p:spPr>
      </p:sp>
      <p:sp>
        <p:nvSpPr>
          <p:cNvPr id="12" name="Text 9"/>
          <p:cNvSpPr txBox="1"/>
          <p:nvPr/>
        </p:nvSpPr>
        <p:spPr>
          <a:xfrm>
            <a:off x="2194560" y="1965960"/>
            <a:ext cx="1371600" cy="548640"/>
          </a:xfrm>
          <a:prstGeom prst="rect">
            <a:avLst/>
          </a:prstGeom>
          <a:noFill/>
          <a:ln/>
        </p:spPr>
        <p:txBody>
          <a:bodyPr wrap="square" lIns="0" tIns="0" rIns="0" bIns="0" rtlCol="0" anchor="ctr"/>
          <a:lstStyle/>
          <a:p>
            <a:pPr algn="ctr" indent="0" marL="0">
              <a:buNone/>
            </a:pPr>
            <a:r>
              <a:rPr lang="en-US" sz="1200" b="1" dirty="0">
                <a:solidFill>
                  <a:schemeClr val="tx2"/>
                </a:solidFill>
              </a:rPr>
              <a:t>Collisions</a:t>
            </a:r>
            <a:endParaRPr lang="en-US" sz="1200" dirty="0"/>
          </a:p>
        </p:txBody>
      </p:sp>
      <p:sp>
        <p:nvSpPr>
          <p:cNvPr id="13" name="kpi tile"/>
          <p:cNvSpPr/>
          <p:nvPr/>
        </p:nvSpPr>
        <p:spPr>
          <a:xfrm>
            <a:off x="3703320" y="1965960"/>
            <a:ext cx="1371600" cy="548640"/>
          </a:xfrm>
          <a:prstGeom prst="roundRect">
            <a:avLst>
              <a:gd name="adj" fmla="val 10000"/>
            </a:avLst>
          </a:prstGeom>
          <a:solidFill>
            <a:schemeClr val="bg1"/>
          </a:solidFill>
          <a:ln/>
        </p:spPr>
      </p:sp>
      <p:sp>
        <p:nvSpPr>
          <p:cNvPr id="14" name="Text 11"/>
          <p:cNvSpPr txBox="1"/>
          <p:nvPr/>
        </p:nvSpPr>
        <p:spPr>
          <a:xfrm>
            <a:off x="3703320" y="1965960"/>
            <a:ext cx="1371600" cy="548640"/>
          </a:xfrm>
          <a:prstGeom prst="rect">
            <a:avLst/>
          </a:prstGeom>
          <a:noFill/>
          <a:ln/>
        </p:spPr>
        <p:txBody>
          <a:bodyPr wrap="square" lIns="0" tIns="0" rIns="0" bIns="0" rtlCol="0" anchor="ctr"/>
          <a:lstStyle/>
          <a:p>
            <a:pPr algn="ctr" indent="0" marL="0">
              <a:buNone/>
            </a:pPr>
            <a:r>
              <a:rPr lang="en-US" sz="1200" b="1" dirty="0">
                <a:solidFill>
                  <a:schemeClr val="tx2"/>
                </a:solidFill>
              </a:rPr>
              <a:t>Fatal</a:t>
            </a:r>
            <a:endParaRPr lang="en-US" sz="1200" dirty="0"/>
          </a:p>
        </p:txBody>
      </p:sp>
      <p:sp>
        <p:nvSpPr>
          <p:cNvPr id="15" name="kpi tile"/>
          <p:cNvSpPr/>
          <p:nvPr/>
        </p:nvSpPr>
        <p:spPr>
          <a:xfrm>
            <a:off x="5212080" y="1965960"/>
            <a:ext cx="1371600" cy="548640"/>
          </a:xfrm>
          <a:prstGeom prst="roundRect">
            <a:avLst>
              <a:gd name="adj" fmla="val 10000"/>
            </a:avLst>
          </a:prstGeom>
          <a:solidFill>
            <a:schemeClr val="bg1"/>
          </a:solidFill>
          <a:ln/>
        </p:spPr>
      </p:sp>
      <p:sp>
        <p:nvSpPr>
          <p:cNvPr id="16" name="Text 13"/>
          <p:cNvSpPr txBox="1"/>
          <p:nvPr/>
        </p:nvSpPr>
        <p:spPr>
          <a:xfrm>
            <a:off x="5212080" y="1965960"/>
            <a:ext cx="1371600" cy="548640"/>
          </a:xfrm>
          <a:prstGeom prst="rect">
            <a:avLst/>
          </a:prstGeom>
          <a:noFill/>
          <a:ln/>
        </p:spPr>
        <p:txBody>
          <a:bodyPr wrap="square" lIns="0" tIns="0" rIns="0" bIns="0" rtlCol="0" anchor="ctr"/>
          <a:lstStyle/>
          <a:p>
            <a:pPr algn="ctr" indent="0" marL="0">
              <a:buNone/>
            </a:pPr>
            <a:r>
              <a:rPr lang="en-US" sz="1200" b="1" dirty="0">
                <a:solidFill>
                  <a:schemeClr val="tx2"/>
                </a:solidFill>
              </a:rPr>
              <a:t>Serious</a:t>
            </a:r>
            <a:endParaRPr lang="en-US" sz="1200" dirty="0"/>
          </a:p>
        </p:txBody>
      </p:sp>
      <p:sp>
        <p:nvSpPr>
          <p:cNvPr id="17" name="kpi tile"/>
          <p:cNvSpPr/>
          <p:nvPr/>
        </p:nvSpPr>
        <p:spPr>
          <a:xfrm>
            <a:off x="2194560" y="2651760"/>
            <a:ext cx="1371600" cy="548640"/>
          </a:xfrm>
          <a:prstGeom prst="roundRect">
            <a:avLst>
              <a:gd name="adj" fmla="val 10000"/>
            </a:avLst>
          </a:prstGeom>
          <a:solidFill>
            <a:schemeClr val="bg1"/>
          </a:solidFill>
          <a:ln/>
        </p:spPr>
      </p:sp>
      <p:sp>
        <p:nvSpPr>
          <p:cNvPr id="18" name="Text 15"/>
          <p:cNvSpPr txBox="1"/>
          <p:nvPr/>
        </p:nvSpPr>
        <p:spPr>
          <a:xfrm>
            <a:off x="2194560" y="2651760"/>
            <a:ext cx="1371600" cy="548640"/>
          </a:xfrm>
          <a:prstGeom prst="rect">
            <a:avLst/>
          </a:prstGeom>
          <a:noFill/>
          <a:ln/>
        </p:spPr>
        <p:txBody>
          <a:bodyPr wrap="square" lIns="0" tIns="0" rIns="0" bIns="0" rtlCol="0" anchor="ctr"/>
          <a:lstStyle/>
          <a:p>
            <a:pPr algn="ctr" indent="0" marL="0">
              <a:buNone/>
            </a:pPr>
            <a:r>
              <a:rPr lang="en-US" sz="1200" b="1" dirty="0">
                <a:solidFill>
                  <a:schemeClr val="tx2"/>
                </a:solidFill>
              </a:rPr>
              <a:t>KSI rate</a:t>
            </a:r>
            <a:endParaRPr lang="en-US" sz="1200" dirty="0"/>
          </a:p>
        </p:txBody>
      </p:sp>
      <p:sp>
        <p:nvSpPr>
          <p:cNvPr id="19" name="kpi tile"/>
          <p:cNvSpPr/>
          <p:nvPr/>
        </p:nvSpPr>
        <p:spPr>
          <a:xfrm>
            <a:off x="3703320" y="2651760"/>
            <a:ext cx="1371600" cy="548640"/>
          </a:xfrm>
          <a:prstGeom prst="roundRect">
            <a:avLst>
              <a:gd name="adj" fmla="val 10000"/>
            </a:avLst>
          </a:prstGeom>
          <a:solidFill>
            <a:schemeClr val="bg1"/>
          </a:solidFill>
          <a:ln/>
        </p:spPr>
      </p:sp>
      <p:sp>
        <p:nvSpPr>
          <p:cNvPr id="20" name="Text 17"/>
          <p:cNvSpPr txBox="1"/>
          <p:nvPr/>
        </p:nvSpPr>
        <p:spPr>
          <a:xfrm>
            <a:off x="3703320" y="2651760"/>
            <a:ext cx="1371600" cy="548640"/>
          </a:xfrm>
          <a:prstGeom prst="rect">
            <a:avLst/>
          </a:prstGeom>
          <a:noFill/>
          <a:ln/>
        </p:spPr>
        <p:txBody>
          <a:bodyPr wrap="square" lIns="0" tIns="0" rIns="0" bIns="0" rtlCol="0" anchor="ctr"/>
          <a:lstStyle/>
          <a:p>
            <a:pPr algn="ctr" indent="0" marL="0">
              <a:buNone/>
            </a:pPr>
            <a:r>
              <a:rPr lang="en-US" sz="1200" b="1" dirty="0">
                <a:solidFill>
                  <a:schemeClr val="tx2"/>
                </a:solidFill>
              </a:rPr>
              <a:t>Casualties</a:t>
            </a:r>
            <a:endParaRPr lang="en-US" sz="1200" dirty="0"/>
          </a:p>
        </p:txBody>
      </p:sp>
      <p:sp>
        <p:nvSpPr>
          <p:cNvPr id="21" name="kpi tile"/>
          <p:cNvSpPr/>
          <p:nvPr/>
        </p:nvSpPr>
        <p:spPr>
          <a:xfrm>
            <a:off x="5212080" y="2651760"/>
            <a:ext cx="1371600" cy="548640"/>
          </a:xfrm>
          <a:prstGeom prst="roundRect">
            <a:avLst>
              <a:gd name="adj" fmla="val 10000"/>
            </a:avLst>
          </a:prstGeom>
          <a:solidFill>
            <a:schemeClr val="bg1"/>
          </a:solidFill>
          <a:ln/>
        </p:spPr>
      </p:sp>
      <p:sp>
        <p:nvSpPr>
          <p:cNvPr id="22" name="Text 19"/>
          <p:cNvSpPr txBox="1"/>
          <p:nvPr/>
        </p:nvSpPr>
        <p:spPr>
          <a:xfrm>
            <a:off x="5212080" y="2651760"/>
            <a:ext cx="1371600" cy="548640"/>
          </a:xfrm>
          <a:prstGeom prst="rect">
            <a:avLst/>
          </a:prstGeom>
          <a:noFill/>
          <a:ln/>
        </p:spPr>
        <p:txBody>
          <a:bodyPr wrap="square" lIns="0" tIns="0" rIns="0" bIns="0" rtlCol="0" anchor="ctr"/>
          <a:lstStyle/>
          <a:p>
            <a:pPr algn="ctr" indent="0" marL="0">
              <a:buNone/>
            </a:pPr>
            <a:r>
              <a:rPr lang="en-US" sz="1200" b="1" dirty="0">
                <a:solidFill>
                  <a:schemeClr val="tx2"/>
                </a:solidFill>
              </a:rPr>
              <a:t>Weather match</a:t>
            </a:r>
            <a:endParaRPr lang="en-US" sz="1200" dirty="0"/>
          </a:p>
        </p:txBody>
      </p:sp>
      <p:sp>
        <p:nvSpPr>
          <p:cNvPr id="23" name="mock chart area"/>
          <p:cNvSpPr/>
          <p:nvPr/>
        </p:nvSpPr>
        <p:spPr>
          <a:xfrm>
            <a:off x="2194560" y="3429000"/>
            <a:ext cx="4389120" cy="2468880"/>
          </a:xfrm>
          <a:prstGeom prst="roundRect">
            <a:avLst>
              <a:gd name="adj" fmla="val 2222"/>
            </a:avLst>
          </a:prstGeom>
          <a:solidFill>
            <a:schemeClr val="bg1"/>
          </a:solidFill>
          <a:ln/>
        </p:spPr>
      </p:sp>
      <p:sp>
        <p:nvSpPr>
          <p:cNvPr id="24" name="mock bar"/>
          <p:cNvSpPr/>
          <p:nvPr/>
        </p:nvSpPr>
        <p:spPr>
          <a:xfrm>
            <a:off x="2468880" y="4846320"/>
            <a:ext cx="365760" cy="822960"/>
          </a:xfrm>
          <a:prstGeom prst="rect">
            <a:avLst/>
          </a:prstGeom>
          <a:solidFill>
            <a:schemeClr val="accent3"/>
          </a:solidFill>
          <a:ln/>
        </p:spPr>
      </p:sp>
      <p:sp>
        <p:nvSpPr>
          <p:cNvPr id="25" name="mock bar"/>
          <p:cNvSpPr/>
          <p:nvPr/>
        </p:nvSpPr>
        <p:spPr>
          <a:xfrm>
            <a:off x="3035808" y="4389120"/>
            <a:ext cx="365760" cy="1280160"/>
          </a:xfrm>
          <a:prstGeom prst="rect">
            <a:avLst/>
          </a:prstGeom>
          <a:solidFill>
            <a:schemeClr val="accent3"/>
          </a:solidFill>
          <a:ln/>
        </p:spPr>
      </p:sp>
      <p:sp>
        <p:nvSpPr>
          <p:cNvPr id="26" name="mock bar"/>
          <p:cNvSpPr/>
          <p:nvPr/>
        </p:nvSpPr>
        <p:spPr>
          <a:xfrm>
            <a:off x="3602736" y="4663440"/>
            <a:ext cx="365760" cy="1005840"/>
          </a:xfrm>
          <a:prstGeom prst="rect">
            <a:avLst/>
          </a:prstGeom>
          <a:solidFill>
            <a:schemeClr val="accent3"/>
          </a:solidFill>
          <a:ln/>
        </p:spPr>
      </p:sp>
      <p:sp>
        <p:nvSpPr>
          <p:cNvPr id="27" name="mock bar"/>
          <p:cNvSpPr/>
          <p:nvPr/>
        </p:nvSpPr>
        <p:spPr>
          <a:xfrm>
            <a:off x="4169664" y="4114800"/>
            <a:ext cx="365760" cy="1554480"/>
          </a:xfrm>
          <a:prstGeom prst="rect">
            <a:avLst/>
          </a:prstGeom>
          <a:solidFill>
            <a:schemeClr val="accent2"/>
          </a:solidFill>
          <a:ln/>
        </p:spPr>
      </p:sp>
      <p:sp>
        <p:nvSpPr>
          <p:cNvPr id="28" name="mock bar"/>
          <p:cNvSpPr/>
          <p:nvPr/>
        </p:nvSpPr>
        <p:spPr>
          <a:xfrm>
            <a:off x="4736592" y="4480560"/>
            <a:ext cx="365760" cy="1188720"/>
          </a:xfrm>
          <a:prstGeom prst="rect">
            <a:avLst/>
          </a:prstGeom>
          <a:solidFill>
            <a:schemeClr val="accent3"/>
          </a:solidFill>
          <a:ln/>
        </p:spPr>
      </p:sp>
      <p:sp>
        <p:nvSpPr>
          <p:cNvPr id="29" name="mock bar"/>
          <p:cNvSpPr/>
          <p:nvPr/>
        </p:nvSpPr>
        <p:spPr>
          <a:xfrm>
            <a:off x="5303520" y="4937760"/>
            <a:ext cx="365760" cy="731520"/>
          </a:xfrm>
          <a:prstGeom prst="rect">
            <a:avLst/>
          </a:prstGeom>
          <a:solidFill>
            <a:schemeClr val="accent3"/>
          </a:solidFill>
          <a:ln/>
        </p:spPr>
      </p:sp>
      <p:sp>
        <p:nvSpPr>
          <p:cNvPr id="30" name="mock bar"/>
          <p:cNvSpPr/>
          <p:nvPr/>
        </p:nvSpPr>
        <p:spPr>
          <a:xfrm>
            <a:off x="5870448" y="4251960"/>
            <a:ext cx="365760" cy="1417320"/>
          </a:xfrm>
          <a:prstGeom prst="rect">
            <a:avLst/>
          </a:prstGeom>
          <a:solidFill>
            <a:schemeClr val="accent3"/>
          </a:solidFill>
          <a:ln/>
        </p:spPr>
      </p:sp>
      <p:sp>
        <p:nvSpPr>
          <p:cNvPr id="31" name="icon-circle FaChartPie"/>
          <p:cNvSpPr/>
          <p:nvPr/>
        </p:nvSpPr>
        <p:spPr>
          <a:xfrm>
            <a:off x="7178040" y="1508760"/>
            <a:ext cx="457200" cy="457200"/>
          </a:xfrm>
          <a:prstGeom prst="ellipse">
            <a:avLst/>
          </a:prstGeom>
          <a:solidFill>
            <a:schemeClr val="accent1"/>
          </a:solidFill>
          <a:ln/>
        </p:spPr>
      </p:sp>
      <p:pic>
        <p:nvPicPr>
          <p:cNvPr id="32" name="icon FaChartPie" descr="ChartPie icon">    </p:cNvPr>
          <p:cNvPicPr>
            <a:picLocks noChangeAspect="1"/>
          </p:cNvPicPr>
          <p:nvPr/>
        </p:nvPicPr>
        <p:blipFill>
          <a:blip r:embed="rId1"/>
          <a:stretch>
            <a:fillRect/>
          </a:stretch>
        </p:blipFill>
        <p:spPr>
          <a:xfrm>
            <a:off x="7287768" y="1618488"/>
            <a:ext cx="237744" cy="237744"/>
          </a:xfrm>
          <a:prstGeom prst="rect">
            <a:avLst/>
          </a:prstGeom>
        </p:spPr>
      </p:pic>
      <p:sp>
        <p:nvSpPr>
          <p:cNvPr id="33" name="Text 29"/>
          <p:cNvSpPr txBox="1"/>
          <p:nvPr/>
        </p:nvSpPr>
        <p:spPr>
          <a:xfrm>
            <a:off x="7863840" y="1490472"/>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Severity distribution</a:t>
            </a:r>
            <a:endParaRPr lang="en-US" sz="1600" dirty="0"/>
          </a:p>
        </p:txBody>
      </p:sp>
      <p:sp>
        <p:nvSpPr>
          <p:cNvPr id="34" name="Text 30"/>
          <p:cNvSpPr txBox="1"/>
          <p:nvPr/>
        </p:nvSpPr>
        <p:spPr>
          <a:xfrm>
            <a:off x="7863840" y="1837944"/>
            <a:ext cx="3749040" cy="320040"/>
          </a:xfrm>
          <a:prstGeom prst="rect">
            <a:avLst/>
          </a:prstGeom>
          <a:noFill/>
          <a:ln/>
        </p:spPr>
        <p:txBody>
          <a:bodyPr wrap="square" lIns="0" tIns="0" rIns="0" bIns="0" rtlCol="0" anchor="t"/>
          <a:lstStyle/>
          <a:p>
            <a:pPr indent="0" marL="0">
              <a:buNone/>
            </a:pPr>
            <a:r>
              <a:rPr lang="en-US" sz="1400" dirty="0">
                <a:solidFill>
                  <a:schemeClr val="tx1"/>
                </a:solidFill>
              </a:rPr>
              <a:t>Bar chart and monthly stacked area</a:t>
            </a:r>
            <a:endParaRPr lang="en-US" sz="1400" dirty="0"/>
          </a:p>
        </p:txBody>
      </p:sp>
      <p:sp>
        <p:nvSpPr>
          <p:cNvPr id="35" name="icon-circle FaClock"/>
          <p:cNvSpPr/>
          <p:nvPr/>
        </p:nvSpPr>
        <p:spPr>
          <a:xfrm>
            <a:off x="7178040" y="2267712"/>
            <a:ext cx="457200" cy="457200"/>
          </a:xfrm>
          <a:prstGeom prst="ellipse">
            <a:avLst/>
          </a:prstGeom>
          <a:solidFill>
            <a:schemeClr val="accent1"/>
          </a:solidFill>
          <a:ln/>
        </p:spPr>
      </p:sp>
      <p:pic>
        <p:nvPicPr>
          <p:cNvPr id="36" name="icon FaClock" descr="Clock icon">    </p:cNvPr>
          <p:cNvPicPr>
            <a:picLocks noChangeAspect="1"/>
          </p:cNvPicPr>
          <p:nvPr/>
        </p:nvPicPr>
        <p:blipFill>
          <a:blip r:embed="rId2"/>
          <a:stretch>
            <a:fillRect/>
          </a:stretch>
        </p:blipFill>
        <p:spPr>
          <a:xfrm>
            <a:off x="7287768" y="2377440"/>
            <a:ext cx="237744" cy="237744"/>
          </a:xfrm>
          <a:prstGeom prst="rect">
            <a:avLst/>
          </a:prstGeom>
        </p:spPr>
      </p:pic>
      <p:sp>
        <p:nvSpPr>
          <p:cNvPr id="37" name="Text 32"/>
          <p:cNvSpPr txBox="1"/>
          <p:nvPr/>
        </p:nvSpPr>
        <p:spPr>
          <a:xfrm>
            <a:off x="7863840" y="2249424"/>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Time patterns</a:t>
            </a:r>
            <a:endParaRPr lang="en-US" sz="1600" dirty="0"/>
          </a:p>
        </p:txBody>
      </p:sp>
      <p:sp>
        <p:nvSpPr>
          <p:cNvPr id="38" name="Text 33"/>
          <p:cNvSpPr txBox="1"/>
          <p:nvPr/>
        </p:nvSpPr>
        <p:spPr>
          <a:xfrm>
            <a:off x="7863840" y="2596896"/>
            <a:ext cx="3749040" cy="320040"/>
          </a:xfrm>
          <a:prstGeom prst="rect">
            <a:avLst/>
          </a:prstGeom>
          <a:noFill/>
          <a:ln/>
        </p:spPr>
        <p:txBody>
          <a:bodyPr wrap="square" lIns="0" tIns="0" rIns="0" bIns="0" rtlCol="0" anchor="t"/>
          <a:lstStyle/>
          <a:p>
            <a:pPr indent="0" marL="0">
              <a:buNone/>
            </a:pPr>
            <a:r>
              <a:rPr lang="en-US" sz="1400" dirty="0">
                <a:solidFill>
                  <a:schemeClr val="tx1"/>
                </a:solidFill>
              </a:rPr>
              <a:t>Hour × weekday heat map, KSI rate by hour</a:t>
            </a:r>
            <a:endParaRPr lang="en-US" sz="1400" dirty="0"/>
          </a:p>
        </p:txBody>
      </p:sp>
      <p:sp>
        <p:nvSpPr>
          <p:cNvPr id="39" name="icon-circle FaCloudSunRain"/>
          <p:cNvSpPr/>
          <p:nvPr/>
        </p:nvSpPr>
        <p:spPr>
          <a:xfrm>
            <a:off x="7178040" y="3026664"/>
            <a:ext cx="457200" cy="457200"/>
          </a:xfrm>
          <a:prstGeom prst="ellipse">
            <a:avLst/>
          </a:prstGeom>
          <a:solidFill>
            <a:schemeClr val="accent1"/>
          </a:solidFill>
          <a:ln/>
        </p:spPr>
      </p:sp>
      <p:pic>
        <p:nvPicPr>
          <p:cNvPr id="40" name="icon FaCloudSunRain" descr="CloudSunRain icon">    </p:cNvPr>
          <p:cNvPicPr>
            <a:picLocks noChangeAspect="1"/>
          </p:cNvPicPr>
          <p:nvPr/>
        </p:nvPicPr>
        <p:blipFill>
          <a:blip r:embed="rId3"/>
          <a:stretch>
            <a:fillRect/>
          </a:stretch>
        </p:blipFill>
        <p:spPr>
          <a:xfrm>
            <a:off x="7287768" y="3136392"/>
            <a:ext cx="237744" cy="237744"/>
          </a:xfrm>
          <a:prstGeom prst="rect">
            <a:avLst/>
          </a:prstGeom>
        </p:spPr>
      </p:pic>
      <p:sp>
        <p:nvSpPr>
          <p:cNvPr id="41" name="Text 35"/>
          <p:cNvSpPr txBox="1"/>
          <p:nvPr/>
        </p:nvSpPr>
        <p:spPr>
          <a:xfrm>
            <a:off x="7863840" y="3008376"/>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Weather &amp; road conditions</a:t>
            </a:r>
            <a:endParaRPr lang="en-US" sz="1600" dirty="0"/>
          </a:p>
        </p:txBody>
      </p:sp>
      <p:sp>
        <p:nvSpPr>
          <p:cNvPr id="42" name="Text 36"/>
          <p:cNvSpPr txBox="1"/>
          <p:nvPr/>
        </p:nvSpPr>
        <p:spPr>
          <a:xfrm>
            <a:off x="7863840" y="3355848"/>
            <a:ext cx="3749040" cy="320040"/>
          </a:xfrm>
          <a:prstGeom prst="rect">
            <a:avLst/>
          </a:prstGeom>
          <a:noFill/>
          <a:ln/>
        </p:spPr>
        <p:txBody>
          <a:bodyPr wrap="square" lIns="0" tIns="0" rIns="0" bIns="0" rtlCol="0" anchor="t"/>
          <a:lstStyle/>
          <a:p>
            <a:pPr indent="0" marL="0">
              <a:buNone/>
            </a:pPr>
            <a:r>
              <a:rPr lang="en-US" sz="1400" dirty="0">
                <a:solidFill>
                  <a:schemeClr val="tx1"/>
                </a:solidFill>
              </a:rPr>
              <a:t>Pick a factor: volume vs KSI rate</a:t>
            </a:r>
            <a:endParaRPr lang="en-US" sz="1400" dirty="0"/>
          </a:p>
        </p:txBody>
      </p:sp>
      <p:sp>
        <p:nvSpPr>
          <p:cNvPr id="43" name="icon-circle FaMapMarkedAlt"/>
          <p:cNvSpPr/>
          <p:nvPr/>
        </p:nvSpPr>
        <p:spPr>
          <a:xfrm>
            <a:off x="7178040" y="3785616"/>
            <a:ext cx="457200" cy="457200"/>
          </a:xfrm>
          <a:prstGeom prst="ellipse">
            <a:avLst/>
          </a:prstGeom>
          <a:solidFill>
            <a:schemeClr val="accent1"/>
          </a:solidFill>
          <a:ln/>
        </p:spPr>
      </p:sp>
      <p:pic>
        <p:nvPicPr>
          <p:cNvPr id="44" name="icon FaMapMarkedAlt" descr="MapMarkedAlt icon">    </p:cNvPr>
          <p:cNvPicPr>
            <a:picLocks noChangeAspect="1"/>
          </p:cNvPicPr>
          <p:nvPr/>
        </p:nvPicPr>
        <p:blipFill>
          <a:blip r:embed="rId4"/>
          <a:stretch>
            <a:fillRect/>
          </a:stretch>
        </p:blipFill>
        <p:spPr>
          <a:xfrm>
            <a:off x="7287768" y="3895344"/>
            <a:ext cx="237744" cy="237744"/>
          </a:xfrm>
          <a:prstGeom prst="rect">
            <a:avLst/>
          </a:prstGeom>
        </p:spPr>
      </p:pic>
      <p:sp>
        <p:nvSpPr>
          <p:cNvPr id="45" name="Text 38"/>
          <p:cNvSpPr txBox="1"/>
          <p:nvPr/>
        </p:nvSpPr>
        <p:spPr>
          <a:xfrm>
            <a:off x="7863840" y="3767328"/>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Hotspot map</a:t>
            </a:r>
            <a:endParaRPr lang="en-US" sz="1600" dirty="0"/>
          </a:p>
        </p:txBody>
      </p:sp>
      <p:sp>
        <p:nvSpPr>
          <p:cNvPr id="46" name="Text 39"/>
          <p:cNvSpPr txBox="1"/>
          <p:nvPr/>
        </p:nvSpPr>
        <p:spPr>
          <a:xfrm>
            <a:off x="7863840" y="4114800"/>
            <a:ext cx="3749040" cy="320040"/>
          </a:xfrm>
          <a:prstGeom prst="rect">
            <a:avLst/>
          </a:prstGeom>
          <a:noFill/>
          <a:ln/>
        </p:spPr>
        <p:txBody>
          <a:bodyPr wrap="square" lIns="0" tIns="0" rIns="0" bIns="0" rtlCol="0" anchor="t"/>
          <a:lstStyle/>
          <a:p>
            <a:pPr indent="0" marL="0">
              <a:buNone/>
            </a:pPr>
            <a:r>
              <a:rPr lang="en-US" sz="1400" dirty="0">
                <a:solidFill>
                  <a:schemeClr val="tx1"/>
                </a:solidFill>
              </a:rPr>
              <a:t>Adjustable grid, coloured by KSI rate</a:t>
            </a:r>
            <a:endParaRPr lang="en-US" sz="1400" dirty="0"/>
          </a:p>
        </p:txBody>
      </p:sp>
      <p:sp>
        <p:nvSpPr>
          <p:cNvPr id="47" name="icon-circle FaCar"/>
          <p:cNvSpPr/>
          <p:nvPr/>
        </p:nvSpPr>
        <p:spPr>
          <a:xfrm>
            <a:off x="7178040" y="4544568"/>
            <a:ext cx="457200" cy="457200"/>
          </a:xfrm>
          <a:prstGeom prst="ellipse">
            <a:avLst/>
          </a:prstGeom>
          <a:solidFill>
            <a:schemeClr val="accent1"/>
          </a:solidFill>
          <a:ln/>
        </p:spPr>
      </p:sp>
      <p:pic>
        <p:nvPicPr>
          <p:cNvPr id="48" name="icon FaCar" descr="Car icon">    </p:cNvPr>
          <p:cNvPicPr>
            <a:picLocks noChangeAspect="1"/>
          </p:cNvPicPr>
          <p:nvPr/>
        </p:nvPicPr>
        <p:blipFill>
          <a:blip r:embed="rId5"/>
          <a:stretch>
            <a:fillRect/>
          </a:stretch>
        </p:blipFill>
        <p:spPr>
          <a:xfrm>
            <a:off x="7287768" y="4654296"/>
            <a:ext cx="237744" cy="237744"/>
          </a:xfrm>
          <a:prstGeom prst="rect">
            <a:avLst/>
          </a:prstGeom>
        </p:spPr>
      </p:pic>
      <p:sp>
        <p:nvSpPr>
          <p:cNvPr id="49" name="Text 41"/>
          <p:cNvSpPr txBox="1"/>
          <p:nvPr/>
        </p:nvSpPr>
        <p:spPr>
          <a:xfrm>
            <a:off x="7863840" y="4526280"/>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Vehicles &amp; casualties</a:t>
            </a:r>
            <a:endParaRPr lang="en-US" sz="1600" dirty="0"/>
          </a:p>
        </p:txBody>
      </p:sp>
      <p:sp>
        <p:nvSpPr>
          <p:cNvPr id="50" name="Text 42"/>
          <p:cNvSpPr txBox="1"/>
          <p:nvPr/>
        </p:nvSpPr>
        <p:spPr>
          <a:xfrm>
            <a:off x="7863840" y="4873752"/>
            <a:ext cx="3749040" cy="320040"/>
          </a:xfrm>
          <a:prstGeom prst="rect">
            <a:avLst/>
          </a:prstGeom>
          <a:noFill/>
          <a:ln/>
        </p:spPr>
        <p:txBody>
          <a:bodyPr wrap="square" lIns="0" tIns="0" rIns="0" bIns="0" rtlCol="0" anchor="t"/>
          <a:lstStyle/>
          <a:p>
            <a:pPr indent="0" marL="0">
              <a:buNone/>
            </a:pPr>
            <a:r>
              <a:rPr lang="en-US" sz="1400" dirty="0">
                <a:solidFill>
                  <a:schemeClr val="tx1"/>
                </a:solidFill>
              </a:rPr>
              <a:t>Road-user class, vehicle type, age bands</a:t>
            </a:r>
            <a:endParaRPr lang="en-US" sz="1400" dirty="0"/>
          </a:p>
        </p:txBody>
      </p:sp>
      <p:sp>
        <p:nvSpPr>
          <p:cNvPr id="51" name="icon-circle FaClipboardList"/>
          <p:cNvSpPr/>
          <p:nvPr/>
        </p:nvSpPr>
        <p:spPr>
          <a:xfrm>
            <a:off x="7178040" y="5303520"/>
            <a:ext cx="457200" cy="457200"/>
          </a:xfrm>
          <a:prstGeom prst="ellipse">
            <a:avLst/>
          </a:prstGeom>
          <a:solidFill>
            <a:schemeClr val="accent1"/>
          </a:solidFill>
          <a:ln/>
        </p:spPr>
      </p:sp>
      <p:pic>
        <p:nvPicPr>
          <p:cNvPr id="52" name="icon FaClipboardList" descr="ClipboardList icon">    </p:cNvPr>
          <p:cNvPicPr>
            <a:picLocks noChangeAspect="1"/>
          </p:cNvPicPr>
          <p:nvPr/>
        </p:nvPicPr>
        <p:blipFill>
          <a:blip r:embed="rId6"/>
          <a:stretch>
            <a:fillRect/>
          </a:stretch>
        </p:blipFill>
        <p:spPr>
          <a:xfrm>
            <a:off x="7287768" y="5413248"/>
            <a:ext cx="237744" cy="237744"/>
          </a:xfrm>
          <a:prstGeom prst="rect">
            <a:avLst/>
          </a:prstGeom>
        </p:spPr>
      </p:pic>
      <p:sp>
        <p:nvSpPr>
          <p:cNvPr id="53" name="Text 44"/>
          <p:cNvSpPr txBox="1"/>
          <p:nvPr/>
        </p:nvSpPr>
        <p:spPr>
          <a:xfrm>
            <a:off x="7863840" y="5285232"/>
            <a:ext cx="374904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Pipeline &amp; data quality</a:t>
            </a:r>
            <a:endParaRPr lang="en-US" sz="1600" dirty="0"/>
          </a:p>
        </p:txBody>
      </p:sp>
      <p:sp>
        <p:nvSpPr>
          <p:cNvPr id="54" name="Text 45"/>
          <p:cNvSpPr txBox="1"/>
          <p:nvPr/>
        </p:nvSpPr>
        <p:spPr>
          <a:xfrm>
            <a:off x="7863840" y="5632704"/>
            <a:ext cx="3749040" cy="320040"/>
          </a:xfrm>
          <a:prstGeom prst="rect">
            <a:avLst/>
          </a:prstGeom>
          <a:noFill/>
          <a:ln/>
        </p:spPr>
        <p:txBody>
          <a:bodyPr wrap="square" lIns="0" tIns="0" rIns="0" bIns="0" rtlCol="0" anchor="t"/>
          <a:lstStyle/>
          <a:p>
            <a:pPr indent="0" marL="0">
              <a:buNone/>
            </a:pPr>
            <a:r>
              <a:rPr lang="en-US" sz="1400" dirty="0">
                <a:solidFill>
                  <a:schemeClr val="tx1"/>
                </a:solidFill>
              </a:rPr>
              <a:t>Run log, ingestion log, rejected records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Severity is highly imbalanced</a:t>
            </a:r>
            <a:endParaRPr lang="en-US" sz="3200" dirty="0"/>
          </a:p>
        </p:txBody>
      </p:sp>
      <p:graphicFrame>
        <p:nvGraphicFramePr>
          <p:cNvPr id="4" name="severity doughnut" descr=""/>
          <p:cNvGraphicFramePr/>
          <p:nvPr/>
        </p:nvGraphicFramePr>
        <p:xfrm>
          <a:off x="548640" y="1371600"/>
          <a:ext cx="5120640" cy="47548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126480" y="1554480"/>
            <a:ext cx="5486400" cy="822960"/>
          </a:xfrm>
          <a:prstGeom prst="rect">
            <a:avLst/>
          </a:prstGeom>
          <a:noFill/>
          <a:ln/>
        </p:spPr>
        <p:txBody>
          <a:bodyPr wrap="square" lIns="0" tIns="0" rIns="0" bIns="0" rtlCol="0" anchor="b"/>
          <a:lstStyle/>
          <a:p>
            <a:pPr indent="0" marL="0">
              <a:buNone/>
            </a:pPr>
            <a:r>
              <a:rPr lang="en-US" sz="5400" b="1" dirty="0">
                <a:solidFill>
                  <a:schemeClr val="accent2"/>
                </a:solidFill>
                <a:latin typeface="Arial" pitchFamily="34" charset="0"/>
                <a:ea typeface="Arial" pitchFamily="34" charset="-122"/>
                <a:cs typeface="Arial" pitchFamily="34" charset="-120"/>
              </a:rPr>
              <a:t>1 in 4</a:t>
            </a:r>
            <a:endParaRPr lang="en-US" sz="5400" dirty="0"/>
          </a:p>
        </p:txBody>
      </p:sp>
      <p:sp>
        <p:nvSpPr>
          <p:cNvPr id="6" name="Text 2"/>
          <p:cNvSpPr txBox="1"/>
          <p:nvPr/>
        </p:nvSpPr>
        <p:spPr>
          <a:xfrm>
            <a:off x="6126480" y="2468880"/>
            <a:ext cx="5486400" cy="640080"/>
          </a:xfrm>
          <a:prstGeom prst="rect">
            <a:avLst/>
          </a:prstGeom>
          <a:noFill/>
          <a:ln/>
        </p:spPr>
        <p:txBody>
          <a:bodyPr wrap="square" lIns="0" tIns="0" rIns="0" bIns="0" rtlCol="0" anchor="t"/>
          <a:lstStyle/>
          <a:p>
            <a:pPr indent="0" marL="0">
              <a:buNone/>
            </a:pPr>
            <a:r>
              <a:rPr lang="en-US" sz="1600" dirty="0">
                <a:solidFill>
                  <a:schemeClr val="tx1"/>
                </a:solidFill>
              </a:rPr>
              <a:t>collisions kill or seriously injure someone (KSI 24.4%) – fatal ones are only 1.5%</a:t>
            </a:r>
            <a:endParaRPr lang="en-US" sz="1600" dirty="0"/>
          </a:p>
        </p:txBody>
      </p:sp>
      <p:sp>
        <p:nvSpPr>
          <p:cNvPr id="7" name="ml implication card"/>
          <p:cNvSpPr/>
          <p:nvPr/>
        </p:nvSpPr>
        <p:spPr>
          <a:xfrm>
            <a:off x="6126480" y="3337560"/>
            <a:ext cx="5486400" cy="1234440"/>
          </a:xfrm>
          <a:prstGeom prst="roundRect">
            <a:avLst>
              <a:gd name="adj" fmla="val 7407"/>
            </a:avLst>
          </a:prstGeom>
          <a:solidFill>
            <a:schemeClr val="accent6"/>
          </a:solidFill>
          <a:ln/>
        </p:spPr>
      </p:sp>
      <p:sp>
        <p:nvSpPr>
          <p:cNvPr id="8" name="Text 4"/>
          <p:cNvSpPr txBox="1"/>
          <p:nvPr/>
        </p:nvSpPr>
        <p:spPr>
          <a:xfrm>
            <a:off x="6355080" y="3474720"/>
            <a:ext cx="5029200" cy="1005840"/>
          </a:xfrm>
          <a:prstGeom prst="rect">
            <a:avLst/>
          </a:prstGeom>
          <a:noFill/>
          <a:ln/>
        </p:spPr>
        <p:txBody>
          <a:bodyPr wrap="square" lIns="0" tIns="0" rIns="0" bIns="0" rtlCol="0" anchor="ctr"/>
          <a:lstStyle/>
          <a:p>
            <a:pPr indent="0" marL="0">
              <a:buNone/>
            </a:pPr>
            <a:r>
              <a:rPr lang="en-US" sz="1500" b="1" dirty="0">
                <a:solidFill>
                  <a:schemeClr val="tx1"/>
                </a:solidFill>
              </a:rPr>
              <a:t>Why it matters for Part 2: </a:t>
            </a:r>
            <a:pPr indent="0" marL="0">
              <a:buNone/>
            </a:pPr>
            <a:r>
              <a:rPr lang="en-US" sz="1500" dirty="0">
                <a:solidFill>
                  <a:schemeClr val="tx1"/>
                </a:solidFill>
              </a:rPr>
              <a:t>a model that always predicts 'Slight' is ~76% accurate yet useless – imbalance is the core modelling problem.</a:t>
            </a:r>
            <a:endParaRPr lang="en-US" sz="1500" dirty="0"/>
          </a:p>
        </p:txBody>
      </p:sp>
      <p:sp>
        <p:nvSpPr>
          <p:cNvPr id="9" name="icon-circle FaCarSide"/>
          <p:cNvSpPr/>
          <p:nvPr/>
        </p:nvSpPr>
        <p:spPr>
          <a:xfrm>
            <a:off x="6126480" y="4892040"/>
            <a:ext cx="502920" cy="502920"/>
          </a:xfrm>
          <a:prstGeom prst="ellipse">
            <a:avLst/>
          </a:prstGeom>
          <a:solidFill>
            <a:schemeClr val="accent1"/>
          </a:solidFill>
          <a:ln/>
        </p:spPr>
      </p:sp>
      <p:pic>
        <p:nvPicPr>
          <p:cNvPr id="10" name="icon FaCarSide" descr="CarSide icon">    </p:cNvPr>
          <p:cNvPicPr>
            <a:picLocks noChangeAspect="1"/>
          </p:cNvPicPr>
          <p:nvPr/>
        </p:nvPicPr>
        <p:blipFill>
          <a:blip r:embed="rId2"/>
          <a:stretch>
            <a:fillRect/>
          </a:stretch>
        </p:blipFill>
        <p:spPr>
          <a:xfrm>
            <a:off x="6247181" y="5012741"/>
            <a:ext cx="261518" cy="261518"/>
          </a:xfrm>
          <a:prstGeom prst="rect">
            <a:avLst/>
          </a:prstGeom>
        </p:spPr>
      </p:pic>
      <p:sp>
        <p:nvSpPr>
          <p:cNvPr id="11" name="Text 6"/>
          <p:cNvSpPr txBox="1"/>
          <p:nvPr/>
        </p:nvSpPr>
        <p:spPr>
          <a:xfrm>
            <a:off x="6858000" y="4873752"/>
            <a:ext cx="475488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When crashes are most frequent</a:t>
            </a:r>
            <a:endParaRPr lang="en-US" sz="1600" dirty="0"/>
          </a:p>
        </p:txBody>
      </p:sp>
      <p:sp>
        <p:nvSpPr>
          <p:cNvPr id="12" name="Text 7"/>
          <p:cNvSpPr txBox="1"/>
          <p:nvPr/>
        </p:nvSpPr>
        <p:spPr>
          <a:xfrm>
            <a:off x="6858000" y="5221224"/>
            <a:ext cx="4754880" cy="685800"/>
          </a:xfrm>
          <a:prstGeom prst="rect">
            <a:avLst/>
          </a:prstGeom>
          <a:noFill/>
          <a:ln/>
        </p:spPr>
        <p:txBody>
          <a:bodyPr wrap="square" lIns="0" tIns="0" rIns="0" bIns="0" rtlCol="0" anchor="t"/>
          <a:lstStyle/>
          <a:p>
            <a:pPr indent="0" marL="0">
              <a:buNone/>
            </a:pPr>
            <a:r>
              <a:rPr lang="en-US" sz="1400" dirty="0">
                <a:solidFill>
                  <a:schemeClr val="tx1"/>
                </a:solidFill>
              </a:rPr>
              <a:t>Weekday evening rush 15:00–17:59 · Friday busiest (33.6k) · Sunday quietest (23.1k)</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Frequent is not the same as severe</a:t>
            </a:r>
            <a:endParaRPr lang="en-US" sz="3200" dirty="0"/>
          </a:p>
        </p:txBody>
      </p:sp>
      <p:graphicFrame>
        <p:nvGraphicFramePr>
          <p:cNvPr id="4" name="ksi by condition chart" descr=""/>
          <p:cNvGraphicFramePr/>
          <p:nvPr/>
        </p:nvGraphicFramePr>
        <p:xfrm>
          <a:off x="548640" y="137160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5" name="takeaway card"/>
          <p:cNvSpPr/>
          <p:nvPr/>
        </p:nvSpPr>
        <p:spPr>
          <a:xfrm>
            <a:off x="7635240" y="1463040"/>
            <a:ext cx="3977640" cy="4572000"/>
          </a:xfrm>
          <a:prstGeom prst="roundRect">
            <a:avLst>
              <a:gd name="adj" fmla="val 2299"/>
            </a:avLst>
          </a:prstGeom>
          <a:solidFill>
            <a:schemeClr val="bg2"/>
          </a:solidFill>
          <a:ln/>
        </p:spPr>
      </p:sp>
      <p:sp>
        <p:nvSpPr>
          <p:cNvPr id="6" name="icon-circle FaLightbulb"/>
          <p:cNvSpPr/>
          <p:nvPr/>
        </p:nvSpPr>
        <p:spPr>
          <a:xfrm>
            <a:off x="7909560" y="1737360"/>
            <a:ext cx="594360" cy="594360"/>
          </a:xfrm>
          <a:prstGeom prst="ellipse">
            <a:avLst/>
          </a:prstGeom>
          <a:solidFill>
            <a:schemeClr val="accent1"/>
          </a:solidFill>
          <a:ln/>
        </p:spPr>
      </p:sp>
      <p:pic>
        <p:nvPicPr>
          <p:cNvPr id="7" name="icon FaLightbulb" descr="Lightbulb icon">    </p:cNvPr>
          <p:cNvPicPr>
            <a:picLocks noChangeAspect="1"/>
          </p:cNvPicPr>
          <p:nvPr/>
        </p:nvPicPr>
        <p:blipFill>
          <a:blip r:embed="rId2"/>
          <a:stretch>
            <a:fillRect/>
          </a:stretch>
        </p:blipFill>
        <p:spPr>
          <a:xfrm>
            <a:off x="8052206" y="1880006"/>
            <a:ext cx="309067" cy="309067"/>
          </a:xfrm>
          <a:prstGeom prst="rect">
            <a:avLst/>
          </a:prstGeom>
        </p:spPr>
      </p:pic>
      <p:sp>
        <p:nvSpPr>
          <p:cNvPr id="8" name="Text 3"/>
          <p:cNvSpPr txBox="1"/>
          <p:nvPr/>
        </p:nvSpPr>
        <p:spPr>
          <a:xfrm>
            <a:off x="8686800" y="1737360"/>
            <a:ext cx="2834640" cy="594360"/>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What the data says</a:t>
            </a:r>
            <a:endParaRPr lang="en-US" sz="1700" dirty="0"/>
          </a:p>
        </p:txBody>
      </p:sp>
      <p:sp>
        <p:nvSpPr>
          <p:cNvPr id="9" name="Text 4"/>
          <p:cNvSpPr txBox="1"/>
          <p:nvPr/>
        </p:nvSpPr>
        <p:spPr>
          <a:xfrm>
            <a:off x="7909560" y="2560320"/>
            <a:ext cx="3520440" cy="33832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tx1"/>
                </a:solidFill>
              </a:rPr>
              <a:t>Severe: unlit, rural, high-speed roads at night</a:t>
            </a:r>
            <a:endParaRPr lang="en-US" sz="1400" dirty="0"/>
          </a:p>
          <a:p>
            <a:pPr marL="228600" indent="-228600">
              <a:spcAft>
                <a:spcPts val="800"/>
              </a:spcAft>
              <a:buSzPct val="100000"/>
              <a:buChar char="•"/>
            </a:pPr>
            <a:r>
              <a:rPr lang="en-US" sz="1400" dirty="0">
                <a:solidFill>
                  <a:schemeClr val="tx1"/>
                </a:solidFill>
              </a:rPr>
              <a:t>Frequent: urban rush hour – different fixes needed</a:t>
            </a:r>
            <a:endParaRPr lang="en-US" sz="1400" dirty="0"/>
          </a:p>
          <a:p>
            <a:pPr marL="228600" indent="-228600">
              <a:spcAft>
                <a:spcPts val="800"/>
              </a:spcAft>
              <a:buSzPct val="100000"/>
              <a:buChar char="•"/>
            </a:pPr>
            <a:r>
              <a:rPr lang="en-US" sz="1400" dirty="0">
                <a:solidFill>
                  <a:schemeClr val="tx1"/>
                </a:solidFill>
              </a:rPr>
              <a:t>Rain raises crash count but not severity (people slow down)</a:t>
            </a:r>
            <a:endParaRPr lang="en-US" sz="1400" dirty="0"/>
          </a:p>
          <a:p>
            <a:pPr marL="228600" indent="-228600">
              <a:spcAft>
                <a:spcPts val="800"/>
              </a:spcAft>
              <a:buSzPct val="100000"/>
              <a:buChar char="•"/>
            </a:pPr>
            <a:r>
              <a:rPr lang="en-US" sz="1400" dirty="0">
                <a:solidFill>
                  <a:schemeClr val="tx1"/>
                </a:solidFill>
              </a:rPr>
              <a:t>Pedestrians: 31.3% KSI vs 20.2% for drivers/riders</a:t>
            </a:r>
            <a:endParaRPr lang="en-US" sz="1400" dirty="0"/>
          </a:p>
          <a:p>
            <a:pPr marL="228600" indent="-228600">
              <a:spcAft>
                <a:spcPts val="800"/>
              </a:spcAft>
              <a:buSzPct val="100000"/>
              <a:buChar char="•"/>
            </a:pPr>
            <a:r>
              <a:rPr lang="en-US" sz="1400" dirty="0">
                <a:solidFill>
                  <a:schemeClr val="tx1"/>
                </a:solidFill>
              </a:rPr>
              <a:t>Top 5 hotspots (5 km cells) all in central London</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Built to be reliable and reproducible</a:t>
            </a:r>
            <a:endParaRPr lang="en-US" sz="3200" dirty="0"/>
          </a:p>
        </p:txBody>
      </p:sp>
      <p:sp>
        <p:nvSpPr>
          <p:cNvPr id="4" name="practice card"/>
          <p:cNvSpPr/>
          <p:nvPr/>
        </p:nvSpPr>
        <p:spPr>
          <a:xfrm>
            <a:off x="548640" y="1554480"/>
            <a:ext cx="3474720" cy="1965960"/>
          </a:xfrm>
          <a:prstGeom prst="roundRect">
            <a:avLst>
              <a:gd name="adj" fmla="val 4651"/>
            </a:avLst>
          </a:prstGeom>
          <a:solidFill>
            <a:schemeClr val="bg2"/>
          </a:solidFill>
          <a:ln/>
        </p:spPr>
      </p:sp>
      <p:sp>
        <p:nvSpPr>
          <p:cNvPr id="5" name="icon-circle FaListOl"/>
          <p:cNvSpPr/>
          <p:nvPr/>
        </p:nvSpPr>
        <p:spPr>
          <a:xfrm>
            <a:off x="777240" y="1828800"/>
            <a:ext cx="548640" cy="548640"/>
          </a:xfrm>
          <a:prstGeom prst="ellipse">
            <a:avLst/>
          </a:prstGeom>
          <a:solidFill>
            <a:schemeClr val="accent1"/>
          </a:solidFill>
          <a:ln/>
        </p:spPr>
      </p:sp>
      <p:pic>
        <p:nvPicPr>
          <p:cNvPr id="6" name="icon FaListOl" descr="ListOl icon">    </p:cNvPr>
          <p:cNvPicPr>
            <a:picLocks noChangeAspect="1"/>
          </p:cNvPicPr>
          <p:nvPr/>
        </p:nvPicPr>
        <p:blipFill>
          <a:blip r:embed="rId1"/>
          <a:stretch>
            <a:fillRect/>
          </a:stretch>
        </p:blipFill>
        <p:spPr>
          <a:xfrm>
            <a:off x="908914" y="1960474"/>
            <a:ext cx="285293" cy="285293"/>
          </a:xfrm>
          <a:prstGeom prst="rect">
            <a:avLst/>
          </a:prstGeom>
        </p:spPr>
      </p:pic>
      <p:sp>
        <p:nvSpPr>
          <p:cNvPr id="7" name="Text 3"/>
          <p:cNvSpPr txBox="1"/>
          <p:nvPr/>
        </p:nvSpPr>
        <p:spPr>
          <a:xfrm>
            <a:off x="1554480" y="1810512"/>
            <a:ext cx="23317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Full audit trail</a:t>
            </a:r>
            <a:endParaRPr lang="en-US" sz="1600" dirty="0"/>
          </a:p>
        </p:txBody>
      </p:sp>
      <p:sp>
        <p:nvSpPr>
          <p:cNvPr id="8" name="Text 4"/>
          <p:cNvSpPr txBox="1"/>
          <p:nvPr/>
        </p:nvSpPr>
        <p:spPr>
          <a:xfrm>
            <a:off x="1554480" y="2157984"/>
            <a:ext cx="2331720" cy="1371600"/>
          </a:xfrm>
          <a:prstGeom prst="rect">
            <a:avLst/>
          </a:prstGeom>
          <a:noFill/>
          <a:ln/>
        </p:spPr>
        <p:txBody>
          <a:bodyPr wrap="square" lIns="0" tIns="0" rIns="0" bIns="0" rtlCol="0" anchor="t"/>
          <a:lstStyle/>
          <a:p>
            <a:pPr indent="0" marL="0">
              <a:buNone/>
            </a:pPr>
            <a:r>
              <a:rPr lang="en-US" sz="1400" dirty="0">
                <a:solidFill>
                  <a:schemeClr val="tx1"/>
                </a:solidFill>
              </a:rPr>
              <a:t>Every download, step and rejected record logged to CSV and database tables</a:t>
            </a:r>
            <a:endParaRPr lang="en-US" sz="1400" dirty="0"/>
          </a:p>
        </p:txBody>
      </p:sp>
      <p:sp>
        <p:nvSpPr>
          <p:cNvPr id="9" name="practice card"/>
          <p:cNvSpPr/>
          <p:nvPr/>
        </p:nvSpPr>
        <p:spPr>
          <a:xfrm>
            <a:off x="4297680" y="1554480"/>
            <a:ext cx="3474720" cy="1965960"/>
          </a:xfrm>
          <a:prstGeom prst="roundRect">
            <a:avLst>
              <a:gd name="adj" fmla="val 4651"/>
            </a:avLst>
          </a:prstGeom>
          <a:solidFill>
            <a:schemeClr val="bg2"/>
          </a:solidFill>
          <a:ln/>
        </p:spPr>
      </p:sp>
      <p:sp>
        <p:nvSpPr>
          <p:cNvPr id="10" name="icon-circle FaShieldAlt"/>
          <p:cNvSpPr/>
          <p:nvPr/>
        </p:nvSpPr>
        <p:spPr>
          <a:xfrm>
            <a:off x="4526280" y="1828800"/>
            <a:ext cx="548640" cy="548640"/>
          </a:xfrm>
          <a:prstGeom prst="ellipse">
            <a:avLst/>
          </a:prstGeom>
          <a:solidFill>
            <a:schemeClr val="accent1"/>
          </a:solidFill>
          <a:ln/>
        </p:spPr>
      </p:sp>
      <p:pic>
        <p:nvPicPr>
          <p:cNvPr id="11" name="icon FaShieldAlt" descr="ShieldAlt icon">    </p:cNvPr>
          <p:cNvPicPr>
            <a:picLocks noChangeAspect="1"/>
          </p:cNvPicPr>
          <p:nvPr/>
        </p:nvPicPr>
        <p:blipFill>
          <a:blip r:embed="rId2"/>
          <a:stretch>
            <a:fillRect/>
          </a:stretch>
        </p:blipFill>
        <p:spPr>
          <a:xfrm>
            <a:off x="4657954" y="1960474"/>
            <a:ext cx="285293" cy="285293"/>
          </a:xfrm>
          <a:prstGeom prst="rect">
            <a:avLst/>
          </a:prstGeom>
        </p:spPr>
      </p:pic>
      <p:sp>
        <p:nvSpPr>
          <p:cNvPr id="12" name="Text 7"/>
          <p:cNvSpPr txBox="1"/>
          <p:nvPr/>
        </p:nvSpPr>
        <p:spPr>
          <a:xfrm>
            <a:off x="5303520" y="1810512"/>
            <a:ext cx="23317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Quality gate</a:t>
            </a:r>
            <a:endParaRPr lang="en-US" sz="1600" dirty="0"/>
          </a:p>
        </p:txBody>
      </p:sp>
      <p:sp>
        <p:nvSpPr>
          <p:cNvPr id="13" name="Text 8"/>
          <p:cNvSpPr txBox="1"/>
          <p:nvPr/>
        </p:nvSpPr>
        <p:spPr>
          <a:xfrm>
            <a:off x="5303520" y="2157984"/>
            <a:ext cx="2331720" cy="1371600"/>
          </a:xfrm>
          <a:prstGeom prst="rect">
            <a:avLst/>
          </a:prstGeom>
          <a:noFill/>
          <a:ln/>
        </p:spPr>
        <p:txBody>
          <a:bodyPr wrap="square" lIns="0" tIns="0" rIns="0" bIns="0" rtlCol="0" anchor="t"/>
          <a:lstStyle/>
          <a:p>
            <a:pPr indent="0" marL="0">
              <a:buNone/>
            </a:pPr>
            <a:r>
              <a:rPr lang="en-US" sz="1400" dirty="0">
                <a:solidFill>
                  <a:schemeClr val="tx1"/>
                </a:solidFill>
              </a:rPr>
              <a:t>Run stops if more than 5% of collisions fail validation</a:t>
            </a:r>
            <a:endParaRPr lang="en-US" sz="1400" dirty="0"/>
          </a:p>
        </p:txBody>
      </p:sp>
      <p:sp>
        <p:nvSpPr>
          <p:cNvPr id="14" name="practice card"/>
          <p:cNvSpPr/>
          <p:nvPr/>
        </p:nvSpPr>
        <p:spPr>
          <a:xfrm>
            <a:off x="8046720" y="1554480"/>
            <a:ext cx="3474720" cy="1965960"/>
          </a:xfrm>
          <a:prstGeom prst="roundRect">
            <a:avLst>
              <a:gd name="adj" fmla="val 4651"/>
            </a:avLst>
          </a:prstGeom>
          <a:solidFill>
            <a:schemeClr val="bg2"/>
          </a:solidFill>
          <a:ln/>
        </p:spPr>
      </p:sp>
      <p:sp>
        <p:nvSpPr>
          <p:cNvPr id="15" name="icon-circle FaBalanceScale"/>
          <p:cNvSpPr/>
          <p:nvPr/>
        </p:nvSpPr>
        <p:spPr>
          <a:xfrm>
            <a:off x="8275320" y="1828800"/>
            <a:ext cx="548640" cy="548640"/>
          </a:xfrm>
          <a:prstGeom prst="ellipse">
            <a:avLst/>
          </a:prstGeom>
          <a:solidFill>
            <a:schemeClr val="accent1"/>
          </a:solidFill>
          <a:ln/>
        </p:spPr>
      </p:sp>
      <p:pic>
        <p:nvPicPr>
          <p:cNvPr id="16" name="icon FaBalanceScale" descr="BalanceScale icon">    </p:cNvPr>
          <p:cNvPicPr>
            <a:picLocks noChangeAspect="1"/>
          </p:cNvPicPr>
          <p:nvPr/>
        </p:nvPicPr>
        <p:blipFill>
          <a:blip r:embed="rId3"/>
          <a:stretch>
            <a:fillRect/>
          </a:stretch>
        </p:blipFill>
        <p:spPr>
          <a:xfrm>
            <a:off x="8406994" y="1960474"/>
            <a:ext cx="285293" cy="285293"/>
          </a:xfrm>
          <a:prstGeom prst="rect">
            <a:avLst/>
          </a:prstGeom>
        </p:spPr>
      </p:pic>
      <p:sp>
        <p:nvSpPr>
          <p:cNvPr id="17" name="Text 11"/>
          <p:cNvSpPr txBox="1"/>
          <p:nvPr/>
        </p:nvSpPr>
        <p:spPr>
          <a:xfrm>
            <a:off x="9052560" y="1810512"/>
            <a:ext cx="23317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Load verification</a:t>
            </a:r>
            <a:endParaRPr lang="en-US" sz="1600" dirty="0"/>
          </a:p>
        </p:txBody>
      </p:sp>
      <p:sp>
        <p:nvSpPr>
          <p:cNvPr id="18" name="Text 12"/>
          <p:cNvSpPr txBox="1"/>
          <p:nvPr/>
        </p:nvSpPr>
        <p:spPr>
          <a:xfrm>
            <a:off x="9052560" y="2157984"/>
            <a:ext cx="2331720" cy="1371600"/>
          </a:xfrm>
          <a:prstGeom prst="rect">
            <a:avLst/>
          </a:prstGeom>
          <a:noFill/>
          <a:ln/>
        </p:spPr>
        <p:txBody>
          <a:bodyPr wrap="square" lIns="0" tIns="0" rIns="0" bIns="0" rtlCol="0" anchor="t"/>
          <a:lstStyle/>
          <a:p>
            <a:pPr indent="0" marL="0">
              <a:buNone/>
            </a:pPr>
            <a:r>
              <a:rPr lang="en-US" sz="1400" dirty="0">
                <a:solidFill>
                  <a:schemeClr val="tx1"/>
                </a:solidFill>
              </a:rPr>
              <a:t>Row counts reconciled for 16 tables; foreign keys checked</a:t>
            </a:r>
            <a:endParaRPr lang="en-US" sz="1400" dirty="0"/>
          </a:p>
        </p:txBody>
      </p:sp>
      <p:sp>
        <p:nvSpPr>
          <p:cNvPr id="19" name="practice card"/>
          <p:cNvSpPr/>
          <p:nvPr/>
        </p:nvSpPr>
        <p:spPr>
          <a:xfrm>
            <a:off x="548640" y="3840480"/>
            <a:ext cx="3474720" cy="1965960"/>
          </a:xfrm>
          <a:prstGeom prst="roundRect">
            <a:avLst>
              <a:gd name="adj" fmla="val 4651"/>
            </a:avLst>
          </a:prstGeom>
          <a:solidFill>
            <a:schemeClr val="bg2"/>
          </a:solidFill>
          <a:ln/>
        </p:spPr>
      </p:sp>
      <p:sp>
        <p:nvSpPr>
          <p:cNvPr id="20" name="icon-circle FaRedo"/>
          <p:cNvSpPr/>
          <p:nvPr/>
        </p:nvSpPr>
        <p:spPr>
          <a:xfrm>
            <a:off x="777240" y="4114800"/>
            <a:ext cx="548640" cy="548640"/>
          </a:xfrm>
          <a:prstGeom prst="ellipse">
            <a:avLst/>
          </a:prstGeom>
          <a:solidFill>
            <a:schemeClr val="accent1"/>
          </a:solidFill>
          <a:ln/>
        </p:spPr>
      </p:sp>
      <p:pic>
        <p:nvPicPr>
          <p:cNvPr id="21" name="icon FaRedo" descr="Redo icon">    </p:cNvPr>
          <p:cNvPicPr>
            <a:picLocks noChangeAspect="1"/>
          </p:cNvPicPr>
          <p:nvPr/>
        </p:nvPicPr>
        <p:blipFill>
          <a:blip r:embed="rId4"/>
          <a:stretch>
            <a:fillRect/>
          </a:stretch>
        </p:blipFill>
        <p:spPr>
          <a:xfrm>
            <a:off x="908914" y="4246474"/>
            <a:ext cx="285293" cy="285293"/>
          </a:xfrm>
          <a:prstGeom prst="rect">
            <a:avLst/>
          </a:prstGeom>
        </p:spPr>
      </p:pic>
      <p:sp>
        <p:nvSpPr>
          <p:cNvPr id="22" name="Text 15"/>
          <p:cNvSpPr txBox="1"/>
          <p:nvPr/>
        </p:nvSpPr>
        <p:spPr>
          <a:xfrm>
            <a:off x="1554480" y="4096512"/>
            <a:ext cx="23317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Safe re-runs</a:t>
            </a:r>
            <a:endParaRPr lang="en-US" sz="1600" dirty="0"/>
          </a:p>
        </p:txBody>
      </p:sp>
      <p:sp>
        <p:nvSpPr>
          <p:cNvPr id="23" name="Text 16"/>
          <p:cNvSpPr txBox="1"/>
          <p:nvPr/>
        </p:nvSpPr>
        <p:spPr>
          <a:xfrm>
            <a:off x="1554480" y="4443984"/>
            <a:ext cx="2331720" cy="1371600"/>
          </a:xfrm>
          <a:prstGeom prst="rect">
            <a:avLst/>
          </a:prstGeom>
          <a:noFill/>
          <a:ln/>
        </p:spPr>
        <p:txBody>
          <a:bodyPr wrap="square" lIns="0" tIns="0" rIns="0" bIns="0" rtlCol="0" anchor="t"/>
          <a:lstStyle/>
          <a:p>
            <a:pPr indent="0" marL="0">
              <a:buNone/>
            </a:pPr>
            <a:r>
              <a:rPr lang="en-US" sz="1400" dirty="0">
                <a:solidFill>
                  <a:schemeClr val="tx1"/>
                </a:solidFill>
              </a:rPr>
              <a:t>Idempotent tasks; raw files cached so monthly refreshes are cheap</a:t>
            </a:r>
            <a:endParaRPr lang="en-US" sz="1400" dirty="0"/>
          </a:p>
        </p:txBody>
      </p:sp>
      <p:sp>
        <p:nvSpPr>
          <p:cNvPr id="24" name="practice card"/>
          <p:cNvSpPr/>
          <p:nvPr/>
        </p:nvSpPr>
        <p:spPr>
          <a:xfrm>
            <a:off x="4297680" y="3840480"/>
            <a:ext cx="3474720" cy="1965960"/>
          </a:xfrm>
          <a:prstGeom prst="roundRect">
            <a:avLst>
              <a:gd name="adj" fmla="val 4651"/>
            </a:avLst>
          </a:prstGeom>
          <a:solidFill>
            <a:schemeClr val="bg2"/>
          </a:solidFill>
          <a:ln/>
        </p:spPr>
      </p:sp>
      <p:sp>
        <p:nvSpPr>
          <p:cNvPr id="25" name="icon-circle FaCode"/>
          <p:cNvSpPr/>
          <p:nvPr/>
        </p:nvSpPr>
        <p:spPr>
          <a:xfrm>
            <a:off x="4526280" y="4114800"/>
            <a:ext cx="548640" cy="548640"/>
          </a:xfrm>
          <a:prstGeom prst="ellipse">
            <a:avLst/>
          </a:prstGeom>
          <a:solidFill>
            <a:schemeClr val="accent1"/>
          </a:solidFill>
          <a:ln/>
        </p:spPr>
      </p:sp>
      <p:pic>
        <p:nvPicPr>
          <p:cNvPr id="26" name="icon FaCode" descr="Code icon">    </p:cNvPr>
          <p:cNvPicPr>
            <a:picLocks noChangeAspect="1"/>
          </p:cNvPicPr>
          <p:nvPr/>
        </p:nvPicPr>
        <p:blipFill>
          <a:blip r:embed="rId5"/>
          <a:stretch>
            <a:fillRect/>
          </a:stretch>
        </p:blipFill>
        <p:spPr>
          <a:xfrm>
            <a:off x="4657954" y="4246474"/>
            <a:ext cx="285293" cy="285293"/>
          </a:xfrm>
          <a:prstGeom prst="rect">
            <a:avLst/>
          </a:prstGeom>
        </p:spPr>
      </p:pic>
      <p:sp>
        <p:nvSpPr>
          <p:cNvPr id="27" name="Text 19"/>
          <p:cNvSpPr txBox="1"/>
          <p:nvPr/>
        </p:nvSpPr>
        <p:spPr>
          <a:xfrm>
            <a:off x="5303520" y="4096512"/>
            <a:ext cx="23317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One source of truth</a:t>
            </a:r>
            <a:endParaRPr lang="en-US" sz="1600" dirty="0"/>
          </a:p>
        </p:txBody>
      </p:sp>
      <p:sp>
        <p:nvSpPr>
          <p:cNvPr id="28" name="Text 20"/>
          <p:cNvSpPr txBox="1"/>
          <p:nvPr/>
        </p:nvSpPr>
        <p:spPr>
          <a:xfrm>
            <a:off x="5303520" y="4443984"/>
            <a:ext cx="2331720" cy="1371600"/>
          </a:xfrm>
          <a:prstGeom prst="rect">
            <a:avLst/>
          </a:prstGeom>
          <a:noFill/>
          <a:ln/>
        </p:spPr>
        <p:txBody>
          <a:bodyPr wrap="square" lIns="0" tIns="0" rIns="0" bIns="0" rtlCol="0" anchor="t"/>
          <a:lstStyle/>
          <a:p>
            <a:pPr indent="0" marL="0">
              <a:buNone/>
            </a:pPr>
            <a:r>
              <a:rPr lang="en-US" sz="1400" dirty="0">
                <a:solidFill>
                  <a:schemeClr val="tx1"/>
                </a:solidFill>
              </a:rPr>
              <a:t>Schema in code generates the SQL DDL and the data dictionary</a:t>
            </a:r>
            <a:endParaRPr lang="en-US" sz="1400" dirty="0"/>
          </a:p>
        </p:txBody>
      </p:sp>
      <p:sp>
        <p:nvSpPr>
          <p:cNvPr id="29" name="practice card"/>
          <p:cNvSpPr/>
          <p:nvPr/>
        </p:nvSpPr>
        <p:spPr>
          <a:xfrm>
            <a:off x="8046720" y="3840480"/>
            <a:ext cx="3474720" cy="1965960"/>
          </a:xfrm>
          <a:prstGeom prst="roundRect">
            <a:avLst>
              <a:gd name="adj" fmla="val 4651"/>
            </a:avLst>
          </a:prstGeom>
          <a:solidFill>
            <a:schemeClr val="bg2"/>
          </a:solidFill>
          <a:ln/>
        </p:spPr>
      </p:sp>
      <p:sp>
        <p:nvSpPr>
          <p:cNvPr id="30" name="icon-circle FaDocker"/>
          <p:cNvSpPr/>
          <p:nvPr/>
        </p:nvSpPr>
        <p:spPr>
          <a:xfrm>
            <a:off x="8275320" y="4114800"/>
            <a:ext cx="548640" cy="548640"/>
          </a:xfrm>
          <a:prstGeom prst="ellipse">
            <a:avLst/>
          </a:prstGeom>
          <a:solidFill>
            <a:schemeClr val="accent1"/>
          </a:solidFill>
          <a:ln/>
        </p:spPr>
      </p:sp>
      <p:pic>
        <p:nvPicPr>
          <p:cNvPr id="31" name="icon FaDocker" descr="Docker icon">    </p:cNvPr>
          <p:cNvPicPr>
            <a:picLocks noChangeAspect="1"/>
          </p:cNvPicPr>
          <p:nvPr/>
        </p:nvPicPr>
        <p:blipFill>
          <a:blip r:embed="rId6"/>
          <a:stretch>
            <a:fillRect/>
          </a:stretch>
        </p:blipFill>
        <p:spPr>
          <a:xfrm>
            <a:off x="8406994" y="4246474"/>
            <a:ext cx="285293" cy="285293"/>
          </a:xfrm>
          <a:prstGeom prst="rect">
            <a:avLst/>
          </a:prstGeom>
        </p:spPr>
      </p:pic>
      <p:sp>
        <p:nvSpPr>
          <p:cNvPr id="32" name="Text 23"/>
          <p:cNvSpPr txBox="1"/>
          <p:nvPr/>
        </p:nvSpPr>
        <p:spPr>
          <a:xfrm>
            <a:off x="9052560" y="4096512"/>
            <a:ext cx="2331720" cy="320040"/>
          </a:xfrm>
          <a:prstGeom prst="rect">
            <a:avLst/>
          </a:prstGeom>
          <a:noFill/>
          <a:ln/>
        </p:spPr>
        <p:txBody>
          <a:bodyPr wrap="square" lIns="0" tIns="0" rIns="0" bIns="0" rtlCol="0" anchor="t"/>
          <a:lstStyle/>
          <a:p>
            <a:pPr indent="0" marL="0">
              <a:buNone/>
            </a:pPr>
            <a:r>
              <a:rPr lang="en-US" sz="1600" b="1" dirty="0">
                <a:solidFill>
                  <a:schemeClr val="tx2"/>
                </a:solidFill>
                <a:latin typeface="Arial" pitchFamily="34" charset="0"/>
                <a:ea typeface="Arial" pitchFamily="34" charset="-122"/>
                <a:cs typeface="Arial" pitchFamily="34" charset="-120"/>
              </a:rPr>
              <a:t>Tested &amp; containerised</a:t>
            </a:r>
            <a:endParaRPr lang="en-US" sz="1600" dirty="0"/>
          </a:p>
        </p:txBody>
      </p:sp>
      <p:sp>
        <p:nvSpPr>
          <p:cNvPr id="33" name="Text 24"/>
          <p:cNvSpPr txBox="1"/>
          <p:nvPr/>
        </p:nvSpPr>
        <p:spPr>
          <a:xfrm>
            <a:off x="9052560" y="4443984"/>
            <a:ext cx="2331720" cy="1371600"/>
          </a:xfrm>
          <a:prstGeom prst="rect">
            <a:avLst/>
          </a:prstGeom>
          <a:noFill/>
          <a:ln/>
        </p:spPr>
        <p:txBody>
          <a:bodyPr wrap="square" lIns="0" tIns="0" rIns="0" bIns="0" rtlCol="0" anchor="t"/>
          <a:lstStyle/>
          <a:p>
            <a:pPr indent="0" marL="0">
              <a:buNone/>
            </a:pPr>
            <a:r>
              <a:rPr lang="en-US" sz="1400" dirty="0">
                <a:solidFill>
                  <a:schemeClr val="tx1"/>
                </a:solidFill>
              </a:rPr>
              <a:t>12 pytest tests; Docker Compose: PostGIS + Airflow + dashboard; secrets only in env vars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rPr>
              <a:t>Limitations and future work</a:t>
            </a:r>
            <a:endParaRPr lang="en-US" sz="3200" dirty="0"/>
          </a:p>
        </p:txBody>
      </p:sp>
      <p:sp>
        <p:nvSpPr>
          <p:cNvPr id="4" name="limitations card"/>
          <p:cNvSpPr/>
          <p:nvPr/>
        </p:nvSpPr>
        <p:spPr>
          <a:xfrm>
            <a:off x="548640" y="1463040"/>
            <a:ext cx="5394960" cy="3931920"/>
          </a:xfrm>
          <a:prstGeom prst="roundRect">
            <a:avLst>
              <a:gd name="adj" fmla="val 2326"/>
            </a:avLst>
          </a:prstGeom>
          <a:solidFill>
            <a:schemeClr val="bg2"/>
          </a:solidFill>
          <a:ln/>
        </p:spPr>
      </p:sp>
      <p:sp>
        <p:nvSpPr>
          <p:cNvPr id="5" name="icon-circle FaExclamationTriangle"/>
          <p:cNvSpPr/>
          <p:nvPr/>
        </p:nvSpPr>
        <p:spPr>
          <a:xfrm>
            <a:off x="868680" y="1737360"/>
            <a:ext cx="640080" cy="640080"/>
          </a:xfrm>
          <a:prstGeom prst="ellipse">
            <a:avLst/>
          </a:prstGeom>
          <a:solidFill>
            <a:schemeClr val="accent2"/>
          </a:solidFill>
          <a:ln/>
        </p:spPr>
      </p:sp>
      <p:pic>
        <p:nvPicPr>
          <p:cNvPr id="6" name="icon FaExclamationTriangle" descr="ExclamationTriangle icon">    </p:cNvPr>
          <p:cNvPicPr>
            <a:picLocks noChangeAspect="1"/>
          </p:cNvPicPr>
          <p:nvPr/>
        </p:nvPicPr>
        <p:blipFill>
          <a:blip r:embed="rId1"/>
          <a:stretch>
            <a:fillRect/>
          </a:stretch>
        </p:blipFill>
        <p:spPr>
          <a:xfrm>
            <a:off x="1022299" y="1890979"/>
            <a:ext cx="332842" cy="332842"/>
          </a:xfrm>
          <a:prstGeom prst="rect">
            <a:avLst/>
          </a:prstGeom>
        </p:spPr>
      </p:pic>
      <p:sp>
        <p:nvSpPr>
          <p:cNvPr id="7" name="Text 3"/>
          <p:cNvSpPr txBox="1"/>
          <p:nvPr/>
        </p:nvSpPr>
        <p:spPr>
          <a:xfrm>
            <a:off x="1737360" y="1737360"/>
            <a:ext cx="3657600" cy="6400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Limitations</a:t>
            </a:r>
            <a:endParaRPr lang="en-US" sz="2000" dirty="0"/>
          </a:p>
        </p:txBody>
      </p:sp>
      <p:sp>
        <p:nvSpPr>
          <p:cNvPr id="8" name="Text 4"/>
          <p:cNvSpPr txBox="1"/>
          <p:nvPr/>
        </p:nvSpPr>
        <p:spPr>
          <a:xfrm>
            <a:off x="868680" y="2651760"/>
            <a:ext cx="4846320" cy="256032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1° weather grid = regional, not street-level, weather</a:t>
            </a:r>
            <a:endParaRPr lang="en-US" sz="1600" dirty="0"/>
          </a:p>
          <a:p>
            <a:pPr marL="228600" indent="-228600">
              <a:spcAft>
                <a:spcPts val="800"/>
              </a:spcAft>
              <a:buSzPct val="100000"/>
              <a:buChar char="•"/>
            </a:pPr>
            <a:r>
              <a:rPr lang="en-US" sz="1600" dirty="0">
                <a:solidFill>
                  <a:schemeClr val="tx1"/>
                </a:solidFill>
              </a:rPr>
              <a:t>Only police-recorded injury collisions; some severity misclassification is known</a:t>
            </a:r>
            <a:endParaRPr lang="en-US" sz="1600" dirty="0"/>
          </a:p>
          <a:p>
            <a:pPr marL="228600" indent="-228600">
              <a:spcAft>
                <a:spcPts val="800"/>
              </a:spcAft>
              <a:buSzPct val="100000"/>
              <a:buChar char="•"/>
            </a:pPr>
            <a:r>
              <a:rPr lang="en-US" sz="1600" dirty="0">
                <a:solidFill>
                  <a:schemeClr val="tx1"/>
                </a:solidFill>
              </a:rPr>
              <a:t>No traffic-volume data, so rates are shares of collisions, not risk per vehicle-km</a:t>
            </a:r>
            <a:endParaRPr lang="en-US" sz="1600" dirty="0"/>
          </a:p>
        </p:txBody>
      </p:sp>
      <p:sp>
        <p:nvSpPr>
          <p:cNvPr id="9" name="future card"/>
          <p:cNvSpPr/>
          <p:nvPr/>
        </p:nvSpPr>
        <p:spPr>
          <a:xfrm>
            <a:off x="6217920" y="1463040"/>
            <a:ext cx="5394960" cy="3931920"/>
          </a:xfrm>
          <a:prstGeom prst="roundRect">
            <a:avLst>
              <a:gd name="adj" fmla="val 2326"/>
            </a:avLst>
          </a:prstGeom>
          <a:solidFill>
            <a:schemeClr val="bg2"/>
          </a:solidFill>
          <a:ln/>
        </p:spPr>
      </p:sp>
      <p:sp>
        <p:nvSpPr>
          <p:cNvPr id="10" name="icon-circle FaRocket"/>
          <p:cNvSpPr/>
          <p:nvPr/>
        </p:nvSpPr>
        <p:spPr>
          <a:xfrm>
            <a:off x="6537960" y="1737360"/>
            <a:ext cx="640080" cy="640080"/>
          </a:xfrm>
          <a:prstGeom prst="ellipse">
            <a:avLst/>
          </a:prstGeom>
          <a:solidFill>
            <a:schemeClr val="accent5"/>
          </a:solidFill>
          <a:ln/>
        </p:spPr>
      </p:sp>
      <p:pic>
        <p:nvPicPr>
          <p:cNvPr id="11" name="icon FaRocket" descr="Rocket icon">    </p:cNvPr>
          <p:cNvPicPr>
            <a:picLocks noChangeAspect="1"/>
          </p:cNvPicPr>
          <p:nvPr/>
        </p:nvPicPr>
        <p:blipFill>
          <a:blip r:embed="rId2"/>
          <a:stretch>
            <a:fillRect/>
          </a:stretch>
        </p:blipFill>
        <p:spPr>
          <a:xfrm>
            <a:off x="6691579" y="1890979"/>
            <a:ext cx="332842" cy="332842"/>
          </a:xfrm>
          <a:prstGeom prst="rect">
            <a:avLst/>
          </a:prstGeom>
        </p:spPr>
      </p:pic>
      <p:sp>
        <p:nvSpPr>
          <p:cNvPr id="12" name="Text 7"/>
          <p:cNvSpPr txBox="1"/>
          <p:nvPr/>
        </p:nvSpPr>
        <p:spPr>
          <a:xfrm>
            <a:off x="7406640" y="1737360"/>
            <a:ext cx="3657600" cy="6400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Future work</a:t>
            </a:r>
            <a:endParaRPr lang="en-US" sz="2000" dirty="0"/>
          </a:p>
        </p:txBody>
      </p:sp>
      <p:sp>
        <p:nvSpPr>
          <p:cNvPr id="13" name="Text 8"/>
          <p:cNvSpPr txBox="1"/>
          <p:nvPr/>
        </p:nvSpPr>
        <p:spPr>
          <a:xfrm>
            <a:off x="6537960" y="2651760"/>
            <a:ext cx="4846320" cy="256032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tx1"/>
                </a:solidFill>
              </a:rPr>
              <a:t>OpenStreetMap road context (lighting, lanes)</a:t>
            </a:r>
            <a:endParaRPr lang="en-US" sz="1600" dirty="0"/>
          </a:p>
          <a:p>
            <a:pPr marL="228600" indent="-228600">
              <a:spcAft>
                <a:spcPts val="800"/>
              </a:spcAft>
              <a:buSzPct val="100000"/>
              <a:buChar char="•"/>
            </a:pPr>
            <a:r>
              <a:rPr lang="en-US" sz="1600" dirty="0">
                <a:solidFill>
                  <a:schemeClr val="tx1"/>
                </a:solidFill>
              </a:rPr>
              <a:t>Incremental loads instead of full refresh</a:t>
            </a:r>
            <a:endParaRPr lang="en-US" sz="1600" dirty="0"/>
          </a:p>
          <a:p>
            <a:pPr marL="228600" indent="-228600">
              <a:spcAft>
                <a:spcPts val="800"/>
              </a:spcAft>
              <a:buSzPct val="100000"/>
              <a:buChar char="•"/>
            </a:pPr>
            <a:r>
              <a:rPr lang="en-US" sz="1600" dirty="0">
                <a:solidFill>
                  <a:schemeClr val="tx1"/>
                </a:solidFill>
              </a:rPr>
              <a:t>Formal data contracts (Great Expectations)</a:t>
            </a:r>
            <a:endParaRPr lang="en-US" sz="1600" dirty="0"/>
          </a:p>
          <a:p>
            <a:pPr marL="228600" indent="-228600">
              <a:spcAft>
                <a:spcPts val="800"/>
              </a:spcAft>
              <a:buSzPct val="100000"/>
              <a:buChar char="•"/>
            </a:pPr>
            <a:r>
              <a:rPr lang="en-US" sz="1600" dirty="0">
                <a:solidFill>
                  <a:schemeClr val="tx1"/>
                </a:solidFill>
              </a:rPr>
              <a:t>Finer weather grid with a paid API tier</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C757D"/>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lIns="0" tIns="0" rIns="0" bIns="0" rtlCol="0" anchor="ctr"/>
          <a:lstStyle/>
          <a:p>
            <a:pPr algn="l" indent="0" marL="0">
              <a:buNone/>
            </a:pPr>
            <a:r>
              <a:rPr lang="en-US" sz="3600" b="1" dirty="0">
                <a:solidFill>
                  <a:schemeClr val="bg1"/>
                </a:solidFill>
              </a:rPr>
              <a:t>Summary: from raw files to road-safety insight</a:t>
            </a:r>
            <a:endParaRPr lang="en-US" sz="3600" dirty="0"/>
          </a:p>
        </p:txBody>
      </p:sp>
      <p:sp>
        <p:nvSpPr>
          <p:cNvPr id="4" name="icon-circle FaCogs"/>
          <p:cNvSpPr/>
          <p:nvPr/>
        </p:nvSpPr>
        <p:spPr>
          <a:xfrm>
            <a:off x="731520" y="1920240"/>
            <a:ext cx="731520" cy="731520"/>
          </a:xfrm>
          <a:prstGeom prst="ellipse">
            <a:avLst/>
          </a:prstGeom>
          <a:solidFill>
            <a:schemeClr val="accent1"/>
          </a:solidFill>
          <a:ln/>
        </p:spPr>
      </p:sp>
      <p:pic>
        <p:nvPicPr>
          <p:cNvPr id="5" name="icon FaCogs" descr="Cogs icon">    </p:cNvPr>
          <p:cNvPicPr>
            <a:picLocks noChangeAspect="1"/>
          </p:cNvPicPr>
          <p:nvPr/>
        </p:nvPicPr>
        <p:blipFill>
          <a:blip r:embed="rId1"/>
          <a:stretch>
            <a:fillRect/>
          </a:stretch>
        </p:blipFill>
        <p:spPr>
          <a:xfrm>
            <a:off x="907085" y="2095805"/>
            <a:ext cx="380390" cy="380390"/>
          </a:xfrm>
          <a:prstGeom prst="rect">
            <a:avLst/>
          </a:prstGeom>
        </p:spPr>
      </p:pic>
      <p:sp>
        <p:nvSpPr>
          <p:cNvPr id="6" name="Text 2"/>
          <p:cNvSpPr txBox="1"/>
          <p:nvPr/>
        </p:nvSpPr>
        <p:spPr>
          <a:xfrm>
            <a:off x="731520" y="2834640"/>
            <a:ext cx="3291840" cy="36576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Built</a:t>
            </a:r>
            <a:endParaRPr lang="en-US" sz="1700" dirty="0"/>
          </a:p>
        </p:txBody>
      </p:sp>
      <p:sp>
        <p:nvSpPr>
          <p:cNvPr id="7" name="Text 3"/>
          <p:cNvSpPr txBox="1"/>
          <p:nvPr/>
        </p:nvSpPr>
        <p:spPr>
          <a:xfrm>
            <a:off x="731520" y="3246120"/>
            <a:ext cx="3291840" cy="2194560"/>
          </a:xfrm>
          <a:prstGeom prst="rect">
            <a:avLst/>
          </a:prstGeom>
          <a:noFill/>
          <a:ln/>
        </p:spPr>
        <p:txBody>
          <a:bodyPr wrap="square" lIns="0" tIns="0" rIns="0" bIns="0" rtlCol="0" anchor="t"/>
          <a:lstStyle/>
          <a:p>
            <a:pPr indent="0" marL="0">
              <a:buNone/>
            </a:pPr>
            <a:r>
              <a:rPr lang="en-US" sz="1400" dirty="0">
                <a:solidFill>
                  <a:schemeClr val="bg1"/>
                </a:solidFill>
              </a:rPr>
              <a:t>Automated monthly Airflow pipeline: 2 open sources → layered Parquet → PostGIS star schema → Streamlit dashboard</a:t>
            </a:r>
            <a:endParaRPr lang="en-US" sz="1400" dirty="0"/>
          </a:p>
        </p:txBody>
      </p:sp>
      <p:sp>
        <p:nvSpPr>
          <p:cNvPr id="8" name="icon-circle FaTools"/>
          <p:cNvSpPr/>
          <p:nvPr/>
        </p:nvSpPr>
        <p:spPr>
          <a:xfrm>
            <a:off x="4389120" y="1920240"/>
            <a:ext cx="731520" cy="731520"/>
          </a:xfrm>
          <a:prstGeom prst="ellipse">
            <a:avLst/>
          </a:prstGeom>
          <a:solidFill>
            <a:schemeClr val="accent1"/>
          </a:solidFill>
          <a:ln/>
        </p:spPr>
      </p:sp>
      <p:pic>
        <p:nvPicPr>
          <p:cNvPr id="9" name="icon FaTools" descr="Tools icon">    </p:cNvPr>
          <p:cNvPicPr>
            <a:picLocks noChangeAspect="1"/>
          </p:cNvPicPr>
          <p:nvPr/>
        </p:nvPicPr>
        <p:blipFill>
          <a:blip r:embed="rId2"/>
          <a:stretch>
            <a:fillRect/>
          </a:stretch>
        </p:blipFill>
        <p:spPr>
          <a:xfrm>
            <a:off x="4564685" y="2095805"/>
            <a:ext cx="380390" cy="380390"/>
          </a:xfrm>
          <a:prstGeom prst="rect">
            <a:avLst/>
          </a:prstGeom>
        </p:spPr>
      </p:pic>
      <p:sp>
        <p:nvSpPr>
          <p:cNvPr id="10" name="Text 5"/>
          <p:cNvSpPr txBox="1"/>
          <p:nvPr/>
        </p:nvSpPr>
        <p:spPr>
          <a:xfrm>
            <a:off x="4389120" y="2834640"/>
            <a:ext cx="3291840" cy="36576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Solved</a:t>
            </a:r>
            <a:endParaRPr lang="en-US" sz="1700" dirty="0"/>
          </a:p>
        </p:txBody>
      </p:sp>
      <p:sp>
        <p:nvSpPr>
          <p:cNvPr id="11" name="Text 6"/>
          <p:cNvSpPr txBox="1"/>
          <p:nvPr/>
        </p:nvSpPr>
        <p:spPr>
          <a:xfrm>
            <a:off x="4389120" y="3246120"/>
            <a:ext cx="3291840" cy="2194560"/>
          </a:xfrm>
          <a:prstGeom prst="rect">
            <a:avLst/>
          </a:prstGeom>
          <a:noFill/>
          <a:ln/>
        </p:spPr>
        <p:txBody>
          <a:bodyPr wrap="square" lIns="0" tIns="0" rIns="0" bIns="0" rtlCol="0" anchor="t"/>
          <a:lstStyle/>
          <a:p>
            <a:pPr indent="0" marL="0">
              <a:buNone/>
            </a:pPr>
            <a:r>
              <a:rPr lang="en-US" sz="1400" dirty="0">
                <a:solidFill>
                  <a:schemeClr val="bg1"/>
                </a:solidFill>
              </a:rPr>
              <a:t>API rate limits (grid redesign + request pacing), column renames between years, data quality with 22 rules and a full audit trail</a:t>
            </a:r>
            <a:endParaRPr lang="en-US" sz="1400" dirty="0"/>
          </a:p>
        </p:txBody>
      </p:sp>
      <p:sp>
        <p:nvSpPr>
          <p:cNvPr id="12" name="icon-circle FaChartLine"/>
          <p:cNvSpPr/>
          <p:nvPr/>
        </p:nvSpPr>
        <p:spPr>
          <a:xfrm>
            <a:off x="8046720" y="1920240"/>
            <a:ext cx="731520" cy="731520"/>
          </a:xfrm>
          <a:prstGeom prst="ellipse">
            <a:avLst/>
          </a:prstGeom>
          <a:solidFill>
            <a:schemeClr val="accent1"/>
          </a:solidFill>
          <a:ln/>
        </p:spPr>
      </p:sp>
      <p:pic>
        <p:nvPicPr>
          <p:cNvPr id="13" name="icon FaChartLine" descr="ChartLine icon">    </p:cNvPr>
          <p:cNvPicPr>
            <a:picLocks noChangeAspect="1"/>
          </p:cNvPicPr>
          <p:nvPr/>
        </p:nvPicPr>
        <p:blipFill>
          <a:blip r:embed="rId3"/>
          <a:stretch>
            <a:fillRect/>
          </a:stretch>
        </p:blipFill>
        <p:spPr>
          <a:xfrm>
            <a:off x="8222285" y="2095805"/>
            <a:ext cx="380390" cy="380390"/>
          </a:xfrm>
          <a:prstGeom prst="rect">
            <a:avLst/>
          </a:prstGeom>
        </p:spPr>
      </p:pic>
      <p:sp>
        <p:nvSpPr>
          <p:cNvPr id="14" name="Text 8"/>
          <p:cNvSpPr txBox="1"/>
          <p:nvPr/>
        </p:nvSpPr>
        <p:spPr>
          <a:xfrm>
            <a:off x="8046720" y="2834640"/>
            <a:ext cx="3291840" cy="365760"/>
          </a:xfrm>
          <a:prstGeom prst="rect">
            <a:avLst/>
          </a:prstGeom>
          <a:noFill/>
          <a:ln/>
        </p:spPr>
        <p:txBody>
          <a:bodyPr wrap="square" lIns="0" tIns="0" rIns="0" bIns="0" rtlCol="0" anchor="t"/>
          <a:lstStyle/>
          <a:p>
            <a:pPr indent="0" marL="0">
              <a:buNone/>
            </a:pPr>
            <a:r>
              <a:rPr lang="en-US" sz="1700" b="1" dirty="0">
                <a:solidFill>
                  <a:schemeClr val="accent1"/>
                </a:solidFill>
                <a:latin typeface="Arial" pitchFamily="34" charset="0"/>
                <a:ea typeface="Arial" pitchFamily="34" charset="-122"/>
                <a:cs typeface="Arial" pitchFamily="34" charset="-120"/>
              </a:rPr>
              <a:t>Delivered</a:t>
            </a:r>
            <a:endParaRPr lang="en-US" sz="1700" dirty="0"/>
          </a:p>
        </p:txBody>
      </p:sp>
      <p:sp>
        <p:nvSpPr>
          <p:cNvPr id="15" name="Text 9"/>
          <p:cNvSpPr txBox="1"/>
          <p:nvPr/>
        </p:nvSpPr>
        <p:spPr>
          <a:xfrm>
            <a:off x="8046720" y="3246120"/>
            <a:ext cx="3291840" cy="2194560"/>
          </a:xfrm>
          <a:prstGeom prst="rect">
            <a:avLst/>
          </a:prstGeom>
          <a:noFill/>
          <a:ln/>
        </p:spPr>
        <p:txBody>
          <a:bodyPr wrap="square" lIns="0" tIns="0" rIns="0" bIns="0" rtlCol="0" anchor="t"/>
          <a:lstStyle/>
          <a:p>
            <a:pPr indent="0" marL="0">
              <a:buNone/>
            </a:pPr>
            <a:r>
              <a:rPr lang="en-US" sz="1400" dirty="0">
                <a:solidFill>
                  <a:schemeClr val="bg1"/>
                </a:solidFill>
              </a:rPr>
              <a:t>Road-safety insights (dark rural high-speed roads are deadliest) and a leakage-free ML table for Part 2</a:t>
            </a:r>
            <a:endParaRPr lang="en-US" sz="1400" dirty="0"/>
          </a:p>
        </p:txBody>
      </p:sp>
      <p:sp>
        <p:nvSpPr>
          <p:cNvPr id="16" name="Text 10"/>
          <p:cNvSpPr txBox="1"/>
          <p:nvPr/>
        </p:nvSpPr>
        <p:spPr>
          <a:xfrm>
            <a:off x="731520" y="5120640"/>
            <a:ext cx="10698480" cy="457200"/>
          </a:xfrm>
          <a:prstGeom prst="rect">
            <a:avLst/>
          </a:prstGeom>
          <a:noFill/>
          <a:ln/>
        </p:spPr>
        <p:txBody>
          <a:bodyPr wrap="square" lIns="0" tIns="0" rIns="0" bIns="0" rtlCol="0" anchor="t"/>
          <a:lstStyle/>
          <a:p>
            <a:pPr indent="0" marL="0">
              <a:buNone/>
            </a:pPr>
            <a:r>
              <a:rPr lang="en-US" sz="2000" b="1" dirty="0">
                <a:solidFill>
                  <a:schemeClr val="accent1"/>
                </a:solidFill>
              </a:rPr>
              <a:t>Thank you – questions?</a:t>
            </a:r>
            <a:endParaRPr lang="en-US" sz="2000" dirty="0"/>
          </a:p>
        </p:txBody>
      </p:sp>
    </p:spTree>
  </p:cSld>
  <p:clrMapOvr>
    <a:masterClrMapping/>
  </p:clrMapOvr>
</p:sld>
</file>

<file path=ppt/theme/theme1.xml><?xml version="1.0" encoding="utf-8"?>
<a:theme xmlns:a="http://schemas.openxmlformats.org/drawingml/2006/main" name="Road Safety">
  <a:themeElements>
    <a:clrScheme name="Road Safety">
      <a:dk1>
        <a:srgbClr val="1B1F24"/>
      </a:dk1>
      <a:lt1>
        <a:srgbClr val="FFFFFF"/>
      </a:lt1>
      <a:dk2>
        <a:srgbClr val="232A33"/>
      </a:dk2>
      <a:lt2>
        <a:srgbClr val="F1F3F5"/>
      </a:lt2>
      <a:accent1>
        <a:srgbClr val="F2A900"/>
      </a:accent1>
      <a:accent2>
        <a:srgbClr val="C8323F"/>
      </a:accent2>
      <a:accent3>
        <a:srgbClr val="3A6EA5"/>
      </a:accent3>
      <a:accent4>
        <a:srgbClr val="6C757D"/>
      </a:accent4>
      <a:accent5>
        <a:srgbClr val="2A9D8F"/>
      </a:accent5>
      <a:accent6>
        <a:srgbClr val="FCE7B2"/>
      </a:accent6>
      <a:hlink>
        <a:srgbClr val="3A6EA5"/>
      </a:hlink>
      <a:folHlink>
        <a:srgbClr val="6C757D"/>
      </a:folHlink>
    </a:clrScheme>
    <a:fontScheme name="Road Safe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Part 1 – Traffic Accident Data Pipeline</dc:title>
  <dc:subject>PptxGenJS Presentation</dc:subject>
  <dc:creator>Project 4 – Data Engineering and MLOps</dc:creator>
  <cp:lastModifiedBy>Project 4 – Data Engineering and MLOps</cp:lastModifiedBy>
  <cp:revision>1</cp:revision>
  <dcterms:created xsi:type="dcterms:W3CDTF">2026-10-07T06:10:47Z</dcterms:created>
  <dcterms:modified xsi:type="dcterms:W3CDTF">2026-10-07T06:10:47Z</dcterms:modified>
</cp:coreProperties>
</file>