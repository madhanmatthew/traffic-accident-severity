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692130" cy="756285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698500"/>
            <a:ext cx="1814512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2"/>
          <p:cNvSpPr/>
          <p:nvPr/>
        </p:nvSpPr>
        <p:spPr>
          <a:xfrm>
            <a:off x="615950" y="2179638"/>
            <a:ext cx="7262813" cy="142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100" b="1" dirty="0">
                <a:solidFill>
                  <a:srgbClr val="CC3224"/>
                </a:solidFill>
                <a:latin typeface="Arial" panose="020B0604020202020204" pitchFamily="34" charset="0"/>
              </a:rPr>
              <a:t>PROJECT PRESENTATION</a:t>
            </a:r>
            <a:endParaRPr sz="1100" b="1" dirty="0">
              <a:solidFill>
                <a:srgbClr val="CC322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5950" y="2551113"/>
            <a:ext cx="7262813" cy="207803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eaLnBrk="1" hangingPunct="1">
              <a:spcBef>
                <a:spcPts val="840"/>
              </a:spcBef>
              <a:spcAft>
                <a:spcPts val="840"/>
              </a:spcAft>
              <a:buNone/>
            </a:pPr>
            <a:r>
              <a:rPr sz="3400" dirty="0">
                <a:solidFill>
                  <a:srgbClr val="CC3224"/>
                </a:solidFill>
                <a:latin typeface="Arial" panose="020B0604020202020204" pitchFamily="34" charset="0"/>
              </a:rPr>
              <a:t>Traffic Accident Severity Analytics</a:t>
            </a:r>
            <a:endParaRPr sz="3400" dirty="0">
              <a:solidFill>
                <a:srgbClr val="CC3224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975"/>
              </a:lnSpc>
              <a:spcAft>
                <a:spcPts val="840"/>
              </a:spcAft>
              <a:buNone/>
            </a:pPr>
            <a:r>
              <a:rPr sz="1100" b="1" dirty="0">
                <a:solidFill>
                  <a:srgbClr val="6B7280"/>
                </a:solidFill>
                <a:latin typeface="Arial" panose="020B0604020202020204" pitchFamily="34" charset="0"/>
              </a:rPr>
              <a:t>An automated data pipeline: police collision records + hourly weather ^ validated warehouse ^ dashboard </a:t>
            </a:r>
            <a:r>
              <a:rPr sz="1300" dirty="0">
                <a:solidFill>
                  <a:srgbClr val="6B7280"/>
                </a:solidFill>
                <a:latin typeface="Arial" panose="020B0604020202020204" pitchFamily="34" charset="0"/>
              </a:rPr>
              <a:t>Data Engineering and MLOps | Part 1: Data Pipeline | Individual Project</a:t>
            </a:r>
            <a:endParaRPr sz="1300" dirty="0">
              <a:solidFill>
                <a:srgbClr val="6B728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900"/>
              </a:lnSpc>
              <a:buNone/>
            </a:pPr>
            <a:r>
              <a:rPr sz="1300" dirty="0">
                <a:solidFill>
                  <a:srgbClr val="1B3A64"/>
                </a:solidFill>
                <a:latin typeface="Arial" panose="020B0604020202020204" pitchFamily="34" charset="0"/>
              </a:rPr>
              <a:t>Student Name : </a:t>
            </a:r>
            <a:r>
              <a:rPr sz="1300" b="1" dirty="0">
                <a:solidFill>
                  <a:srgbClr val="1B3A64"/>
                </a:solidFill>
                <a:latin typeface="Arial" panose="020B0604020202020204" pitchFamily="34" charset="0"/>
              </a:rPr>
              <a:t>Madhan Matthew S </a:t>
            </a:r>
            <a:r>
              <a:rPr sz="1300" dirty="0">
                <a:solidFill>
                  <a:srgbClr val="1B3A64"/>
                </a:solidFill>
                <a:latin typeface="Arial" panose="020B0604020202020204" pitchFamily="34" charset="0"/>
              </a:rPr>
              <a:t>USN    : </a:t>
            </a:r>
            <a:r>
              <a:rPr sz="1300" b="1" dirty="0">
                <a:solidFill>
                  <a:srgbClr val="1B3A64"/>
                </a:solidFill>
                <a:latin typeface="Arial" panose="020B0604020202020204" pitchFamily="34" charset="0"/>
              </a:rPr>
              <a:t>1CR23AI052</a:t>
            </a:r>
            <a:endParaRPr sz="1300" b="1" dirty="0">
              <a:solidFill>
                <a:srgbClr val="1B3A64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900"/>
              </a:lnSpc>
              <a:buNone/>
            </a:pPr>
            <a:r>
              <a:rPr sz="1300" dirty="0">
                <a:solidFill>
                  <a:srgbClr val="1B3A64"/>
                </a:solidFill>
                <a:latin typeface="Arial" panose="020B0604020202020204" pitchFamily="34" charset="0"/>
              </a:rPr>
              <a:t>Branch / Section : AI &amp; ML Engineering, 7A</a:t>
            </a:r>
            <a:endParaRPr sz="1300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94775" y="5038725"/>
            <a:ext cx="1069975" cy="1524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CMRIT, Bengaluru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2051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2052" name="Rectangle 3"/>
          <p:cNvSpPr/>
          <p:nvPr/>
        </p:nvSpPr>
        <p:spPr>
          <a:xfrm>
            <a:off x="636588" y="741363"/>
            <a:ext cx="2597150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231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1.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Project Overview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950" y="1384300"/>
            <a:ext cx="8859838" cy="1981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859790" marR="0" lvl="0" indent="0" algn="just" defTabSz="914400" rtl="0" eaLnBrk="1" fontAlgn="auto" latinLnBrk="0" hangingPunct="1">
              <a:lnSpc>
                <a:spcPct val="100000"/>
              </a:lnSpc>
              <a:spcBef>
                <a:spcPts val="231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~100,000    24.4%    205,185</a:t>
            </a:r>
            <a:endParaRPr kumimoji="0" lang="en-US" sz="27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589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5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injury road collisions in Great Britain every year    kill or seriously injure someone (KSI)    collisions analysed, 2023-2024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gap this project closes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5890" marR="0" lvl="0" indent="0" algn="just" defTabSz="914400" rtl="0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Road-safety teams need to know when, where and under which conditions collisions become severe.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5890" marR="0" lvl="0" indent="0" algn="just" defTabSz="914400" rtl="0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Police records describe weather only as the officer saw it - no measured temperature, rain or wind.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5890" marR="0" lvl="0" indent="0" algn="just" defTabSz="914400" rtl="0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is split across three related files (collisions, vehicles, casualties) and changes format between years.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was built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1345" y="3860800"/>
          <a:ext cx="9469120" cy="1784985"/>
        </p:xfrm>
        <a:graphic>
          <a:graphicData uri="http://schemas.openxmlformats.org/drawingml/2006/table">
            <a:tbl>
              <a:tblPr/>
              <a:tblGrid>
                <a:gridCol w="1562735"/>
                <a:gridCol w="7906385"/>
              </a:tblGrid>
              <a:tr h="285115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Stage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Description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30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1. Ingest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55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Download STATS19 collision files and enrich every collision with hourly weather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28575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2. Validate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Clean the data with clear rules and log every rejected record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285115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3. Store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Location- and time-aware warehouse: PostgreSQL + PostGIS star schema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28575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4. Visualise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Interactive dashboard to explore when and where severe crashes happen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285115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5. ML table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A leakage-free, model-ready table that feeds the Part 2 classifier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077" name="Rectangle 6"/>
          <p:cNvSpPr/>
          <p:nvPr/>
        </p:nvSpPr>
        <p:spPr>
          <a:xfrm>
            <a:off x="545148" y="5838825"/>
            <a:ext cx="6962775" cy="3508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B3A64"/>
                </a:solidFill>
                <a:latin typeface="Arial" panose="020B0604020202020204" pitchFamily="34" charset="0"/>
              </a:rPr>
              <a:t>| </a:t>
            </a:r>
            <a:r>
              <a:rPr sz="1300" i="1" dirty="0">
                <a:solidFill>
                  <a:srgbClr val="1B3A64"/>
                </a:solidFill>
                <a:latin typeface="Arial" panose="020B0604020202020204" pitchFamily="34" charset="0"/>
              </a:rPr>
              <a:t>All of it is automated, repeatable and auditable - orchestrated monthly by Apache Airflow.</a:t>
            </a:r>
            <a:endParaRPr sz="1300" i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2078" name="Rectangle 7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2079" name="Rectangle 8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Rectangle 3"/>
          <p:cNvSpPr/>
          <p:nvPr/>
        </p:nvSpPr>
        <p:spPr>
          <a:xfrm>
            <a:off x="628650" y="741363"/>
            <a:ext cx="3473450" cy="242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2.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Dataset &amp; Data Sources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9763" y="1255713"/>
          <a:ext cx="9424988" cy="2417763"/>
        </p:xfrm>
        <a:graphic>
          <a:graphicData uri="http://schemas.openxmlformats.org/drawingml/2006/table">
            <a:tbl>
              <a:tblPr/>
              <a:tblGrid>
                <a:gridCol w="1905000"/>
                <a:gridCol w="3758184"/>
                <a:gridCol w="3761232"/>
              </a:tblGrid>
              <a:tr h="313944">
                <a:tc>
                  <a:txBody>
                    <a:bodyPr/>
                    <a:lstStyle/>
                    <a:p>
                      <a:endParaRPr sz="1500"/>
                    </a:p>
                  </a:txBody>
                  <a:tcPr marL="0" marR="0" marT="0" marB="0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STATS19 - Department for Transport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Open-Meteo Historical Weather API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Content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Official police records of every injury collision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535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Hourly temperature, rain, snow, wind, cloud, humidity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1699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Structure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3 linked tables: collision, vehicle, casualty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59 grid cells covering Great Britain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Period / files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2023 + 2024 ^ 6 CSV files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2023 + 2024 ^ 117 cell-year responses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Data size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839,763 rows ingested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1,026,312 hourly weather rows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1089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Access method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Open data CSV download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Free archive API - no key required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23088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Licence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Open Government Licence v3.0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CC BY 4.0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3111" name="Table 3110"/>
          <p:cNvGraphicFramePr/>
          <p:nvPr/>
        </p:nvGraphicFramePr>
        <p:xfrm>
          <a:off x="622300" y="3943350"/>
          <a:ext cx="9456738" cy="720725"/>
        </p:xfrm>
        <a:graphic>
          <a:graphicData uri="http://schemas.openxmlformats.org/drawingml/2006/table">
            <a:tbl>
              <a:tblPr/>
              <a:tblGrid>
                <a:gridCol w="2373313"/>
                <a:gridCol w="2286000"/>
                <a:gridCol w="2546350"/>
                <a:gridCol w="2251075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2700" b="1" dirty="0">
                          <a:solidFill>
                            <a:srgbClr val="CC3224"/>
                          </a:solidFill>
                          <a:latin typeface="Arial" panose="020B0604020202020204" pitchFamily="34" charset="0"/>
                        </a:rPr>
                        <a:t>205,185</a:t>
                      </a:r>
                      <a:endParaRPr lang="en-US" sz="2700" b="1" dirty="0">
                        <a:solidFill>
                          <a:srgbClr val="CC3224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r" eaLnBrk="1" hangingPunct="1">
                        <a:buNone/>
                      </a:pPr>
                      <a:r>
                        <a:rPr sz="2700" b="1" dirty="0">
                          <a:solidFill>
                            <a:srgbClr val="CC3224"/>
                          </a:solidFill>
                          <a:latin typeface="Arial" panose="020B0604020202020204" pitchFamily="34" charset="0"/>
                        </a:rPr>
                        <a:t>839,763</a:t>
                      </a:r>
                      <a:endParaRPr lang="en-US" sz="2700" b="1" dirty="0">
                        <a:solidFill>
                          <a:srgbClr val="CC3224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482600" lvl="0" indent="0" eaLnBrk="1" hangingPunct="1">
                        <a:buNone/>
                      </a:pPr>
                      <a:r>
                        <a:rPr sz="2700" b="1" dirty="0">
                          <a:solidFill>
                            <a:srgbClr val="CC3224"/>
                          </a:solidFill>
                          <a:latin typeface="Arial" panose="020B0604020202020204" pitchFamily="34" charset="0"/>
                        </a:rPr>
                        <a:t>1,026,312</a:t>
                      </a:r>
                      <a:endParaRPr lang="en-US" sz="2700" b="1" dirty="0">
                        <a:solidFill>
                          <a:srgbClr val="CC3224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39700" lvl="0" indent="0" algn="ctr" eaLnBrk="1" hangingPunct="1">
                        <a:buNone/>
                      </a:pPr>
                      <a:r>
                        <a:rPr sz="2700" b="1" dirty="0">
                          <a:solidFill>
                            <a:srgbClr val="CC3224"/>
                          </a:solidFill>
                          <a:latin typeface="Arial" panose="020B0604020202020204" pitchFamily="34" charset="0"/>
                        </a:rPr>
                        <a:t>59</a:t>
                      </a:r>
                      <a:endParaRPr lang="en-US" sz="2700" b="1" dirty="0">
                        <a:solidFill>
                          <a:srgbClr val="CC3224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3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</a:rPr>
                        <a:t>collisions analysed</a:t>
                      </a:r>
                      <a:endParaRPr lang="en-US" sz="1300" dirty="0">
                        <a:solidFill>
                          <a:srgbClr val="6B728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3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</a:rPr>
                        <a:t>STATS19 rows</a:t>
                      </a:r>
                      <a:endParaRPr lang="en-US" sz="1300" dirty="0">
                        <a:solidFill>
                          <a:srgbClr val="6B728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3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</a:rPr>
                        <a:t>weather rows</a:t>
                      </a:r>
                      <a:endParaRPr lang="en-US" sz="1300" dirty="0">
                        <a:solidFill>
                          <a:srgbClr val="6B728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39700" lvl="0" indent="0" algn="ctr" eaLnBrk="1" hangingPunct="1">
                        <a:buNone/>
                      </a:pPr>
                      <a:r>
                        <a:rPr sz="13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</a:rPr>
                        <a:t>weather grid cells</a:t>
                      </a:r>
                      <a:endParaRPr lang="en-US" sz="1300" dirty="0">
                        <a:solidFill>
                          <a:srgbClr val="6B728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28" name="Rectangle 6"/>
          <p:cNvSpPr/>
          <p:nvPr/>
        </p:nvSpPr>
        <p:spPr>
          <a:xfrm>
            <a:off x="725488" y="4760913"/>
            <a:ext cx="9048750" cy="3905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eaLnBrk="1" hangingPunct="1">
              <a:lnSpc>
                <a:spcPts val="1540"/>
              </a:lnSpc>
              <a:spcBef>
                <a:spcPts val="425"/>
              </a:spcBef>
              <a:buNone/>
            </a:pPr>
            <a:r>
              <a:rPr sz="1300" i="1" dirty="0">
                <a:solidFill>
                  <a:srgbClr val="1B3A64"/>
                </a:solidFill>
                <a:latin typeface="Arial" panose="020B0604020202020204" pitchFamily="34" charset="0"/>
              </a:rPr>
              <a:t>Weather is attached to each collision by joining on grid cell + collision hour. No synthetic data is used; both sources are real open data.</a:t>
            </a:r>
            <a:endParaRPr sz="1300" i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3129" name="Rectangle 7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3130" name="Rectangle 8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3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4100" name="Rectangle 3"/>
          <p:cNvSpPr/>
          <p:nvPr/>
        </p:nvSpPr>
        <p:spPr>
          <a:xfrm>
            <a:off x="628650" y="742950"/>
            <a:ext cx="4019550" cy="2936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3.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Proposed Data Architecture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4101" name="Rectangle 4"/>
          <p:cNvSpPr/>
          <p:nvPr/>
        </p:nvSpPr>
        <p:spPr>
          <a:xfrm>
            <a:off x="630238" y="1268413"/>
            <a:ext cx="9232900" cy="1952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Data moves through layers, each saved as Parquet in its own folder per run so every intermediate state can be inspected.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102" name="Table 4101"/>
          <p:cNvGraphicFramePr/>
          <p:nvPr/>
        </p:nvGraphicFramePr>
        <p:xfrm>
          <a:off x="652145" y="1647825"/>
          <a:ext cx="9425305" cy="980440"/>
        </p:xfrm>
        <a:graphic>
          <a:graphicData uri="http://schemas.openxmlformats.org/drawingml/2006/table">
            <a:tbl>
              <a:tblPr/>
              <a:tblGrid>
                <a:gridCol w="1129030"/>
                <a:gridCol w="261620"/>
                <a:gridCol w="1117600"/>
                <a:gridCol w="262255"/>
                <a:gridCol w="1118870"/>
                <a:gridCol w="262255"/>
                <a:gridCol w="1118870"/>
                <a:gridCol w="262255"/>
                <a:gridCol w="1118870"/>
                <a:gridCol w="262255"/>
                <a:gridCol w="1117600"/>
                <a:gridCol w="263525"/>
                <a:gridCol w="1130300"/>
              </a:tblGrid>
              <a:tr h="30607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2540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Sources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Raw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Staging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Cleaned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Analytics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651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Warehouse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872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14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397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Consumers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3224"/>
                    </a:solidFill>
                  </a:tcPr>
                </a:tc>
              </a:tr>
              <a:tr h="67437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254000" lvl="0" indent="0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DfT CSVs + weather API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Immutable copy, checksums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Harmonise names, cast types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22 rules + reject log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Weather join, features, star schema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PostgreSQL + PostGIS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872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x-none" sz="2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075"/>
                        </a:lnSpc>
                        <a:buNone/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Dashboard • ML table</a:t>
                      </a:r>
                      <a:endParaRPr lang="en-US" sz="9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32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5475" y="2942908"/>
            <a:ext cx="8915400" cy="12652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7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Orchestration and storage format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Apache Airflow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runs every step; the same steps also run from a CLI (traffic-pipeline run).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Parquet per layer: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each layer lives in its own folder per run, so any intermediate state can be inspected.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Rebuilt every run: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warehouse is rebuilt from the cleaned layer, so it always matches exactly one pipeline run.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Consumers: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Streamlit dashboard and the ml accident features table that feeds Part 2.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47" name="Rectangle 7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4148" name="Rectangle 8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b="1" dirty="0">
                <a:solidFill>
                  <a:srgbClr val="6B7280"/>
                </a:solidFill>
                <a:latin typeface="Arial" panose="020B0604020202020204" pitchFamily="34" charset="0"/>
              </a:rPr>
              <a:t>4</a:t>
            </a:r>
            <a:endParaRPr sz="800" b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3"/>
          <p:cNvSpPr/>
          <p:nvPr/>
        </p:nvSpPr>
        <p:spPr>
          <a:xfrm>
            <a:off x="622300" y="742950"/>
            <a:ext cx="3403600" cy="296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4.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Data Ingestion Pipeline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5125" name="Rectangle 4"/>
          <p:cNvSpPr/>
          <p:nvPr/>
        </p:nvSpPr>
        <p:spPr>
          <a:xfrm>
            <a:off x="615950" y="1268413"/>
            <a:ext cx="8015288" cy="1952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Apache Airflow runs ten idempotent tasks, each reading and writing run folders keyed by a shared run_id.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413" y="1530350"/>
          <a:ext cx="9156700" cy="1292225"/>
        </p:xfrm>
        <a:graphic>
          <a:graphicData uri="http://schemas.openxmlformats.org/drawingml/2006/table">
            <a:tbl>
              <a:tblPr/>
              <a:tblGrid>
                <a:gridCol w="448056"/>
                <a:gridCol w="1844040"/>
                <a:gridCol w="441960"/>
                <a:gridCol w="1844040"/>
                <a:gridCol w="441960"/>
                <a:gridCol w="1844040"/>
                <a:gridCol w="445008"/>
                <a:gridCol w="1847088"/>
              </a:tblGrid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Task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Task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Task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Task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extract_stats19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4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stage_weather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7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build_marts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10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publish_run_log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1699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stage_stats19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5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validate_and_clean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8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load_warehouse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/>
                    </a:p>
                  </a:txBody>
                  <a:tcPr marL="0" marR="0" marT="0" marB="0"/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3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extract_weather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6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transform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9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verify_load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8663" y="3060700"/>
            <a:ext cx="9137650" cy="154146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147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Schedule: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02:00 on the 1st of each month; one run at a time, no catch-up.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Retries: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retries per task; the weather task gets 3 retries with 30-minute delays (API quota).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Idempotent: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shared run_id; data passes via run folders, so any task can be re-run alone.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Raw-copy maintenance: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raw files are cached with checksums, so monthly refreshes are cheap.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5420" marR="0" lvl="0" indent="-16510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Logging and error handling: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publish_run_log runs even after a failure (trigger rule ALL_DONE); every download and step is logged. A weather failure degrades enrichment but never stops the warehouse refresh.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74" name="Rectangle 7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5175" name="Rectangle 8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5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2300" y="741363"/>
            <a:ext cx="7969250" cy="24161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80"/>
              </a:spcAft>
              <a:buClrTx/>
              <a:buSzTx/>
              <a:buFontTx/>
              <a:buNone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5.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ETL &amp; Data Quality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1B3A6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22 validation rules guard the warehouse.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Rules act in two ways: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REJECT: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row is removed - e.g. a collision with no latitude/longitude.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NULLIFY: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row is kept and the bad value becomes NULL - e.g. a driver age of 150.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Checks cover: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keys, duplicates, dates, UK bounds, speed limits, orphans, ages and weather ranges.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Quality gate: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run fails if more than 5% of collisions are rejected.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Audit trail: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every hit is logged with record key, rule, field, value and source file.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Result on real data: 46 records rejected out of 1.87 million (collision reject rate 0.006%)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3413" y="3181350"/>
          <a:ext cx="9437688" cy="1290638"/>
        </p:xfrm>
        <a:graphic>
          <a:graphicData uri="http://schemas.openxmlformats.org/drawingml/2006/table">
            <a:tbl>
              <a:tblPr/>
              <a:tblGrid>
                <a:gridCol w="1277112"/>
                <a:gridCol w="950976"/>
                <a:gridCol w="7208520"/>
              </a:tblGrid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Rule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Rows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Reason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DQ007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</a:t>
                      </a:r>
                      <a:endParaRPr lang="en-US" sz="1100" b="1">
                        <a:solidFill>
                          <a:srgbClr val="1B3A64"/>
                        </a:solidFill>
                        <a:latin typeface="Arial" panose="020B0604020202020204"/>
                      </a:endParaRPr>
                    </a:p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12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55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Collision missing coordinates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DQ101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21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Orphan vehicle (no matching collision)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DQ201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13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Orphan casualty (no matching collision)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6171" name="Rectangle 5"/>
          <p:cNvSpPr/>
          <p:nvPr/>
        </p:nvSpPr>
        <p:spPr>
          <a:xfrm>
            <a:off x="625475" y="4687888"/>
            <a:ext cx="8996363" cy="4238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eaLnBrk="1" hangingPunct="1">
              <a:lnSpc>
                <a:spcPts val="1775"/>
              </a:lnSpc>
              <a:spcBef>
                <a:spcPts val="1265"/>
              </a:spcBef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Standardisation: date-time, hour, weekday, month, season and time band are derived; 20+ coded fields are mapped to labels, and unknown codes become “Unknown (code N)”.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6172" name="Rectangle 6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6173" name="Rectangle 7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6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/>
          <p:nvPr/>
        </p:nvSpPr>
        <p:spPr>
          <a:xfrm>
            <a:off x="628650" y="741363"/>
            <a:ext cx="3492500" cy="242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6.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Database / Star Schema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4"/>
          <p:cNvSpPr/>
          <p:nvPr/>
        </p:nvSpPr>
        <p:spPr>
          <a:xfrm>
            <a:off x="630238" y="1265238"/>
            <a:ext cx="8537575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PostgreSQL + PostGIS star schema with three fact tables and six dimensions (16 tables in total including marts).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413" y="1530350"/>
          <a:ext cx="9437688" cy="2871216"/>
        </p:xfrm>
        <a:graphic>
          <a:graphicData uri="http://schemas.openxmlformats.org/drawingml/2006/table">
            <a:tbl>
              <a:tblPr/>
              <a:tblGrid>
                <a:gridCol w="1786128"/>
                <a:gridCol w="2410968"/>
                <a:gridCol w="5239512"/>
              </a:tblGrid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Table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Type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Description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fact_accident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55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 row per collision - the central fact table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fact_vehicle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Vehicles involved in each collision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fact_casualty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Fact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Casualties of each collision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dim_date / dim_time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Dimension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Calendar date and time-of-day bands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1699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dim_location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Dimension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Geography with PostGIS point geometry + spatial index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23088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dim_road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Dimension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Road type, speed limit, junction and road-surface attributes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1699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dim_weather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Dimension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Measured weather conditions joined by grid cell + hour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dim_severity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Dimension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Fatal / Serious / Slight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300" y="4635500"/>
          <a:ext cx="9460992" cy="719328"/>
        </p:xfrm>
        <a:graphic>
          <a:graphicData uri="http://schemas.openxmlformats.org/drawingml/2006/table">
            <a:tbl>
              <a:tblPr/>
              <a:tblGrid>
                <a:gridCol w="3358896"/>
                <a:gridCol w="2895600"/>
                <a:gridCol w="3206496"/>
              </a:tblGrid>
              <a:tr h="457200">
                <a:tc>
                  <a:txBody>
                    <a:bodyPr/>
                    <a:lstStyle/>
                    <a:p>
                      <a:pPr marL="190500"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1,061,721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52400"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51 s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16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262128">
                <a:tc>
                  <a:txBody>
                    <a:bodyPr/>
                    <a:lstStyle/>
                    <a:p>
                      <a:pPr marL="190500"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rows loaded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load time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tables verified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28663" y="5572125"/>
            <a:ext cx="9009063" cy="6921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Accident mart: by hour, day, road, condition, hotspot grid, vehicle and casualty.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5420" marR="0" lvl="0" indent="-165100" algn="l" defTabSz="914400" rtl="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verify_load reconciles row counts of all 16 tables and checks foreign keys; one SQLAlchemy definition generates the DDL and the data dictionary.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231" name="Rectangle 8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7232" name="Rectangle 9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7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3"/>
          <p:cNvSpPr/>
          <p:nvPr/>
        </p:nvSpPr>
        <p:spPr>
          <a:xfrm>
            <a:off x="628650" y="742950"/>
            <a:ext cx="3016250" cy="296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26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7.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Feature Engineering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3413" y="1255713"/>
          <a:ext cx="9437688" cy="2097088"/>
        </p:xfrm>
        <a:graphic>
          <a:graphicData uri="http://schemas.openxmlformats.org/drawingml/2006/table">
            <a:tbl>
              <a:tblPr/>
              <a:tblGrid>
                <a:gridCol w="1911096"/>
                <a:gridCol w="7525512"/>
              </a:tblGrid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Feature group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Derived features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>
                    <a:solidFill>
                      <a:srgbClr val="1B3B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Time features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55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Date-time, hour, weekday, month, season, time band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49987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Weather features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>
                        <a:lnSpc>
                          <a:spcPts val="1415"/>
                        </a:lnSpc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Hourly temperature, rain, snow, wind, cloud, humidity - matched on grid cell + collision hour (many-to-one, so a collision is never duplicated); match rate 100%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Vehicle features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Per collision: cycle, motorcycle, bus, goods vehicle involved; mean and youngest driver age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Casualty features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Pedestrian or child casualty involved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Label mapping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20+ coded fields mapped to readable labels; unknown codes kept as “Unknown (code N)”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9763" y="3600450"/>
          <a:ext cx="9424988" cy="1039368"/>
        </p:xfrm>
        <a:graphic>
          <a:graphicData uri="http://schemas.openxmlformats.org/drawingml/2006/table">
            <a:tbl>
              <a:tblPr/>
              <a:tblGrid>
                <a:gridCol w="4712208"/>
                <a:gridCol w="4712208"/>
              </a:tblGrid>
              <a:tr h="457200"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205,173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44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259080">
                <a:tc>
                  <a:txBody>
                    <a:bodyPr/>
                    <a:lstStyle/>
                    <a:p>
                      <a:pPr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rows in ml_accident_features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columns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3088">
                <a:tc>
                  <a:txBody>
                    <a:bodyPr/>
                    <a:lstStyle/>
                    <a:p>
                      <a:pPr indent="0"/>
                      <a:r>
                        <a:rPr lang="en-US" sz="15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Leakage-free by design</a:t>
                      </a:r>
                      <a:endParaRPr lang="en-US" sz="15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234" name="Rectangle 6"/>
          <p:cNvSpPr/>
          <p:nvPr/>
        </p:nvSpPr>
        <p:spPr>
          <a:xfrm>
            <a:off x="728663" y="4668838"/>
            <a:ext cx="8323262" cy="482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just" eaLnBrk="1" hangingPunct="1">
              <a:spcAft>
                <a:spcPts val="62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Only information known when a collision is reported is kept.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algn="just" eaLnBrk="1" hangingPunct="1"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Casualty severity counts and police attendance are removed - they would leak the answer (target leakage).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8235" name="Rectangle 7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8236" name="Rectangle 8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8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/>
          <p:nvPr/>
        </p:nvSpPr>
        <p:spPr>
          <a:xfrm>
            <a:off x="628650" y="741363"/>
            <a:ext cx="3379788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8.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Dashboard &amp; Analytics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Rectangle 4"/>
          <p:cNvSpPr/>
          <p:nvPr/>
        </p:nvSpPr>
        <p:spPr>
          <a:xfrm>
            <a:off x="630238" y="1265238"/>
            <a:ext cx="5883275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Interactive Streamlit dashboard reading directly from the PostGIS warehouse.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413" y="1517650"/>
          <a:ext cx="9437688" cy="2235200"/>
        </p:xfrm>
        <a:graphic>
          <a:graphicData uri="http://schemas.openxmlformats.org/drawingml/2006/table">
            <a:tbl>
              <a:tblPr/>
              <a:tblGrid>
                <a:gridCol w="2548128"/>
                <a:gridCol w="6888480"/>
              </a:tblGrid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View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What it shows</a:t>
                      </a:r>
                      <a:endParaRPr lang="en-US" sz="11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1B3B64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Severity distribution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-101600">
                        <a:lnSpc>
                          <a:spcPts val="1630"/>
                        </a:lnSpc>
                      </a:pPr>
                      <a:r>
                        <a:rPr lang="en-US" sz="1100" b="1">
                          <a:solidFill>
                            <a:srgbClr val="1B3A64"/>
                          </a:solidFill>
                          <a:latin typeface="Arial" panose="020B0604020202020204"/>
                        </a:rPr>
                        <a:t>— </a:t>
                      </a: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Bar chart and monthly stacked area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Time patterns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Hour x weekday heat map, KSI rate by hour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1394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Weather &amp; road conditions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Pick a factor: volume vs KSI rate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Hotspot map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Adjustable grid, coloured by KSI rate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1699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Vehicles &amp; casualties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Road-user class, vehicle type, age bands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3088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Pipeline &amp; data quality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Run log, ingestion log, rejected records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9248" name="Rectangle 6"/>
          <p:cNvSpPr/>
          <p:nvPr/>
        </p:nvSpPr>
        <p:spPr>
          <a:xfrm>
            <a:off x="619125" y="3981450"/>
            <a:ext cx="9469438" cy="6365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eaLnBrk="1" hangingPunct="1">
              <a:lnSpc>
                <a:spcPts val="1775"/>
              </a:lnSpc>
              <a:spcBef>
                <a:spcPts val="1265"/>
              </a:spcBef>
              <a:buNone/>
            </a:pPr>
            <a:r>
              <a:rPr sz="1300" b="1" dirty="0">
                <a:solidFill>
                  <a:srgbClr val="1B3A64"/>
                </a:solidFill>
                <a:latin typeface="Arial" panose="020B0604020202020204" pitchFamily="34" charset="0"/>
              </a:rPr>
              <a:t>Filters: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Year ■ Nation ■ Urban/rural ■ Police force ■ Severity. </a:t>
            </a:r>
            <a:r>
              <a:rPr sz="1300" b="1" dirty="0">
                <a:solidFill>
                  <a:srgbClr val="1B3A64"/>
                </a:solidFill>
                <a:latin typeface="Arial" panose="020B0604020202020204" pitchFamily="34" charset="0"/>
              </a:rPr>
              <a:t>KPI tiles: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Collisions ■ Fatal ■ Serious ■ KSI rate ■ Casualties ■ Weather match.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algn="just" eaLnBrk="1" hangingPunct="1">
              <a:spcAft>
                <a:spcPts val="3575"/>
              </a:spcAft>
              <a:buNone/>
            </a:pPr>
            <a:r>
              <a:rPr sz="400" dirty="0">
                <a:solidFill>
                  <a:srgbClr val="6B7280"/>
                </a:solidFill>
                <a:latin typeface="Trebuchet MS" panose="020B0603020202020204" pitchFamily="34" charset="0"/>
              </a:rPr>
              <a:t>i-------------------------------------------------------------------------------------------------------------------------------------------------------------------------------------------------1</a:t>
            </a:r>
            <a:endParaRPr sz="400" dirty="0">
              <a:solidFill>
                <a:srgbClr val="6B7280"/>
              </a:solidFill>
              <a:latin typeface="Trebuchet MS" panose="020B0603020202020204" pitchFamily="34" charset="0"/>
            </a:endParaRPr>
          </a:p>
        </p:txBody>
      </p:sp>
      <p:sp>
        <p:nvSpPr>
          <p:cNvPr id="9249" name="Rectangle 7"/>
          <p:cNvSpPr/>
          <p:nvPr/>
        </p:nvSpPr>
        <p:spPr>
          <a:xfrm>
            <a:off x="1298575" y="5175250"/>
            <a:ext cx="8120063" cy="1952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ctr" eaLnBrk="1" hangingPunct="1">
              <a:spcBef>
                <a:spcPts val="3575"/>
              </a:spcBef>
              <a:buNone/>
            </a:pPr>
            <a:endParaRPr sz="1300" i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9250" name="Rectangle 8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9251" name="Rectangle 9"/>
          <p:cNvSpPr/>
          <p:nvPr/>
        </p:nvSpPr>
        <p:spPr>
          <a:xfrm>
            <a:off x="9580563" y="7219950"/>
            <a:ext cx="496887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9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3"/>
          <p:cNvSpPr/>
          <p:nvPr/>
        </p:nvSpPr>
        <p:spPr>
          <a:xfrm>
            <a:off x="628650" y="742950"/>
            <a:ext cx="4114800" cy="2936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9.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Pipeline Execution Evidence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10245" name="Rectangle 4"/>
          <p:cNvSpPr/>
          <p:nvPr/>
        </p:nvSpPr>
        <p:spPr>
          <a:xfrm>
            <a:off x="625475" y="1265238"/>
            <a:ext cx="5434013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spcBef>
                <a:spcPts val="1475"/>
              </a:spcBef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One successful end-to-end run, from ingestion to the dashboard output.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0246" name="Rectangle 5"/>
          <p:cNvSpPr/>
          <p:nvPr/>
        </p:nvSpPr>
        <p:spPr>
          <a:xfrm>
            <a:off x="713105" y="1632585"/>
            <a:ext cx="9337675" cy="160020"/>
          </a:xfrm>
          <a:prstGeom prst="rect">
            <a:avLst/>
          </a:prstGeom>
          <a:solidFill>
            <a:srgbClr val="1B3B64"/>
          </a:solidFill>
          <a:ln w="9525">
            <a:noFill/>
          </a:ln>
        </p:spPr>
        <p:txBody>
          <a:bodyPr wrap="none" lIns="0" tIns="0" rIns="0" bIns="0"/>
          <a:p>
            <a:pPr algn="just" eaLnBrk="1" hangingPunct="1">
              <a:buNone/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</a:rPr>
              <a:t>Stage    Evidence from the run</a:t>
            </a:r>
            <a:endParaRPr sz="11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9130" y="1938655"/>
          <a:ext cx="9418320" cy="2155190"/>
        </p:xfrm>
        <a:graphic>
          <a:graphicData uri="http://schemas.openxmlformats.org/drawingml/2006/table">
            <a:tbl>
              <a:tblPr/>
              <a:tblGrid>
                <a:gridCol w="3308350"/>
                <a:gridCol w="6109970"/>
              </a:tblGrid>
              <a:tr h="306070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Ingestion (STATS19)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839,763 rows from 6 CSV files, checksums stored in the raw layer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372745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Ingestion (weather)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117 cell-year responses, 1,026,312 hourly rows, 0 failures in 430 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81000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Validation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46 records rejected of 1.87 million; collision reject rate 0.006% (gate: 5%)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387350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Weather join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100% of collisions matched to weather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83540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Warehouse load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1,061,721 rows loaded in 51 seconds; verify_load reconciled all 16 tables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24485"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Run log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publish_run_log task writes the run summary to CSV and database tables</a:t>
                      </a:r>
                      <a:endParaRPr lang="en-US" sz="110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10270" name="Rectangle 7"/>
          <p:cNvSpPr/>
          <p:nvPr/>
        </p:nvSpPr>
        <p:spPr>
          <a:xfrm>
            <a:off x="619125" y="3971925"/>
            <a:ext cx="7707313" cy="57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buNone/>
            </a:pPr>
            <a:endParaRPr sz="6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0271" name="Rectangle 8"/>
          <p:cNvSpPr/>
          <p:nvPr/>
        </p:nvSpPr>
        <p:spPr>
          <a:xfrm>
            <a:off x="619125" y="4651375"/>
            <a:ext cx="7707313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buNone/>
            </a:pPr>
            <a:endParaRPr sz="1300" i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0272" name="Rectangle 9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0273" name="Rectangle 10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b="1" dirty="0">
                <a:solidFill>
                  <a:srgbClr val="6B7280"/>
                </a:solidFill>
                <a:latin typeface="Arial" panose="020B0604020202020204" pitchFamily="34" charset="0"/>
              </a:rPr>
              <a:t>10</a:t>
            </a:r>
            <a:endParaRPr sz="800" b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3"/>
          <p:cNvSpPr/>
          <p:nvPr/>
        </p:nvSpPr>
        <p:spPr>
          <a:xfrm>
            <a:off x="636588" y="741363"/>
            <a:ext cx="3916362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just" eaLnBrk="1" hangingPunct="1">
              <a:spcAft>
                <a:spcPts val="1475"/>
              </a:spcAft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10.</a:t>
            </a:r>
            <a:r>
              <a:rPr sz="2200" b="1" dirty="0">
                <a:latin typeface="Arial" panose="020B0604020202020204" pitchFamily="34" charset="0"/>
              </a:rPr>
              <a:t> </a:t>
            </a: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MLOps Extension - Part 2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11269" name="Rectangle 4"/>
          <p:cNvSpPr/>
          <p:nvPr/>
        </p:nvSpPr>
        <p:spPr>
          <a:xfrm>
            <a:off x="630238" y="1268413"/>
            <a:ext cx="7483475" cy="1952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Part 1 prepares everything the Part 2 severity classifier needs. Part 2 itself is submitted separately.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270" name="Table 11269"/>
          <p:cNvGraphicFramePr/>
          <p:nvPr/>
        </p:nvGraphicFramePr>
        <p:xfrm>
          <a:off x="633413" y="1530350"/>
          <a:ext cx="9437688" cy="2279650"/>
        </p:xfrm>
        <a:graphic>
          <a:graphicData uri="http://schemas.openxmlformats.org/drawingml/2006/table">
            <a:tbl>
              <a:tblPr/>
              <a:tblGrid>
                <a:gridCol w="2547938"/>
                <a:gridCol w="6889750"/>
              </a:tblGrid>
              <a:tr h="3143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Item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Status / hand-off from Part 1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B3B64"/>
                    </a:solidFill>
                  </a:tcPr>
                </a:tc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Target and problem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-88900" eaLnBrk="1" hangingPunct="1">
                        <a:lnSpc>
                          <a:spcPts val="1650"/>
                        </a:lnSpc>
                        <a:buNone/>
                      </a:pPr>
                      <a:r>
                        <a:rPr sz="1100" b="1" dirty="0">
                          <a:solidFill>
                            <a:srgbClr val="1B3A64"/>
                          </a:solidFill>
                          <a:latin typeface="Arial" panose="020B0604020202020204" pitchFamily="34" charset="0"/>
                        </a:rPr>
                        <a:t>— </a:t>
                      </a: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Predict collision severity; KSI (fatal or serious) is 24.4% of collisions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Model-ready table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ml_accident_features: 205,173 rows x 44 columns, leakage-free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Core modelling issue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Severe class imbalance - always predicting ‘Slight’ is ~76% accurate yet useless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lnSpc>
                          <a:spcPts val="1440"/>
                        </a:lnSpc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Model candidates, MLflow tracking, model registry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0" eaLnBrk="1" hangingPunct="1"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To be covered in Part 2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101600" lvl="0" indent="0" eaLnBrk="1" hangingPunct="1">
                        <a:lnSpc>
                          <a:spcPts val="1440"/>
                        </a:lnSpc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FastAPI serving, Docker, monitoring, retraining criteria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88900" lvl="0" indent="0" eaLnBrk="1" hangingPunct="1">
                        <a:lnSpc>
                          <a:spcPts val="1440"/>
                        </a:lnSpc>
                        <a:buNone/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</a:rPr>
                        <a:t>To be covered in Part 2; Part 1 already ships Docker Compose (PostGIS + Airflow + dashboard)</a:t>
                      </a:r>
                      <a:endParaRPr lang="en-US" sz="1100" b="1" dirty="0">
                        <a:solidFill>
                          <a:srgbClr val="1F293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Rectangle 6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1294" name="Rectangle 7"/>
          <p:cNvSpPr/>
          <p:nvPr/>
        </p:nvSpPr>
        <p:spPr>
          <a:xfrm>
            <a:off x="9521825" y="7219950"/>
            <a:ext cx="53657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b="1" dirty="0">
                <a:solidFill>
                  <a:srgbClr val="6B7280"/>
                </a:solidFill>
                <a:latin typeface="Arial" panose="020B0604020202020204" pitchFamily="34" charset="0"/>
              </a:rPr>
              <a:t>11</a:t>
            </a:r>
            <a:endParaRPr sz="800" b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1"/>
          <p:cNvSpPr/>
          <p:nvPr/>
        </p:nvSpPr>
        <p:spPr>
          <a:xfrm>
            <a:off x="622300" y="473075"/>
            <a:ext cx="9445625" cy="5667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just" eaLnBrk="1" hangingPunct="1">
              <a:spcAft>
                <a:spcPts val="840"/>
              </a:spcAft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   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11. Results &amp; Key Insights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39763" y="1255713"/>
          <a:ext cx="9424988" cy="857250"/>
        </p:xfrm>
        <a:graphic>
          <a:graphicData uri="http://schemas.openxmlformats.org/drawingml/2006/table">
            <a:tbl>
              <a:tblPr/>
              <a:tblGrid>
                <a:gridCol w="3142488"/>
                <a:gridCol w="3139440"/>
                <a:gridCol w="3142488"/>
              </a:tblGrid>
              <a:tr h="460248"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1 in 4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31.3%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700" b="1">
                          <a:solidFill>
                            <a:srgbClr val="CC3224"/>
                          </a:solidFill>
                          <a:latin typeface="Arial" panose="020B0604020202020204"/>
                        </a:rPr>
                        <a:t>0.006%</a:t>
                      </a:r>
                      <a:endParaRPr lang="en-US" sz="2700" b="1">
                        <a:solidFill>
                          <a:srgbClr val="CC32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259080">
                <a:tc>
                  <a:txBody>
                    <a:bodyPr/>
                    <a:lstStyle/>
                    <a:p>
                      <a:pPr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collisions are KSI (24.4%); fatal only 1.5%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pedestrian KSI rate vs 20.2% for drivers/riders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300">
                          <a:solidFill>
                            <a:srgbClr val="6B7280"/>
                          </a:solidFill>
                          <a:latin typeface="Arial" panose="020B0604020202020204"/>
                        </a:rPr>
                        <a:t>collision reject rate after 22 rules</a:t>
                      </a:r>
                      <a:endParaRPr lang="en-US" sz="1300">
                        <a:solidFill>
                          <a:srgbClr val="6B7280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15950" y="2273300"/>
            <a:ext cx="4632325" cy="149066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Severity is highly imbalanced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model that always predicts ‘Slight’ is ~76% accurate yet useless - imbalance is the core problem for Part 2.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crashes are most frequent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Weekday evening rush 15:00-17:59.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270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Friday busiest (33.6k collisions); Sunday quietest (23.1k).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19725" y="2276475"/>
            <a:ext cx="4297363" cy="15065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Frequent is not the same as severe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Severe: unlit, rural, high-speed roads at night.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Frequent: urban rush hour - different fixes needed.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79400" marR="0" lvl="0" indent="-165100" algn="l" defTabSz="914400" rtl="0" eaLnBrk="1" fontAlgn="auto" latinLnBrk="0" hangingPunct="1">
              <a:lnSpc>
                <a:spcPts val="1730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Rain raises crash count but not severity (people slow down).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Top 5 hotspots (5 km cells) are all in central London.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307" name="Rectangle 5"/>
          <p:cNvSpPr/>
          <p:nvPr/>
        </p:nvSpPr>
        <p:spPr>
          <a:xfrm>
            <a:off x="560388" y="3836988"/>
            <a:ext cx="7434262" cy="3508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1300" dirty="0">
                <a:solidFill>
                  <a:srgbClr val="1B3A64"/>
                </a:solidFill>
                <a:latin typeface="Arial" panose="020B0604020202020204" pitchFamily="34" charset="0"/>
              </a:rPr>
              <a:t>| </a:t>
            </a:r>
            <a:r>
              <a:rPr sz="1300" i="1" dirty="0">
                <a:solidFill>
                  <a:srgbClr val="1B3A64"/>
                </a:solidFill>
                <a:latin typeface="Arial" panose="020B0604020202020204" pitchFamily="34" charset="0"/>
              </a:rPr>
              <a:t>Key finding: dark rural high-speed roads are the deadliest; urban rush hour is the most frequent.</a:t>
            </a:r>
            <a:endParaRPr sz="1300" i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12308" name="Rectangle 6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2309" name="Rectangle 7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12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1"/>
          <p:cNvSpPr/>
          <p:nvPr/>
        </p:nvSpPr>
        <p:spPr>
          <a:xfrm>
            <a:off x="622300" y="473075"/>
            <a:ext cx="9445625" cy="5667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just" eaLnBrk="1" hangingPunct="1">
              <a:spcAft>
                <a:spcPts val="840"/>
              </a:spcAft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   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12. Challenges &amp; Learning Outcomes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/>
          <p:nvPr/>
        </p:nvSpPr>
        <p:spPr>
          <a:xfrm>
            <a:off x="625475" y="1271588"/>
            <a:ext cx="4602163" cy="219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spcAft>
                <a:spcPts val="840"/>
              </a:spcAft>
              <a:buNone/>
            </a:pPr>
            <a:r>
              <a:rPr sz="1500" b="1" dirty="0">
                <a:solidFill>
                  <a:srgbClr val="CC3224"/>
                </a:solidFill>
                <a:latin typeface="Arial" panose="020B0604020202020204" pitchFamily="34" charset="0"/>
              </a:rPr>
              <a:t>Challenge: the weather API kept blocking requests</a:t>
            </a:r>
            <a:endParaRPr sz="1500" b="1" dirty="0">
              <a:solidFill>
                <a:srgbClr val="CC3224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/>
          <p:nvPr/>
        </p:nvSpPr>
        <p:spPr>
          <a:xfrm>
            <a:off x="722313" y="1597025"/>
            <a:ext cx="6732587" cy="179388"/>
          </a:xfrm>
          <a:prstGeom prst="rect">
            <a:avLst/>
          </a:prstGeom>
          <a:solidFill>
            <a:srgbClr val="1B3B64"/>
          </a:solidFill>
          <a:ln w="9525">
            <a:noFill/>
          </a:ln>
        </p:spPr>
        <p:txBody>
          <a:bodyPr wrap="none" lIns="0" tIns="0" rIns="0" bIns="0"/>
          <a:p>
            <a:pPr algn="just" eaLnBrk="1" hangingPunct="1">
              <a:spcBef>
                <a:spcPts val="840"/>
              </a:spcBef>
              <a:buNone/>
            </a:pPr>
            <a:r>
              <a:rPr sz="1100" b="1" dirty="0">
                <a:solidFill>
                  <a:srgbClr val="FFFFFF"/>
                </a:solidFill>
                <a:latin typeface="Arial" panose="020B0604020202020204" pitchFamily="34" charset="0"/>
              </a:rPr>
              <a:t>Problem    What I changed    Result</a:t>
            </a:r>
            <a:endParaRPr sz="11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/>
          <p:cNvSpPr/>
          <p:nvPr/>
        </p:nvSpPr>
        <p:spPr>
          <a:xfrm>
            <a:off x="819150" y="2060575"/>
            <a:ext cx="2765425" cy="1395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marL="177800" indent="-177800" eaLnBrk="1" hangingPunct="1">
              <a:lnSpc>
                <a:spcPts val="1650"/>
              </a:lnSpc>
              <a:spcAft>
                <a:spcPts val="21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First design: fine 0.5° grid = 192 cells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marL="177800" indent="-177800" eaLnBrk="1" hangingPunct="1">
              <a:lnSpc>
                <a:spcPts val="1675"/>
              </a:lnSpc>
              <a:spcAft>
                <a:spcPts val="21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Free tier charges locations x days ^ ~10,000 weighted calls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marL="177800" indent="-177800" eaLnBrk="1" hangingPunct="1">
              <a:lnSpc>
                <a:spcPts val="165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API answered HTTP 429 - Too Many Requests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70325" y="1914525"/>
            <a:ext cx="2911475" cy="168275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marL="177800" indent="-177800" eaLnBrk="1" hangingPunct="1">
              <a:lnSpc>
                <a:spcPts val="1675"/>
              </a:lnSpc>
              <a:spcAft>
                <a:spcPts val="21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Coarser 1° grid = 59 cells ^ ~3,000 calls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marL="177800" indent="-177800" eaLnBrk="1" hangingPunct="1">
              <a:lnSpc>
                <a:spcPts val="1650"/>
              </a:lnSpc>
              <a:spcAft>
                <a:spcPts val="21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Compute each request’s weight; pace under 500 calls/min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marL="177800" indent="-177800" algn="just" eaLnBrk="1" hangingPunct="1">
              <a:spcAft>
                <a:spcPts val="62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Wait &gt; 65 s after any 429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marL="177800" indent="-177800" eaLnBrk="1" hangingPunct="1">
              <a:lnSpc>
                <a:spcPts val="165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If still failing: log FAILED, keep police weather, continue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46913" y="2130425"/>
            <a:ext cx="2457450" cy="122237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117 cell-year responses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1,026,312 hourly rows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 failures in 430 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100% of collisions matched to weather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388" y="3724275"/>
            <a:ext cx="8802688" cy="194786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| 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 principle: a weather failure degrades the enrichment - it never stops the warehouse refresh.</a:t>
            </a:r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1B3A6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Other problems solved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905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Column renames between years handled in the staging layer.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905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quality enforced with 22 rules, a quality gate and a full audit trail.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Learning outcomes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905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Designing idempotent, orchestrated pipelines with Airflow, layered Parquet storage and a PostGIS star schema.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905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Respecting API limits, validating data at scale, and avoiding target leakage when preparing ML data.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21" name="Rectangle 8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9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b="1" dirty="0">
                <a:solidFill>
                  <a:srgbClr val="6B7280"/>
                </a:solidFill>
                <a:latin typeface="Arial" panose="020B0604020202020204" pitchFamily="34" charset="0"/>
              </a:rPr>
              <a:t>13</a:t>
            </a:r>
            <a:endParaRPr sz="800" b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3"/>
          <p:cNvSpPr/>
          <p:nvPr/>
        </p:nvSpPr>
        <p:spPr>
          <a:xfrm>
            <a:off x="636588" y="741363"/>
            <a:ext cx="4133850" cy="295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2200" b="1" dirty="0">
                <a:solidFill>
                  <a:srgbClr val="1B3A64"/>
                </a:solidFill>
                <a:latin typeface="Arial" panose="020B0604020202020204" pitchFamily="34" charset="0"/>
              </a:rPr>
              <a:t>13. Conclusion &amp; Future Scope</a:t>
            </a:r>
            <a:endParaRPr sz="22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950" y="1350963"/>
            <a:ext cx="4549775" cy="37909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was achieved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Built: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automated monthly Airflow pipeline - 2 open sources ^ layered Parquet ^ PostGIS star schema ^ Streamlit dashboard.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Solved: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API rate limits (grid redesign + request pacing), column renames between years, data quality with 22 rules and a full audit trail.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Delivered: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road-safety insights and a leakage-free ML table for Part 2.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C322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Built to be reliable and reproducible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CC322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775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Full audit trail, 5% quality gate, load verification of 16 tables, safe idempotent re-runs.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source of truth: schema in code generates the DDL and data dictionary.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92100" marR="0" lvl="0" indent="-16510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12 pytest tests; Docker Compose; secrets only in environment variables.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9725" y="1350963"/>
            <a:ext cx="4492625" cy="2830513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eaLnBrk="1" hangingPunct="1">
              <a:spcAft>
                <a:spcPts val="425"/>
              </a:spcAft>
              <a:buNone/>
            </a:pPr>
            <a:r>
              <a:rPr sz="1500" b="1" dirty="0">
                <a:solidFill>
                  <a:srgbClr val="CC3224"/>
                </a:solidFill>
                <a:latin typeface="Arial" panose="020B0604020202020204" pitchFamily="34" charset="0"/>
              </a:rPr>
              <a:t>Limitations</a:t>
            </a:r>
            <a:endParaRPr sz="1500" b="1" dirty="0">
              <a:solidFill>
                <a:srgbClr val="CC3224"/>
              </a:solidFill>
              <a:latin typeface="Arial" panose="020B0604020202020204" pitchFamily="34" charset="0"/>
            </a:endParaRPr>
          </a:p>
          <a:p>
            <a:pPr algn="just" eaLnBrk="1" hangingPunct="1">
              <a:spcAft>
                <a:spcPts val="42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1° weather grid = regional, not street-level, weather.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675"/>
              </a:lnSpc>
              <a:spcAft>
                <a:spcPts val="42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Only police-recorded injury collisions; some severity misclassification is known.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650"/>
              </a:lnSpc>
              <a:spcAft>
                <a:spcPts val="425"/>
              </a:spcAft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No traffic-volume data, so rates are shares of collisions, not risk per vehicle-km.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eaLnBrk="1" hangingPunct="1">
              <a:spcAft>
                <a:spcPts val="425"/>
              </a:spcAft>
              <a:buNone/>
            </a:pPr>
            <a:r>
              <a:rPr sz="1500" b="1" dirty="0">
                <a:solidFill>
                  <a:srgbClr val="CC3224"/>
                </a:solidFill>
                <a:latin typeface="Arial" panose="020B0604020202020204" pitchFamily="34" charset="0"/>
              </a:rPr>
              <a:t>Future scope</a:t>
            </a:r>
            <a:endParaRPr sz="1500" b="1" dirty="0">
              <a:solidFill>
                <a:srgbClr val="CC3224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24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OpenStreetMap road context (lighting, lanes).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24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Incremental loads instead of full refresh.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24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Formal data contracts (Great Expectations).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240"/>
              </a:lnSpc>
              <a:buNone/>
            </a:pPr>
            <a:r>
              <a:rPr sz="1300" dirty="0">
                <a:solidFill>
                  <a:srgbClr val="E8872A"/>
                </a:solidFill>
                <a:latin typeface="Arial" panose="020B0604020202020204" pitchFamily="34" charset="0"/>
              </a:rPr>
              <a:t>•    </a:t>
            </a:r>
            <a:r>
              <a:rPr sz="1300" dirty="0">
                <a:solidFill>
                  <a:srgbClr val="1F2937"/>
                </a:solidFill>
                <a:latin typeface="Arial" panose="020B0604020202020204" pitchFamily="34" charset="0"/>
              </a:rPr>
              <a:t>Finer weather grid with a paid API tier.</a:t>
            </a:r>
            <a:endParaRPr sz="1300" dirty="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4343" name="Rectangle 6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4344" name="Rectangle 7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b="1" dirty="0">
                <a:solidFill>
                  <a:srgbClr val="6B7280"/>
                </a:solidFill>
                <a:latin typeface="Arial" panose="020B0604020202020204" pitchFamily="34" charset="0"/>
              </a:rPr>
              <a:t>14</a:t>
            </a:r>
            <a:endParaRPr sz="800" b="1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6588" y="741363"/>
            <a:ext cx="8828088" cy="263048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80"/>
              </a:spcAft>
              <a:buClrTx/>
              <a:buSzTx/>
              <a:buFontTx/>
              <a:buNone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B3A6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14. References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1B3A6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79400" marR="0" lvl="0" indent="-16510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21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Department for Transport, STATS19 road safety data (collision, vehicle and casualty files, 2023 and 2024). Open Government Licence v3.0.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Open-Meteo, Historical Weather API (archive). CC BY 4.0.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Apache Airflow documentation - DAGs, task retries, trigger rules.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PostgreSQL and PostGIS documentation - spatial types and indexes.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Streamlit documentation - interactive dashboards.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Python libraries and tools: pandas, Parquet, SQLAlchemy, pytest, Docker Compose.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0" indent="0" algn="just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E887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•  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Kimball, R. and Ross, M., The Data Warehouse Toolkit - dimensional modelling (star schema).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365" name="Rectangle 4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5366" name="Rectangle 5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15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1"/>
          <p:cNvSpPr/>
          <p:nvPr/>
        </p:nvSpPr>
        <p:spPr>
          <a:xfrm>
            <a:off x="622300" y="473075"/>
            <a:ext cx="2260600" cy="139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8B2A20"/>
                </a:solidFill>
                <a:latin typeface="Arial" panose="020B0604020202020204" pitchFamily="34" charset="0"/>
              </a:rPr>
              <a:t>CMRIT | DATA ENGINEERING AND MLOps</a:t>
            </a:r>
            <a:endParaRPr sz="800" b="1" dirty="0">
              <a:solidFill>
                <a:srgbClr val="8B2A20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/>
          <p:nvPr/>
        </p:nvSpPr>
        <p:spPr>
          <a:xfrm>
            <a:off x="8674100" y="473075"/>
            <a:ext cx="1393825" cy="115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PROJECT PRESENTATION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3"/>
          <p:cNvSpPr/>
          <p:nvPr/>
        </p:nvSpPr>
        <p:spPr>
          <a:xfrm>
            <a:off x="4507865" y="2105025"/>
            <a:ext cx="1441450" cy="3937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algn="ctr" eaLnBrk="1" hangingPunct="1">
              <a:buNone/>
            </a:pPr>
            <a:r>
              <a:rPr sz="4000" b="1" dirty="0">
                <a:solidFill>
                  <a:srgbClr val="1B3A64"/>
                </a:solidFill>
                <a:latin typeface="Arial" panose="020B0604020202020204" pitchFamily="34" charset="0"/>
              </a:rPr>
              <a:t>Thank You</a:t>
            </a:r>
            <a:endParaRPr sz="4000" b="1" dirty="0">
              <a:solidFill>
                <a:srgbClr val="1B3A64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08313" y="2790825"/>
            <a:ext cx="4664075" cy="80168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7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390" name="Rectangle 5"/>
          <p:cNvSpPr/>
          <p:nvPr/>
        </p:nvSpPr>
        <p:spPr>
          <a:xfrm>
            <a:off x="622300" y="7219950"/>
            <a:ext cx="2657475" cy="1349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Student Name: Madhan Matthew S | USN: 1CR23AI052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  <p:sp>
        <p:nvSpPr>
          <p:cNvPr id="16391" name="Rectangle 6"/>
          <p:cNvSpPr/>
          <p:nvPr/>
        </p:nvSpPr>
        <p:spPr>
          <a:xfrm>
            <a:off x="9521825" y="7219950"/>
            <a:ext cx="555625" cy="1143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/>
          <a:p>
            <a:pPr eaLnBrk="1" hangingPunct="1">
              <a:buNone/>
            </a:pPr>
            <a:r>
              <a:rPr sz="800" b="1" dirty="0">
                <a:solidFill>
                  <a:srgbClr val="CC3224"/>
                </a:solidFill>
                <a:latin typeface="Arial" panose="020B0604020202020204" pitchFamily="34" charset="0"/>
              </a:rPr>
              <a:t>CMRIT </a:t>
            </a:r>
            <a:r>
              <a:rPr sz="800" dirty="0">
                <a:solidFill>
                  <a:srgbClr val="6B7280"/>
                </a:solidFill>
                <a:latin typeface="Arial" panose="020B0604020202020204" pitchFamily="34" charset="0"/>
              </a:rPr>
              <a:t>16</a:t>
            </a:r>
            <a:endParaRPr sz="800" dirty="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TABLE_ENDDRAG_ORIGIN_RECT" val="745*140"/>
  <p:tag name="TABLE_ENDDRAG_RECT" val="47*304*745*14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13818</Words>
  <Application>WPS Presentation</Application>
  <PresentationFormat>Custom</PresentationFormat>
  <Paragraphs>660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Arial</vt:lpstr>
      <vt:lpstr>Trebuchet MS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Accident Severity Analytics – Project Presentation (Part 1)</dc:title>
  <dc:creator>Madhan Matthew S</dc:creator>
  <cp:lastModifiedBy>Harish S</cp:lastModifiedBy>
  <cp:revision>3</cp:revision>
  <dcterms:created xsi:type="dcterms:W3CDTF">2026-10-13T14:15:00Z</dcterms:created>
  <dcterms:modified xsi:type="dcterms:W3CDTF">2026-10-14T04:30:01Z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1D788A9ABE59427FAE807148E0062CC5_12</vt:lpwstr>
  </property>
</Properties>
</file>