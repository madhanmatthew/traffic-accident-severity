
<file path=[Content_Types].xml><?xml version="1.0" encoding="utf-8"?>
<Types xmlns="http://schemas.openxmlformats.org/package/2006/content-types">
  <Default Extension="xlsx" ContentType="application/vnd.openxmlformats-officedocument.spreadsheetml.sheet"/>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2" Type="http://schemas.openxmlformats.org/officeDocument/2006/relationships/tableStyles" Target="tableStyles.xml"/><Relationship Id="rId21" Type="http://schemas.openxmlformats.org/officeDocument/2006/relationships/viewProps" Target="viewProps.xml"/><Relationship Id="rId20" Type="http://schemas.openxmlformats.org/officeDocument/2006/relationships/presProps" Target="presProps.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Workbook1.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a:defRPr lang="en-US" sz="1300" b="0" i="0" u="none" strike="noStrike" kern="1200" baseline="0">
                <a:solidFill>
                  <a:srgbClr val="1B3A64"/>
                </a:solidFill>
                <a:latin typeface="Arial" panose="020B0604020202020204"/>
                <a:ea typeface="+mn-ea"/>
                <a:cs typeface="+mn-cs"/>
              </a:defRPr>
            </a:pPr>
            <a:r>
              <a:rPr sz="1300" b="0" i="0" u="none" strike="noStrike">
                <a:solidFill>
                  <a:srgbClr val="1B3A64"/>
                </a:solidFill>
                <a:latin typeface="Arial" panose="020B0604020202020204"/>
              </a:rPr>
              <a:t>Recall per class, test period (%)</a:t>
            </a:r>
            <a:endParaRPr sz="1300" b="0" i="0" u="none" strike="noStrike">
              <a:solidFill>
                <a:srgbClr val="1B3A64"/>
              </a:solidFill>
              <a:latin typeface="Arial" panose="020B0604020202020204"/>
            </a:endParaRPr>
          </a:p>
        </c:rich>
      </c:tx>
      <c:layout/>
      <c:overlay val="0"/>
    </c:title>
    <c:autoTitleDeleted val="0"/>
    <c:plotArea>
      <c:layout/>
      <c:barChart>
        <c:barDir val="col"/>
        <c:grouping val="clustered"/>
        <c:varyColors val="0"/>
        <c:ser>
          <c:idx val="0"/>
          <c:order val="0"/>
          <c:tx>
            <c:strRef>
              <c:f>Sheet1!$B$1</c:f>
              <c:strCache>
                <c:ptCount val="1"/>
                <c:pt idx="0">
                  <c:v>Recall (%)</c:v>
                </c:pt>
              </c:strCache>
            </c:strRef>
          </c:tx>
          <c:spPr>
            <a:solidFill>
              <a:srgbClr val="CC3224"/>
            </a:solidFill>
            <a:effectLst/>
          </c:spPr>
          <c:invertIfNegative val="0"/>
          <c:dPt>
            <c:idx val="0"/>
            <c:invertIfNegative val="0"/>
            <c:bubble3D val="0"/>
            <c:spPr>
              <a:solidFill>
                <a:srgbClr val="CC3224"/>
              </a:solidFill>
              <a:effectLst/>
            </c:spPr>
          </c:dPt>
          <c:dPt>
            <c:idx val="1"/>
            <c:invertIfNegative val="0"/>
            <c:bubble3D val="0"/>
            <c:spPr>
              <a:solidFill>
                <a:srgbClr val="E8872A"/>
              </a:solidFill>
              <a:effectLst/>
            </c:spPr>
          </c:dPt>
          <c:dPt>
            <c:idx val="2"/>
            <c:invertIfNegative val="0"/>
            <c:bubble3D val="0"/>
            <c:spPr>
              <a:solidFill>
                <a:srgbClr val="1B3A64"/>
              </a:solidFill>
              <a:effectLst/>
            </c:spPr>
          </c:dPt>
          <c:dLbls>
            <c:numFmt formatCode="0.0&quot;%&quot;" sourceLinked="0"/>
            <c:spPr>
              <a:noFill/>
              <a:ln>
                <a:noFill/>
              </a:ln>
              <a:effectLst/>
            </c:spPr>
            <c:txPr>
              <a:bodyPr rot="0" spcFirstLastPara="0" vertOverflow="ellipsis" vert="horz" wrap="square" lIns="38100" tIns="19050" rIns="38100" bIns="19050" anchor="ctr" anchorCtr="1"/>
              <a:lstStyle/>
              <a:p>
                <a:pPr>
                  <a:defRPr lang="en-US" sz="1200" b="0" i="0" u="none" strike="noStrike" kern="1200" baseline="0">
                    <a:solidFill>
                      <a:srgbClr val="1F2937"/>
                    </a:solidFill>
                    <a:latin typeface="Arial" panose="020B0604020202020204"/>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Sheet1!$A$2:$A$4</c:f>
              <c:strCache>
                <c:ptCount val="3"/>
                <c:pt idx="0">
                  <c:v>Fatal</c:v>
                </c:pt>
                <c:pt idx="1">
                  <c:v>Serious</c:v>
                </c:pt>
                <c:pt idx="2">
                  <c:v>Slight</c:v>
                </c:pt>
              </c:strCache>
            </c:strRef>
          </c:cat>
          <c:val>
            <c:numRef>
              <c:f>Sheet1!$B$2:$B$4</c:f>
              <c:numCache>
                <c:formatCode>General</c:formatCode>
                <c:ptCount val="3"/>
                <c:pt idx="0">
                  <c:v>29.8</c:v>
                </c:pt>
                <c:pt idx="1">
                  <c:v>55.5</c:v>
                </c:pt>
                <c:pt idx="2">
                  <c:v>64.7</c:v>
                </c:pt>
              </c:numCache>
            </c:numRef>
          </c:val>
        </c:ser>
        <c:dLbls>
          <c:showLegendKey val="0"/>
          <c:showVal val="1"/>
          <c:showCatName val="0"/>
          <c:showSerName val="0"/>
          <c:showPercent val="0"/>
          <c:showBubbleSize val="0"/>
        </c:dLbls>
        <c:gapWidth val="60"/>
        <c:overlap val="0"/>
        <c:axId val="2094734554"/>
        <c:axId val="2094734552"/>
      </c:barChart>
      <c:catAx>
        <c:axId val="2094734554"/>
        <c:scaling>
          <c:orientation val="minMax"/>
        </c:scaling>
        <c:delete val="0"/>
        <c:axPos val="b"/>
        <c:numFmt formatCode="General" sourceLinked="1"/>
        <c:majorTickMark val="out"/>
        <c:minorTickMark val="none"/>
        <c:tickLblPos val="low"/>
        <c:spPr>
          <a:ln w="12700" cap="flat" cmpd="sng" algn="ctr">
            <a:solidFill>
              <a:srgbClr val="888888"/>
            </a:solidFill>
            <a:prstDash val="solid"/>
            <a:round/>
          </a:ln>
        </c:spPr>
        <c:txPr>
          <a:bodyPr rot="-60000000" spcFirstLastPara="0" vertOverflow="ellipsis" vert="horz" wrap="square" anchor="ctr" anchorCtr="1"/>
          <a:lstStyle/>
          <a:p>
            <a:pPr>
              <a:defRPr lang="en-US" sz="1200" b="0" i="0" u="none" strike="noStrike" kern="1200" baseline="0">
                <a:solidFill>
                  <a:srgbClr val="1F2937"/>
                </a:solidFill>
                <a:latin typeface="Arial" panose="020B0604020202020204"/>
                <a:ea typeface="+mn-ea"/>
                <a:cs typeface="+mn-cs"/>
              </a:defRPr>
            </a:pPr>
          </a:p>
        </c:txPr>
        <c:crossAx val="2094734552"/>
        <c:crosses val="autoZero"/>
        <c:auto val="1"/>
        <c:lblAlgn val="ctr"/>
        <c:lblOffset val="100"/>
        <c:noMultiLvlLbl val="1"/>
      </c:catAx>
      <c:valAx>
        <c:axId val="2094734552"/>
        <c:scaling>
          <c:orientation val="minMax"/>
          <c:max val="100"/>
          <c:min val="0"/>
        </c:scaling>
        <c:delete val="1"/>
        <c:axPos val="l"/>
        <c:numFmt formatCode="General" sourceLinked="0"/>
        <c:majorTickMark val="out"/>
        <c:minorTickMark val="none"/>
        <c:tickLblPos val="nextTo"/>
        <c:txPr>
          <a:bodyPr rot="-60000000" spcFirstLastPara="0" vertOverflow="ellipsis" vert="horz" wrap="square" anchor="ctr" anchorCtr="1"/>
          <a:lstStyle/>
          <a:p>
            <a:pPr>
              <a:defRPr lang="en-US" sz="1200" b="0" i="0" u="none" strike="noStrike" kern="1200" baseline="0">
                <a:solidFill>
                  <a:srgbClr val="000000"/>
                </a:solidFill>
                <a:latin typeface="Arial" panose="020B0604020202020204"/>
                <a:ea typeface="+mn-ea"/>
                <a:cs typeface="+mn-cs"/>
              </a:defRPr>
            </a:pPr>
          </a:p>
        </c:txPr>
        <c:crossAx val="2094734554"/>
        <c:crosses val="autoZero"/>
        <c:crossBetween val="between"/>
      </c:valAx>
      <c:spPr>
        <a:noFill/>
        <a:ln>
          <a:noFill/>
        </a:ln>
        <a:effectLst/>
      </c:spPr>
    </c:plotArea>
    <c:plotVisOnly val="1"/>
    <c:dispBlanksAs val="span"/>
    <c:showDLblsOverMax val="0"/>
    <c:extLst>
      <c:ext uri="{0b15fc19-7d7d-44ad-8c2d-2c3a37ce22c3}">
        <chartProps xmlns="https://web.wps.cn/et/2018/main" chartId="{f6971946-91fa-4ca4-adec-aa37dc144f8d}"/>
      </c:ext>
    </c:extLst>
  </c:chart>
  <c:spPr>
    <a:noFill/>
    <a:ln>
      <a:noFill/>
    </a:ln>
    <a:effectLst/>
  </c:spPr>
  <c:txPr>
    <a:bodyPr/>
    <a:lstStyle/>
    <a:p>
      <a:pPr>
        <a:defRPr lang="en-US"/>
      </a:pPr>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I am Madhan Matthew S, USN 1CR23AI052, from 7A AIML. In Part 2, I take the clean table from Part 1 and build a complete MLOps system around a machine-learning model.
MLOps means applying engineering discipline to machine learning. It's not only about training a model once in a notebook. It means tracking every experiment, versioning models, deploying the model as a real service, monitoring it in production, and having clear rules for when to retrain it.
The model predicts whether a collision is Fatal, Serious or Slight, using only information available when the collision is reported.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goal is simple to state. When a collision is reported, can we predict how severe it will turn out to be?
The input is the ml_accident_features table from Part 1: 205,173 collisions. The model uses 35 features, including time, location, road type, speed limit, light conditions, measured weather, and which vehicles were involved.
The output is a probability for each of the three classes: Fatal, Serious and Slight.
Why is this useful? A system like this could flag the collisions that are likely to be serious or fatal, so emergency and road-safety resources can be prioritised.
I want to stress one thing. Every feature is something known at the time of reporting. The model never sees anything that is only known after the outcome.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important design decision was how to split the data into training and test sets.
Most tutorials use a random split. But for time-based data, that's a mistake. With a random split, the model trains on collisions from December 2024 and is then tested on collisions from January 2023. It learns future seasonal patterns that it could never know in real life, and the test score becomes too optimistic.
So I split by time. I train on January 2023 to June 2024, which is 18 months. I use July to September 2024 for validation, and October to December 2024 as the final test.
This copies how the model is really used: it learns from the past and predicts the future. All the results I'm about to show are on the test period, which the model never saw during training.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system on one slide. It's a loop, not a straight line.
Top row, from left to right. The features come from Part 1. The training script builds the model pipeline. Every training run is logged to MLflow. Then the model is registered in the MLflow Model Registry, and the best model gets the "champion" label.
Then down to the bottom row. The champion model is served by a FastAPI web service running in a Docker container. A Streamlit app lets users enter a collision and get a prediction. Every prediction is written to a log.
The monitoring script reads new data and the prediction log, checks for drift and performance drops, and decides whether to retrain. If yes, we go back to training, and the loop closes.
An Airflow DAG runs this monitor-and-retrain cycle every Monday.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how the model itself is built. It's a single scikit-learn Pipeline object with three stages.
Stage one is my own custom transformer, the AccidentFeatureEngineer. It creates new features. Cyclical time: hour 23 and hour 0 are next to each other, so I encode the hour and month with sine and cosine. It also creates flags like "is it dark", "is the road wet", "is it a high-speed road", and "is a vulnerable road user involved", meaning a pedestrian, cyclist or motorcyclist.
Stage two is a ColumnTransformer. It fills missing numbers with the median and one-hot encodes the categories. Rare categories are grouped into an "infrequent" bucket, so an unseen category in production doesn't crash the model.
Stage three is the LightGBM classifier. LightGBM is a gradient-boosted decision tree library. It's fast on 200,000 rows and handles mixed data well.
Why put everything in one pipeline? Because the exact same code runs in training and in serving. There's no risk of the API preparing the data differently from training, which is a common bug called training-serving skew.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biggest difficulty is class imbalance, which I showed at the end of Part 1.
75.6 percent of collisions are slight and only 1.5 percent are fatal.
Here's why that matters. Imagine a lazy model that always answers "Slight". It would be 75.6 percent accurate, which sounds good, but it would miss every single fatal and serious collision. Those are exactly the ones we care about.
So accuracy is the wrong metric for this problem. Instead, I focus on two metrics.
Macro-F1: the F1 score is calculated for each class separately and then averaged, so the rare Fatal class counts as much as the common Slight class.
KSI recall: out of all the collisions that really were fatal or serious, what percentage did the model catch? Missing a severe collision, a false negative, is the costly mistake in road safety.
So how did I handle the imbalance? I used balanced class weights.
The idea is simple. During training, each collision gets a weight that is inversely proportional to how common its class is. Slight collisions are very common, so each one gets a small weight, about 0.44. Serious ones get about 1.5. Fatal collisions are rare, so each one gets a weight of about 22.
In other words, getting one fatal collision wrong hurts the model about 50 times more than getting one slight collision wrong. This forces the model to pay attention to the rare, severe cases.
The trade-off is that the model will now predict "Serious" or "Fatal" more often, including some false alarms. Overall accuracy goes down, but recall on the severe classes goes up. For road safety, that's the right trade: a false alarm costs a little, but a missed fatal collision costs a lot.
I chose weighting over oversampling methods like SMOTE because weighting doesn't create any synthetic collisions. The model trains only on real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results on the test period, October to December 2024, which the model never saw.
The most important number is KSI recall: 64.6 percent. Out of all the collisions that really were fatal or serious, the model flagged about two out of three as severe.
Macro-F1 is 0.431. That sounds low, but for a three-class problem with a 1.5 percent class and no information about speed at impact, it's reasonable. A model that always says "Slight" would get a macro-F1 of only about 0.29.
Per class, the chart shows recall: Fatal 29.8 percent, Serious 55.5 percent and Slight 64.7 percent.
Accuracy is 62.1 percent, which is lower than the 75.6 percent of the lazy "always Slight" model. That's intentional: it's the price of catching severe collisions, as I explained on the previous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confusion matrix for the test period. The rows are what really happened, and the columns are what the model predicted. The highlighted diagonal shows the correct predictions.
Look at the Fatal row. There were 389 fatal collisions. The model predicted 116 as fatal and another 208 as serious. So 324 of the 389 fatal collisions, 83 percent, were flagged as severe in some way. Only 65 were predicted as slight. That's an encouraging result.
For Serious, 3,248 out of 5,851 were caught.
The main weakness is the bottom row. 6,325 slight collisions were predicted as serious. Those are false alarms. That's the cost of the class weighting, and it's also why Fatal precision is low, at about 9 percent. In future work I would tune the decision thresholds to balance this more carefully.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MLflow is the tool I used to track experiments and manage model versions.
Every training run logs four things. The parameters: split dates, LightGBM settings and the weighting. The metrics: macro-F1, per-class recall, precision and F1, and the KSI false-negative rate. The artefacts: confusion matrices, classification reports and the training data profile. And the model itself, with its input signature.
Then comes the registry and the champion-challenger gate. Every run registers a new version of "traffic-severity-classifier". But the "champion" alias, the version that production uses, only moves if the new model beats the current champion's macro-F1 by at least 0.005 on the same test window. Otherwise the old champion stays. So a worse model can never replace a better one by accident.
Rollback is easy: you just move the alias back to the old version. Versions are never deleted, so every prediction can be traced back to the model version that made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deploy the model, I built a REST API with FastAPI.
There are five endpoints. POST /predict for a single collision. POST /predict/batch for many at once. GET /health to check the service is alive. GET /model-info, which shows which model version is running and its metrics. And GET /metrics, which reports latency and error rate.
Inputs are validated with pydantic. If someone sends an invalid payload, for example a text value where a number is expected, the API returns a 422 error and counts it as a failure. Every request is logged with its model version, which feeds the monitoring.
Everything is containerised. The Dockerfile bakes the champion model into the image, and docker-compose starts three services: the API on port 8000, the MLflow server on 5000, and the Streamlit UI on 8502. The Streamlit app has a prediction form that calls the API, a model card, and a monitoring view.
[If possible, demo here: open localhost:8000/docs and run a prediction, or use the Streamlit 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Once a model is deployed, the world keeps changing. Road layouts change, weather changes with the seasons, and policing practices change. So the model's performance can quietly get worse over time. This is called drift. My monitoring script watches six signals.
One, input data quality: are more values suddenly missing, or are there unseen categories?
Two, feature drift, measured with PSI, the Population Stability Index. PSI compares the distribution of a feature in new data with its distribution in the training data. Below 0.1 means stable, 0.1 to 0.2 is a moderate shift, and above 0.2 is a significant shift.
Three, class drift: is the mix of predicted classes, or of actual classes, changing?
Four, location drift: are collisions coming from different police forces than before? I also measure how far the geographic centre of the collisions has moved, in kilometres.
Five, performance: macro-F1 and the KSI false-negative rate, whenever labels are available.
Six, latency and failures from the API.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two real monitoring runs that show the system working.
On the left is the normal case. I ran the monitor on the labelled batch from October to December 2024: 26,342 collisions. The decision was no retraining needed. Macro-F1 was stable at 0.431, and the predicted class mix matched the reference almost exactly. There were two warnings: some temperature drift, which is expected because it's winter data, and a small missing-value increase in one column. Warnings are reported, but they don't trigger retraining.
On the right, I deliberately simulated drift. I built a batch shifted towards rural, night-time, wet-road collisions, to check that the alarms actually fire. They did. Seven key features drifted with a PSI above 0.2, the police-force location PSI was 0.817, and the centre of the collisions moved by 43.7 kilometres. The predicted fatal share jumped from 4.7 percent to 13.2 percent. Decision: RETRAIN.
So the monitor stays quiet when nothing has changed, and it raises the alarm when the data really shifts. That's exactly what you want.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retraining decision isn't a feeling. It's an explicit policy written in code, in the RetrainingPolicy class.
Retraining is triggered if any one of six conditions holds. More than three key features have PSI above 0.2. The class distribution PSI is above 0.1. The location PSI is above 0.2. Macro-F1 has dropped by more than 0.05. The KSI false-negative rate has risen by more than 0.05. Or the champion is older than 180 days, which is a scheduled refresh.
On the right are three conditions that only raise warnings: a big jump in missing values, an API error rate above 2 percent, or p95 latency above 300 milliseconds. Why don't these trigger retraining? Because they point to a broken upstream feed or an infrastructure fault. If you retrain on broken data, you just make the model worse. The right fix is to repair the pipeline first.
All of this runs automatically. An Airflow DAG runs every Monday: monitor, then branch, then either retrain or skip. Retraining goes through the same champion-challenger gate, so the lifecycle is fully closed.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 honest limitations.
Weather is at the one-degree grid, so it describes regional rather than street-level conditions.
Severity depends heavily on things that simply aren't recorded at report time, like the speed at impact or whether seatbelts were worn. That puts a ceiling on how well any model can perform with this data.
The probabilities aren't calibrated, so a predicted 30 percent doesn't necessarily mean a 30 percent chance. And Fatal precision is low, around 9 percent, so there are many false alarms.
For future work: calibrate the probabilities, tune the decision thresholds to hit a target KSI recall, add richer road context from OpenStreetMap, compare LightGBM against other models like XGBoost in a tracked experiment, and use canary deployments, sending a small share of traffic to a new model first.
To summarise Part 2.
I built a severity classifier: a single LightGBM pipeline with class weighting and a chronological split. On unseen data it catches about 65 percent of severe collisions, and 83 percent of fatal ones are flagged as severe.
I made it operational: every run is tracked in MLflow, models are versioned with a champion-challenger gate, and the champion is served by FastAPI in Docker with a Streamlit front end.
And I kept it healthy: monitoring for data quality, drift, location shift, recall and latency, plus an explicit retraining policy that runs weekly in Airflow.
Together with Part 1, the whole project goes from raw public data all the way to a monitored, self-maintaining prediction service.
Thank you. I'm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7F8FA"/>
        </a:solidFill>
        <a:effectLst/>
      </p:bgPr>
    </p:bg>
    <p:spTree>
      <p:nvGrpSpPr>
        <p:cNvPr id="1" name=""/>
        <p:cNvGrpSpPr/>
        <p:nvPr/>
      </p:nvGrpSpPr>
      <p:grpSpPr>
        <a:xfrm>
          <a:off x="0" y="0"/>
          <a:ext cx="0" cy="0"/>
          <a:chOff x="0" y="0"/>
          <a:chExt cx="0" cy="0"/>
        </a:xfrm>
      </p:grpSpPr>
      <p:sp>
        <p:nvSpPr>
          <p:cNvPr id="2" name="Shape 0"/>
          <p:cNvSpPr/>
          <p:nvPr/>
        </p:nvSpPr>
        <p:spPr>
          <a:xfrm>
            <a:off x="0" y="0"/>
            <a:ext cx="12188952" cy="128016"/>
          </a:xfrm>
          <a:prstGeom prst="rect">
            <a:avLst/>
          </a:prstGeom>
          <a:solidFill>
            <a:srgbClr val="CC3224"/>
          </a:solidFill>
        </p:spPr>
      </p:sp>
      <p:sp>
        <p:nvSpPr>
          <p:cNvPr id="3" name="Text 1"/>
          <p:cNvSpPr/>
          <p:nvPr/>
        </p:nvSpPr>
        <p:spPr>
          <a:xfrm>
            <a:off x="594360" y="246888"/>
            <a:ext cx="6400800" cy="274320"/>
          </a:xfrm>
          <a:prstGeom prst="rect">
            <a:avLst/>
          </a:prstGeom>
          <a:noFill/>
        </p:spPr>
        <p:txBody>
          <a:bodyPr wrap="square" lIns="0" tIns="0" rIns="0" bIns="0" rtlCol="0" anchor="ctr"/>
          <a:lstStyle/>
          <a:p>
            <a:pPr marL="0" indent="0">
              <a:buNone/>
            </a:pPr>
            <a:r>
              <a:rPr lang="en-US" sz="1100" b="1" dirty="0">
                <a:solidFill>
                  <a:srgbClr val="8B2A20"/>
                </a:solidFill>
                <a:latin typeface="Arial" panose="020B0604020202020204" pitchFamily="34" charset="0"/>
                <a:ea typeface="Arial" panose="020B0604020202020204" pitchFamily="34" charset="-122"/>
                <a:cs typeface="Arial" panose="020B0604020202020204" pitchFamily="34" charset="-120"/>
              </a:rPr>
              <a:t>CMRIT  |  DATA ENGINEERING AND MLOps</a:t>
            </a:r>
            <a:endParaRPr lang="en-US" sz="1100" dirty="0"/>
          </a:p>
        </p:txBody>
      </p:sp>
      <p:sp>
        <p:nvSpPr>
          <p:cNvPr id="4" name="Text 2"/>
          <p:cNvSpPr/>
          <p:nvPr/>
        </p:nvSpPr>
        <p:spPr>
          <a:xfrm>
            <a:off x="8686800" y="246888"/>
            <a:ext cx="2926080" cy="274320"/>
          </a:xfrm>
          <a:prstGeom prst="rect">
            <a:avLst/>
          </a:prstGeom>
          <a:noFill/>
        </p:spPr>
        <p:txBody>
          <a:bodyPr wrap="square" lIns="0" tIns="0" rIns="0" bIns="0" rtlCol="0" anchor="ctr"/>
          <a:lstStyle/>
          <a:p>
            <a:pPr marL="0" indent="0" algn="r">
              <a:buNone/>
            </a:pPr>
            <a:r>
              <a:rPr lang="en-US" sz="1100" dirty="0">
                <a:solidFill>
                  <a:srgbClr val="6B7280"/>
                </a:solidFill>
                <a:latin typeface="Arial" panose="020B0604020202020204" pitchFamily="34" charset="0"/>
                <a:ea typeface="Arial" panose="020B0604020202020204" pitchFamily="34" charset="-122"/>
                <a:cs typeface="Arial" panose="020B0604020202020204" pitchFamily="34" charset="-120"/>
              </a:rPr>
              <a:t>PROJECT PRESENTATION</a:t>
            </a:r>
            <a:endParaRPr lang="en-US" sz="1100" dirty="0"/>
          </a:p>
        </p:txBody>
      </p:sp>
      <p:sp>
        <p:nvSpPr>
          <p:cNvPr id="5" name="Shape 3"/>
          <p:cNvSpPr/>
          <p:nvPr/>
        </p:nvSpPr>
        <p:spPr>
          <a:xfrm>
            <a:off x="594360" y="1188720"/>
            <a:ext cx="1280160" cy="54864"/>
          </a:xfrm>
          <a:prstGeom prst="rect">
            <a:avLst/>
          </a:prstGeom>
          <a:solidFill>
            <a:srgbClr val="E8872A"/>
          </a:solidFill>
        </p:spPr>
      </p:sp>
      <p:sp>
        <p:nvSpPr>
          <p:cNvPr id="6" name="Shape 4"/>
          <p:cNvSpPr/>
          <p:nvPr/>
        </p:nvSpPr>
        <p:spPr>
          <a:xfrm>
            <a:off x="594360" y="6419088"/>
            <a:ext cx="11018520" cy="0"/>
          </a:xfrm>
          <a:prstGeom prst="line">
            <a:avLst/>
          </a:prstGeom>
          <a:noFill/>
          <a:ln w="12700">
            <a:solidFill>
              <a:srgbClr val="D1D5DB"/>
            </a:solidFill>
            <a:prstDash val="solid"/>
          </a:ln>
        </p:spPr>
      </p:sp>
      <p:sp>
        <p:nvSpPr>
          <p:cNvPr id="7" name="Text 5"/>
          <p:cNvSpPr/>
          <p:nvPr/>
        </p:nvSpPr>
        <p:spPr>
          <a:xfrm>
            <a:off x="594360" y="6492240"/>
            <a:ext cx="5486400" cy="256032"/>
          </a:xfrm>
          <a:prstGeom prst="rect">
            <a:avLst/>
          </a:prstGeom>
          <a:noFill/>
        </p:spPr>
        <p:txBody>
          <a:bodyPr wrap="square" lIns="0" tIns="0" rIns="0" bIns="0" rtlCol="0" anchor="ctr"/>
          <a:lstStyle/>
          <a:p>
            <a:pPr marL="0" indent="0">
              <a:buNone/>
            </a:pPr>
            <a:r>
              <a:rPr lang="en-US" sz="1000" dirty="0">
                <a:solidFill>
                  <a:srgbClr val="6B7280"/>
                </a:solidFill>
                <a:latin typeface="Arial" panose="020B0604020202020204" pitchFamily="34" charset="0"/>
                <a:ea typeface="Arial" panose="020B0604020202020204" pitchFamily="34" charset="-122"/>
                <a:cs typeface="Arial" panose="020B0604020202020204" pitchFamily="34" charset="-120"/>
              </a:rPr>
              <a:t>Student Name: Madhan Matthew S   |   USN: 1CR23AI052</a:t>
            </a:r>
            <a:endParaRPr lang="en-US" sz="1000" dirty="0"/>
          </a:p>
        </p:txBody>
      </p:sp>
      <p:sp>
        <p:nvSpPr>
          <p:cNvPr id="8" name="Text 6"/>
          <p:cNvSpPr/>
          <p:nvPr/>
        </p:nvSpPr>
        <p:spPr>
          <a:xfrm>
            <a:off x="10515600" y="6492240"/>
            <a:ext cx="731520" cy="256032"/>
          </a:xfrm>
          <a:prstGeom prst="rect">
            <a:avLst/>
          </a:prstGeom>
          <a:noFill/>
        </p:spPr>
        <p:txBody>
          <a:bodyPr wrap="square" lIns="0" tIns="0" rIns="0" bIns="0" rtlCol="0" anchor="ctr"/>
          <a:lstStyle/>
          <a:p>
            <a:pPr marL="0" indent="0" algn="r">
              <a:buNone/>
            </a:pPr>
            <a:r>
              <a:rPr lang="en-US" sz="1000" b="1" dirty="0">
                <a:solidFill>
                  <a:srgbClr val="CC3224"/>
                </a:solidFill>
                <a:latin typeface="Arial" panose="020B0604020202020204" pitchFamily="34" charset="0"/>
                <a:ea typeface="Arial" panose="020B0604020202020204" pitchFamily="34" charset="-122"/>
                <a:cs typeface="Arial" panose="020B0604020202020204" pitchFamily="34" charset="-120"/>
              </a:rPr>
              <a:t>CMRIT</a:t>
            </a:r>
            <a:endParaRPr lang="en-US" sz="1000" dirty="0"/>
          </a:p>
        </p:txBody>
      </p:sp>
      <p:sp>
        <p:nvSpPr>
          <p:cNvPr id="9" name="Text 7"/>
          <p:cNvSpPr/>
          <p:nvPr>
            <p:ph type="title" idx="107" hasCustomPrompt="1"/>
          </p:nvPr>
        </p:nvSpPr>
        <p:spPr>
          <a:xfrm>
            <a:off x="594360" y="566928"/>
            <a:ext cx="10515600" cy="594360"/>
          </a:xfrm>
          <a:prstGeom prst="rect">
            <a:avLst/>
          </a:prstGeom>
          <a:noFill/>
        </p:spPr>
        <p:txBody>
          <a:bodyPr wrap="square" rtlCol="0"/>
          <a:lstStyle>
            <a:lvl1pPr marL="0" indent="0" algn="l">
              <a:buNone/>
              <a:defRPr lang="en-US" sz="3000" b="1" dirty="0">
                <a:solidFill>
                  <a:srgbClr val="1B3A64"/>
                </a:solidFill>
                <a:latin typeface="Arial" panose="020B0604020202020204" pitchFamily="34" charset="0"/>
                <a:ea typeface="Arial" panose="020B0604020202020204" pitchFamily="34" charset="-122"/>
                <a:cs typeface="Arial" panose="020B0604020202020204" pitchFamily="34" charset="-120"/>
              </a:defRPr>
            </a:lvl1pPr>
          </a:lstStyle>
          <a:p>
            <a:pPr marL="0" indent="0" algn="l">
              <a:buNone/>
            </a:pPr>
            <a:endParaRPr lang="en-US" sz="3000" dirty="0"/>
          </a:p>
        </p:txBody>
      </p:sp>
      <p:sp>
        <p:nvSpPr>
          <p:cNvPr id="25" name="Slide Number Placeholder 0"/>
          <p:cNvSpPr>
            <a:spLocks noGrp="1"/>
          </p:cNvSpPr>
          <p:nvPr>
            <p:ph type="sldNum" sz="quarter" idx="4294967295"/>
          </p:nvPr>
        </p:nvSpPr>
        <p:spPr>
          <a:xfrm>
            <a:off x="11320272" y="6492240"/>
            <a:ext cx="320040" cy="256032"/>
          </a:xfrm>
          <a:prstGeom prst="rect">
            <a:avLst/>
          </a:prstGeom>
        </p:spPr>
        <p:txBody>
          <a:bodyPr/>
          <a:lstStyle>
            <a:lvl1pPr>
              <a:defRPr sz="1000">
                <a:solidFill>
                  <a:srgbClr val="6B7280"/>
                </a:solidFill>
                <a:latin typeface="Arial" panose="020B0604020202020204"/>
                <a:ea typeface="Arial" panose="020B0604020202020204"/>
                <a:cs typeface="Arial" panose="020B0604020202020204"/>
              </a:defRPr>
            </a:lvl1pPr>
          </a:lstStyle>
          <a:p>
            <a:pPr algn="r"/>
            <a:fld id="{F7021451-1387-4CA6-816F-3879F97B5CBC}" type="slidenum">
              <a:rPr lang="en-US" b="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CC3224"/>
          </a:solidFill>
        </p:spPr>
      </p:sp>
      <p:sp>
        <p:nvSpPr>
          <p:cNvPr id="3" name="Shape 1"/>
          <p:cNvSpPr/>
          <p:nvPr/>
        </p:nvSpPr>
        <p:spPr>
          <a:xfrm>
            <a:off x="256032" y="0"/>
            <a:ext cx="109728" cy="6858000"/>
          </a:xfrm>
          <a:prstGeom prst="rect">
            <a:avLst/>
          </a:prstGeom>
          <a:solidFill>
            <a:srgbClr val="E8872A"/>
          </a:solidFill>
        </p:spPr>
      </p:sp>
    </p:spTree>
  </p:cSld>
  <p:clrMapOvr>
    <a:masterClrMapping/>
  </p:clrMapOvr>
</p:sldLayout>
</file>

<file path=ppt/slideMasters/_rels/slideMaster1.xml.rels><?xml version="1.0" encoding="UTF-8" standalone="yes"?>
<Relationships xmlns="http://schemas.openxmlformats.org/package/2006/relationships"><Relationship Id="rId4" Type="http://schemas.openxmlformats.org/officeDocument/2006/relationships/theme" Target="../theme/theme1.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20272" y="6492240"/>
            <a:ext cx="320040" cy="256032"/>
          </a:xfrm>
          <a:prstGeom prst="rect">
            <a:avLst/>
          </a:prstGeom>
        </p:spPr>
        <p:txBody>
          <a:bodyPr/>
          <a:lstStyle>
            <a:lvl1pPr>
              <a:defRPr sz="1000">
                <a:solidFill>
                  <a:srgbClr val="6B7280"/>
                </a:solidFill>
                <a:latin typeface="Arial" panose="020B0604020202020204"/>
                <a:ea typeface="Arial" panose="020B0604020202020204"/>
                <a:cs typeface="Arial" panose="020B0604020202020204"/>
              </a:defRPr>
            </a:lvl1pPr>
          </a:lstStyle>
          <a:p>
            <a:pPr algn="r"/>
            <a:fld id="{F7021451-1387-4CA6-816F-3879F97B5CBC}" type="slidenum">
              <a:rPr lang="en-US" b="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3.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chart" Target="../charts/char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0" descr="CMRIT logo"/>
          <p:cNvPicPr>
            <a:picLocks noChangeAspect="1"/>
          </p:cNvPicPr>
          <p:nvPr/>
        </p:nvPicPr>
        <p:blipFill>
          <a:blip r:embed="rId1"/>
          <a:stretch>
            <a:fillRect/>
          </a:stretch>
        </p:blipFill>
        <p:spPr>
          <a:xfrm>
            <a:off x="777240" y="411480"/>
            <a:ext cx="1828800" cy="1294790"/>
          </a:xfrm>
          <a:prstGeom prst="rect">
            <a:avLst/>
          </a:prstGeom>
        </p:spPr>
      </p:pic>
      <p:sp>
        <p:nvSpPr>
          <p:cNvPr id="4" name="Text 0"/>
          <p:cNvSpPr txBox="1"/>
          <p:nvPr/>
        </p:nvSpPr>
        <p:spPr>
          <a:xfrm>
            <a:off x="777240" y="2057400"/>
            <a:ext cx="7315200" cy="365760"/>
          </a:xfrm>
          <a:prstGeom prst="rect">
            <a:avLst/>
          </a:prstGeom>
          <a:noFill/>
        </p:spPr>
        <p:txBody>
          <a:bodyPr wrap="square" lIns="0" tIns="0" rIns="0" bIns="0" rtlCol="0" anchor="t"/>
          <a:lstStyle/>
          <a:p>
            <a:pPr marL="0" indent="0">
              <a:buNone/>
            </a:pPr>
            <a:r>
              <a:rPr lang="en-US" sz="1800" b="1" dirty="0">
                <a:solidFill>
                  <a:srgbClr val="CC3224"/>
                </a:solidFill>
                <a:latin typeface="Arial" panose="020B0604020202020204" pitchFamily="34" charset="0"/>
                <a:ea typeface="Arial" panose="020B0604020202020204" pitchFamily="34" charset="-122"/>
                <a:cs typeface="Arial" panose="020B0604020202020204" pitchFamily="34" charset="-120"/>
              </a:rPr>
              <a:t>PROJECT PRESENTATION</a:t>
            </a:r>
            <a:endParaRPr lang="en-US" sz="1800" dirty="0"/>
          </a:p>
        </p:txBody>
      </p:sp>
      <p:sp>
        <p:nvSpPr>
          <p:cNvPr id="5" name="Text 1"/>
          <p:cNvSpPr txBox="1"/>
          <p:nvPr/>
        </p:nvSpPr>
        <p:spPr>
          <a:xfrm>
            <a:off x="777240" y="2468880"/>
            <a:ext cx="10515600" cy="1371600"/>
          </a:xfrm>
          <a:prstGeom prst="rect">
            <a:avLst/>
          </a:prstGeom>
          <a:noFill/>
        </p:spPr>
        <p:txBody>
          <a:bodyPr wrap="square" lIns="0" tIns="0" rIns="0" bIns="0" rtlCol="0" anchor="t"/>
          <a:lstStyle/>
          <a:p>
            <a:pPr marL="0" indent="0">
              <a:buNone/>
            </a:pPr>
            <a:r>
              <a:rPr lang="en-US" sz="4600" dirty="0">
                <a:solidFill>
                  <a:srgbClr val="CC3224"/>
                </a:solidFill>
                <a:latin typeface="Arial" panose="020B0604020202020204" pitchFamily="34" charset="0"/>
                <a:ea typeface="Arial" panose="020B0604020202020204" pitchFamily="34" charset="-122"/>
                <a:cs typeface="Arial" panose="020B0604020202020204" pitchFamily="34" charset="-120"/>
              </a:rPr>
              <a:t>Predicting Accident Severity with MLOps</a:t>
            </a:r>
            <a:endParaRPr lang="en-US" sz="4600" dirty="0"/>
          </a:p>
        </p:txBody>
      </p:sp>
      <p:sp>
        <p:nvSpPr>
          <p:cNvPr id="6" name="Text 2"/>
          <p:cNvSpPr txBox="1"/>
          <p:nvPr/>
        </p:nvSpPr>
        <p:spPr>
          <a:xfrm>
            <a:off x="777240" y="3840480"/>
            <a:ext cx="10058400" cy="365760"/>
          </a:xfrm>
          <a:prstGeom prst="rect">
            <a:avLst/>
          </a:prstGeom>
          <a:noFill/>
        </p:spPr>
        <p:txBody>
          <a:bodyPr wrap="square" lIns="0" tIns="0" rIns="0" bIns="0" rtlCol="0" anchor="t"/>
          <a:lstStyle/>
          <a:p>
            <a:pPr marL="0" indent="0">
              <a:buNone/>
            </a:pPr>
            <a:r>
              <a:rPr lang="en-US" sz="1800" dirty="0">
                <a:solidFill>
                  <a:srgbClr val="6B7280"/>
                </a:solidFill>
                <a:latin typeface="Arial" panose="020B0604020202020204" pitchFamily="34" charset="0"/>
                <a:ea typeface="Arial" panose="020B0604020202020204" pitchFamily="34" charset="-122"/>
                <a:cs typeface="Arial" panose="020B0604020202020204" pitchFamily="34" charset="-120"/>
              </a:rPr>
              <a:t>Data Engineering and MLOps  |  Part 2: MLOps Pipeline  |  Individual Project</a:t>
            </a:r>
            <a:endParaRPr lang="en-US" sz="1800" dirty="0"/>
          </a:p>
        </p:txBody>
      </p:sp>
      <p:sp>
        <p:nvSpPr>
          <p:cNvPr id="7" name="Text 3"/>
          <p:cNvSpPr txBox="1"/>
          <p:nvPr/>
        </p:nvSpPr>
        <p:spPr>
          <a:xfrm>
            <a:off x="777240" y="4251960"/>
            <a:ext cx="10515600" cy="365760"/>
          </a:xfrm>
          <a:prstGeom prst="rect">
            <a:avLst/>
          </a:prstGeom>
          <a:noFill/>
        </p:spPr>
        <p:txBody>
          <a:bodyPr wrap="square" lIns="0" tIns="0" rIns="0" bIns="0" rtlCol="0" anchor="t"/>
          <a:lstStyle/>
          <a:p>
            <a:pPr marL="0" indent="0">
              <a:buNone/>
            </a:pPr>
            <a:r>
              <a:rPr lang="en-US" sz="1400" dirty="0">
                <a:solidFill>
                  <a:srgbClr val="6B7280"/>
                </a:solidFill>
                <a:latin typeface="Arial" panose="020B0604020202020204" pitchFamily="34" charset="0"/>
                <a:ea typeface="Arial" panose="020B0604020202020204" pitchFamily="34" charset="-122"/>
                <a:cs typeface="Arial" panose="020B0604020202020204" pitchFamily="34" charset="-120"/>
              </a:rPr>
              <a:t>LightGBM classifier · MLflow tracking and registry · FastAPI in Docker · drift monitoring and retraining</a:t>
            </a:r>
            <a:endParaRPr lang="en-US" sz="1400" dirty="0"/>
          </a:p>
        </p:txBody>
      </p:sp>
      <p:sp>
        <p:nvSpPr>
          <p:cNvPr id="8" name="student box"/>
          <p:cNvSpPr/>
          <p:nvPr/>
        </p:nvSpPr>
        <p:spPr>
          <a:xfrm>
            <a:off x="777240" y="4800600"/>
            <a:ext cx="5669280" cy="1234440"/>
          </a:xfrm>
          <a:prstGeom prst="roundRect">
            <a:avLst>
              <a:gd name="adj" fmla="val 5926"/>
            </a:avLst>
          </a:prstGeom>
          <a:solidFill>
            <a:srgbClr val="F3F4F6"/>
          </a:solidFill>
          <a:ln w="12700">
            <a:solidFill>
              <a:srgbClr val="D1D5DB"/>
            </a:solidFill>
            <a:prstDash val="solid"/>
          </a:ln>
        </p:spPr>
      </p:sp>
      <p:sp>
        <p:nvSpPr>
          <p:cNvPr id="9" name="Text 5"/>
          <p:cNvSpPr txBox="1"/>
          <p:nvPr/>
        </p:nvSpPr>
        <p:spPr>
          <a:xfrm>
            <a:off x="1051560" y="4919472"/>
            <a:ext cx="5303520" cy="1005840"/>
          </a:xfrm>
          <a:prstGeom prst="rect">
            <a:avLst/>
          </a:prstGeom>
          <a:noFill/>
        </p:spPr>
        <p:txBody>
          <a:bodyPr wrap="square" lIns="0" tIns="0" rIns="0" bIns="0" rtlCol="0" anchor="ctr"/>
          <a:lstStyle/>
          <a:p>
            <a:pPr marL="0" indent="0">
              <a:spcAft>
                <a:spcPts val="300"/>
              </a:spcAft>
              <a:buNone/>
            </a:pPr>
            <a:r>
              <a:rPr lang="en-US" sz="1600" dirty="0">
                <a:solidFill>
                  <a:srgbClr val="1B3A64"/>
                </a:solidFill>
                <a:latin typeface="Arial" panose="020B0604020202020204" pitchFamily="34" charset="0"/>
                <a:ea typeface="Arial" panose="020B0604020202020204" pitchFamily="34" charset="-122"/>
                <a:cs typeface="Arial" panose="020B0604020202020204" pitchFamily="34" charset="-120"/>
              </a:rPr>
              <a:t>Student Name : </a:t>
            </a:r>
            <a:r>
              <a:rPr lang="en-US" sz="1600" b="1" dirty="0">
                <a:solidFill>
                  <a:srgbClr val="1B3A64"/>
                </a:solidFill>
                <a:latin typeface="Arial" panose="020B0604020202020204" pitchFamily="34" charset="0"/>
                <a:ea typeface="Arial" panose="020B0604020202020204" pitchFamily="34" charset="-122"/>
                <a:cs typeface="Arial" panose="020B0604020202020204" pitchFamily="34" charset="-120"/>
              </a:rPr>
              <a:t>Madhan Matthew S</a:t>
            </a:r>
            <a:endParaRPr lang="en-US" sz="1600" dirty="0"/>
          </a:p>
          <a:p>
            <a:pPr marL="0" indent="0">
              <a:spcAft>
                <a:spcPts val="300"/>
              </a:spcAft>
              <a:buNone/>
            </a:pPr>
            <a:r>
              <a:rPr lang="en-US" sz="1600" dirty="0">
                <a:solidFill>
                  <a:srgbClr val="1B3A64"/>
                </a:solidFill>
                <a:latin typeface="Arial" panose="020B0604020202020204" pitchFamily="34" charset="0"/>
                <a:ea typeface="Arial" panose="020B0604020202020204" pitchFamily="34" charset="-122"/>
                <a:cs typeface="Arial" panose="020B0604020202020204" pitchFamily="34" charset="-120"/>
              </a:rPr>
              <a:t>USN                  : </a:t>
            </a:r>
            <a:r>
              <a:rPr lang="en-US" sz="1600" b="1" dirty="0">
                <a:solidFill>
                  <a:srgbClr val="1B3A64"/>
                </a:solidFill>
                <a:latin typeface="Arial" panose="020B0604020202020204" pitchFamily="34" charset="0"/>
                <a:ea typeface="Arial" panose="020B0604020202020204" pitchFamily="34" charset="-122"/>
                <a:cs typeface="Arial" panose="020B0604020202020204" pitchFamily="34" charset="-120"/>
              </a:rPr>
              <a:t>1CR23AI052</a:t>
            </a:r>
            <a:endParaRPr lang="en-US" sz="1600" dirty="0"/>
          </a:p>
          <a:p>
            <a:pPr marL="0" indent="0">
              <a:spcAft>
                <a:spcPts val="300"/>
              </a:spcAft>
              <a:buNone/>
            </a:pPr>
            <a:r>
              <a:rPr lang="en-US" sz="1600" dirty="0">
                <a:solidFill>
                  <a:srgbClr val="1B3A64"/>
                </a:solidFill>
                <a:latin typeface="Arial" panose="020B0604020202020204" pitchFamily="34" charset="0"/>
                <a:ea typeface="Arial" panose="020B0604020202020204" pitchFamily="34" charset="-122"/>
                <a:cs typeface="Arial" panose="020B0604020202020204" pitchFamily="34" charset="-120"/>
              </a:rPr>
              <a:t>Branch / Section : </a:t>
            </a:r>
            <a:r>
              <a:rPr lang="en-US" sz="1600" b="1" dirty="0">
                <a:solidFill>
                  <a:srgbClr val="1B3A64"/>
                </a:solidFill>
                <a:latin typeface="Arial" panose="020B0604020202020204" pitchFamily="34" charset="0"/>
                <a:ea typeface="Arial" panose="020B0604020202020204" pitchFamily="34" charset="-122"/>
                <a:cs typeface="Arial" panose="020B0604020202020204" pitchFamily="34" charset="-120"/>
              </a:rPr>
              <a:t>AI &amp; ML Engineering, 7A</a:t>
            </a:r>
            <a:endParaRPr lang="en-US" sz="1600" dirty="0"/>
          </a:p>
        </p:txBody>
      </p:sp>
      <p:sp>
        <p:nvSpPr>
          <p:cNvPr id="10" name="Text 6"/>
          <p:cNvSpPr txBox="1"/>
          <p:nvPr/>
        </p:nvSpPr>
        <p:spPr>
          <a:xfrm>
            <a:off x="8961120" y="6355080"/>
            <a:ext cx="2651760" cy="274320"/>
          </a:xfrm>
          <a:prstGeom prst="rect">
            <a:avLst/>
          </a:prstGeom>
          <a:noFill/>
        </p:spPr>
        <p:txBody>
          <a:bodyPr wrap="square" lIns="0" tIns="0" rIns="0" bIns="0" rtlCol="0" anchor="t"/>
          <a:lstStyle/>
          <a:p>
            <a:pPr marL="0" indent="0" algn="r">
              <a:buNone/>
            </a:pPr>
            <a:r>
              <a:rPr lang="en-US" sz="1200" dirty="0">
                <a:solidFill>
                  <a:srgbClr val="6B7280"/>
                </a:solidFill>
                <a:latin typeface="Arial" panose="020B0604020202020204" pitchFamily="34" charset="0"/>
                <a:ea typeface="Arial" panose="020B0604020202020204" pitchFamily="34" charset="-122"/>
                <a:cs typeface="Arial" panose="020B0604020202020204" pitchFamily="34" charset="-120"/>
              </a:rPr>
              <a:t>CMRIT, Bengaluru</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7"/>
          <p:cNvSpPr/>
          <p:nvPr>
            <p:ph type="title" idx="107" hasCustomPrompt="1"/>
          </p:nvPr>
        </p:nvSpPr>
        <p:spPr>
          <a:xfrm>
            <a:off x="594360" y="566928"/>
            <a:ext cx="10515600" cy="594360"/>
          </a:xfrm>
          <a:prstGeom prst="rect">
            <a:avLst/>
          </a:prstGeom>
          <a:noFill/>
        </p:spPr>
        <p:txBody>
          <a:bodyPr wrap="square" lIns="0" tIns="0" rIns="0" bIns="0" rtlCol="0" anchor="ctr"/>
          <a:lstStyle/>
          <a:p>
            <a:pPr marL="0" indent="0" algn="l">
              <a:buNone/>
            </a:pPr>
            <a:r>
              <a:rPr lang="en-US" sz="3000" b="1" dirty="0">
                <a:solidFill>
                  <a:srgbClr val="1B3A64"/>
                </a:solidFill>
                <a:latin typeface="Arial" panose="020B0604020202020204" pitchFamily="34" charset="0"/>
                <a:ea typeface="Arial" panose="020B0604020202020204" pitchFamily="34" charset="-122"/>
                <a:cs typeface="Arial" panose="020B0604020202020204" pitchFamily="34" charset="-120"/>
              </a:rPr>
              <a:t>1. Project Overview</a:t>
            </a:r>
            <a:endParaRPr lang="en-US" sz="3000" dirty="0"/>
          </a:p>
        </p:txBody>
      </p:sp>
      <p:sp>
        <p:nvSpPr>
          <p:cNvPr id="3" name="content panel"/>
          <p:cNvSpPr/>
          <p:nvPr/>
        </p:nvSpPr>
        <p:spPr>
          <a:xfrm>
            <a:off x="548640" y="1417320"/>
            <a:ext cx="11091672" cy="4846320"/>
          </a:xfrm>
          <a:prstGeom prst="roundRect">
            <a:avLst>
              <a:gd name="adj" fmla="val 1132"/>
            </a:avLst>
          </a:prstGeom>
          <a:solidFill>
            <a:srgbClr val="FFFFFF"/>
          </a:solidFill>
          <a:ln w="15875">
            <a:solidFill>
              <a:srgbClr val="D1D5DB"/>
            </a:solidFill>
            <a:prstDash val="solid"/>
          </a:ln>
        </p:spPr>
      </p:sp>
      <p:sp>
        <p:nvSpPr>
          <p:cNvPr id="5" name="stat tile"/>
          <p:cNvSpPr/>
          <p:nvPr/>
        </p:nvSpPr>
        <p:spPr>
          <a:xfrm>
            <a:off x="822960" y="1645920"/>
            <a:ext cx="3337560" cy="1143000"/>
          </a:xfrm>
          <a:prstGeom prst="roundRect">
            <a:avLst>
              <a:gd name="adj" fmla="val 6400"/>
            </a:avLst>
          </a:prstGeom>
          <a:solidFill>
            <a:srgbClr val="F3F4F6"/>
          </a:solidFill>
          <a:ln w="12700">
            <a:solidFill>
              <a:srgbClr val="F3F4F6"/>
            </a:solidFill>
            <a:prstDash val="solid"/>
          </a:ln>
        </p:spPr>
      </p:sp>
      <p:sp>
        <p:nvSpPr>
          <p:cNvPr id="6" name="Text 3"/>
          <p:cNvSpPr txBox="1"/>
          <p:nvPr/>
        </p:nvSpPr>
        <p:spPr>
          <a:xfrm>
            <a:off x="822960" y="1755648"/>
            <a:ext cx="3337560" cy="628650"/>
          </a:xfrm>
          <a:prstGeom prst="rect">
            <a:avLst/>
          </a:prstGeom>
          <a:noFill/>
        </p:spPr>
        <p:txBody>
          <a:bodyPr wrap="square" lIns="0" tIns="0" rIns="0" bIns="0" rtlCol="0" anchor="ctr"/>
          <a:lstStyle/>
          <a:p>
            <a:pPr marL="0" indent="0" algn="ctr">
              <a:buNone/>
            </a:pPr>
            <a:r>
              <a:rPr lang="en-US" sz="3400" b="1" dirty="0">
                <a:solidFill>
                  <a:srgbClr val="CC3224"/>
                </a:solidFill>
                <a:latin typeface="Arial" panose="020B0604020202020204" pitchFamily="34" charset="0"/>
                <a:ea typeface="Arial" panose="020B0604020202020204" pitchFamily="34" charset="-122"/>
                <a:cs typeface="Arial" panose="020B0604020202020204" pitchFamily="34" charset="-120"/>
              </a:rPr>
              <a:t>205,173</a:t>
            </a:r>
            <a:endParaRPr lang="en-US" sz="3400" dirty="0"/>
          </a:p>
        </p:txBody>
      </p:sp>
      <p:sp>
        <p:nvSpPr>
          <p:cNvPr id="7" name="Text 4"/>
          <p:cNvSpPr txBox="1"/>
          <p:nvPr/>
        </p:nvSpPr>
        <p:spPr>
          <a:xfrm>
            <a:off x="960120" y="2354580"/>
            <a:ext cx="3063240" cy="411480"/>
          </a:xfrm>
          <a:prstGeom prst="rect">
            <a:avLst/>
          </a:prstGeom>
          <a:noFill/>
        </p:spPr>
        <p:txBody>
          <a:bodyPr wrap="square" lIns="0" tIns="0" rIns="0" bIns="0" rtlCol="0" anchor="t"/>
          <a:lstStyle/>
          <a:p>
            <a:pPr marL="0" indent="0" algn="ctr">
              <a:buNone/>
            </a:pPr>
            <a:r>
              <a:rPr lang="en-US" sz="1200" dirty="0">
                <a:solidFill>
                  <a:srgbClr val="6B7280"/>
                </a:solidFill>
                <a:latin typeface="Arial" panose="020B0604020202020204" pitchFamily="34" charset="0"/>
                <a:ea typeface="Arial" panose="020B0604020202020204" pitchFamily="34" charset="-122"/>
                <a:cs typeface="Arial" panose="020B0604020202020204" pitchFamily="34" charset="-120"/>
              </a:rPr>
              <a:t>collisions from Part 1</a:t>
            </a:r>
            <a:endParaRPr lang="en-US" sz="1200" dirty="0"/>
          </a:p>
        </p:txBody>
      </p:sp>
      <p:sp>
        <p:nvSpPr>
          <p:cNvPr id="8" name="stat tile"/>
          <p:cNvSpPr/>
          <p:nvPr/>
        </p:nvSpPr>
        <p:spPr>
          <a:xfrm>
            <a:off x="4425696" y="1645920"/>
            <a:ext cx="3337560" cy="1143000"/>
          </a:xfrm>
          <a:prstGeom prst="roundRect">
            <a:avLst>
              <a:gd name="adj" fmla="val 6400"/>
            </a:avLst>
          </a:prstGeom>
          <a:solidFill>
            <a:srgbClr val="F3F4F6"/>
          </a:solidFill>
          <a:ln w="12700">
            <a:solidFill>
              <a:srgbClr val="F3F4F6"/>
            </a:solidFill>
            <a:prstDash val="solid"/>
          </a:ln>
        </p:spPr>
      </p:sp>
      <p:sp>
        <p:nvSpPr>
          <p:cNvPr id="9" name="Text 6"/>
          <p:cNvSpPr txBox="1"/>
          <p:nvPr/>
        </p:nvSpPr>
        <p:spPr>
          <a:xfrm>
            <a:off x="4425696" y="1755648"/>
            <a:ext cx="3337560" cy="628650"/>
          </a:xfrm>
          <a:prstGeom prst="rect">
            <a:avLst/>
          </a:prstGeom>
          <a:noFill/>
        </p:spPr>
        <p:txBody>
          <a:bodyPr wrap="square" lIns="0" tIns="0" rIns="0" bIns="0" rtlCol="0" anchor="ctr"/>
          <a:lstStyle/>
          <a:p>
            <a:pPr marL="0" indent="0" algn="ctr">
              <a:buNone/>
            </a:pPr>
            <a:r>
              <a:rPr lang="en-US" sz="3400" b="1" dirty="0">
                <a:solidFill>
                  <a:srgbClr val="CC3224"/>
                </a:solidFill>
                <a:latin typeface="Arial" panose="020B0604020202020204" pitchFamily="34" charset="0"/>
                <a:ea typeface="Arial" panose="020B0604020202020204" pitchFamily="34" charset="-122"/>
                <a:cs typeface="Arial" panose="020B0604020202020204" pitchFamily="34" charset="-120"/>
              </a:rPr>
              <a:t>35</a:t>
            </a:r>
            <a:endParaRPr lang="en-US" sz="3400" dirty="0"/>
          </a:p>
        </p:txBody>
      </p:sp>
      <p:sp>
        <p:nvSpPr>
          <p:cNvPr id="10" name="Text 7"/>
          <p:cNvSpPr txBox="1"/>
          <p:nvPr/>
        </p:nvSpPr>
        <p:spPr>
          <a:xfrm>
            <a:off x="4562856" y="2354580"/>
            <a:ext cx="3063240" cy="411480"/>
          </a:xfrm>
          <a:prstGeom prst="rect">
            <a:avLst/>
          </a:prstGeom>
          <a:noFill/>
        </p:spPr>
        <p:txBody>
          <a:bodyPr wrap="square" lIns="0" tIns="0" rIns="0" bIns="0" rtlCol="0" anchor="t"/>
          <a:lstStyle/>
          <a:p>
            <a:pPr marL="0" indent="0" algn="ctr">
              <a:buNone/>
            </a:pPr>
            <a:r>
              <a:rPr lang="en-US" sz="1200" dirty="0">
                <a:solidFill>
                  <a:srgbClr val="6B7280"/>
                </a:solidFill>
                <a:latin typeface="Arial" panose="020B0604020202020204" pitchFamily="34" charset="0"/>
                <a:ea typeface="Arial" panose="020B0604020202020204" pitchFamily="34" charset="-122"/>
                <a:cs typeface="Arial" panose="020B0604020202020204" pitchFamily="34" charset="-120"/>
              </a:rPr>
              <a:t>leakage-free features</a:t>
            </a:r>
            <a:endParaRPr lang="en-US" sz="1200" dirty="0"/>
          </a:p>
        </p:txBody>
      </p:sp>
      <p:sp>
        <p:nvSpPr>
          <p:cNvPr id="11" name="stat tile"/>
          <p:cNvSpPr/>
          <p:nvPr/>
        </p:nvSpPr>
        <p:spPr>
          <a:xfrm>
            <a:off x="8028432" y="1645920"/>
            <a:ext cx="3337560" cy="1143000"/>
          </a:xfrm>
          <a:prstGeom prst="roundRect">
            <a:avLst>
              <a:gd name="adj" fmla="val 6400"/>
            </a:avLst>
          </a:prstGeom>
          <a:solidFill>
            <a:srgbClr val="F3F4F6"/>
          </a:solidFill>
          <a:ln w="12700">
            <a:solidFill>
              <a:srgbClr val="F3F4F6"/>
            </a:solidFill>
            <a:prstDash val="solid"/>
          </a:ln>
        </p:spPr>
      </p:sp>
      <p:sp>
        <p:nvSpPr>
          <p:cNvPr id="12" name="Text 9"/>
          <p:cNvSpPr txBox="1"/>
          <p:nvPr/>
        </p:nvSpPr>
        <p:spPr>
          <a:xfrm>
            <a:off x="8028432" y="1755648"/>
            <a:ext cx="3337560" cy="628650"/>
          </a:xfrm>
          <a:prstGeom prst="rect">
            <a:avLst/>
          </a:prstGeom>
          <a:noFill/>
        </p:spPr>
        <p:txBody>
          <a:bodyPr wrap="square" lIns="0" tIns="0" rIns="0" bIns="0" rtlCol="0" anchor="ctr"/>
          <a:lstStyle/>
          <a:p>
            <a:pPr marL="0" indent="0" algn="ctr">
              <a:buNone/>
            </a:pPr>
            <a:r>
              <a:rPr lang="en-US" sz="3400" b="1" dirty="0">
                <a:solidFill>
                  <a:srgbClr val="1B3A64"/>
                </a:solidFill>
                <a:latin typeface="Arial" panose="020B0604020202020204" pitchFamily="34" charset="0"/>
                <a:ea typeface="Arial" panose="020B0604020202020204" pitchFamily="34" charset="-122"/>
                <a:cs typeface="Arial" panose="020B0604020202020204" pitchFamily="34" charset="-120"/>
              </a:rPr>
              <a:t>3</a:t>
            </a:r>
            <a:endParaRPr lang="en-US" sz="3400" dirty="0"/>
          </a:p>
        </p:txBody>
      </p:sp>
      <p:sp>
        <p:nvSpPr>
          <p:cNvPr id="13" name="Text 10"/>
          <p:cNvSpPr txBox="1"/>
          <p:nvPr/>
        </p:nvSpPr>
        <p:spPr>
          <a:xfrm>
            <a:off x="8165592" y="2354580"/>
            <a:ext cx="3063240" cy="411480"/>
          </a:xfrm>
          <a:prstGeom prst="rect">
            <a:avLst/>
          </a:prstGeom>
          <a:noFill/>
        </p:spPr>
        <p:txBody>
          <a:bodyPr wrap="square" lIns="0" tIns="0" rIns="0" bIns="0" rtlCol="0" anchor="t"/>
          <a:lstStyle/>
          <a:p>
            <a:pPr marL="0" indent="0" algn="ctr">
              <a:buNone/>
            </a:pPr>
            <a:r>
              <a:rPr lang="en-US" sz="1200" dirty="0">
                <a:solidFill>
                  <a:srgbClr val="6B7280"/>
                </a:solidFill>
                <a:latin typeface="Arial" panose="020B0604020202020204" pitchFamily="34" charset="0"/>
                <a:ea typeface="Arial" panose="020B0604020202020204" pitchFamily="34" charset="-122"/>
                <a:cs typeface="Arial" panose="020B0604020202020204" pitchFamily="34" charset="-120"/>
              </a:rPr>
              <a:t>severity classes: Fatal, Serious, Slight</a:t>
            </a:r>
            <a:endParaRPr lang="en-US" sz="1200" dirty="0"/>
          </a:p>
        </p:txBody>
      </p:sp>
      <p:sp>
        <p:nvSpPr>
          <p:cNvPr id="14" name="Text 11"/>
          <p:cNvSpPr txBox="1"/>
          <p:nvPr/>
        </p:nvSpPr>
        <p:spPr>
          <a:xfrm>
            <a:off x="822960" y="3017520"/>
            <a:ext cx="5120640" cy="320040"/>
          </a:xfrm>
          <a:prstGeom prst="rect">
            <a:avLst/>
          </a:prstGeom>
          <a:noFill/>
        </p:spPr>
        <p:txBody>
          <a:bodyPr wrap="square" lIns="0" tIns="0" rIns="0" bIns="0" rtlCol="0" anchor="t"/>
          <a:lstStyle/>
          <a:p>
            <a:pPr marL="0" indent="0">
              <a:buNone/>
            </a:pPr>
            <a:r>
              <a:rPr lang="en-US" sz="1800" b="1" dirty="0">
                <a:solidFill>
                  <a:srgbClr val="CC3224"/>
                </a:solidFill>
                <a:latin typeface="Arial" panose="020B0604020202020204" pitchFamily="34" charset="0"/>
                <a:ea typeface="Arial" panose="020B0604020202020204" pitchFamily="34" charset="-122"/>
                <a:cs typeface="Arial" panose="020B0604020202020204" pitchFamily="34" charset="-120"/>
              </a:rPr>
              <a:t>Goal</a:t>
            </a:r>
            <a:endParaRPr lang="en-US" sz="1800" dirty="0"/>
          </a:p>
        </p:txBody>
      </p:sp>
      <p:sp>
        <p:nvSpPr>
          <p:cNvPr id="15" name="Text 12"/>
          <p:cNvSpPr txBox="1"/>
          <p:nvPr/>
        </p:nvSpPr>
        <p:spPr>
          <a:xfrm>
            <a:off x="822960" y="3401568"/>
            <a:ext cx="5120640" cy="2377440"/>
          </a:xfrm>
          <a:prstGeom prst="rect">
            <a:avLst/>
          </a:prstGeom>
          <a:noFill/>
        </p:spPr>
        <p:txBody>
          <a:bodyPr wrap="square" lIns="0" tIns="0" rIns="0" bIns="0" rtlCol="0" anchor="t"/>
          <a:lstStyle/>
          <a:p>
            <a:pPr marL="0" indent="0">
              <a:spcAft>
                <a:spcPts val="600"/>
              </a:spcAft>
              <a:buNone/>
            </a:pPr>
            <a:r>
              <a:rPr lang="en-US" sz="1600" b="1" dirty="0">
                <a:solidFill>
                  <a:srgbClr val="1B3A64"/>
                </a:solidFill>
                <a:latin typeface="Arial" panose="020B0604020202020204" pitchFamily="34" charset="0"/>
                <a:ea typeface="Arial" panose="020B0604020202020204" pitchFamily="34" charset="-122"/>
                <a:cs typeface="Arial" panose="020B0604020202020204" pitchFamily="34" charset="-120"/>
              </a:rPr>
              <a:t>Input: </a:t>
            </a:r>
            <a:r>
              <a:rPr lang="en-US" sz="1600" dirty="0">
                <a:solidFill>
                  <a:srgbClr val="1F2937"/>
                </a:solidFill>
                <a:latin typeface="Arial" panose="020B0604020202020204" pitchFamily="34" charset="0"/>
                <a:ea typeface="Arial" panose="020B0604020202020204" pitchFamily="34" charset="-122"/>
                <a:cs typeface="Arial" panose="020B0604020202020204" pitchFamily="34" charset="-120"/>
              </a:rPr>
              <a:t>ml_accident_features from Part 1 – time, location, road, light, weather and vehicle features.</a:t>
            </a:r>
            <a:endParaRPr lang="en-US" sz="1600" dirty="0"/>
          </a:p>
          <a:p>
            <a:pPr marL="0" indent="0">
              <a:spcAft>
                <a:spcPts val="600"/>
              </a:spcAft>
              <a:buNone/>
            </a:pPr>
            <a:r>
              <a:rPr lang="en-US" sz="1600" b="1" dirty="0">
                <a:solidFill>
                  <a:srgbClr val="1B3A64"/>
                </a:solidFill>
                <a:latin typeface="Arial" panose="020B0604020202020204" pitchFamily="34" charset="0"/>
                <a:ea typeface="Arial" panose="020B0604020202020204" pitchFamily="34" charset="-122"/>
                <a:cs typeface="Arial" panose="020B0604020202020204" pitchFamily="34" charset="-120"/>
              </a:rPr>
              <a:t>Model: </a:t>
            </a:r>
            <a:r>
              <a:rPr lang="en-US" sz="1600" dirty="0">
                <a:solidFill>
                  <a:srgbClr val="1F2937"/>
                </a:solidFill>
                <a:latin typeface="Arial" panose="020B0604020202020204" pitchFamily="34" charset="0"/>
                <a:ea typeface="Arial" panose="020B0604020202020204" pitchFamily="34" charset="-122"/>
                <a:cs typeface="Arial" panose="020B0604020202020204" pitchFamily="34" charset="-120"/>
              </a:rPr>
              <a:t>LightGBM pipeline giving a probability for each class.</a:t>
            </a:r>
            <a:endParaRPr lang="en-US" sz="1600" dirty="0"/>
          </a:p>
          <a:p>
            <a:pPr marL="0" indent="0">
              <a:spcAft>
                <a:spcPts val="600"/>
              </a:spcAft>
              <a:buNone/>
            </a:pPr>
            <a:r>
              <a:rPr lang="en-US" sz="1600" b="1" dirty="0">
                <a:solidFill>
                  <a:srgbClr val="1B3A64"/>
                </a:solidFill>
                <a:latin typeface="Arial" panose="020B0604020202020204" pitchFamily="34" charset="0"/>
                <a:ea typeface="Arial" panose="020B0604020202020204" pitchFamily="34" charset="-122"/>
                <a:cs typeface="Arial" panose="020B0604020202020204" pitchFamily="34" charset="-120"/>
              </a:rPr>
              <a:t>Rule: </a:t>
            </a:r>
            <a:r>
              <a:rPr lang="en-US" sz="1600" dirty="0">
                <a:solidFill>
                  <a:srgbClr val="1F2937"/>
                </a:solidFill>
                <a:latin typeface="Arial" panose="020B0604020202020204" pitchFamily="34" charset="0"/>
                <a:ea typeface="Arial" panose="020B0604020202020204" pitchFamily="34" charset="-122"/>
                <a:cs typeface="Arial" panose="020B0604020202020204" pitchFamily="34" charset="-120"/>
              </a:rPr>
              <a:t>only information known when the collision is reported is used.</a:t>
            </a:r>
            <a:endParaRPr lang="en-US" sz="1600" dirty="0"/>
          </a:p>
        </p:txBody>
      </p:sp>
      <p:sp>
        <p:nvSpPr>
          <p:cNvPr id="16" name="Text 13"/>
          <p:cNvSpPr txBox="1"/>
          <p:nvPr/>
        </p:nvSpPr>
        <p:spPr>
          <a:xfrm>
            <a:off x="6035040" y="3017520"/>
            <a:ext cx="5303520" cy="320040"/>
          </a:xfrm>
          <a:prstGeom prst="rect">
            <a:avLst/>
          </a:prstGeom>
          <a:noFill/>
        </p:spPr>
        <p:txBody>
          <a:bodyPr wrap="square" lIns="0" tIns="0" rIns="0" bIns="0" rtlCol="0" anchor="t"/>
          <a:lstStyle/>
          <a:p>
            <a:pPr marL="0" indent="0">
              <a:buNone/>
            </a:pPr>
            <a:r>
              <a:rPr lang="en-US" sz="1800" b="1" dirty="0">
                <a:solidFill>
                  <a:srgbClr val="CC3224"/>
                </a:solidFill>
                <a:latin typeface="Arial" panose="020B0604020202020204" pitchFamily="34" charset="0"/>
                <a:ea typeface="Arial" panose="020B0604020202020204" pitchFamily="34" charset="-122"/>
                <a:cs typeface="Arial" panose="020B0604020202020204" pitchFamily="34" charset="-120"/>
              </a:rPr>
              <a:t>Output: probability per class (example)</a:t>
            </a:r>
            <a:endParaRPr lang="en-US" sz="1800" dirty="0"/>
          </a:p>
        </p:txBody>
      </p:sp>
      <p:sp>
        <p:nvSpPr>
          <p:cNvPr id="17" name="probability chip"/>
          <p:cNvSpPr/>
          <p:nvPr/>
        </p:nvSpPr>
        <p:spPr>
          <a:xfrm>
            <a:off x="6035040" y="3429000"/>
            <a:ext cx="1645920" cy="1005840"/>
          </a:xfrm>
          <a:prstGeom prst="roundRect">
            <a:avLst>
              <a:gd name="adj" fmla="val 7273"/>
            </a:avLst>
          </a:prstGeom>
          <a:solidFill>
            <a:srgbClr val="F3F4F6"/>
          </a:solidFill>
          <a:ln w="12700">
            <a:solidFill>
              <a:srgbClr val="F3F4F6"/>
            </a:solidFill>
            <a:prstDash val="solid"/>
          </a:ln>
        </p:spPr>
      </p:sp>
      <p:sp>
        <p:nvSpPr>
          <p:cNvPr id="18" name="Text 15"/>
          <p:cNvSpPr txBox="1"/>
          <p:nvPr/>
        </p:nvSpPr>
        <p:spPr>
          <a:xfrm>
            <a:off x="6035040" y="3493008"/>
            <a:ext cx="1645920" cy="502920"/>
          </a:xfrm>
          <a:prstGeom prst="rect">
            <a:avLst/>
          </a:prstGeom>
          <a:noFill/>
        </p:spPr>
        <p:txBody>
          <a:bodyPr wrap="square" lIns="0" tIns="0" rIns="0" bIns="0" rtlCol="0" anchor="ctr"/>
          <a:lstStyle/>
          <a:p>
            <a:pPr marL="0" indent="0" algn="ctr">
              <a:buNone/>
            </a:pPr>
            <a:r>
              <a:rPr lang="en-US" sz="2800" b="1" dirty="0">
                <a:solidFill>
                  <a:srgbClr val="CC3224"/>
                </a:solidFill>
                <a:latin typeface="Arial" panose="020B0604020202020204" pitchFamily="34" charset="0"/>
                <a:ea typeface="Arial" panose="020B0604020202020204" pitchFamily="34" charset="-122"/>
                <a:cs typeface="Arial" panose="020B0604020202020204" pitchFamily="34" charset="-120"/>
              </a:rPr>
              <a:t>4%</a:t>
            </a:r>
            <a:endParaRPr lang="en-US" sz="2800" dirty="0"/>
          </a:p>
        </p:txBody>
      </p:sp>
      <p:sp>
        <p:nvSpPr>
          <p:cNvPr id="19" name="Text 16"/>
          <p:cNvSpPr txBox="1"/>
          <p:nvPr/>
        </p:nvSpPr>
        <p:spPr>
          <a:xfrm>
            <a:off x="6035040" y="4005072"/>
            <a:ext cx="1645920" cy="320040"/>
          </a:xfrm>
          <a:prstGeom prst="rect">
            <a:avLst/>
          </a:prstGeom>
          <a:noFill/>
        </p:spPr>
        <p:txBody>
          <a:bodyPr wrap="square" lIns="0" tIns="0" rIns="0" bIns="0" rtlCol="0" anchor="t"/>
          <a:lstStyle/>
          <a:p>
            <a:pPr marL="0" indent="0" algn="ctr">
              <a:buNone/>
            </a:pPr>
            <a:r>
              <a:rPr lang="en-US" sz="1300" dirty="0">
                <a:solidFill>
                  <a:srgbClr val="6B7280"/>
                </a:solidFill>
                <a:latin typeface="Arial" panose="020B0604020202020204" pitchFamily="34" charset="0"/>
                <a:ea typeface="Arial" panose="020B0604020202020204" pitchFamily="34" charset="-122"/>
                <a:cs typeface="Arial" panose="020B0604020202020204" pitchFamily="34" charset="-120"/>
              </a:rPr>
              <a:t>Fatal</a:t>
            </a:r>
            <a:endParaRPr lang="en-US" sz="1300" dirty="0"/>
          </a:p>
        </p:txBody>
      </p:sp>
      <p:sp>
        <p:nvSpPr>
          <p:cNvPr id="20" name="probability chip"/>
          <p:cNvSpPr/>
          <p:nvPr/>
        </p:nvSpPr>
        <p:spPr>
          <a:xfrm>
            <a:off x="7845552" y="3429000"/>
            <a:ext cx="1645920" cy="1005840"/>
          </a:xfrm>
          <a:prstGeom prst="roundRect">
            <a:avLst>
              <a:gd name="adj" fmla="val 7273"/>
            </a:avLst>
          </a:prstGeom>
          <a:solidFill>
            <a:srgbClr val="F3F4F6"/>
          </a:solidFill>
          <a:ln w="12700">
            <a:solidFill>
              <a:srgbClr val="F3F4F6"/>
            </a:solidFill>
            <a:prstDash val="solid"/>
          </a:ln>
        </p:spPr>
      </p:sp>
      <p:sp>
        <p:nvSpPr>
          <p:cNvPr id="21" name="Text 18"/>
          <p:cNvSpPr txBox="1"/>
          <p:nvPr/>
        </p:nvSpPr>
        <p:spPr>
          <a:xfrm>
            <a:off x="7845552" y="3493008"/>
            <a:ext cx="1645920" cy="502920"/>
          </a:xfrm>
          <a:prstGeom prst="rect">
            <a:avLst/>
          </a:prstGeom>
          <a:noFill/>
        </p:spPr>
        <p:txBody>
          <a:bodyPr wrap="square" lIns="0" tIns="0" rIns="0" bIns="0" rtlCol="0" anchor="ctr"/>
          <a:lstStyle/>
          <a:p>
            <a:pPr marL="0" indent="0" algn="ctr">
              <a:buNone/>
            </a:pPr>
            <a:r>
              <a:rPr lang="en-US" sz="2800" b="1" dirty="0">
                <a:solidFill>
                  <a:srgbClr val="E8872A"/>
                </a:solidFill>
                <a:latin typeface="Arial" panose="020B0604020202020204" pitchFamily="34" charset="0"/>
                <a:ea typeface="Arial" panose="020B0604020202020204" pitchFamily="34" charset="-122"/>
                <a:cs typeface="Arial" panose="020B0604020202020204" pitchFamily="34" charset="-120"/>
              </a:rPr>
              <a:t>37%</a:t>
            </a:r>
            <a:endParaRPr lang="en-US" sz="2800" dirty="0"/>
          </a:p>
        </p:txBody>
      </p:sp>
      <p:sp>
        <p:nvSpPr>
          <p:cNvPr id="22" name="Text 19"/>
          <p:cNvSpPr txBox="1"/>
          <p:nvPr/>
        </p:nvSpPr>
        <p:spPr>
          <a:xfrm>
            <a:off x="7845552" y="4005072"/>
            <a:ext cx="1645920" cy="320040"/>
          </a:xfrm>
          <a:prstGeom prst="rect">
            <a:avLst/>
          </a:prstGeom>
          <a:noFill/>
        </p:spPr>
        <p:txBody>
          <a:bodyPr wrap="square" lIns="0" tIns="0" rIns="0" bIns="0" rtlCol="0" anchor="t"/>
          <a:lstStyle/>
          <a:p>
            <a:pPr marL="0" indent="0" algn="ctr">
              <a:buNone/>
            </a:pPr>
            <a:r>
              <a:rPr lang="en-US" sz="1300" dirty="0">
                <a:solidFill>
                  <a:srgbClr val="6B7280"/>
                </a:solidFill>
                <a:latin typeface="Arial" panose="020B0604020202020204" pitchFamily="34" charset="0"/>
                <a:ea typeface="Arial" panose="020B0604020202020204" pitchFamily="34" charset="-122"/>
                <a:cs typeface="Arial" panose="020B0604020202020204" pitchFamily="34" charset="-120"/>
              </a:rPr>
              <a:t>Serious</a:t>
            </a:r>
            <a:endParaRPr lang="en-US" sz="1300" dirty="0"/>
          </a:p>
        </p:txBody>
      </p:sp>
      <p:sp>
        <p:nvSpPr>
          <p:cNvPr id="23" name="probability chip"/>
          <p:cNvSpPr/>
          <p:nvPr/>
        </p:nvSpPr>
        <p:spPr>
          <a:xfrm>
            <a:off x="9656064" y="3429000"/>
            <a:ext cx="1645920" cy="1005840"/>
          </a:xfrm>
          <a:prstGeom prst="roundRect">
            <a:avLst>
              <a:gd name="adj" fmla="val 7273"/>
            </a:avLst>
          </a:prstGeom>
          <a:solidFill>
            <a:srgbClr val="F3F4F6"/>
          </a:solidFill>
          <a:ln w="12700">
            <a:solidFill>
              <a:srgbClr val="F3F4F6"/>
            </a:solidFill>
            <a:prstDash val="solid"/>
          </a:ln>
        </p:spPr>
      </p:sp>
      <p:sp>
        <p:nvSpPr>
          <p:cNvPr id="24" name="Text 21"/>
          <p:cNvSpPr txBox="1"/>
          <p:nvPr/>
        </p:nvSpPr>
        <p:spPr>
          <a:xfrm>
            <a:off x="9656064" y="3493008"/>
            <a:ext cx="1645920" cy="502920"/>
          </a:xfrm>
          <a:prstGeom prst="rect">
            <a:avLst/>
          </a:prstGeom>
          <a:noFill/>
        </p:spPr>
        <p:txBody>
          <a:bodyPr wrap="square" lIns="0" tIns="0" rIns="0" bIns="0" rtlCol="0" anchor="ctr"/>
          <a:lstStyle/>
          <a:p>
            <a:pPr marL="0" indent="0" algn="ctr">
              <a:buNone/>
            </a:pPr>
            <a:r>
              <a:rPr lang="en-US" sz="2800" b="1" dirty="0">
                <a:solidFill>
                  <a:srgbClr val="1B3A64"/>
                </a:solidFill>
                <a:latin typeface="Arial" panose="020B0604020202020204" pitchFamily="34" charset="0"/>
                <a:ea typeface="Arial" panose="020B0604020202020204" pitchFamily="34" charset="-122"/>
                <a:cs typeface="Arial" panose="020B0604020202020204" pitchFamily="34" charset="-120"/>
              </a:rPr>
              <a:t>59%</a:t>
            </a:r>
            <a:endParaRPr lang="en-US" sz="2800" dirty="0"/>
          </a:p>
        </p:txBody>
      </p:sp>
      <p:sp>
        <p:nvSpPr>
          <p:cNvPr id="25" name="Text 22"/>
          <p:cNvSpPr txBox="1"/>
          <p:nvPr/>
        </p:nvSpPr>
        <p:spPr>
          <a:xfrm>
            <a:off x="9656064" y="4005072"/>
            <a:ext cx="1645920" cy="320040"/>
          </a:xfrm>
          <a:prstGeom prst="rect">
            <a:avLst/>
          </a:prstGeom>
          <a:noFill/>
        </p:spPr>
        <p:txBody>
          <a:bodyPr wrap="square" lIns="0" tIns="0" rIns="0" bIns="0" rtlCol="0" anchor="t"/>
          <a:lstStyle/>
          <a:p>
            <a:pPr marL="0" indent="0" algn="ctr">
              <a:buNone/>
            </a:pPr>
            <a:r>
              <a:rPr lang="en-US" sz="1300" dirty="0">
                <a:solidFill>
                  <a:srgbClr val="6B7280"/>
                </a:solidFill>
                <a:latin typeface="Arial" panose="020B0604020202020204" pitchFamily="34" charset="0"/>
                <a:ea typeface="Arial" panose="020B0604020202020204" pitchFamily="34" charset="-122"/>
                <a:cs typeface="Arial" panose="020B0604020202020204" pitchFamily="34" charset="-120"/>
              </a:rPr>
              <a:t>Slight</a:t>
            </a:r>
            <a:endParaRPr lang="en-US" sz="1300" dirty="0"/>
          </a:p>
        </p:txBody>
      </p:sp>
      <p:sp>
        <p:nvSpPr>
          <p:cNvPr id="26" name="Text 23"/>
          <p:cNvSpPr txBox="1"/>
          <p:nvPr/>
        </p:nvSpPr>
        <p:spPr>
          <a:xfrm>
            <a:off x="6035040" y="4663440"/>
            <a:ext cx="5303520" cy="1097280"/>
          </a:xfrm>
          <a:prstGeom prst="rect">
            <a:avLst/>
          </a:prstGeom>
          <a:noFill/>
        </p:spPr>
        <p:txBody>
          <a:bodyPr wrap="square" lIns="0" tIns="0" rIns="0" bIns="0" rtlCol="0" anchor="t"/>
          <a:lstStyle/>
          <a:p>
            <a:pPr marL="0" indent="0">
              <a:buNone/>
            </a:pPr>
            <a:r>
              <a:rPr lang="en-US" sz="1600" dirty="0">
                <a:solidFill>
                  <a:srgbClr val="1F2937"/>
                </a:solidFill>
                <a:latin typeface="Arial" panose="020B0604020202020204" pitchFamily="34" charset="0"/>
                <a:ea typeface="Arial" panose="020B0604020202020204" pitchFamily="34" charset="-122"/>
                <a:cs typeface="Arial" panose="020B0604020202020204" pitchFamily="34" charset="-120"/>
              </a:rPr>
              <a:t>Use case: flag likely serious or fatal collisions early so response and road-safety resources can be prioritised.</a:t>
            </a:r>
            <a:endParaRPr lang="en-US" sz="1600" dirty="0"/>
          </a:p>
        </p:txBody>
      </p:sp>
      <p:sp>
        <p:nvSpPr>
          <p:cNvPr id="4" name="Slide Number Placeholder 0"/>
          <p:cNvSpPr>
            <a:spLocks noGrp="1"/>
          </p:cNvSpPr>
          <p:nvPr>
            <p:ph type="sldNum" sz="quarter" idx="4294967295"/>
          </p:nvPr>
        </p:nvSpPr>
        <p:spPr>
          <a:xfrm>
            <a:off x="11320272" y="6492240"/>
            <a:ext cx="320040" cy="256032"/>
          </a:xfrm>
          <a:prstGeom prst="rect">
            <a:avLst/>
          </a:prstGeom>
        </p:spPr>
        <p:txBody>
          <a:bodyPr/>
          <a:lstStyle>
            <a:lvl1pPr>
              <a:defRPr sz="1000">
                <a:solidFill>
                  <a:srgbClr val="6B7280"/>
                </a:solidFill>
                <a:latin typeface="Arial" panose="020B0604020202020204"/>
                <a:ea typeface="Arial" panose="020B0604020202020204"/>
                <a:cs typeface="Arial" panose="020B0604020202020204"/>
              </a:defRPr>
            </a:lvl1pPr>
          </a:lstStyle>
          <a:p>
            <a:pPr algn="r"/>
            <a:fld id="{F7021451-1387-4CA6-816F-3879F97B5CBC}" type="slidenum">
              <a:rPr lang="en-US" b="0"/>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7"/>
          <p:cNvSpPr/>
          <p:nvPr>
            <p:ph type="title" idx="107" hasCustomPrompt="1"/>
          </p:nvPr>
        </p:nvSpPr>
        <p:spPr>
          <a:xfrm>
            <a:off x="594360" y="566928"/>
            <a:ext cx="10515600" cy="594360"/>
          </a:xfrm>
          <a:prstGeom prst="rect">
            <a:avLst/>
          </a:prstGeom>
          <a:noFill/>
        </p:spPr>
        <p:txBody>
          <a:bodyPr wrap="square" lIns="0" tIns="0" rIns="0" bIns="0" rtlCol="0" anchor="ctr"/>
          <a:lstStyle/>
          <a:p>
            <a:pPr marL="0" indent="0" algn="l">
              <a:buNone/>
            </a:pPr>
            <a:r>
              <a:rPr lang="en-US" sz="3000" b="1" dirty="0">
                <a:solidFill>
                  <a:srgbClr val="1B3A64"/>
                </a:solidFill>
                <a:latin typeface="Arial" panose="020B0604020202020204" pitchFamily="34" charset="0"/>
                <a:ea typeface="Arial" panose="020B0604020202020204" pitchFamily="34" charset="-122"/>
                <a:cs typeface="Arial" panose="020B0604020202020204" pitchFamily="34" charset="-120"/>
              </a:rPr>
              <a:t>2. Dataset &amp; Chronological Split</a:t>
            </a:r>
            <a:endParaRPr lang="en-US" sz="3000" dirty="0"/>
          </a:p>
        </p:txBody>
      </p:sp>
      <p:sp>
        <p:nvSpPr>
          <p:cNvPr id="3" name="content panel"/>
          <p:cNvSpPr/>
          <p:nvPr/>
        </p:nvSpPr>
        <p:spPr>
          <a:xfrm>
            <a:off x="548640" y="1417320"/>
            <a:ext cx="11091672" cy="4846320"/>
          </a:xfrm>
          <a:prstGeom prst="roundRect">
            <a:avLst>
              <a:gd name="adj" fmla="val 1132"/>
            </a:avLst>
          </a:prstGeom>
          <a:solidFill>
            <a:srgbClr val="FFFFFF"/>
          </a:solidFill>
          <a:ln w="15875">
            <a:solidFill>
              <a:srgbClr val="D1D5DB"/>
            </a:solidFill>
            <a:prstDash val="solid"/>
          </a:ln>
        </p:spPr>
      </p:sp>
      <p:sp>
        <p:nvSpPr>
          <p:cNvPr id="5" name="Text 2"/>
          <p:cNvSpPr txBox="1"/>
          <p:nvPr/>
        </p:nvSpPr>
        <p:spPr>
          <a:xfrm>
            <a:off x="822960" y="1645920"/>
            <a:ext cx="10543032" cy="365760"/>
          </a:xfrm>
          <a:prstGeom prst="rect">
            <a:avLst/>
          </a:prstGeom>
          <a:noFill/>
        </p:spPr>
        <p:txBody>
          <a:bodyPr wrap="square" lIns="0" tIns="0" rIns="0" bIns="0" rtlCol="0" anchor="t"/>
          <a:lstStyle/>
          <a:p>
            <a:pPr marL="0" indent="0">
              <a:buNone/>
            </a:pPr>
            <a:r>
              <a:rPr lang="en-US" sz="1400" b="1" dirty="0">
                <a:solidFill>
                  <a:srgbClr val="1B3A64"/>
                </a:solidFill>
                <a:latin typeface="Arial" panose="020B0604020202020204" pitchFamily="34" charset="0"/>
                <a:ea typeface="Arial" panose="020B0604020202020204" pitchFamily="34" charset="-122"/>
                <a:cs typeface="Arial" panose="020B0604020202020204" pitchFamily="34" charset="-120"/>
              </a:rPr>
              <a:t>Dataset: </a:t>
            </a:r>
            <a:r>
              <a:rPr lang="en-US" sz="1400" dirty="0">
                <a:solidFill>
                  <a:srgbClr val="1F2937"/>
                </a:solidFill>
                <a:latin typeface="Arial" panose="020B0604020202020204" pitchFamily="34" charset="0"/>
                <a:ea typeface="Arial" panose="020B0604020202020204" pitchFamily="34" charset="-122"/>
                <a:cs typeface="Arial" panose="020B0604020202020204" pitchFamily="34" charset="-120"/>
              </a:rPr>
              <a:t>ml_accident_features (Part 1) · 205,173 collisions · 35 features · post-outcome columns already removed</a:t>
            </a:r>
            <a:endParaRPr lang="en-US" sz="1400" dirty="0"/>
          </a:p>
        </p:txBody>
      </p:sp>
      <p:sp>
        <p:nvSpPr>
          <p:cNvPr id="6" name="Shape 3"/>
          <p:cNvSpPr/>
          <p:nvPr/>
        </p:nvSpPr>
        <p:spPr>
          <a:xfrm>
            <a:off x="822960" y="2331720"/>
            <a:ext cx="7870698" cy="685800"/>
          </a:xfrm>
          <a:prstGeom prst="rect">
            <a:avLst/>
          </a:prstGeom>
          <a:solidFill>
            <a:srgbClr val="1B3A64"/>
          </a:solidFill>
          <a:ln w="12700">
            <a:solidFill>
              <a:srgbClr val="1B3A64"/>
            </a:solidFill>
            <a:prstDash val="solid"/>
          </a:ln>
        </p:spPr>
      </p:sp>
      <p:sp>
        <p:nvSpPr>
          <p:cNvPr id="7" name="Text 4"/>
          <p:cNvSpPr txBox="1"/>
          <p:nvPr/>
        </p:nvSpPr>
        <p:spPr>
          <a:xfrm>
            <a:off x="822960" y="2331720"/>
            <a:ext cx="7870698" cy="685800"/>
          </a:xfrm>
          <a:prstGeom prst="rect">
            <a:avLst/>
          </a:prstGeom>
          <a:noFill/>
        </p:spPr>
        <p:txBody>
          <a:bodyPr wrap="square" lIns="0" tIns="0" rIns="0" bIns="0" rtlCol="0" anchor="ctr"/>
          <a:lstStyle/>
          <a:p>
            <a:pPr marL="0" indent="0" algn="ctr">
              <a:buNone/>
            </a:pPr>
            <a:r>
              <a:rPr lang="en-US" sz="1600" b="1" dirty="0">
                <a:solidFill>
                  <a:srgbClr val="FFFFFF"/>
                </a:solidFill>
                <a:latin typeface="Arial" panose="020B0604020202020204" pitchFamily="34" charset="0"/>
                <a:ea typeface="Arial" panose="020B0604020202020204" pitchFamily="34" charset="-122"/>
                <a:cs typeface="Arial" panose="020B0604020202020204" pitchFamily="34" charset="-120"/>
              </a:rPr>
              <a:t>Train</a:t>
            </a:r>
            <a:endParaRPr lang="en-US" sz="1600" dirty="0"/>
          </a:p>
        </p:txBody>
      </p:sp>
      <p:sp>
        <p:nvSpPr>
          <p:cNvPr id="8" name="Text 5"/>
          <p:cNvSpPr txBox="1"/>
          <p:nvPr/>
        </p:nvSpPr>
        <p:spPr>
          <a:xfrm>
            <a:off x="822960" y="3081528"/>
            <a:ext cx="7907274" cy="320040"/>
          </a:xfrm>
          <a:prstGeom prst="rect">
            <a:avLst/>
          </a:prstGeom>
          <a:noFill/>
        </p:spPr>
        <p:txBody>
          <a:bodyPr wrap="square" lIns="0" tIns="0" rIns="0" bIns="0" rtlCol="0" anchor="t"/>
          <a:lstStyle/>
          <a:p>
            <a:pPr marL="0" indent="0" algn="ctr">
              <a:buNone/>
            </a:pPr>
            <a:r>
              <a:rPr lang="en-US" sz="1200" dirty="0">
                <a:solidFill>
                  <a:srgbClr val="6B7280"/>
                </a:solidFill>
                <a:latin typeface="Arial" panose="020B0604020202020204" pitchFamily="34" charset="0"/>
                <a:ea typeface="Arial" panose="020B0604020202020204" pitchFamily="34" charset="-122"/>
                <a:cs typeface="Arial" panose="020B0604020202020204" pitchFamily="34" charset="-120"/>
              </a:rPr>
              <a:t>Jan 2023 – Jun 2024 (18 months)</a:t>
            </a:r>
            <a:endParaRPr lang="en-US" sz="1200" dirty="0"/>
          </a:p>
        </p:txBody>
      </p:sp>
      <p:sp>
        <p:nvSpPr>
          <p:cNvPr id="9" name="Shape 6"/>
          <p:cNvSpPr/>
          <p:nvPr/>
        </p:nvSpPr>
        <p:spPr>
          <a:xfrm>
            <a:off x="8730234" y="2331720"/>
            <a:ext cx="1281303" cy="685800"/>
          </a:xfrm>
          <a:prstGeom prst="rect">
            <a:avLst/>
          </a:prstGeom>
          <a:solidFill>
            <a:srgbClr val="E8872A"/>
          </a:solidFill>
          <a:ln w="12700">
            <a:solidFill>
              <a:srgbClr val="E8872A"/>
            </a:solidFill>
            <a:prstDash val="solid"/>
          </a:ln>
        </p:spPr>
      </p:sp>
      <p:sp>
        <p:nvSpPr>
          <p:cNvPr id="10" name="Text 7"/>
          <p:cNvSpPr txBox="1"/>
          <p:nvPr/>
        </p:nvSpPr>
        <p:spPr>
          <a:xfrm>
            <a:off x="8730234" y="2331720"/>
            <a:ext cx="1281303" cy="685800"/>
          </a:xfrm>
          <a:prstGeom prst="rect">
            <a:avLst/>
          </a:prstGeom>
          <a:noFill/>
        </p:spPr>
        <p:txBody>
          <a:bodyPr wrap="square" lIns="0" tIns="0" rIns="0" bIns="0" rtlCol="0" anchor="ctr"/>
          <a:lstStyle/>
          <a:p>
            <a:pPr marL="0" indent="0" algn="ctr">
              <a:buNone/>
            </a:pPr>
            <a:r>
              <a:rPr lang="en-US" sz="1600" b="1" dirty="0">
                <a:solidFill>
                  <a:srgbClr val="FFFFFF"/>
                </a:solidFill>
                <a:latin typeface="Arial" panose="020B0604020202020204" pitchFamily="34" charset="0"/>
                <a:ea typeface="Arial" panose="020B0604020202020204" pitchFamily="34" charset="-122"/>
                <a:cs typeface="Arial" panose="020B0604020202020204" pitchFamily="34" charset="-120"/>
              </a:rPr>
              <a:t>Valid</a:t>
            </a:r>
            <a:endParaRPr lang="en-US" sz="1600" dirty="0"/>
          </a:p>
        </p:txBody>
      </p:sp>
      <p:sp>
        <p:nvSpPr>
          <p:cNvPr id="11" name="Text 8"/>
          <p:cNvSpPr txBox="1"/>
          <p:nvPr/>
        </p:nvSpPr>
        <p:spPr>
          <a:xfrm>
            <a:off x="8730234" y="3081528"/>
            <a:ext cx="2011680" cy="320040"/>
          </a:xfrm>
          <a:prstGeom prst="rect">
            <a:avLst/>
          </a:prstGeom>
          <a:noFill/>
        </p:spPr>
        <p:txBody>
          <a:bodyPr wrap="square" lIns="0" tIns="0" rIns="0" bIns="0" rtlCol="0" anchor="t"/>
          <a:lstStyle/>
          <a:p>
            <a:pPr marL="0" indent="0" algn="l">
              <a:buNone/>
            </a:pPr>
            <a:r>
              <a:rPr lang="en-US" sz="1200" dirty="0">
                <a:solidFill>
                  <a:srgbClr val="6B7280"/>
                </a:solidFill>
                <a:latin typeface="Arial" panose="020B0604020202020204" pitchFamily="34" charset="0"/>
                <a:ea typeface="Arial" panose="020B0604020202020204" pitchFamily="34" charset="-122"/>
                <a:cs typeface="Arial" panose="020B0604020202020204" pitchFamily="34" charset="-120"/>
              </a:rPr>
              <a:t>Jul – Sep 2024</a:t>
            </a:r>
            <a:endParaRPr lang="en-US" sz="1200" dirty="0"/>
          </a:p>
        </p:txBody>
      </p:sp>
      <p:sp>
        <p:nvSpPr>
          <p:cNvPr id="12" name="Shape 9"/>
          <p:cNvSpPr/>
          <p:nvPr/>
        </p:nvSpPr>
        <p:spPr>
          <a:xfrm>
            <a:off x="10048113" y="2331720"/>
            <a:ext cx="1281303" cy="685800"/>
          </a:xfrm>
          <a:prstGeom prst="rect">
            <a:avLst/>
          </a:prstGeom>
          <a:solidFill>
            <a:srgbClr val="CC3224"/>
          </a:solidFill>
          <a:ln w="12700">
            <a:solidFill>
              <a:srgbClr val="CC3224"/>
            </a:solidFill>
            <a:prstDash val="solid"/>
          </a:ln>
        </p:spPr>
      </p:sp>
      <p:sp>
        <p:nvSpPr>
          <p:cNvPr id="13" name="Text 10"/>
          <p:cNvSpPr txBox="1"/>
          <p:nvPr/>
        </p:nvSpPr>
        <p:spPr>
          <a:xfrm>
            <a:off x="10048113" y="2331720"/>
            <a:ext cx="1281303" cy="685800"/>
          </a:xfrm>
          <a:prstGeom prst="rect">
            <a:avLst/>
          </a:prstGeom>
          <a:noFill/>
        </p:spPr>
        <p:txBody>
          <a:bodyPr wrap="square" lIns="0" tIns="0" rIns="0" bIns="0" rtlCol="0" anchor="ctr"/>
          <a:lstStyle/>
          <a:p>
            <a:pPr marL="0" indent="0" algn="ctr">
              <a:buNone/>
            </a:pPr>
            <a:r>
              <a:rPr lang="en-US" sz="1600" b="1" dirty="0">
                <a:solidFill>
                  <a:srgbClr val="FFFFFF"/>
                </a:solidFill>
                <a:latin typeface="Arial" panose="020B0604020202020204" pitchFamily="34" charset="0"/>
                <a:ea typeface="Arial" panose="020B0604020202020204" pitchFamily="34" charset="-122"/>
                <a:cs typeface="Arial" panose="020B0604020202020204" pitchFamily="34" charset="-120"/>
              </a:rPr>
              <a:t>Test</a:t>
            </a:r>
            <a:endParaRPr lang="en-US" sz="1600" dirty="0"/>
          </a:p>
        </p:txBody>
      </p:sp>
      <p:sp>
        <p:nvSpPr>
          <p:cNvPr id="14" name="Text 11"/>
          <p:cNvSpPr txBox="1"/>
          <p:nvPr/>
        </p:nvSpPr>
        <p:spPr>
          <a:xfrm>
            <a:off x="10048113" y="3081528"/>
            <a:ext cx="2011680" cy="320040"/>
          </a:xfrm>
          <a:prstGeom prst="rect">
            <a:avLst/>
          </a:prstGeom>
          <a:noFill/>
        </p:spPr>
        <p:txBody>
          <a:bodyPr wrap="square" lIns="0" tIns="0" rIns="0" bIns="0" rtlCol="0" anchor="t"/>
          <a:lstStyle/>
          <a:p>
            <a:pPr marL="0" indent="0" algn="l">
              <a:buNone/>
            </a:pPr>
            <a:r>
              <a:rPr lang="en-US" sz="1200" dirty="0">
                <a:solidFill>
                  <a:srgbClr val="6B7280"/>
                </a:solidFill>
                <a:latin typeface="Arial" panose="020B0604020202020204" pitchFamily="34" charset="0"/>
                <a:ea typeface="Arial" panose="020B0604020202020204" pitchFamily="34" charset="-122"/>
                <a:cs typeface="Arial" panose="020B0604020202020204" pitchFamily="34" charset="-120"/>
              </a:rPr>
              <a:t>Oct – Dec 2024</a:t>
            </a:r>
            <a:endParaRPr lang="en-US" sz="1200" dirty="0"/>
          </a:p>
        </p:txBody>
      </p:sp>
      <p:sp>
        <p:nvSpPr>
          <p:cNvPr id="15" name="Text 12"/>
          <p:cNvSpPr txBox="1"/>
          <p:nvPr/>
        </p:nvSpPr>
        <p:spPr>
          <a:xfrm>
            <a:off x="822960" y="2057400"/>
            <a:ext cx="914400" cy="228600"/>
          </a:xfrm>
          <a:prstGeom prst="rect">
            <a:avLst/>
          </a:prstGeom>
          <a:noFill/>
        </p:spPr>
        <p:txBody>
          <a:bodyPr wrap="square" lIns="0" tIns="0" rIns="0" bIns="0" rtlCol="0" anchor="t"/>
          <a:lstStyle/>
          <a:p>
            <a:pPr marL="0" indent="0">
              <a:buNone/>
            </a:pPr>
            <a:r>
              <a:rPr lang="en-US" sz="1100" dirty="0">
                <a:solidFill>
                  <a:srgbClr val="6B7280"/>
                </a:solidFill>
                <a:latin typeface="Arial" panose="020B0604020202020204" pitchFamily="34" charset="0"/>
                <a:ea typeface="Arial" panose="020B0604020202020204" pitchFamily="34" charset="-122"/>
                <a:cs typeface="Arial" panose="020B0604020202020204" pitchFamily="34" charset="-120"/>
              </a:rPr>
              <a:t>2023</a:t>
            </a:r>
            <a:endParaRPr lang="en-US" sz="1100" dirty="0"/>
          </a:p>
        </p:txBody>
      </p:sp>
      <p:sp>
        <p:nvSpPr>
          <p:cNvPr id="16" name="Text 13"/>
          <p:cNvSpPr txBox="1"/>
          <p:nvPr/>
        </p:nvSpPr>
        <p:spPr>
          <a:xfrm>
            <a:off x="6094476" y="2057400"/>
            <a:ext cx="914400" cy="228600"/>
          </a:xfrm>
          <a:prstGeom prst="rect">
            <a:avLst/>
          </a:prstGeom>
          <a:noFill/>
        </p:spPr>
        <p:txBody>
          <a:bodyPr wrap="square" lIns="0" tIns="0" rIns="0" bIns="0" rtlCol="0" anchor="t"/>
          <a:lstStyle/>
          <a:p>
            <a:pPr marL="0" indent="0">
              <a:buNone/>
            </a:pPr>
            <a:r>
              <a:rPr lang="en-US" sz="1100" dirty="0">
                <a:solidFill>
                  <a:srgbClr val="6B7280"/>
                </a:solidFill>
                <a:latin typeface="Arial" panose="020B0604020202020204" pitchFamily="34" charset="0"/>
                <a:ea typeface="Arial" panose="020B0604020202020204" pitchFamily="34" charset="-122"/>
                <a:cs typeface="Arial" panose="020B0604020202020204" pitchFamily="34" charset="-120"/>
              </a:rPr>
              <a:t>2024</a:t>
            </a:r>
            <a:endParaRPr lang="en-US" sz="1100" dirty="0"/>
          </a:p>
        </p:txBody>
      </p:sp>
      <p:sp>
        <p:nvSpPr>
          <p:cNvPr id="17" name="card"/>
          <p:cNvSpPr/>
          <p:nvPr/>
        </p:nvSpPr>
        <p:spPr>
          <a:xfrm>
            <a:off x="822960" y="3657600"/>
            <a:ext cx="5166360" cy="2148840"/>
          </a:xfrm>
          <a:prstGeom prst="roundRect">
            <a:avLst>
              <a:gd name="adj" fmla="val 3404"/>
            </a:avLst>
          </a:prstGeom>
          <a:solidFill>
            <a:srgbClr val="F3F4F6"/>
          </a:solidFill>
          <a:ln w="12700">
            <a:solidFill>
              <a:srgbClr val="F3F4F6"/>
            </a:solidFill>
            <a:prstDash val="solid"/>
          </a:ln>
        </p:spPr>
      </p:sp>
      <p:sp>
        <p:nvSpPr>
          <p:cNvPr id="18" name="card"/>
          <p:cNvSpPr/>
          <p:nvPr/>
        </p:nvSpPr>
        <p:spPr>
          <a:xfrm>
            <a:off x="6199632" y="3657600"/>
            <a:ext cx="5166360" cy="2148840"/>
          </a:xfrm>
          <a:prstGeom prst="roundRect">
            <a:avLst>
              <a:gd name="adj" fmla="val 3404"/>
            </a:avLst>
          </a:prstGeom>
          <a:solidFill>
            <a:srgbClr val="F3F4F6"/>
          </a:solidFill>
          <a:ln w="12700">
            <a:solidFill>
              <a:srgbClr val="F3F4F6"/>
            </a:solidFill>
            <a:prstDash val="solid"/>
          </a:ln>
        </p:spPr>
      </p:sp>
      <p:sp>
        <p:nvSpPr>
          <p:cNvPr id="19" name="Text 16"/>
          <p:cNvSpPr txBox="1"/>
          <p:nvPr/>
        </p:nvSpPr>
        <p:spPr>
          <a:xfrm>
            <a:off x="1051560" y="3794760"/>
            <a:ext cx="4754880" cy="320040"/>
          </a:xfrm>
          <a:prstGeom prst="rect">
            <a:avLst/>
          </a:prstGeom>
          <a:noFill/>
        </p:spPr>
        <p:txBody>
          <a:bodyPr wrap="square" lIns="0" tIns="0" rIns="0" bIns="0" rtlCol="0" anchor="t"/>
          <a:lstStyle/>
          <a:p>
            <a:pPr marL="0" indent="0">
              <a:buNone/>
            </a:pPr>
            <a:r>
              <a:rPr lang="en-US" sz="1600" b="1" dirty="0">
                <a:solidFill>
                  <a:srgbClr val="CC3224"/>
                </a:solidFill>
                <a:latin typeface="Arial" panose="020B0604020202020204" pitchFamily="34" charset="0"/>
                <a:ea typeface="Arial" panose="020B0604020202020204" pitchFamily="34" charset="-122"/>
                <a:cs typeface="Arial" panose="020B0604020202020204" pitchFamily="34" charset="-120"/>
              </a:rPr>
              <a:t>Why not a random split?</a:t>
            </a:r>
            <a:endParaRPr lang="en-US" sz="1600" dirty="0"/>
          </a:p>
        </p:txBody>
      </p:sp>
      <p:sp>
        <p:nvSpPr>
          <p:cNvPr id="20" name="Text 17"/>
          <p:cNvSpPr txBox="1"/>
          <p:nvPr/>
        </p:nvSpPr>
        <p:spPr>
          <a:xfrm>
            <a:off x="1051560" y="4187952"/>
            <a:ext cx="4754880" cy="1554480"/>
          </a:xfrm>
          <a:prstGeom prst="rect">
            <a:avLst/>
          </a:prstGeom>
          <a:noFill/>
        </p:spPr>
        <p:txBody>
          <a:bodyPr wrap="square" lIns="0" tIns="0" rIns="0" bIns="0" rtlCol="0" anchor="t"/>
          <a:lstStyle/>
          <a:p>
            <a:pPr marL="0" indent="0">
              <a:buNone/>
            </a:pPr>
            <a:r>
              <a:rPr lang="en-US" sz="1600" dirty="0">
                <a:solidFill>
                  <a:srgbClr val="1F2937"/>
                </a:solidFill>
                <a:latin typeface="Arial" panose="020B0604020202020204" pitchFamily="34" charset="0"/>
                <a:ea typeface="Arial" panose="020B0604020202020204" pitchFamily="34" charset="-122"/>
                <a:cs typeface="Arial" panose="020B0604020202020204" pitchFamily="34" charset="-120"/>
              </a:rPr>
              <a:t>Training would include collisions from later months, so the model learns future seasonal patterns it could never know in real use – the test score would be too optimistic.</a:t>
            </a:r>
            <a:endParaRPr lang="en-US" sz="1600" dirty="0"/>
          </a:p>
        </p:txBody>
      </p:sp>
      <p:sp>
        <p:nvSpPr>
          <p:cNvPr id="21" name="Text 18"/>
          <p:cNvSpPr txBox="1"/>
          <p:nvPr/>
        </p:nvSpPr>
        <p:spPr>
          <a:xfrm>
            <a:off x="6428232" y="3794760"/>
            <a:ext cx="4754880" cy="320040"/>
          </a:xfrm>
          <a:prstGeom prst="rect">
            <a:avLst/>
          </a:prstGeom>
          <a:noFill/>
        </p:spPr>
        <p:txBody>
          <a:bodyPr wrap="square" lIns="0" tIns="0" rIns="0" bIns="0" rtlCol="0" anchor="t"/>
          <a:lstStyle/>
          <a:p>
            <a:pPr marL="0" indent="0">
              <a:buNone/>
            </a:pPr>
            <a:r>
              <a:rPr lang="en-US" sz="1600" b="1" dirty="0">
                <a:solidFill>
                  <a:srgbClr val="2F855A"/>
                </a:solidFill>
                <a:latin typeface="Arial" panose="020B0604020202020204" pitchFamily="34" charset="0"/>
                <a:ea typeface="Arial" panose="020B0604020202020204" pitchFamily="34" charset="-122"/>
                <a:cs typeface="Arial" panose="020B0604020202020204" pitchFamily="34" charset="-120"/>
              </a:rPr>
              <a:t>Chronological = realistic</a:t>
            </a:r>
            <a:endParaRPr lang="en-US" sz="1600" dirty="0"/>
          </a:p>
        </p:txBody>
      </p:sp>
      <p:sp>
        <p:nvSpPr>
          <p:cNvPr id="22" name="Text 19"/>
          <p:cNvSpPr txBox="1"/>
          <p:nvPr/>
        </p:nvSpPr>
        <p:spPr>
          <a:xfrm>
            <a:off x="6428232" y="4187952"/>
            <a:ext cx="4754880" cy="1554480"/>
          </a:xfrm>
          <a:prstGeom prst="rect">
            <a:avLst/>
          </a:prstGeom>
          <a:noFill/>
        </p:spPr>
        <p:txBody>
          <a:bodyPr wrap="square" lIns="0" tIns="0" rIns="0" bIns="0" rtlCol="0" anchor="t"/>
          <a:lstStyle/>
          <a:p>
            <a:pPr marL="0" indent="0">
              <a:buNone/>
            </a:pPr>
            <a:r>
              <a:rPr lang="en-US" sz="1600" dirty="0">
                <a:solidFill>
                  <a:srgbClr val="1F2937"/>
                </a:solidFill>
                <a:latin typeface="Arial" panose="020B0604020202020204" pitchFamily="34" charset="0"/>
                <a:ea typeface="Arial" panose="020B0604020202020204" pitchFamily="34" charset="-122"/>
                <a:cs typeface="Arial" panose="020B0604020202020204" pitchFamily="34" charset="-120"/>
              </a:rPr>
              <a:t>Learn from the past, predict the future – exactly how the model is used. Test months are never seen during training.</a:t>
            </a:r>
            <a:endParaRPr lang="en-US" sz="1600" dirty="0"/>
          </a:p>
        </p:txBody>
      </p:sp>
      <p:sp>
        <p:nvSpPr>
          <p:cNvPr id="25" name="Slide Number Placeholder 0"/>
          <p:cNvSpPr>
            <a:spLocks noGrp="1"/>
          </p:cNvSpPr>
          <p:nvPr>
            <p:ph type="sldNum" sz="quarter" idx="4294967295"/>
          </p:nvPr>
        </p:nvSpPr>
        <p:spPr>
          <a:xfrm>
            <a:off x="11320272" y="6492240"/>
            <a:ext cx="320040" cy="256032"/>
          </a:xfrm>
          <a:prstGeom prst="rect">
            <a:avLst/>
          </a:prstGeom>
        </p:spPr>
        <p:txBody>
          <a:bodyPr/>
          <a:lstStyle>
            <a:lvl1pPr>
              <a:defRPr sz="1000">
                <a:solidFill>
                  <a:srgbClr val="6B7280"/>
                </a:solidFill>
                <a:latin typeface="Arial" panose="020B0604020202020204"/>
                <a:ea typeface="Arial" panose="020B0604020202020204"/>
                <a:cs typeface="Arial" panose="020B0604020202020204"/>
              </a:defRPr>
            </a:lvl1pPr>
          </a:lstStyle>
          <a:p>
            <a:pPr algn="r"/>
            <a:fld id="{F7021451-1387-4CA6-816F-3879F97B5CBC}" type="slidenum">
              <a:rPr lang="en-US" b="0"/>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7"/>
          <p:cNvSpPr/>
          <p:nvPr>
            <p:ph type="title" idx="107" hasCustomPrompt="1"/>
          </p:nvPr>
        </p:nvSpPr>
        <p:spPr>
          <a:xfrm>
            <a:off x="594360" y="566928"/>
            <a:ext cx="10515600" cy="594360"/>
          </a:xfrm>
          <a:prstGeom prst="rect">
            <a:avLst/>
          </a:prstGeom>
          <a:noFill/>
        </p:spPr>
        <p:txBody>
          <a:bodyPr wrap="square" lIns="0" tIns="0" rIns="0" bIns="0" rtlCol="0" anchor="ctr"/>
          <a:lstStyle/>
          <a:p>
            <a:pPr marL="0" indent="0" algn="l">
              <a:buNone/>
            </a:pPr>
            <a:r>
              <a:rPr lang="en-US" sz="3000" b="1" dirty="0">
                <a:solidFill>
                  <a:srgbClr val="1B3A64"/>
                </a:solidFill>
                <a:latin typeface="Arial" panose="020B0604020202020204" pitchFamily="34" charset="0"/>
                <a:ea typeface="Arial" panose="020B0604020202020204" pitchFamily="34" charset="-122"/>
                <a:cs typeface="Arial" panose="020B0604020202020204" pitchFamily="34" charset="-120"/>
              </a:rPr>
              <a:t>3. Proposed MLOps Architecture</a:t>
            </a:r>
            <a:endParaRPr lang="en-US" sz="3000" dirty="0"/>
          </a:p>
        </p:txBody>
      </p:sp>
      <p:sp>
        <p:nvSpPr>
          <p:cNvPr id="3" name="content panel"/>
          <p:cNvSpPr/>
          <p:nvPr/>
        </p:nvSpPr>
        <p:spPr>
          <a:xfrm>
            <a:off x="548640" y="1417320"/>
            <a:ext cx="11091672" cy="4846320"/>
          </a:xfrm>
          <a:prstGeom prst="roundRect">
            <a:avLst>
              <a:gd name="adj" fmla="val 1132"/>
            </a:avLst>
          </a:prstGeom>
          <a:solidFill>
            <a:srgbClr val="FFFFFF"/>
          </a:solidFill>
          <a:ln w="15875">
            <a:solidFill>
              <a:srgbClr val="D1D5DB"/>
            </a:solidFill>
            <a:prstDash val="solid"/>
          </a:ln>
        </p:spPr>
      </p:sp>
      <p:sp>
        <p:nvSpPr>
          <p:cNvPr id="5" name="Shape 2"/>
          <p:cNvSpPr/>
          <p:nvPr/>
        </p:nvSpPr>
        <p:spPr>
          <a:xfrm>
            <a:off x="822960" y="1783080"/>
            <a:ext cx="1783080" cy="1234440"/>
          </a:xfrm>
          <a:prstGeom prst="rect">
            <a:avLst/>
          </a:prstGeom>
          <a:solidFill>
            <a:srgbClr val="1B3A64"/>
          </a:solidFill>
          <a:ln w="12700">
            <a:solidFill>
              <a:srgbClr val="1B3A64"/>
            </a:solidFill>
            <a:prstDash val="solid"/>
          </a:ln>
        </p:spPr>
      </p:sp>
      <p:sp>
        <p:nvSpPr>
          <p:cNvPr id="6" name="Text 3"/>
          <p:cNvSpPr txBox="1"/>
          <p:nvPr/>
        </p:nvSpPr>
        <p:spPr>
          <a:xfrm>
            <a:off x="914400" y="1920240"/>
            <a:ext cx="1600200" cy="411480"/>
          </a:xfrm>
          <a:prstGeom prst="rect">
            <a:avLst/>
          </a:prstGeom>
          <a:noFill/>
        </p:spPr>
        <p:txBody>
          <a:bodyPr wrap="square" lIns="0" tIns="0" rIns="0" bIns="0" rtlCol="0" anchor="ctr"/>
          <a:lstStyle/>
          <a:p>
            <a:pPr marL="0" indent="0" algn="ctr">
              <a:buNone/>
            </a:pPr>
            <a:r>
              <a:rPr lang="en-US" sz="1500" b="1" dirty="0">
                <a:solidFill>
                  <a:srgbClr val="FFFFFF"/>
                </a:solidFill>
                <a:latin typeface="Arial" panose="020B0604020202020204" pitchFamily="34" charset="0"/>
                <a:ea typeface="Arial" panose="020B0604020202020204" pitchFamily="34" charset="-122"/>
                <a:cs typeface="Arial" panose="020B0604020202020204" pitchFamily="34" charset="-120"/>
              </a:rPr>
              <a:t>Part 1 features</a:t>
            </a:r>
            <a:endParaRPr lang="en-US" sz="1500" dirty="0"/>
          </a:p>
        </p:txBody>
      </p:sp>
      <p:sp>
        <p:nvSpPr>
          <p:cNvPr id="7" name="Text 4"/>
          <p:cNvSpPr txBox="1"/>
          <p:nvPr/>
        </p:nvSpPr>
        <p:spPr>
          <a:xfrm>
            <a:off x="914400" y="2377440"/>
            <a:ext cx="1600200" cy="548640"/>
          </a:xfrm>
          <a:prstGeom prst="rect">
            <a:avLst/>
          </a:prstGeom>
          <a:noFill/>
        </p:spPr>
        <p:txBody>
          <a:bodyPr wrap="square" lIns="0" tIns="0" rIns="0" bIns="0" rtlCol="0" anchor="t"/>
          <a:lstStyle/>
          <a:p>
            <a:pPr marL="0" indent="0" algn="ctr">
              <a:buNone/>
            </a:pPr>
            <a:r>
              <a:rPr lang="en-US" sz="1200" dirty="0">
                <a:solidFill>
                  <a:srgbClr val="FFFFFF"/>
                </a:solidFill>
                <a:latin typeface="Arial" panose="020B0604020202020204" pitchFamily="34" charset="0"/>
                <a:ea typeface="Arial" panose="020B0604020202020204" pitchFamily="34" charset="-122"/>
                <a:cs typeface="Arial" panose="020B0604020202020204" pitchFamily="34" charset="-120"/>
              </a:rPr>
              <a:t>ml_accident_features</a:t>
            </a:r>
            <a:endParaRPr lang="en-US" sz="1200" dirty="0"/>
          </a:p>
        </p:txBody>
      </p:sp>
      <p:sp>
        <p:nvSpPr>
          <p:cNvPr id="8" name="Shape 5"/>
          <p:cNvSpPr/>
          <p:nvPr/>
        </p:nvSpPr>
        <p:spPr>
          <a:xfrm>
            <a:off x="2651760" y="2400300"/>
            <a:ext cx="315468" cy="0"/>
          </a:xfrm>
          <a:prstGeom prst="line">
            <a:avLst/>
          </a:prstGeom>
          <a:noFill/>
          <a:ln w="28575">
            <a:solidFill>
              <a:srgbClr val="E8872A"/>
            </a:solidFill>
            <a:prstDash val="solid"/>
            <a:tailEnd type="triangle"/>
          </a:ln>
        </p:spPr>
      </p:sp>
      <p:sp>
        <p:nvSpPr>
          <p:cNvPr id="9" name="Shape 6"/>
          <p:cNvSpPr/>
          <p:nvPr/>
        </p:nvSpPr>
        <p:spPr>
          <a:xfrm>
            <a:off x="3012948" y="1783080"/>
            <a:ext cx="1783080" cy="1234440"/>
          </a:xfrm>
          <a:prstGeom prst="rect">
            <a:avLst/>
          </a:prstGeom>
          <a:solidFill>
            <a:srgbClr val="1B3A64"/>
          </a:solidFill>
          <a:ln w="12700">
            <a:solidFill>
              <a:srgbClr val="1B3A64"/>
            </a:solidFill>
            <a:prstDash val="solid"/>
          </a:ln>
        </p:spPr>
      </p:sp>
      <p:sp>
        <p:nvSpPr>
          <p:cNvPr id="10" name="Text 7"/>
          <p:cNvSpPr txBox="1"/>
          <p:nvPr/>
        </p:nvSpPr>
        <p:spPr>
          <a:xfrm>
            <a:off x="3104388" y="1920240"/>
            <a:ext cx="1600200" cy="411480"/>
          </a:xfrm>
          <a:prstGeom prst="rect">
            <a:avLst/>
          </a:prstGeom>
          <a:noFill/>
        </p:spPr>
        <p:txBody>
          <a:bodyPr wrap="square" lIns="0" tIns="0" rIns="0" bIns="0" rtlCol="0" anchor="ctr"/>
          <a:lstStyle/>
          <a:p>
            <a:pPr marL="0" indent="0" algn="ctr">
              <a:buNone/>
            </a:pPr>
            <a:r>
              <a:rPr lang="en-US" sz="1500" b="1" dirty="0">
                <a:solidFill>
                  <a:srgbClr val="FFFFFF"/>
                </a:solidFill>
                <a:latin typeface="Arial" panose="020B0604020202020204" pitchFamily="34" charset="0"/>
                <a:ea typeface="Arial" panose="020B0604020202020204" pitchFamily="34" charset="-122"/>
                <a:cs typeface="Arial" panose="020B0604020202020204" pitchFamily="34" charset="-120"/>
              </a:rPr>
              <a:t>Train</a:t>
            </a:r>
            <a:endParaRPr lang="en-US" sz="1500" dirty="0"/>
          </a:p>
        </p:txBody>
      </p:sp>
      <p:sp>
        <p:nvSpPr>
          <p:cNvPr id="11" name="Text 8"/>
          <p:cNvSpPr txBox="1"/>
          <p:nvPr/>
        </p:nvSpPr>
        <p:spPr>
          <a:xfrm>
            <a:off x="3104388" y="2377440"/>
            <a:ext cx="1600200" cy="548640"/>
          </a:xfrm>
          <a:prstGeom prst="rect">
            <a:avLst/>
          </a:prstGeom>
          <a:noFill/>
        </p:spPr>
        <p:txBody>
          <a:bodyPr wrap="square" lIns="0" tIns="0" rIns="0" bIns="0" rtlCol="0" anchor="t"/>
          <a:lstStyle/>
          <a:p>
            <a:pPr marL="0" indent="0" algn="ctr">
              <a:buNone/>
            </a:pPr>
            <a:r>
              <a:rPr lang="en-US" sz="1200" dirty="0">
                <a:solidFill>
                  <a:srgbClr val="FFFFFF"/>
                </a:solidFill>
                <a:latin typeface="Arial" panose="020B0604020202020204" pitchFamily="34" charset="0"/>
                <a:ea typeface="Arial" panose="020B0604020202020204" pitchFamily="34" charset="-122"/>
                <a:cs typeface="Arial" panose="020B0604020202020204" pitchFamily="34" charset="-120"/>
              </a:rPr>
              <a:t>sklearn pipeline + LightGBM</a:t>
            </a:r>
            <a:endParaRPr lang="en-US" sz="1200" dirty="0"/>
          </a:p>
        </p:txBody>
      </p:sp>
      <p:sp>
        <p:nvSpPr>
          <p:cNvPr id="12" name="Shape 9"/>
          <p:cNvSpPr/>
          <p:nvPr/>
        </p:nvSpPr>
        <p:spPr>
          <a:xfrm>
            <a:off x="4841748" y="2400300"/>
            <a:ext cx="315468" cy="0"/>
          </a:xfrm>
          <a:prstGeom prst="line">
            <a:avLst/>
          </a:prstGeom>
          <a:noFill/>
          <a:ln w="28575">
            <a:solidFill>
              <a:srgbClr val="E8872A"/>
            </a:solidFill>
            <a:prstDash val="solid"/>
            <a:tailEnd type="triangle"/>
          </a:ln>
        </p:spPr>
      </p:sp>
      <p:sp>
        <p:nvSpPr>
          <p:cNvPr id="13" name="Shape 10"/>
          <p:cNvSpPr/>
          <p:nvPr/>
        </p:nvSpPr>
        <p:spPr>
          <a:xfrm>
            <a:off x="5202936" y="1783080"/>
            <a:ext cx="1783080" cy="1234440"/>
          </a:xfrm>
          <a:prstGeom prst="rect">
            <a:avLst/>
          </a:prstGeom>
          <a:solidFill>
            <a:srgbClr val="1B3A64"/>
          </a:solidFill>
          <a:ln w="12700">
            <a:solidFill>
              <a:srgbClr val="1B3A64"/>
            </a:solidFill>
            <a:prstDash val="solid"/>
          </a:ln>
        </p:spPr>
      </p:sp>
      <p:sp>
        <p:nvSpPr>
          <p:cNvPr id="14" name="Text 11"/>
          <p:cNvSpPr txBox="1"/>
          <p:nvPr/>
        </p:nvSpPr>
        <p:spPr>
          <a:xfrm>
            <a:off x="5294376" y="1920240"/>
            <a:ext cx="1600200" cy="411480"/>
          </a:xfrm>
          <a:prstGeom prst="rect">
            <a:avLst/>
          </a:prstGeom>
          <a:noFill/>
        </p:spPr>
        <p:txBody>
          <a:bodyPr wrap="square" lIns="0" tIns="0" rIns="0" bIns="0" rtlCol="0" anchor="ctr"/>
          <a:lstStyle/>
          <a:p>
            <a:pPr marL="0" indent="0" algn="ctr">
              <a:buNone/>
            </a:pPr>
            <a:r>
              <a:rPr lang="en-US" sz="1500" b="1" dirty="0">
                <a:solidFill>
                  <a:srgbClr val="FFFFFF"/>
                </a:solidFill>
                <a:latin typeface="Arial" panose="020B0604020202020204" pitchFamily="34" charset="0"/>
                <a:ea typeface="Arial" panose="020B0604020202020204" pitchFamily="34" charset="-122"/>
                <a:cs typeface="Arial" panose="020B0604020202020204" pitchFamily="34" charset="-120"/>
              </a:rPr>
              <a:t>MLflow tracking</a:t>
            </a:r>
            <a:endParaRPr lang="en-US" sz="1500" dirty="0"/>
          </a:p>
        </p:txBody>
      </p:sp>
      <p:sp>
        <p:nvSpPr>
          <p:cNvPr id="15" name="Text 12"/>
          <p:cNvSpPr txBox="1"/>
          <p:nvPr/>
        </p:nvSpPr>
        <p:spPr>
          <a:xfrm>
            <a:off x="5294376" y="2377440"/>
            <a:ext cx="1600200" cy="548640"/>
          </a:xfrm>
          <a:prstGeom prst="rect">
            <a:avLst/>
          </a:prstGeom>
          <a:noFill/>
        </p:spPr>
        <p:txBody>
          <a:bodyPr wrap="square" lIns="0" tIns="0" rIns="0" bIns="0" rtlCol="0" anchor="t"/>
          <a:lstStyle/>
          <a:p>
            <a:pPr marL="0" indent="0" algn="ctr">
              <a:buNone/>
            </a:pPr>
            <a:r>
              <a:rPr lang="en-US" sz="1200" dirty="0">
                <a:solidFill>
                  <a:srgbClr val="FFFFFF"/>
                </a:solidFill>
                <a:latin typeface="Arial" panose="020B0604020202020204" pitchFamily="34" charset="0"/>
                <a:ea typeface="Arial" panose="020B0604020202020204" pitchFamily="34" charset="-122"/>
                <a:cs typeface="Arial" panose="020B0604020202020204" pitchFamily="34" charset="-120"/>
              </a:rPr>
              <a:t>params, metrics, artefacts</a:t>
            </a:r>
            <a:endParaRPr lang="en-US" sz="1200" dirty="0"/>
          </a:p>
        </p:txBody>
      </p:sp>
      <p:sp>
        <p:nvSpPr>
          <p:cNvPr id="16" name="Shape 13"/>
          <p:cNvSpPr/>
          <p:nvPr/>
        </p:nvSpPr>
        <p:spPr>
          <a:xfrm>
            <a:off x="7031736" y="2400300"/>
            <a:ext cx="315468" cy="0"/>
          </a:xfrm>
          <a:prstGeom prst="line">
            <a:avLst/>
          </a:prstGeom>
          <a:noFill/>
          <a:ln w="28575">
            <a:solidFill>
              <a:srgbClr val="E8872A"/>
            </a:solidFill>
            <a:prstDash val="solid"/>
            <a:tailEnd type="triangle"/>
          </a:ln>
        </p:spPr>
      </p:sp>
      <p:sp>
        <p:nvSpPr>
          <p:cNvPr id="17" name="Shape 14"/>
          <p:cNvSpPr/>
          <p:nvPr/>
        </p:nvSpPr>
        <p:spPr>
          <a:xfrm>
            <a:off x="7392924" y="1783080"/>
            <a:ext cx="1783080" cy="1234440"/>
          </a:xfrm>
          <a:prstGeom prst="rect">
            <a:avLst/>
          </a:prstGeom>
          <a:solidFill>
            <a:srgbClr val="1B3A64"/>
          </a:solidFill>
          <a:ln w="12700">
            <a:solidFill>
              <a:srgbClr val="1B3A64"/>
            </a:solidFill>
            <a:prstDash val="solid"/>
          </a:ln>
        </p:spPr>
      </p:sp>
      <p:sp>
        <p:nvSpPr>
          <p:cNvPr id="18" name="Text 15"/>
          <p:cNvSpPr txBox="1"/>
          <p:nvPr/>
        </p:nvSpPr>
        <p:spPr>
          <a:xfrm>
            <a:off x="7484364" y="1920240"/>
            <a:ext cx="1600200" cy="411480"/>
          </a:xfrm>
          <a:prstGeom prst="rect">
            <a:avLst/>
          </a:prstGeom>
          <a:noFill/>
        </p:spPr>
        <p:txBody>
          <a:bodyPr wrap="square" lIns="0" tIns="0" rIns="0" bIns="0" rtlCol="0" anchor="ctr"/>
          <a:lstStyle/>
          <a:p>
            <a:pPr marL="0" indent="0" algn="ctr">
              <a:buNone/>
            </a:pPr>
            <a:r>
              <a:rPr lang="en-US" sz="1500" b="1" dirty="0">
                <a:solidFill>
                  <a:srgbClr val="FFFFFF"/>
                </a:solidFill>
                <a:latin typeface="Arial" panose="020B0604020202020204" pitchFamily="34" charset="0"/>
                <a:ea typeface="Arial" panose="020B0604020202020204" pitchFamily="34" charset="-122"/>
                <a:cs typeface="Arial" panose="020B0604020202020204" pitchFamily="34" charset="-120"/>
              </a:rPr>
              <a:t>Model registry</a:t>
            </a:r>
            <a:endParaRPr lang="en-US" sz="1500" dirty="0"/>
          </a:p>
        </p:txBody>
      </p:sp>
      <p:sp>
        <p:nvSpPr>
          <p:cNvPr id="19" name="Text 16"/>
          <p:cNvSpPr txBox="1"/>
          <p:nvPr/>
        </p:nvSpPr>
        <p:spPr>
          <a:xfrm>
            <a:off x="7484364" y="2377440"/>
            <a:ext cx="1600200" cy="548640"/>
          </a:xfrm>
          <a:prstGeom prst="rect">
            <a:avLst/>
          </a:prstGeom>
          <a:noFill/>
        </p:spPr>
        <p:txBody>
          <a:bodyPr wrap="square" lIns="0" tIns="0" rIns="0" bIns="0" rtlCol="0" anchor="t"/>
          <a:lstStyle/>
          <a:p>
            <a:pPr marL="0" indent="0" algn="ctr">
              <a:buNone/>
            </a:pPr>
            <a:r>
              <a:rPr lang="en-US" sz="1200" dirty="0">
                <a:solidFill>
                  <a:srgbClr val="FFFFFF"/>
                </a:solidFill>
                <a:latin typeface="Arial" panose="020B0604020202020204" pitchFamily="34" charset="0"/>
                <a:ea typeface="Arial" panose="020B0604020202020204" pitchFamily="34" charset="-122"/>
                <a:cs typeface="Arial" panose="020B0604020202020204" pitchFamily="34" charset="-120"/>
              </a:rPr>
              <a:t>versions + @champion alias</a:t>
            </a:r>
            <a:endParaRPr lang="en-US" sz="1200" dirty="0"/>
          </a:p>
        </p:txBody>
      </p:sp>
      <p:sp>
        <p:nvSpPr>
          <p:cNvPr id="20" name="Shape 17"/>
          <p:cNvSpPr/>
          <p:nvPr/>
        </p:nvSpPr>
        <p:spPr>
          <a:xfrm>
            <a:off x="9221724" y="2400300"/>
            <a:ext cx="315468" cy="0"/>
          </a:xfrm>
          <a:prstGeom prst="line">
            <a:avLst/>
          </a:prstGeom>
          <a:noFill/>
          <a:ln w="28575">
            <a:solidFill>
              <a:srgbClr val="E8872A"/>
            </a:solidFill>
            <a:prstDash val="solid"/>
            <a:tailEnd type="triangle"/>
          </a:ln>
        </p:spPr>
      </p:sp>
      <p:sp>
        <p:nvSpPr>
          <p:cNvPr id="21" name="Shape 18"/>
          <p:cNvSpPr/>
          <p:nvPr/>
        </p:nvSpPr>
        <p:spPr>
          <a:xfrm>
            <a:off x="9582912" y="1783080"/>
            <a:ext cx="1783080" cy="1234440"/>
          </a:xfrm>
          <a:prstGeom prst="rect">
            <a:avLst/>
          </a:prstGeom>
          <a:solidFill>
            <a:srgbClr val="E8872A"/>
          </a:solidFill>
          <a:ln w="12700">
            <a:solidFill>
              <a:srgbClr val="E8872A"/>
            </a:solidFill>
            <a:prstDash val="solid"/>
          </a:ln>
        </p:spPr>
      </p:sp>
      <p:sp>
        <p:nvSpPr>
          <p:cNvPr id="22" name="Text 19"/>
          <p:cNvSpPr txBox="1"/>
          <p:nvPr/>
        </p:nvSpPr>
        <p:spPr>
          <a:xfrm>
            <a:off x="9674352" y="1920240"/>
            <a:ext cx="1600200" cy="411480"/>
          </a:xfrm>
          <a:prstGeom prst="rect">
            <a:avLst/>
          </a:prstGeom>
          <a:noFill/>
        </p:spPr>
        <p:txBody>
          <a:bodyPr wrap="square" lIns="0" tIns="0" rIns="0" bIns="0" rtlCol="0" anchor="ctr"/>
          <a:lstStyle/>
          <a:p>
            <a:pPr marL="0" indent="0" algn="ctr">
              <a:buNone/>
            </a:pPr>
            <a:r>
              <a:rPr lang="en-US" sz="1500" b="1" dirty="0">
                <a:solidFill>
                  <a:srgbClr val="FFFFFF"/>
                </a:solidFill>
                <a:latin typeface="Arial" panose="020B0604020202020204" pitchFamily="34" charset="0"/>
                <a:ea typeface="Arial" panose="020B0604020202020204" pitchFamily="34" charset="-122"/>
                <a:cs typeface="Arial" panose="020B0604020202020204" pitchFamily="34" charset="-120"/>
              </a:rPr>
              <a:t>FastAPI in Docker</a:t>
            </a:r>
            <a:endParaRPr lang="en-US" sz="1500" dirty="0"/>
          </a:p>
        </p:txBody>
      </p:sp>
      <p:sp>
        <p:nvSpPr>
          <p:cNvPr id="23" name="Text 20"/>
          <p:cNvSpPr txBox="1"/>
          <p:nvPr/>
        </p:nvSpPr>
        <p:spPr>
          <a:xfrm>
            <a:off x="9674352" y="2377440"/>
            <a:ext cx="1600200" cy="548640"/>
          </a:xfrm>
          <a:prstGeom prst="rect">
            <a:avLst/>
          </a:prstGeom>
          <a:noFill/>
        </p:spPr>
        <p:txBody>
          <a:bodyPr wrap="square" lIns="0" tIns="0" rIns="0" bIns="0" rtlCol="0" anchor="t"/>
          <a:lstStyle/>
          <a:p>
            <a:pPr marL="0" indent="0" algn="ctr">
              <a:buNone/>
            </a:pPr>
            <a:r>
              <a:rPr lang="en-US" sz="1200" dirty="0">
                <a:solidFill>
                  <a:srgbClr val="FFFFFF"/>
                </a:solidFill>
                <a:latin typeface="Arial" panose="020B0604020202020204" pitchFamily="34" charset="0"/>
                <a:ea typeface="Arial" panose="020B0604020202020204" pitchFamily="34" charset="-122"/>
                <a:cs typeface="Arial" panose="020B0604020202020204" pitchFamily="34" charset="-120"/>
              </a:rPr>
              <a:t>/predict, /metrics</a:t>
            </a:r>
            <a:endParaRPr lang="en-US" sz="1200" dirty="0"/>
          </a:p>
        </p:txBody>
      </p:sp>
      <p:sp>
        <p:nvSpPr>
          <p:cNvPr id="24" name="Shape 21"/>
          <p:cNvSpPr/>
          <p:nvPr/>
        </p:nvSpPr>
        <p:spPr>
          <a:xfrm>
            <a:off x="9582912" y="3703320"/>
            <a:ext cx="1783080" cy="1234440"/>
          </a:xfrm>
          <a:prstGeom prst="rect">
            <a:avLst/>
          </a:prstGeom>
          <a:solidFill>
            <a:srgbClr val="E8872A"/>
          </a:solidFill>
          <a:ln w="12700">
            <a:solidFill>
              <a:srgbClr val="E8872A"/>
            </a:solidFill>
            <a:prstDash val="solid"/>
          </a:ln>
        </p:spPr>
      </p:sp>
      <p:sp>
        <p:nvSpPr>
          <p:cNvPr id="25" name="Text 22"/>
          <p:cNvSpPr txBox="1"/>
          <p:nvPr/>
        </p:nvSpPr>
        <p:spPr>
          <a:xfrm>
            <a:off x="9674352" y="3840480"/>
            <a:ext cx="1600200" cy="411480"/>
          </a:xfrm>
          <a:prstGeom prst="rect">
            <a:avLst/>
          </a:prstGeom>
          <a:noFill/>
        </p:spPr>
        <p:txBody>
          <a:bodyPr wrap="square" lIns="0" tIns="0" rIns="0" bIns="0" rtlCol="0" anchor="ctr"/>
          <a:lstStyle/>
          <a:p>
            <a:pPr marL="0" indent="0" algn="ctr">
              <a:buNone/>
            </a:pPr>
            <a:r>
              <a:rPr lang="en-US" sz="1500" b="1" dirty="0">
                <a:solidFill>
                  <a:srgbClr val="FFFFFF"/>
                </a:solidFill>
                <a:latin typeface="Arial" panose="020B0604020202020204" pitchFamily="34" charset="0"/>
                <a:ea typeface="Arial" panose="020B0604020202020204" pitchFamily="34" charset="-122"/>
                <a:cs typeface="Arial" panose="020B0604020202020204" pitchFamily="34" charset="-120"/>
              </a:rPr>
              <a:t>Streamlit UI</a:t>
            </a:r>
            <a:endParaRPr lang="en-US" sz="1500" dirty="0"/>
          </a:p>
        </p:txBody>
      </p:sp>
      <p:sp>
        <p:nvSpPr>
          <p:cNvPr id="26" name="Text 23"/>
          <p:cNvSpPr txBox="1"/>
          <p:nvPr/>
        </p:nvSpPr>
        <p:spPr>
          <a:xfrm>
            <a:off x="9674352" y="4297680"/>
            <a:ext cx="1600200" cy="548640"/>
          </a:xfrm>
          <a:prstGeom prst="rect">
            <a:avLst/>
          </a:prstGeom>
          <a:noFill/>
        </p:spPr>
        <p:txBody>
          <a:bodyPr wrap="square" lIns="0" tIns="0" rIns="0" bIns="0" rtlCol="0" anchor="t"/>
          <a:lstStyle/>
          <a:p>
            <a:pPr marL="0" indent="0" algn="ctr">
              <a:buNone/>
            </a:pPr>
            <a:r>
              <a:rPr lang="en-US" sz="1200" dirty="0">
                <a:solidFill>
                  <a:srgbClr val="FFFFFF"/>
                </a:solidFill>
                <a:latin typeface="Arial" panose="020B0604020202020204" pitchFamily="34" charset="0"/>
                <a:ea typeface="Arial" panose="020B0604020202020204" pitchFamily="34" charset="-122"/>
                <a:cs typeface="Arial" panose="020B0604020202020204" pitchFamily="34" charset="-120"/>
              </a:rPr>
              <a:t>prediction form, monitoring</a:t>
            </a:r>
            <a:endParaRPr lang="en-US" sz="1200" dirty="0"/>
          </a:p>
        </p:txBody>
      </p:sp>
      <p:sp>
        <p:nvSpPr>
          <p:cNvPr id="27" name="Shape 24"/>
          <p:cNvSpPr/>
          <p:nvPr/>
        </p:nvSpPr>
        <p:spPr>
          <a:xfrm flipH="1">
            <a:off x="9221724" y="4320540"/>
            <a:ext cx="315468" cy="0"/>
          </a:xfrm>
          <a:prstGeom prst="line">
            <a:avLst/>
          </a:prstGeom>
          <a:noFill/>
          <a:ln w="28575">
            <a:solidFill>
              <a:srgbClr val="E8872A"/>
            </a:solidFill>
            <a:prstDash val="solid"/>
            <a:tailEnd type="triangle"/>
          </a:ln>
        </p:spPr>
      </p:sp>
      <p:sp>
        <p:nvSpPr>
          <p:cNvPr id="28" name="Shape 25"/>
          <p:cNvSpPr/>
          <p:nvPr/>
        </p:nvSpPr>
        <p:spPr>
          <a:xfrm>
            <a:off x="7392924" y="3703320"/>
            <a:ext cx="1783080" cy="1234440"/>
          </a:xfrm>
          <a:prstGeom prst="rect">
            <a:avLst/>
          </a:prstGeom>
          <a:solidFill>
            <a:srgbClr val="1B3A64"/>
          </a:solidFill>
          <a:ln w="12700">
            <a:solidFill>
              <a:srgbClr val="1B3A64"/>
            </a:solidFill>
            <a:prstDash val="solid"/>
          </a:ln>
        </p:spPr>
      </p:sp>
      <p:sp>
        <p:nvSpPr>
          <p:cNvPr id="29" name="Text 26"/>
          <p:cNvSpPr txBox="1"/>
          <p:nvPr/>
        </p:nvSpPr>
        <p:spPr>
          <a:xfrm>
            <a:off x="7484364" y="3840480"/>
            <a:ext cx="1600200" cy="411480"/>
          </a:xfrm>
          <a:prstGeom prst="rect">
            <a:avLst/>
          </a:prstGeom>
          <a:noFill/>
        </p:spPr>
        <p:txBody>
          <a:bodyPr wrap="square" lIns="0" tIns="0" rIns="0" bIns="0" rtlCol="0" anchor="ctr"/>
          <a:lstStyle/>
          <a:p>
            <a:pPr marL="0" indent="0" algn="ctr">
              <a:buNone/>
            </a:pPr>
            <a:r>
              <a:rPr lang="en-US" sz="1500" b="1" dirty="0">
                <a:solidFill>
                  <a:srgbClr val="FFFFFF"/>
                </a:solidFill>
                <a:latin typeface="Arial" panose="020B0604020202020204" pitchFamily="34" charset="0"/>
                <a:ea typeface="Arial" panose="020B0604020202020204" pitchFamily="34" charset="-122"/>
                <a:cs typeface="Arial" panose="020B0604020202020204" pitchFamily="34" charset="-120"/>
              </a:rPr>
              <a:t>Prediction log</a:t>
            </a:r>
            <a:endParaRPr lang="en-US" sz="1500" dirty="0"/>
          </a:p>
        </p:txBody>
      </p:sp>
      <p:sp>
        <p:nvSpPr>
          <p:cNvPr id="30" name="Text 27"/>
          <p:cNvSpPr txBox="1"/>
          <p:nvPr/>
        </p:nvSpPr>
        <p:spPr>
          <a:xfrm>
            <a:off x="7484364" y="4297680"/>
            <a:ext cx="1600200" cy="548640"/>
          </a:xfrm>
          <a:prstGeom prst="rect">
            <a:avLst/>
          </a:prstGeom>
          <a:noFill/>
        </p:spPr>
        <p:txBody>
          <a:bodyPr wrap="square" lIns="0" tIns="0" rIns="0" bIns="0" rtlCol="0" anchor="t"/>
          <a:lstStyle/>
          <a:p>
            <a:pPr marL="0" indent="0" algn="ctr">
              <a:buNone/>
            </a:pPr>
            <a:r>
              <a:rPr lang="en-US" sz="1200" dirty="0">
                <a:solidFill>
                  <a:srgbClr val="FFFFFF"/>
                </a:solidFill>
                <a:latin typeface="Arial" panose="020B0604020202020204" pitchFamily="34" charset="0"/>
                <a:ea typeface="Arial" panose="020B0604020202020204" pitchFamily="34" charset="-122"/>
                <a:cs typeface="Arial" panose="020B0604020202020204" pitchFamily="34" charset="-120"/>
              </a:rPr>
              <a:t>every request, model version</a:t>
            </a:r>
            <a:endParaRPr lang="en-US" sz="1200" dirty="0"/>
          </a:p>
        </p:txBody>
      </p:sp>
      <p:sp>
        <p:nvSpPr>
          <p:cNvPr id="31" name="Shape 28"/>
          <p:cNvSpPr/>
          <p:nvPr/>
        </p:nvSpPr>
        <p:spPr>
          <a:xfrm flipH="1">
            <a:off x="7031736" y="4320540"/>
            <a:ext cx="315468" cy="0"/>
          </a:xfrm>
          <a:prstGeom prst="line">
            <a:avLst/>
          </a:prstGeom>
          <a:noFill/>
          <a:ln w="28575">
            <a:solidFill>
              <a:srgbClr val="E8872A"/>
            </a:solidFill>
            <a:prstDash val="solid"/>
            <a:tailEnd type="triangle"/>
          </a:ln>
        </p:spPr>
      </p:sp>
      <p:sp>
        <p:nvSpPr>
          <p:cNvPr id="32" name="Shape 29"/>
          <p:cNvSpPr/>
          <p:nvPr/>
        </p:nvSpPr>
        <p:spPr>
          <a:xfrm>
            <a:off x="5202936" y="3703320"/>
            <a:ext cx="1783080" cy="1234440"/>
          </a:xfrm>
          <a:prstGeom prst="rect">
            <a:avLst/>
          </a:prstGeom>
          <a:solidFill>
            <a:srgbClr val="CC3224"/>
          </a:solidFill>
          <a:ln w="12700">
            <a:solidFill>
              <a:srgbClr val="CC3224"/>
            </a:solidFill>
            <a:prstDash val="solid"/>
          </a:ln>
        </p:spPr>
      </p:sp>
      <p:sp>
        <p:nvSpPr>
          <p:cNvPr id="33" name="Text 30"/>
          <p:cNvSpPr txBox="1"/>
          <p:nvPr/>
        </p:nvSpPr>
        <p:spPr>
          <a:xfrm>
            <a:off x="5294376" y="3840480"/>
            <a:ext cx="1600200" cy="411480"/>
          </a:xfrm>
          <a:prstGeom prst="rect">
            <a:avLst/>
          </a:prstGeom>
          <a:noFill/>
        </p:spPr>
        <p:txBody>
          <a:bodyPr wrap="square" lIns="0" tIns="0" rIns="0" bIns="0" rtlCol="0" anchor="ctr"/>
          <a:lstStyle/>
          <a:p>
            <a:pPr marL="0" indent="0" algn="ctr">
              <a:buNone/>
            </a:pPr>
            <a:r>
              <a:rPr lang="en-US" sz="1500" b="1" dirty="0">
                <a:solidFill>
                  <a:srgbClr val="FFFFFF"/>
                </a:solidFill>
                <a:latin typeface="Arial" panose="020B0604020202020204" pitchFamily="34" charset="0"/>
                <a:ea typeface="Arial" panose="020B0604020202020204" pitchFamily="34" charset="-122"/>
                <a:cs typeface="Arial" panose="020B0604020202020204" pitchFamily="34" charset="-120"/>
              </a:rPr>
              <a:t>Monitoring</a:t>
            </a:r>
            <a:endParaRPr lang="en-US" sz="1500" dirty="0"/>
          </a:p>
        </p:txBody>
      </p:sp>
      <p:sp>
        <p:nvSpPr>
          <p:cNvPr id="34" name="Text 31"/>
          <p:cNvSpPr txBox="1"/>
          <p:nvPr/>
        </p:nvSpPr>
        <p:spPr>
          <a:xfrm>
            <a:off x="5294376" y="4297680"/>
            <a:ext cx="1600200" cy="548640"/>
          </a:xfrm>
          <a:prstGeom prst="rect">
            <a:avLst/>
          </a:prstGeom>
          <a:noFill/>
        </p:spPr>
        <p:txBody>
          <a:bodyPr wrap="square" lIns="0" tIns="0" rIns="0" bIns="0" rtlCol="0" anchor="t"/>
          <a:lstStyle/>
          <a:p>
            <a:pPr marL="0" indent="0" algn="ctr">
              <a:buNone/>
            </a:pPr>
            <a:r>
              <a:rPr lang="en-US" sz="1200" dirty="0">
                <a:solidFill>
                  <a:srgbClr val="FFFFFF"/>
                </a:solidFill>
                <a:latin typeface="Arial" panose="020B0604020202020204" pitchFamily="34" charset="0"/>
                <a:ea typeface="Arial" panose="020B0604020202020204" pitchFamily="34" charset="-122"/>
                <a:cs typeface="Arial" panose="020B0604020202020204" pitchFamily="34" charset="-120"/>
              </a:rPr>
              <a:t>drift, recall, latency → retrain?</a:t>
            </a:r>
            <a:endParaRPr lang="en-US" sz="1200" dirty="0"/>
          </a:p>
        </p:txBody>
      </p:sp>
      <p:sp>
        <p:nvSpPr>
          <p:cNvPr id="35" name="Shape 32"/>
          <p:cNvSpPr/>
          <p:nvPr/>
        </p:nvSpPr>
        <p:spPr>
          <a:xfrm>
            <a:off x="10474452" y="3063240"/>
            <a:ext cx="0" cy="594360"/>
          </a:xfrm>
          <a:prstGeom prst="line">
            <a:avLst/>
          </a:prstGeom>
          <a:noFill/>
          <a:ln w="28575">
            <a:solidFill>
              <a:srgbClr val="E8872A"/>
            </a:solidFill>
            <a:prstDash val="solid"/>
            <a:tailEnd type="triangle"/>
          </a:ln>
        </p:spPr>
      </p:sp>
      <p:sp>
        <p:nvSpPr>
          <p:cNvPr id="36" name="Shape 33"/>
          <p:cNvSpPr/>
          <p:nvPr/>
        </p:nvSpPr>
        <p:spPr>
          <a:xfrm>
            <a:off x="822960" y="3703320"/>
            <a:ext cx="3973068" cy="1234440"/>
          </a:xfrm>
          <a:prstGeom prst="rect">
            <a:avLst/>
          </a:prstGeom>
          <a:solidFill>
            <a:srgbClr val="F3F4F6"/>
          </a:solidFill>
          <a:ln w="12700">
            <a:solidFill>
              <a:srgbClr val="E8872A"/>
            </a:solidFill>
            <a:prstDash val="solid"/>
          </a:ln>
        </p:spPr>
      </p:sp>
      <p:sp>
        <p:nvSpPr>
          <p:cNvPr id="37" name="Text 34"/>
          <p:cNvSpPr txBox="1"/>
          <p:nvPr/>
        </p:nvSpPr>
        <p:spPr>
          <a:xfrm>
            <a:off x="1005840" y="3840480"/>
            <a:ext cx="3607308" cy="365760"/>
          </a:xfrm>
          <a:prstGeom prst="rect">
            <a:avLst/>
          </a:prstGeom>
          <a:noFill/>
        </p:spPr>
        <p:txBody>
          <a:bodyPr wrap="square" lIns="0" tIns="0" rIns="0" bIns="0" rtlCol="0" anchor="t"/>
          <a:lstStyle/>
          <a:p>
            <a:pPr marL="0" indent="0" algn="ctr">
              <a:buNone/>
            </a:pPr>
            <a:r>
              <a:rPr lang="en-US" sz="1500" b="1" dirty="0">
                <a:solidFill>
                  <a:srgbClr val="E8872A"/>
                </a:solidFill>
                <a:latin typeface="Arial" panose="020B0604020202020204" pitchFamily="34" charset="0"/>
                <a:ea typeface="Arial" panose="020B0604020202020204" pitchFamily="34" charset="-122"/>
                <a:cs typeface="Arial" panose="020B0604020202020204" pitchFamily="34" charset="-120"/>
              </a:rPr>
              <a:t>Retrain loop</a:t>
            </a:r>
            <a:endParaRPr lang="en-US" sz="1500" dirty="0"/>
          </a:p>
        </p:txBody>
      </p:sp>
      <p:sp>
        <p:nvSpPr>
          <p:cNvPr id="38" name="Text 35"/>
          <p:cNvSpPr txBox="1"/>
          <p:nvPr/>
        </p:nvSpPr>
        <p:spPr>
          <a:xfrm>
            <a:off x="1005840" y="4251960"/>
            <a:ext cx="3607308" cy="640080"/>
          </a:xfrm>
          <a:prstGeom prst="rect">
            <a:avLst/>
          </a:prstGeom>
          <a:noFill/>
        </p:spPr>
        <p:txBody>
          <a:bodyPr wrap="square" lIns="0" tIns="0" rIns="0" bIns="0" rtlCol="0" anchor="t"/>
          <a:lstStyle/>
          <a:p>
            <a:pPr marL="0" indent="0" algn="ctr">
              <a:buNone/>
            </a:pPr>
            <a:r>
              <a:rPr lang="en-US" sz="1200" dirty="0">
                <a:solidFill>
                  <a:srgbClr val="1F2937"/>
                </a:solidFill>
                <a:latin typeface="Arial" panose="020B0604020202020204" pitchFamily="34" charset="0"/>
                <a:ea typeface="Arial" panose="020B0604020202020204" pitchFamily="34" charset="-122"/>
                <a:cs typeface="Arial" panose="020B0604020202020204" pitchFamily="34" charset="-120"/>
              </a:rPr>
              <a:t>Monitor decides; if policy says so, retrain and pass the champion gate</a:t>
            </a:r>
            <a:endParaRPr lang="en-US" sz="1200" dirty="0"/>
          </a:p>
        </p:txBody>
      </p:sp>
      <p:sp>
        <p:nvSpPr>
          <p:cNvPr id="39" name="Shape 36"/>
          <p:cNvSpPr/>
          <p:nvPr/>
        </p:nvSpPr>
        <p:spPr>
          <a:xfrm flipH="1">
            <a:off x="4841748" y="4320540"/>
            <a:ext cx="315468" cy="0"/>
          </a:xfrm>
          <a:prstGeom prst="line">
            <a:avLst/>
          </a:prstGeom>
          <a:noFill/>
          <a:ln w="28575">
            <a:solidFill>
              <a:srgbClr val="E8872A"/>
            </a:solidFill>
            <a:prstDash val="solid"/>
            <a:tailEnd type="triangle"/>
          </a:ln>
        </p:spPr>
      </p:sp>
      <p:sp>
        <p:nvSpPr>
          <p:cNvPr id="40" name="Shape 37"/>
          <p:cNvSpPr/>
          <p:nvPr/>
        </p:nvSpPr>
        <p:spPr>
          <a:xfrm>
            <a:off x="3904488" y="3063240"/>
            <a:ext cx="0" cy="594360"/>
          </a:xfrm>
          <a:prstGeom prst="line">
            <a:avLst/>
          </a:prstGeom>
          <a:noFill/>
          <a:ln w="28575">
            <a:solidFill>
              <a:srgbClr val="6B7280"/>
            </a:solidFill>
            <a:prstDash val="solid"/>
            <a:tailEnd type="triangle"/>
          </a:ln>
        </p:spPr>
      </p:sp>
      <p:sp>
        <p:nvSpPr>
          <p:cNvPr id="41" name="Text 38"/>
          <p:cNvSpPr txBox="1"/>
          <p:nvPr/>
        </p:nvSpPr>
        <p:spPr>
          <a:xfrm>
            <a:off x="822960" y="5166360"/>
            <a:ext cx="10543032" cy="365760"/>
          </a:xfrm>
          <a:prstGeom prst="rect">
            <a:avLst/>
          </a:prstGeom>
          <a:noFill/>
        </p:spPr>
        <p:txBody>
          <a:bodyPr wrap="square" lIns="0" tIns="0" rIns="0" bIns="0" rtlCol="0" anchor="t"/>
          <a:lstStyle/>
          <a:p>
            <a:pPr marL="0" indent="0" algn="ctr">
              <a:buNone/>
            </a:pPr>
            <a:r>
              <a:rPr lang="en-US" sz="1400" b="1" dirty="0">
                <a:solidFill>
                  <a:srgbClr val="1B3A64"/>
                </a:solidFill>
                <a:latin typeface="Arial" panose="020B0604020202020204" pitchFamily="34" charset="0"/>
                <a:ea typeface="Arial" panose="020B0604020202020204" pitchFamily="34" charset="-122"/>
                <a:cs typeface="Arial" panose="020B0604020202020204" pitchFamily="34" charset="-120"/>
              </a:rPr>
              <a:t>Airflow DAG severity_model_lifecycle runs monitor → retrain-or-skip every Monday.</a:t>
            </a:r>
            <a:endParaRPr lang="en-US" sz="1400" dirty="0"/>
          </a:p>
        </p:txBody>
      </p:sp>
      <p:sp>
        <p:nvSpPr>
          <p:cNvPr id="4" name="Slide Number Placeholder 0"/>
          <p:cNvSpPr>
            <a:spLocks noGrp="1"/>
          </p:cNvSpPr>
          <p:nvPr>
            <p:ph type="sldNum" sz="quarter" idx="4294967295"/>
          </p:nvPr>
        </p:nvSpPr>
        <p:spPr>
          <a:xfrm>
            <a:off x="11320272" y="6492240"/>
            <a:ext cx="320040" cy="256032"/>
          </a:xfrm>
          <a:prstGeom prst="rect">
            <a:avLst/>
          </a:prstGeom>
        </p:spPr>
        <p:txBody>
          <a:bodyPr/>
          <a:lstStyle>
            <a:lvl1pPr>
              <a:defRPr sz="1000">
                <a:solidFill>
                  <a:srgbClr val="6B7280"/>
                </a:solidFill>
                <a:latin typeface="Arial" panose="020B0604020202020204"/>
                <a:ea typeface="Arial" panose="020B0604020202020204"/>
                <a:cs typeface="Arial" panose="020B0604020202020204"/>
              </a:defRPr>
            </a:lvl1pPr>
          </a:lstStyle>
          <a:p>
            <a:pPr algn="r"/>
            <a:fld id="{F7021451-1387-4CA6-816F-3879F97B5CBC}" type="slidenum">
              <a:rPr lang="en-US" b="0"/>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7"/>
          <p:cNvSpPr/>
          <p:nvPr>
            <p:ph type="title" idx="107" hasCustomPrompt="1"/>
          </p:nvPr>
        </p:nvSpPr>
        <p:spPr>
          <a:xfrm>
            <a:off x="594360" y="566928"/>
            <a:ext cx="10515600" cy="594360"/>
          </a:xfrm>
          <a:prstGeom prst="rect">
            <a:avLst/>
          </a:prstGeom>
          <a:noFill/>
        </p:spPr>
        <p:txBody>
          <a:bodyPr wrap="square" lIns="0" tIns="0" rIns="0" bIns="0" rtlCol="0" anchor="ctr"/>
          <a:lstStyle/>
          <a:p>
            <a:pPr marL="0" indent="0" algn="l">
              <a:buNone/>
            </a:pPr>
            <a:r>
              <a:rPr lang="en-US" sz="3000" b="1" dirty="0">
                <a:solidFill>
                  <a:srgbClr val="1B3A64"/>
                </a:solidFill>
                <a:latin typeface="Arial" panose="020B0604020202020204" pitchFamily="34" charset="0"/>
                <a:ea typeface="Arial" panose="020B0604020202020204" pitchFamily="34" charset="-122"/>
                <a:cs typeface="Arial" panose="020B0604020202020204" pitchFamily="34" charset="-120"/>
              </a:rPr>
              <a:t>4. Model Training Pipeline</a:t>
            </a:r>
            <a:endParaRPr lang="en-US" sz="3000" dirty="0"/>
          </a:p>
        </p:txBody>
      </p:sp>
      <p:sp>
        <p:nvSpPr>
          <p:cNvPr id="3" name="content panel"/>
          <p:cNvSpPr/>
          <p:nvPr/>
        </p:nvSpPr>
        <p:spPr>
          <a:xfrm>
            <a:off x="548640" y="1417320"/>
            <a:ext cx="11091672" cy="4846320"/>
          </a:xfrm>
          <a:prstGeom prst="roundRect">
            <a:avLst>
              <a:gd name="adj" fmla="val 1132"/>
            </a:avLst>
          </a:prstGeom>
          <a:solidFill>
            <a:srgbClr val="FFFFFF"/>
          </a:solidFill>
          <a:ln w="15875">
            <a:solidFill>
              <a:srgbClr val="D1D5DB"/>
            </a:solidFill>
            <a:prstDash val="solid"/>
          </a:ln>
        </p:spPr>
      </p:sp>
      <p:sp>
        <p:nvSpPr>
          <p:cNvPr id="5" name="pipeline stage"/>
          <p:cNvSpPr/>
          <p:nvPr/>
        </p:nvSpPr>
        <p:spPr>
          <a:xfrm>
            <a:off x="822960" y="1645920"/>
            <a:ext cx="3246120" cy="3154680"/>
          </a:xfrm>
          <a:prstGeom prst="roundRect">
            <a:avLst>
              <a:gd name="adj" fmla="val 2319"/>
            </a:avLst>
          </a:prstGeom>
          <a:solidFill>
            <a:srgbClr val="F3F4F6"/>
          </a:solidFill>
          <a:ln w="12700">
            <a:solidFill>
              <a:srgbClr val="F3F4F6"/>
            </a:solidFill>
            <a:prstDash val="solid"/>
          </a:ln>
        </p:spPr>
      </p:sp>
      <p:sp>
        <p:nvSpPr>
          <p:cNvPr id="6" name="Shape 3"/>
          <p:cNvSpPr/>
          <p:nvPr/>
        </p:nvSpPr>
        <p:spPr>
          <a:xfrm>
            <a:off x="1005840" y="1828800"/>
            <a:ext cx="384048" cy="384048"/>
          </a:xfrm>
          <a:prstGeom prst="ellipse">
            <a:avLst/>
          </a:prstGeom>
          <a:solidFill>
            <a:srgbClr val="1B3A64"/>
          </a:solidFill>
          <a:ln w="12700">
            <a:solidFill>
              <a:srgbClr val="1B3A64"/>
            </a:solidFill>
            <a:prstDash val="solid"/>
          </a:ln>
        </p:spPr>
      </p:sp>
      <p:sp>
        <p:nvSpPr>
          <p:cNvPr id="7" name="Text 4"/>
          <p:cNvSpPr txBox="1"/>
          <p:nvPr/>
        </p:nvSpPr>
        <p:spPr>
          <a:xfrm>
            <a:off x="1005840" y="1828800"/>
            <a:ext cx="384048" cy="384048"/>
          </a:xfrm>
          <a:prstGeom prst="rect">
            <a:avLst/>
          </a:prstGeom>
          <a:noFill/>
        </p:spPr>
        <p:txBody>
          <a:bodyPr wrap="square" lIns="0" tIns="0" rIns="0" bIns="0" rtlCol="0" anchor="ctr"/>
          <a:lstStyle/>
          <a:p>
            <a:pPr marL="0" indent="0" algn="ctr">
              <a:buNone/>
            </a:pPr>
            <a:r>
              <a:rPr lang="en-US" sz="1400" b="1" dirty="0">
                <a:solidFill>
                  <a:srgbClr val="FFFFFF"/>
                </a:solidFill>
                <a:latin typeface="Arial" panose="020B0604020202020204" pitchFamily="34" charset="0"/>
                <a:ea typeface="Arial" panose="020B0604020202020204" pitchFamily="34" charset="-122"/>
                <a:cs typeface="Arial" panose="020B0604020202020204" pitchFamily="34" charset="-120"/>
              </a:rPr>
              <a:t>1</a:t>
            </a:r>
            <a:endParaRPr lang="en-US" sz="1400" dirty="0"/>
          </a:p>
        </p:txBody>
      </p:sp>
      <p:sp>
        <p:nvSpPr>
          <p:cNvPr id="8" name="Text 5"/>
          <p:cNvSpPr txBox="1"/>
          <p:nvPr/>
        </p:nvSpPr>
        <p:spPr>
          <a:xfrm>
            <a:off x="1508760" y="1828800"/>
            <a:ext cx="2423160" cy="384048"/>
          </a:xfrm>
          <a:prstGeom prst="rect">
            <a:avLst/>
          </a:prstGeom>
          <a:noFill/>
        </p:spPr>
        <p:txBody>
          <a:bodyPr wrap="square" lIns="0" tIns="0" rIns="0" bIns="0" rtlCol="0" anchor="ctr"/>
          <a:lstStyle/>
          <a:p>
            <a:pPr marL="0" indent="0">
              <a:buNone/>
            </a:pPr>
            <a:r>
              <a:rPr lang="en-US" sz="1600" b="1" dirty="0">
                <a:solidFill>
                  <a:srgbClr val="1B3A64"/>
                </a:solidFill>
                <a:latin typeface="Arial" panose="020B0604020202020204" pitchFamily="34" charset="0"/>
                <a:ea typeface="Arial" panose="020B0604020202020204" pitchFamily="34" charset="-122"/>
                <a:cs typeface="Arial" panose="020B0604020202020204" pitchFamily="34" charset="-120"/>
              </a:rPr>
              <a:t>Feature engineering</a:t>
            </a:r>
            <a:endParaRPr lang="en-US" sz="1600" dirty="0"/>
          </a:p>
        </p:txBody>
      </p:sp>
      <p:sp>
        <p:nvSpPr>
          <p:cNvPr id="9" name="Text 6"/>
          <p:cNvSpPr txBox="1"/>
          <p:nvPr/>
        </p:nvSpPr>
        <p:spPr>
          <a:xfrm>
            <a:off x="1005840" y="2359152"/>
            <a:ext cx="2880360" cy="457200"/>
          </a:xfrm>
          <a:prstGeom prst="rect">
            <a:avLst/>
          </a:prstGeom>
          <a:noFill/>
        </p:spPr>
        <p:txBody>
          <a:bodyPr wrap="square" lIns="0" tIns="0" rIns="0" bIns="0" rtlCol="0" anchor="t"/>
          <a:lstStyle/>
          <a:p>
            <a:pPr marL="0" indent="0">
              <a:buNone/>
            </a:pPr>
            <a:r>
              <a:rPr lang="en-US" sz="1200" i="1" dirty="0">
                <a:solidFill>
                  <a:srgbClr val="6B7280"/>
                </a:solidFill>
                <a:latin typeface="Arial" panose="020B0604020202020204" pitchFamily="34" charset="0"/>
                <a:ea typeface="Arial" panose="020B0604020202020204" pitchFamily="34" charset="-122"/>
                <a:cs typeface="Arial" panose="020B0604020202020204" pitchFamily="34" charset="-120"/>
              </a:rPr>
              <a:t>Custom AccidentFeatureEngineer transformer</a:t>
            </a:r>
            <a:endParaRPr lang="en-US" sz="1200" dirty="0"/>
          </a:p>
        </p:txBody>
      </p:sp>
      <p:sp>
        <p:nvSpPr>
          <p:cNvPr id="10" name="Text 7"/>
          <p:cNvSpPr txBox="1"/>
          <p:nvPr/>
        </p:nvSpPr>
        <p:spPr>
          <a:xfrm>
            <a:off x="1005840" y="2880360"/>
            <a:ext cx="2880360" cy="1828800"/>
          </a:xfrm>
          <a:prstGeom prst="rect">
            <a:avLst/>
          </a:prstGeom>
          <a:noFill/>
        </p:spPr>
        <p:txBody>
          <a:bodyPr wrap="square" lIns="0" tIns="0" rIns="0" bIns="0" rtlCol="0" anchor="t"/>
          <a:lstStyle/>
          <a:p>
            <a:pPr marL="203200" indent="-203200">
              <a:spcAft>
                <a:spcPts val="800"/>
              </a:spcAft>
              <a:buSzPct val="100000"/>
              <a:buChar char="•"/>
            </a:pPr>
            <a:r>
              <a:rPr lang="en-US" sz="1300" dirty="0">
                <a:solidFill>
                  <a:srgbClr val="1F2937"/>
                </a:solidFill>
                <a:latin typeface="Arial" panose="020B0604020202020204" pitchFamily="34" charset="0"/>
                <a:ea typeface="Arial" panose="020B0604020202020204" pitchFamily="34" charset="-122"/>
                <a:cs typeface="Arial" panose="020B0604020202020204" pitchFamily="34" charset="-120"/>
              </a:rPr>
              <a:t>Cyclical hour and month (sine/cosine)</a:t>
            </a:r>
            <a:endParaRPr lang="en-US" sz="1300" dirty="0"/>
          </a:p>
          <a:p>
            <a:pPr marL="203200" indent="-203200">
              <a:spcAft>
                <a:spcPts val="800"/>
              </a:spcAft>
              <a:buSzPct val="100000"/>
              <a:buChar char="•"/>
            </a:pPr>
            <a:r>
              <a:rPr lang="en-US" sz="1300" dirty="0">
                <a:solidFill>
                  <a:srgbClr val="1F2937"/>
                </a:solidFill>
                <a:latin typeface="Arial" panose="020B0604020202020204" pitchFamily="34" charset="0"/>
                <a:ea typeface="Arial" panose="020B0604020202020204" pitchFamily="34" charset="-122"/>
                <a:cs typeface="Arial" panose="020B0604020202020204" pitchFamily="34" charset="-120"/>
              </a:rPr>
              <a:t>Darkness, wet road, high-speed road flags</a:t>
            </a:r>
            <a:endParaRPr lang="en-US" sz="1300" dirty="0"/>
          </a:p>
          <a:p>
            <a:pPr marL="203200" indent="-203200">
              <a:spcAft>
                <a:spcPts val="800"/>
              </a:spcAft>
              <a:buSzPct val="100000"/>
              <a:buChar char="•"/>
            </a:pPr>
            <a:r>
              <a:rPr lang="en-US" sz="1300" dirty="0">
                <a:solidFill>
                  <a:srgbClr val="1F2937"/>
                </a:solidFill>
                <a:latin typeface="Arial" panose="020B0604020202020204" pitchFamily="34" charset="0"/>
                <a:ea typeface="Arial" panose="020B0604020202020204" pitchFamily="34" charset="-122"/>
                <a:cs typeface="Arial" panose="020B0604020202020204" pitchFamily="34" charset="-120"/>
              </a:rPr>
              <a:t>Vulnerable road user (pedestrian, cycle, motorcycle)</a:t>
            </a:r>
            <a:endParaRPr lang="en-US" sz="1300" dirty="0"/>
          </a:p>
        </p:txBody>
      </p:sp>
      <p:sp>
        <p:nvSpPr>
          <p:cNvPr id="11" name="Shape 8"/>
          <p:cNvSpPr/>
          <p:nvPr/>
        </p:nvSpPr>
        <p:spPr>
          <a:xfrm>
            <a:off x="4105656" y="3200400"/>
            <a:ext cx="329184" cy="0"/>
          </a:xfrm>
          <a:prstGeom prst="line">
            <a:avLst/>
          </a:prstGeom>
          <a:noFill/>
          <a:ln w="28575">
            <a:solidFill>
              <a:srgbClr val="E8872A"/>
            </a:solidFill>
            <a:prstDash val="solid"/>
            <a:tailEnd type="triangle"/>
          </a:ln>
        </p:spPr>
      </p:sp>
      <p:sp>
        <p:nvSpPr>
          <p:cNvPr id="12" name="pipeline stage"/>
          <p:cNvSpPr/>
          <p:nvPr/>
        </p:nvSpPr>
        <p:spPr>
          <a:xfrm>
            <a:off x="4471416" y="1645920"/>
            <a:ext cx="3246120" cy="3154680"/>
          </a:xfrm>
          <a:prstGeom prst="roundRect">
            <a:avLst>
              <a:gd name="adj" fmla="val 2319"/>
            </a:avLst>
          </a:prstGeom>
          <a:solidFill>
            <a:srgbClr val="F3F4F6"/>
          </a:solidFill>
          <a:ln w="12700">
            <a:solidFill>
              <a:srgbClr val="F3F4F6"/>
            </a:solidFill>
            <a:prstDash val="solid"/>
          </a:ln>
        </p:spPr>
      </p:sp>
      <p:sp>
        <p:nvSpPr>
          <p:cNvPr id="13" name="Shape 10"/>
          <p:cNvSpPr/>
          <p:nvPr/>
        </p:nvSpPr>
        <p:spPr>
          <a:xfrm>
            <a:off x="4654296" y="1828800"/>
            <a:ext cx="384048" cy="384048"/>
          </a:xfrm>
          <a:prstGeom prst="ellipse">
            <a:avLst/>
          </a:prstGeom>
          <a:solidFill>
            <a:srgbClr val="1B3A64"/>
          </a:solidFill>
          <a:ln w="12700">
            <a:solidFill>
              <a:srgbClr val="1B3A64"/>
            </a:solidFill>
            <a:prstDash val="solid"/>
          </a:ln>
        </p:spPr>
      </p:sp>
      <p:sp>
        <p:nvSpPr>
          <p:cNvPr id="14" name="Text 11"/>
          <p:cNvSpPr txBox="1"/>
          <p:nvPr/>
        </p:nvSpPr>
        <p:spPr>
          <a:xfrm>
            <a:off x="4654296" y="1828800"/>
            <a:ext cx="384048" cy="384048"/>
          </a:xfrm>
          <a:prstGeom prst="rect">
            <a:avLst/>
          </a:prstGeom>
          <a:noFill/>
        </p:spPr>
        <p:txBody>
          <a:bodyPr wrap="square" lIns="0" tIns="0" rIns="0" bIns="0" rtlCol="0" anchor="ctr"/>
          <a:lstStyle/>
          <a:p>
            <a:pPr marL="0" indent="0" algn="ctr">
              <a:buNone/>
            </a:pPr>
            <a:r>
              <a:rPr lang="en-US" sz="1400" b="1" dirty="0">
                <a:solidFill>
                  <a:srgbClr val="FFFFFF"/>
                </a:solidFill>
                <a:latin typeface="Arial" panose="020B0604020202020204" pitchFamily="34" charset="0"/>
                <a:ea typeface="Arial" panose="020B0604020202020204" pitchFamily="34" charset="-122"/>
                <a:cs typeface="Arial" panose="020B0604020202020204" pitchFamily="34" charset="-120"/>
              </a:rPr>
              <a:t>2</a:t>
            </a:r>
            <a:endParaRPr lang="en-US" sz="1400" dirty="0"/>
          </a:p>
        </p:txBody>
      </p:sp>
      <p:sp>
        <p:nvSpPr>
          <p:cNvPr id="15" name="Text 12"/>
          <p:cNvSpPr txBox="1"/>
          <p:nvPr/>
        </p:nvSpPr>
        <p:spPr>
          <a:xfrm>
            <a:off x="5157216" y="1828800"/>
            <a:ext cx="2423160" cy="384048"/>
          </a:xfrm>
          <a:prstGeom prst="rect">
            <a:avLst/>
          </a:prstGeom>
          <a:noFill/>
        </p:spPr>
        <p:txBody>
          <a:bodyPr wrap="square" lIns="0" tIns="0" rIns="0" bIns="0" rtlCol="0" anchor="ctr"/>
          <a:lstStyle/>
          <a:p>
            <a:pPr marL="0" indent="0">
              <a:buNone/>
            </a:pPr>
            <a:r>
              <a:rPr lang="en-US" sz="1600" b="1" dirty="0">
                <a:solidFill>
                  <a:srgbClr val="1B3A64"/>
                </a:solidFill>
                <a:latin typeface="Arial" panose="020B0604020202020204" pitchFamily="34" charset="0"/>
                <a:ea typeface="Arial" panose="020B0604020202020204" pitchFamily="34" charset="-122"/>
                <a:cs typeface="Arial" panose="020B0604020202020204" pitchFamily="34" charset="-120"/>
              </a:rPr>
              <a:t>ColumnTransformer</a:t>
            </a:r>
            <a:endParaRPr lang="en-US" sz="1600" dirty="0"/>
          </a:p>
        </p:txBody>
      </p:sp>
      <p:sp>
        <p:nvSpPr>
          <p:cNvPr id="16" name="Text 13"/>
          <p:cNvSpPr txBox="1"/>
          <p:nvPr/>
        </p:nvSpPr>
        <p:spPr>
          <a:xfrm>
            <a:off x="4654296" y="2359152"/>
            <a:ext cx="2880360" cy="457200"/>
          </a:xfrm>
          <a:prstGeom prst="rect">
            <a:avLst/>
          </a:prstGeom>
          <a:noFill/>
        </p:spPr>
        <p:txBody>
          <a:bodyPr wrap="square" lIns="0" tIns="0" rIns="0" bIns="0" rtlCol="0" anchor="t"/>
          <a:lstStyle/>
          <a:p>
            <a:pPr marL="0" indent="0">
              <a:buNone/>
            </a:pPr>
            <a:r>
              <a:rPr lang="en-US" sz="1200" i="1" dirty="0">
                <a:solidFill>
                  <a:srgbClr val="6B7280"/>
                </a:solidFill>
                <a:latin typeface="Arial" panose="020B0604020202020204" pitchFamily="34" charset="0"/>
                <a:ea typeface="Arial" panose="020B0604020202020204" pitchFamily="34" charset="-122"/>
                <a:cs typeface="Arial" panose="020B0604020202020204" pitchFamily="34" charset="-120"/>
              </a:rPr>
              <a:t>Prepares numbers and categories</a:t>
            </a:r>
            <a:endParaRPr lang="en-US" sz="1200" dirty="0"/>
          </a:p>
        </p:txBody>
      </p:sp>
      <p:sp>
        <p:nvSpPr>
          <p:cNvPr id="17" name="Text 14"/>
          <p:cNvSpPr txBox="1"/>
          <p:nvPr/>
        </p:nvSpPr>
        <p:spPr>
          <a:xfrm>
            <a:off x="4654296" y="2880360"/>
            <a:ext cx="2880360" cy="1828800"/>
          </a:xfrm>
          <a:prstGeom prst="rect">
            <a:avLst/>
          </a:prstGeom>
          <a:noFill/>
        </p:spPr>
        <p:txBody>
          <a:bodyPr wrap="square" lIns="0" tIns="0" rIns="0" bIns="0" rtlCol="0" anchor="t"/>
          <a:lstStyle/>
          <a:p>
            <a:pPr marL="203200" indent="-203200">
              <a:spcAft>
                <a:spcPts val="800"/>
              </a:spcAft>
              <a:buSzPct val="100000"/>
              <a:buChar char="•"/>
            </a:pPr>
            <a:r>
              <a:rPr lang="en-US" sz="1300" dirty="0">
                <a:solidFill>
                  <a:srgbClr val="1F2937"/>
                </a:solidFill>
                <a:latin typeface="Arial" panose="020B0604020202020204" pitchFamily="34" charset="0"/>
                <a:ea typeface="Arial" panose="020B0604020202020204" pitchFamily="34" charset="-122"/>
                <a:cs typeface="Arial" panose="020B0604020202020204" pitchFamily="34" charset="-120"/>
              </a:rPr>
              <a:t>Median imputation for numbers</a:t>
            </a:r>
            <a:endParaRPr lang="en-US" sz="1300" dirty="0"/>
          </a:p>
          <a:p>
            <a:pPr marL="203200" indent="-203200">
              <a:spcAft>
                <a:spcPts val="800"/>
              </a:spcAft>
              <a:buSzPct val="100000"/>
              <a:buChar char="•"/>
            </a:pPr>
            <a:r>
              <a:rPr lang="en-US" sz="1300" dirty="0">
                <a:solidFill>
                  <a:srgbClr val="1F2937"/>
                </a:solidFill>
                <a:latin typeface="Arial" panose="020B0604020202020204" pitchFamily="34" charset="0"/>
                <a:ea typeface="Arial" panose="020B0604020202020204" pitchFamily="34" charset="-122"/>
                <a:cs typeface="Arial" panose="020B0604020202020204" pitchFamily="34" charset="-120"/>
              </a:rPr>
              <a:t>One-hot encoding for categories</a:t>
            </a:r>
            <a:endParaRPr lang="en-US" sz="1300" dirty="0"/>
          </a:p>
          <a:p>
            <a:pPr marL="203200" indent="-203200">
              <a:spcAft>
                <a:spcPts val="800"/>
              </a:spcAft>
              <a:buSzPct val="100000"/>
              <a:buChar char="•"/>
            </a:pPr>
            <a:r>
              <a:rPr lang="en-US" sz="1300" dirty="0">
                <a:solidFill>
                  <a:srgbClr val="1F2937"/>
                </a:solidFill>
                <a:latin typeface="Arial" panose="020B0604020202020204" pitchFamily="34" charset="0"/>
                <a:ea typeface="Arial" panose="020B0604020202020204" pitchFamily="34" charset="-122"/>
                <a:cs typeface="Arial" panose="020B0604020202020204" pitchFamily="34" charset="-120"/>
              </a:rPr>
              <a:t>Infrequent-category bucket: unseen values never crash</a:t>
            </a:r>
            <a:endParaRPr lang="en-US" sz="1300" dirty="0"/>
          </a:p>
        </p:txBody>
      </p:sp>
      <p:sp>
        <p:nvSpPr>
          <p:cNvPr id="18" name="Shape 15"/>
          <p:cNvSpPr/>
          <p:nvPr/>
        </p:nvSpPr>
        <p:spPr>
          <a:xfrm>
            <a:off x="7754112" y="3200400"/>
            <a:ext cx="329184" cy="0"/>
          </a:xfrm>
          <a:prstGeom prst="line">
            <a:avLst/>
          </a:prstGeom>
          <a:noFill/>
          <a:ln w="28575">
            <a:solidFill>
              <a:srgbClr val="E8872A"/>
            </a:solidFill>
            <a:prstDash val="solid"/>
            <a:tailEnd type="triangle"/>
          </a:ln>
        </p:spPr>
      </p:sp>
      <p:sp>
        <p:nvSpPr>
          <p:cNvPr id="19" name="pipeline stage"/>
          <p:cNvSpPr/>
          <p:nvPr/>
        </p:nvSpPr>
        <p:spPr>
          <a:xfrm>
            <a:off x="8119872" y="1645920"/>
            <a:ext cx="3246120" cy="3154680"/>
          </a:xfrm>
          <a:prstGeom prst="roundRect">
            <a:avLst>
              <a:gd name="adj" fmla="val 2319"/>
            </a:avLst>
          </a:prstGeom>
          <a:solidFill>
            <a:srgbClr val="F3F4F6"/>
          </a:solidFill>
          <a:ln w="12700">
            <a:solidFill>
              <a:srgbClr val="F3F4F6"/>
            </a:solidFill>
            <a:prstDash val="solid"/>
          </a:ln>
        </p:spPr>
      </p:sp>
      <p:sp>
        <p:nvSpPr>
          <p:cNvPr id="20" name="Shape 17"/>
          <p:cNvSpPr/>
          <p:nvPr/>
        </p:nvSpPr>
        <p:spPr>
          <a:xfrm>
            <a:off x="8302752" y="1828800"/>
            <a:ext cx="384048" cy="384048"/>
          </a:xfrm>
          <a:prstGeom prst="ellipse">
            <a:avLst/>
          </a:prstGeom>
          <a:solidFill>
            <a:srgbClr val="CC3224"/>
          </a:solidFill>
          <a:ln w="12700">
            <a:solidFill>
              <a:srgbClr val="CC3224"/>
            </a:solidFill>
            <a:prstDash val="solid"/>
          </a:ln>
        </p:spPr>
      </p:sp>
      <p:sp>
        <p:nvSpPr>
          <p:cNvPr id="21" name="Text 18"/>
          <p:cNvSpPr txBox="1"/>
          <p:nvPr/>
        </p:nvSpPr>
        <p:spPr>
          <a:xfrm>
            <a:off x="8302752" y="1828800"/>
            <a:ext cx="384048" cy="384048"/>
          </a:xfrm>
          <a:prstGeom prst="rect">
            <a:avLst/>
          </a:prstGeom>
          <a:noFill/>
        </p:spPr>
        <p:txBody>
          <a:bodyPr wrap="square" lIns="0" tIns="0" rIns="0" bIns="0" rtlCol="0" anchor="ctr"/>
          <a:lstStyle/>
          <a:p>
            <a:pPr marL="0" indent="0" algn="ctr">
              <a:buNone/>
            </a:pPr>
            <a:r>
              <a:rPr lang="en-US" sz="1400" b="1" dirty="0">
                <a:solidFill>
                  <a:srgbClr val="FFFFFF"/>
                </a:solidFill>
                <a:latin typeface="Arial" panose="020B0604020202020204" pitchFamily="34" charset="0"/>
                <a:ea typeface="Arial" panose="020B0604020202020204" pitchFamily="34" charset="-122"/>
                <a:cs typeface="Arial" panose="020B0604020202020204" pitchFamily="34" charset="-120"/>
              </a:rPr>
              <a:t>3</a:t>
            </a:r>
            <a:endParaRPr lang="en-US" sz="1400" dirty="0"/>
          </a:p>
        </p:txBody>
      </p:sp>
      <p:sp>
        <p:nvSpPr>
          <p:cNvPr id="22" name="Text 19"/>
          <p:cNvSpPr txBox="1"/>
          <p:nvPr/>
        </p:nvSpPr>
        <p:spPr>
          <a:xfrm>
            <a:off x="8805672" y="1828800"/>
            <a:ext cx="2423160" cy="384048"/>
          </a:xfrm>
          <a:prstGeom prst="rect">
            <a:avLst/>
          </a:prstGeom>
          <a:noFill/>
        </p:spPr>
        <p:txBody>
          <a:bodyPr wrap="square" lIns="0" tIns="0" rIns="0" bIns="0" rtlCol="0" anchor="ctr"/>
          <a:lstStyle/>
          <a:p>
            <a:pPr marL="0" indent="0">
              <a:buNone/>
            </a:pPr>
            <a:r>
              <a:rPr lang="en-US" sz="1600" b="1" dirty="0">
                <a:solidFill>
                  <a:srgbClr val="1B3A64"/>
                </a:solidFill>
                <a:latin typeface="Arial" panose="020B0604020202020204" pitchFamily="34" charset="0"/>
                <a:ea typeface="Arial" panose="020B0604020202020204" pitchFamily="34" charset="-122"/>
                <a:cs typeface="Arial" panose="020B0604020202020204" pitchFamily="34" charset="-120"/>
              </a:rPr>
              <a:t>LGBMClassifier</a:t>
            </a:r>
            <a:endParaRPr lang="en-US" sz="1600" dirty="0"/>
          </a:p>
        </p:txBody>
      </p:sp>
      <p:sp>
        <p:nvSpPr>
          <p:cNvPr id="23" name="Text 20"/>
          <p:cNvSpPr txBox="1"/>
          <p:nvPr/>
        </p:nvSpPr>
        <p:spPr>
          <a:xfrm>
            <a:off x="8302752" y="2359152"/>
            <a:ext cx="2880360" cy="457200"/>
          </a:xfrm>
          <a:prstGeom prst="rect">
            <a:avLst/>
          </a:prstGeom>
          <a:noFill/>
        </p:spPr>
        <p:txBody>
          <a:bodyPr wrap="square" lIns="0" tIns="0" rIns="0" bIns="0" rtlCol="0" anchor="t"/>
          <a:lstStyle/>
          <a:p>
            <a:pPr marL="0" indent="0">
              <a:buNone/>
            </a:pPr>
            <a:r>
              <a:rPr lang="en-US" sz="1200" i="1" dirty="0">
                <a:solidFill>
                  <a:srgbClr val="6B7280"/>
                </a:solidFill>
                <a:latin typeface="Arial" panose="020B0604020202020204" pitchFamily="34" charset="0"/>
                <a:ea typeface="Arial" panose="020B0604020202020204" pitchFamily="34" charset="-122"/>
                <a:cs typeface="Arial" panose="020B0604020202020204" pitchFamily="34" charset="-120"/>
              </a:rPr>
              <a:t>Gradient-boosted decision trees</a:t>
            </a:r>
            <a:endParaRPr lang="en-US" sz="1200" dirty="0"/>
          </a:p>
        </p:txBody>
      </p:sp>
      <p:sp>
        <p:nvSpPr>
          <p:cNvPr id="24" name="Text 21"/>
          <p:cNvSpPr txBox="1"/>
          <p:nvPr/>
        </p:nvSpPr>
        <p:spPr>
          <a:xfrm>
            <a:off x="8302752" y="2880360"/>
            <a:ext cx="2880360" cy="1828800"/>
          </a:xfrm>
          <a:prstGeom prst="rect">
            <a:avLst/>
          </a:prstGeom>
          <a:noFill/>
        </p:spPr>
        <p:txBody>
          <a:bodyPr wrap="square" lIns="0" tIns="0" rIns="0" bIns="0" rtlCol="0" anchor="t"/>
          <a:lstStyle/>
          <a:p>
            <a:pPr marL="203200" indent="-203200">
              <a:spcAft>
                <a:spcPts val="800"/>
              </a:spcAft>
              <a:buSzPct val="100000"/>
              <a:buChar char="•"/>
            </a:pPr>
            <a:r>
              <a:rPr lang="en-US" sz="1300" dirty="0">
                <a:solidFill>
                  <a:srgbClr val="1F2937"/>
                </a:solidFill>
                <a:latin typeface="Arial" panose="020B0604020202020204" pitchFamily="34" charset="0"/>
                <a:ea typeface="Arial" panose="020B0604020202020204" pitchFamily="34" charset="-122"/>
                <a:cs typeface="Arial" panose="020B0604020202020204" pitchFamily="34" charset="-120"/>
              </a:rPr>
              <a:t>Fast on 200k rows, mixed feature types</a:t>
            </a:r>
            <a:endParaRPr lang="en-US" sz="1300" dirty="0"/>
          </a:p>
          <a:p>
            <a:pPr marL="203200" indent="-203200">
              <a:spcAft>
                <a:spcPts val="800"/>
              </a:spcAft>
              <a:buSzPct val="100000"/>
              <a:buChar char="•"/>
            </a:pPr>
            <a:r>
              <a:rPr lang="en-US" sz="1300" dirty="0">
                <a:solidFill>
                  <a:srgbClr val="1F2937"/>
                </a:solidFill>
                <a:latin typeface="Arial" panose="020B0604020202020204" pitchFamily="34" charset="0"/>
                <a:ea typeface="Arial" panose="020B0604020202020204" pitchFamily="34" charset="-122"/>
                <a:cs typeface="Arial" panose="020B0604020202020204" pitchFamily="34" charset="-120"/>
              </a:rPr>
              <a:t>Balanced class weights (see section 5)</a:t>
            </a:r>
            <a:endParaRPr lang="en-US" sz="1300" dirty="0"/>
          </a:p>
          <a:p>
            <a:pPr marL="203200" indent="-203200">
              <a:spcAft>
                <a:spcPts val="800"/>
              </a:spcAft>
              <a:buSzPct val="100000"/>
              <a:buChar char="•"/>
            </a:pPr>
            <a:r>
              <a:rPr lang="en-US" sz="1300" dirty="0">
                <a:solidFill>
                  <a:srgbClr val="1F2937"/>
                </a:solidFill>
                <a:latin typeface="Arial" panose="020B0604020202020204" pitchFamily="34" charset="0"/>
                <a:ea typeface="Arial" panose="020B0604020202020204" pitchFamily="34" charset="-122"/>
                <a:cs typeface="Arial" panose="020B0604020202020204" pitchFamily="34" charset="-120"/>
              </a:rPr>
              <a:t>Outputs a probability per class</a:t>
            </a:r>
            <a:endParaRPr lang="en-US" sz="1300" dirty="0"/>
          </a:p>
        </p:txBody>
      </p:sp>
      <p:sp>
        <p:nvSpPr>
          <p:cNvPr id="25" name="callout"/>
          <p:cNvSpPr/>
          <p:nvPr/>
        </p:nvSpPr>
        <p:spPr>
          <a:xfrm>
            <a:off x="822960" y="4983480"/>
            <a:ext cx="10543032" cy="868680"/>
          </a:xfrm>
          <a:prstGeom prst="roundRect">
            <a:avLst>
              <a:gd name="adj" fmla="val 8421"/>
            </a:avLst>
          </a:prstGeom>
          <a:solidFill>
            <a:srgbClr val="FDF0E3"/>
          </a:solidFill>
          <a:ln w="12700">
            <a:solidFill>
              <a:srgbClr val="FDF0E3"/>
            </a:solidFill>
            <a:prstDash val="solid"/>
          </a:ln>
        </p:spPr>
      </p:sp>
      <p:sp>
        <p:nvSpPr>
          <p:cNvPr id="26" name="Text 23"/>
          <p:cNvSpPr txBox="1"/>
          <p:nvPr/>
        </p:nvSpPr>
        <p:spPr>
          <a:xfrm>
            <a:off x="1051560" y="5029200"/>
            <a:ext cx="10085832" cy="777240"/>
          </a:xfrm>
          <a:prstGeom prst="rect">
            <a:avLst/>
          </a:prstGeom>
          <a:noFill/>
        </p:spPr>
        <p:txBody>
          <a:bodyPr wrap="square" lIns="0" tIns="0" rIns="0" bIns="0" rtlCol="0" anchor="ctr"/>
          <a:lstStyle/>
          <a:p>
            <a:pPr marL="0" indent="0">
              <a:buNone/>
            </a:pPr>
            <a:r>
              <a:rPr lang="en-US" sz="1400" b="1" dirty="0">
                <a:solidFill>
                  <a:srgbClr val="1B3A64"/>
                </a:solidFill>
                <a:latin typeface="Arial" panose="020B0604020202020204" pitchFamily="34" charset="0"/>
                <a:ea typeface="Arial" panose="020B0604020202020204" pitchFamily="34" charset="-122"/>
                <a:cs typeface="Arial" panose="020B0604020202020204" pitchFamily="34" charset="-120"/>
              </a:rPr>
              <a:t>One pipeline object: </a:t>
            </a:r>
            <a:r>
              <a:rPr lang="en-US" sz="1400" dirty="0">
                <a:solidFill>
                  <a:srgbClr val="1F2937"/>
                </a:solidFill>
                <a:latin typeface="Arial" panose="020B0604020202020204" pitchFamily="34" charset="0"/>
                <a:ea typeface="Arial" panose="020B0604020202020204" pitchFamily="34" charset="-122"/>
                <a:cs typeface="Arial" panose="020B0604020202020204" pitchFamily="34" charset="-120"/>
              </a:rPr>
              <a:t>the same code runs in training and in serving, so there is no training/serving skew. Inputs are leakage-free – post-outcome columns were removed in Part 1.</a:t>
            </a:r>
            <a:endParaRPr lang="en-US" sz="1400" dirty="0"/>
          </a:p>
        </p:txBody>
      </p:sp>
      <p:sp>
        <p:nvSpPr>
          <p:cNvPr id="4" name="Slide Number Placeholder 0"/>
          <p:cNvSpPr>
            <a:spLocks noGrp="1"/>
          </p:cNvSpPr>
          <p:nvPr>
            <p:ph type="sldNum" sz="quarter" idx="4294967295"/>
          </p:nvPr>
        </p:nvSpPr>
        <p:spPr>
          <a:xfrm>
            <a:off x="11320272" y="6492240"/>
            <a:ext cx="320040" cy="256032"/>
          </a:xfrm>
          <a:prstGeom prst="rect">
            <a:avLst/>
          </a:prstGeom>
        </p:spPr>
        <p:txBody>
          <a:bodyPr/>
          <a:lstStyle>
            <a:lvl1pPr>
              <a:defRPr sz="1000">
                <a:solidFill>
                  <a:srgbClr val="6B7280"/>
                </a:solidFill>
                <a:latin typeface="Arial" panose="020B0604020202020204"/>
                <a:ea typeface="Arial" panose="020B0604020202020204"/>
                <a:cs typeface="Arial" panose="020B0604020202020204"/>
              </a:defRPr>
            </a:lvl1pPr>
          </a:lstStyle>
          <a:p>
            <a:pPr algn="r"/>
            <a:fld id="{F7021451-1387-4CA6-816F-3879F97B5CBC}" type="slidenum">
              <a:rPr lang="en-US" b="0"/>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7"/>
          <p:cNvSpPr/>
          <p:nvPr>
            <p:ph type="title" idx="107" hasCustomPrompt="1"/>
          </p:nvPr>
        </p:nvSpPr>
        <p:spPr>
          <a:xfrm>
            <a:off x="594360" y="566928"/>
            <a:ext cx="10515600" cy="594360"/>
          </a:xfrm>
          <a:prstGeom prst="rect">
            <a:avLst/>
          </a:prstGeom>
          <a:noFill/>
        </p:spPr>
        <p:txBody>
          <a:bodyPr wrap="square" lIns="0" tIns="0" rIns="0" bIns="0" rtlCol="0" anchor="ctr"/>
          <a:lstStyle/>
          <a:p>
            <a:pPr marL="0" indent="0" algn="l">
              <a:buNone/>
            </a:pPr>
            <a:r>
              <a:rPr lang="en-US" sz="3000" b="1" dirty="0">
                <a:solidFill>
                  <a:srgbClr val="1B3A64"/>
                </a:solidFill>
                <a:latin typeface="Arial" panose="020B0604020202020204" pitchFamily="34" charset="0"/>
                <a:ea typeface="Arial" panose="020B0604020202020204" pitchFamily="34" charset="-122"/>
                <a:cs typeface="Arial" panose="020B0604020202020204" pitchFamily="34" charset="-120"/>
              </a:rPr>
              <a:t>5. Class Imbalance &amp; Metrics</a:t>
            </a:r>
            <a:endParaRPr lang="en-US" sz="3000" dirty="0"/>
          </a:p>
        </p:txBody>
      </p:sp>
      <p:sp>
        <p:nvSpPr>
          <p:cNvPr id="3" name="content panel"/>
          <p:cNvSpPr/>
          <p:nvPr/>
        </p:nvSpPr>
        <p:spPr>
          <a:xfrm>
            <a:off x="548640" y="1417320"/>
            <a:ext cx="11091672" cy="4846320"/>
          </a:xfrm>
          <a:prstGeom prst="roundRect">
            <a:avLst>
              <a:gd name="adj" fmla="val 1132"/>
            </a:avLst>
          </a:prstGeom>
          <a:solidFill>
            <a:srgbClr val="FFFFFF"/>
          </a:solidFill>
          <a:ln w="15875">
            <a:solidFill>
              <a:srgbClr val="D1D5DB"/>
            </a:solidFill>
            <a:prstDash val="solid"/>
          </a:ln>
        </p:spPr>
      </p:sp>
      <p:sp>
        <p:nvSpPr>
          <p:cNvPr id="5" name="Text 2"/>
          <p:cNvSpPr txBox="1"/>
          <p:nvPr/>
        </p:nvSpPr>
        <p:spPr>
          <a:xfrm>
            <a:off x="822960" y="1600200"/>
            <a:ext cx="2377440" cy="777240"/>
          </a:xfrm>
          <a:prstGeom prst="rect">
            <a:avLst/>
          </a:prstGeom>
          <a:noFill/>
        </p:spPr>
        <p:txBody>
          <a:bodyPr wrap="square" lIns="0" tIns="0" rIns="0" bIns="0" rtlCol="0" anchor="ctr"/>
          <a:lstStyle/>
          <a:p>
            <a:pPr marL="0" indent="0">
              <a:buNone/>
            </a:pPr>
            <a:r>
              <a:rPr lang="en-US" sz="4800" b="1" dirty="0">
                <a:solidFill>
                  <a:srgbClr val="CC3224"/>
                </a:solidFill>
                <a:latin typeface="Arial" panose="020B0604020202020204" pitchFamily="34" charset="0"/>
                <a:ea typeface="Arial" panose="020B0604020202020204" pitchFamily="34" charset="-122"/>
                <a:cs typeface="Arial" panose="020B0604020202020204" pitchFamily="34" charset="-120"/>
              </a:rPr>
              <a:t>75.6%</a:t>
            </a:r>
            <a:endParaRPr lang="en-US" sz="4800" dirty="0"/>
          </a:p>
        </p:txBody>
      </p:sp>
      <p:sp>
        <p:nvSpPr>
          <p:cNvPr id="6" name="Text 3"/>
          <p:cNvSpPr txBox="1"/>
          <p:nvPr/>
        </p:nvSpPr>
        <p:spPr>
          <a:xfrm>
            <a:off x="3291840" y="1664208"/>
            <a:ext cx="2560320" cy="731520"/>
          </a:xfrm>
          <a:prstGeom prst="rect">
            <a:avLst/>
          </a:prstGeom>
          <a:noFill/>
        </p:spPr>
        <p:txBody>
          <a:bodyPr wrap="square" lIns="0" tIns="0" rIns="0" bIns="0" rtlCol="0" anchor="ctr"/>
          <a:lstStyle/>
          <a:p>
            <a:pPr marL="0" indent="0">
              <a:buNone/>
            </a:pPr>
            <a:r>
              <a:rPr lang="en-US" sz="1300" dirty="0">
                <a:solidFill>
                  <a:srgbClr val="6B7280"/>
                </a:solidFill>
                <a:latin typeface="Arial" panose="020B0604020202020204" pitchFamily="34" charset="0"/>
                <a:ea typeface="Arial" panose="020B0604020202020204" pitchFamily="34" charset="-122"/>
                <a:cs typeface="Arial" panose="020B0604020202020204" pitchFamily="34" charset="-120"/>
              </a:rPr>
              <a:t>accuracy of a model that always says 'Slight' – and it misses every fatal and serious crash</a:t>
            </a:r>
            <a:endParaRPr lang="en-US" sz="1300" dirty="0"/>
          </a:p>
        </p:txBody>
      </p:sp>
      <p:sp>
        <p:nvSpPr>
          <p:cNvPr id="7" name="Text 4"/>
          <p:cNvSpPr txBox="1"/>
          <p:nvPr/>
        </p:nvSpPr>
        <p:spPr>
          <a:xfrm>
            <a:off x="822960" y="2606040"/>
            <a:ext cx="5029200" cy="320040"/>
          </a:xfrm>
          <a:prstGeom prst="rect">
            <a:avLst/>
          </a:prstGeom>
          <a:noFill/>
        </p:spPr>
        <p:txBody>
          <a:bodyPr wrap="square" lIns="0" tIns="0" rIns="0" bIns="0" rtlCol="0" anchor="t"/>
          <a:lstStyle/>
          <a:p>
            <a:pPr marL="0" indent="0">
              <a:buNone/>
            </a:pPr>
            <a:r>
              <a:rPr lang="en-US" sz="1600" b="1" dirty="0">
                <a:solidFill>
                  <a:srgbClr val="1B3A64"/>
                </a:solidFill>
                <a:latin typeface="Arial" panose="020B0604020202020204" pitchFamily="34" charset="0"/>
                <a:ea typeface="Arial" panose="020B0604020202020204" pitchFamily="34" charset="-122"/>
                <a:cs typeface="Arial" panose="020B0604020202020204" pitchFamily="34" charset="-120"/>
              </a:rPr>
              <a:t>So I measure what matters instead</a:t>
            </a:r>
            <a:endParaRPr lang="en-US" sz="1600" dirty="0"/>
          </a:p>
        </p:txBody>
      </p:sp>
      <p:sp>
        <p:nvSpPr>
          <p:cNvPr id="8" name="metric"/>
          <p:cNvSpPr/>
          <p:nvPr/>
        </p:nvSpPr>
        <p:spPr>
          <a:xfrm>
            <a:off x="822960" y="3017520"/>
            <a:ext cx="5029200" cy="1234440"/>
          </a:xfrm>
          <a:prstGeom prst="roundRect">
            <a:avLst>
              <a:gd name="adj" fmla="val 5926"/>
            </a:avLst>
          </a:prstGeom>
          <a:solidFill>
            <a:srgbClr val="F3F4F6"/>
          </a:solidFill>
          <a:ln w="12700">
            <a:solidFill>
              <a:srgbClr val="F3F4F6"/>
            </a:solidFill>
            <a:prstDash val="solid"/>
          </a:ln>
        </p:spPr>
      </p:sp>
      <p:sp>
        <p:nvSpPr>
          <p:cNvPr id="9" name="Text 6"/>
          <p:cNvSpPr txBox="1"/>
          <p:nvPr/>
        </p:nvSpPr>
        <p:spPr>
          <a:xfrm>
            <a:off x="1005840" y="3108960"/>
            <a:ext cx="4663440" cy="1051560"/>
          </a:xfrm>
          <a:prstGeom prst="rect">
            <a:avLst/>
          </a:prstGeom>
          <a:noFill/>
        </p:spPr>
        <p:txBody>
          <a:bodyPr wrap="square" lIns="0" tIns="0" rIns="0" bIns="0" rtlCol="0" anchor="ctr"/>
          <a:lstStyle/>
          <a:p>
            <a:pPr marL="0" indent="0">
              <a:buNone/>
            </a:pPr>
            <a:r>
              <a:rPr lang="en-US" sz="1300" b="1" dirty="0">
                <a:solidFill>
                  <a:srgbClr val="CC3224"/>
                </a:solidFill>
                <a:latin typeface="Arial" panose="020B0604020202020204" pitchFamily="34" charset="0"/>
                <a:ea typeface="Arial" panose="020B0604020202020204" pitchFamily="34" charset="-122"/>
                <a:cs typeface="Arial" panose="020B0604020202020204" pitchFamily="34" charset="-120"/>
              </a:rPr>
              <a:t>Macro-F1</a:t>
            </a:r>
            <a:endParaRPr lang="en-US" sz="1300" dirty="0"/>
          </a:p>
          <a:p>
            <a:pPr marL="0" indent="0">
              <a:buNone/>
            </a:pPr>
            <a:r>
              <a:rPr lang="en-US" sz="1300" dirty="0">
                <a:solidFill>
                  <a:srgbClr val="1F2937"/>
                </a:solidFill>
                <a:latin typeface="Arial" panose="020B0604020202020204" pitchFamily="34" charset="0"/>
                <a:ea typeface="Arial" panose="020B0604020202020204" pitchFamily="34" charset="-122"/>
                <a:cs typeface="Arial" panose="020B0604020202020204" pitchFamily="34" charset="-120"/>
              </a:rPr>
              <a:t>F1 per class, then averaged – rare Fatal counts as much as common Slight</a:t>
            </a:r>
            <a:endParaRPr lang="en-US" sz="1300" dirty="0"/>
          </a:p>
        </p:txBody>
      </p:sp>
      <p:sp>
        <p:nvSpPr>
          <p:cNvPr id="10" name="metric"/>
          <p:cNvSpPr/>
          <p:nvPr/>
        </p:nvSpPr>
        <p:spPr>
          <a:xfrm>
            <a:off x="822960" y="4389120"/>
            <a:ext cx="5029200" cy="1234440"/>
          </a:xfrm>
          <a:prstGeom prst="roundRect">
            <a:avLst>
              <a:gd name="adj" fmla="val 5926"/>
            </a:avLst>
          </a:prstGeom>
          <a:solidFill>
            <a:srgbClr val="F3F4F6"/>
          </a:solidFill>
          <a:ln w="12700">
            <a:solidFill>
              <a:srgbClr val="F3F4F6"/>
            </a:solidFill>
            <a:prstDash val="solid"/>
          </a:ln>
        </p:spPr>
      </p:sp>
      <p:sp>
        <p:nvSpPr>
          <p:cNvPr id="11" name="Text 8"/>
          <p:cNvSpPr txBox="1"/>
          <p:nvPr/>
        </p:nvSpPr>
        <p:spPr>
          <a:xfrm>
            <a:off x="1005840" y="4480560"/>
            <a:ext cx="4663440" cy="1051560"/>
          </a:xfrm>
          <a:prstGeom prst="rect">
            <a:avLst/>
          </a:prstGeom>
          <a:noFill/>
        </p:spPr>
        <p:txBody>
          <a:bodyPr wrap="square" lIns="0" tIns="0" rIns="0" bIns="0" rtlCol="0" anchor="ctr"/>
          <a:lstStyle/>
          <a:p>
            <a:pPr marL="0" indent="0">
              <a:buNone/>
            </a:pPr>
            <a:r>
              <a:rPr lang="en-US" sz="1300" b="1" dirty="0">
                <a:solidFill>
                  <a:srgbClr val="CC3224"/>
                </a:solidFill>
                <a:latin typeface="Arial" panose="020B0604020202020204" pitchFamily="34" charset="0"/>
                <a:ea typeface="Arial" panose="020B0604020202020204" pitchFamily="34" charset="-122"/>
                <a:cs typeface="Arial" panose="020B0604020202020204" pitchFamily="34" charset="-120"/>
              </a:rPr>
              <a:t>KSI recall</a:t>
            </a:r>
            <a:endParaRPr lang="en-US" sz="1300" dirty="0"/>
          </a:p>
          <a:p>
            <a:pPr marL="0" indent="0">
              <a:buNone/>
            </a:pPr>
            <a:r>
              <a:rPr lang="en-US" sz="1300" dirty="0">
                <a:solidFill>
                  <a:srgbClr val="1F2937"/>
                </a:solidFill>
                <a:latin typeface="Arial" panose="020B0604020202020204" pitchFamily="34" charset="0"/>
                <a:ea typeface="Arial" panose="020B0604020202020204" pitchFamily="34" charset="-122"/>
                <a:cs typeface="Arial" panose="020B0604020202020204" pitchFamily="34" charset="-120"/>
              </a:rPr>
              <a:t>Share of truly fatal or serious crashes the model catches</a:t>
            </a:r>
            <a:endParaRPr lang="en-US" sz="1300" dirty="0"/>
          </a:p>
        </p:txBody>
      </p:sp>
      <p:sp>
        <p:nvSpPr>
          <p:cNvPr id="12" name="Text 9"/>
          <p:cNvSpPr txBox="1"/>
          <p:nvPr/>
        </p:nvSpPr>
        <p:spPr>
          <a:xfrm>
            <a:off x="6309360" y="1645920"/>
            <a:ext cx="5056632" cy="320040"/>
          </a:xfrm>
          <a:prstGeom prst="rect">
            <a:avLst/>
          </a:prstGeom>
          <a:noFill/>
        </p:spPr>
        <p:txBody>
          <a:bodyPr wrap="square" lIns="0" tIns="0" rIns="0" bIns="0" rtlCol="0" anchor="t"/>
          <a:lstStyle/>
          <a:p>
            <a:pPr marL="0" indent="0">
              <a:buNone/>
            </a:pPr>
            <a:r>
              <a:rPr lang="en-US" sz="1600" b="1" dirty="0">
                <a:solidFill>
                  <a:srgbClr val="1B3A64"/>
                </a:solidFill>
                <a:latin typeface="Arial" panose="020B0604020202020204" pitchFamily="34" charset="0"/>
                <a:ea typeface="Arial" panose="020B0604020202020204" pitchFamily="34" charset="-122"/>
                <a:cs typeface="Arial" panose="020B0604020202020204" pitchFamily="34" charset="-120"/>
              </a:rPr>
              <a:t>Balanced class weights</a:t>
            </a:r>
            <a:endParaRPr lang="en-US" sz="1600" dirty="0"/>
          </a:p>
        </p:txBody>
      </p:sp>
      <p:sp>
        <p:nvSpPr>
          <p:cNvPr id="13" name="Text 10"/>
          <p:cNvSpPr txBox="1"/>
          <p:nvPr/>
        </p:nvSpPr>
        <p:spPr>
          <a:xfrm>
            <a:off x="6309360" y="2011680"/>
            <a:ext cx="5056632" cy="274320"/>
          </a:xfrm>
          <a:prstGeom prst="rect">
            <a:avLst/>
          </a:prstGeom>
          <a:noFill/>
        </p:spPr>
        <p:txBody>
          <a:bodyPr wrap="square" lIns="0" tIns="0" rIns="0" bIns="0" rtlCol="0" anchor="t"/>
          <a:lstStyle/>
          <a:p>
            <a:pPr marL="0" indent="0">
              <a:buNone/>
            </a:pPr>
            <a:r>
              <a:rPr lang="en-US" sz="1200" dirty="0">
                <a:solidFill>
                  <a:srgbClr val="6B7280"/>
                </a:solidFill>
                <a:latin typeface="Arial" panose="020B0604020202020204" pitchFamily="34" charset="0"/>
                <a:ea typeface="Arial" panose="020B0604020202020204" pitchFamily="34" charset="-122"/>
                <a:cs typeface="Arial" panose="020B0604020202020204" pitchFamily="34" charset="-120"/>
              </a:rPr>
              <a:t>weight = n ÷ (classes × n in class)   (approximate)</a:t>
            </a:r>
            <a:endParaRPr lang="en-US" sz="1200" dirty="0"/>
          </a:p>
        </p:txBody>
      </p:sp>
      <p:sp>
        <p:nvSpPr>
          <p:cNvPr id="14" name="Text 11"/>
          <p:cNvSpPr txBox="1"/>
          <p:nvPr/>
        </p:nvSpPr>
        <p:spPr>
          <a:xfrm>
            <a:off x="6309360" y="2468880"/>
            <a:ext cx="914400" cy="411480"/>
          </a:xfrm>
          <a:prstGeom prst="rect">
            <a:avLst/>
          </a:prstGeom>
          <a:noFill/>
        </p:spPr>
        <p:txBody>
          <a:bodyPr wrap="square" lIns="0" tIns="0" rIns="0" bIns="0" rtlCol="0" anchor="ctr"/>
          <a:lstStyle/>
          <a:p>
            <a:pPr marL="0" indent="0">
              <a:buNone/>
            </a:pPr>
            <a:r>
              <a:rPr lang="en-US" sz="1300" b="1" dirty="0">
                <a:solidFill>
                  <a:srgbClr val="1F2937"/>
                </a:solidFill>
                <a:latin typeface="Arial" panose="020B0604020202020204" pitchFamily="34" charset="0"/>
                <a:ea typeface="Arial" panose="020B0604020202020204" pitchFamily="34" charset="-122"/>
                <a:cs typeface="Arial" panose="020B0604020202020204" pitchFamily="34" charset="-120"/>
              </a:rPr>
              <a:t>Slight</a:t>
            </a:r>
            <a:endParaRPr lang="en-US" sz="1300" dirty="0"/>
          </a:p>
        </p:txBody>
      </p:sp>
      <p:sp>
        <p:nvSpPr>
          <p:cNvPr id="15" name="Shape 12"/>
          <p:cNvSpPr/>
          <p:nvPr/>
        </p:nvSpPr>
        <p:spPr>
          <a:xfrm>
            <a:off x="7269480" y="2523744"/>
            <a:ext cx="91440" cy="301752"/>
          </a:xfrm>
          <a:prstGeom prst="rect">
            <a:avLst/>
          </a:prstGeom>
          <a:solidFill>
            <a:srgbClr val="1B3A64"/>
          </a:solidFill>
          <a:ln w="12700">
            <a:solidFill>
              <a:srgbClr val="1B3A64"/>
            </a:solidFill>
            <a:prstDash val="solid"/>
          </a:ln>
        </p:spPr>
      </p:sp>
      <p:sp>
        <p:nvSpPr>
          <p:cNvPr id="16" name="Text 13"/>
          <p:cNvSpPr txBox="1"/>
          <p:nvPr/>
        </p:nvSpPr>
        <p:spPr>
          <a:xfrm>
            <a:off x="7452360" y="2468880"/>
            <a:ext cx="2743200" cy="411480"/>
          </a:xfrm>
          <a:prstGeom prst="rect">
            <a:avLst/>
          </a:prstGeom>
          <a:noFill/>
        </p:spPr>
        <p:txBody>
          <a:bodyPr wrap="square" lIns="0" tIns="0" rIns="0" bIns="0" rtlCol="0" anchor="ctr"/>
          <a:lstStyle/>
          <a:p>
            <a:pPr marL="0" indent="0">
              <a:buNone/>
            </a:pPr>
            <a:r>
              <a:rPr lang="en-US" sz="1200" dirty="0">
                <a:solidFill>
                  <a:srgbClr val="6B7280"/>
                </a:solidFill>
                <a:latin typeface="Arial" panose="020B0604020202020204" pitchFamily="34" charset="0"/>
                <a:ea typeface="Arial" panose="020B0604020202020204" pitchFamily="34" charset="-122"/>
                <a:cs typeface="Arial" panose="020B0604020202020204" pitchFamily="34" charset="-120"/>
              </a:rPr>
              <a:t>≈ 0.44  ·  75.6% of data</a:t>
            </a:r>
            <a:endParaRPr lang="en-US" sz="1200" dirty="0"/>
          </a:p>
        </p:txBody>
      </p:sp>
      <p:sp>
        <p:nvSpPr>
          <p:cNvPr id="17" name="Text 14"/>
          <p:cNvSpPr txBox="1"/>
          <p:nvPr/>
        </p:nvSpPr>
        <p:spPr>
          <a:xfrm>
            <a:off x="6309360" y="3035808"/>
            <a:ext cx="914400" cy="411480"/>
          </a:xfrm>
          <a:prstGeom prst="rect">
            <a:avLst/>
          </a:prstGeom>
          <a:noFill/>
        </p:spPr>
        <p:txBody>
          <a:bodyPr wrap="square" lIns="0" tIns="0" rIns="0" bIns="0" rtlCol="0" anchor="ctr"/>
          <a:lstStyle/>
          <a:p>
            <a:pPr marL="0" indent="0">
              <a:buNone/>
            </a:pPr>
            <a:r>
              <a:rPr lang="en-US" sz="1300" b="1" dirty="0">
                <a:solidFill>
                  <a:srgbClr val="1F2937"/>
                </a:solidFill>
                <a:latin typeface="Arial" panose="020B0604020202020204" pitchFamily="34" charset="0"/>
                <a:ea typeface="Arial" panose="020B0604020202020204" pitchFamily="34" charset="-122"/>
                <a:cs typeface="Arial" panose="020B0604020202020204" pitchFamily="34" charset="-120"/>
              </a:rPr>
              <a:t>Serious</a:t>
            </a:r>
            <a:endParaRPr lang="en-US" sz="1300" dirty="0"/>
          </a:p>
        </p:txBody>
      </p:sp>
      <p:sp>
        <p:nvSpPr>
          <p:cNvPr id="18" name="Shape 15"/>
          <p:cNvSpPr/>
          <p:nvPr/>
        </p:nvSpPr>
        <p:spPr>
          <a:xfrm>
            <a:off x="7269480" y="3090672"/>
            <a:ext cx="187036" cy="301752"/>
          </a:xfrm>
          <a:prstGeom prst="rect">
            <a:avLst/>
          </a:prstGeom>
          <a:solidFill>
            <a:srgbClr val="E8872A"/>
          </a:solidFill>
          <a:ln w="12700">
            <a:solidFill>
              <a:srgbClr val="E8872A"/>
            </a:solidFill>
            <a:prstDash val="solid"/>
          </a:ln>
        </p:spPr>
      </p:sp>
      <p:sp>
        <p:nvSpPr>
          <p:cNvPr id="19" name="Text 16"/>
          <p:cNvSpPr txBox="1"/>
          <p:nvPr/>
        </p:nvSpPr>
        <p:spPr>
          <a:xfrm>
            <a:off x="7547956" y="3035808"/>
            <a:ext cx="2743200" cy="411480"/>
          </a:xfrm>
          <a:prstGeom prst="rect">
            <a:avLst/>
          </a:prstGeom>
          <a:noFill/>
        </p:spPr>
        <p:txBody>
          <a:bodyPr wrap="square" lIns="0" tIns="0" rIns="0" bIns="0" rtlCol="0" anchor="ctr"/>
          <a:lstStyle/>
          <a:p>
            <a:pPr marL="0" indent="0">
              <a:buNone/>
            </a:pPr>
            <a:r>
              <a:rPr lang="en-US" sz="1200" dirty="0">
                <a:solidFill>
                  <a:srgbClr val="6B7280"/>
                </a:solidFill>
                <a:latin typeface="Arial" panose="020B0604020202020204" pitchFamily="34" charset="0"/>
                <a:ea typeface="Arial" panose="020B0604020202020204" pitchFamily="34" charset="-122"/>
                <a:cs typeface="Arial" panose="020B0604020202020204" pitchFamily="34" charset="-120"/>
              </a:rPr>
              <a:t>≈ 1.5  ·  22.9% of data</a:t>
            </a:r>
            <a:endParaRPr lang="en-US" sz="1200" dirty="0"/>
          </a:p>
        </p:txBody>
      </p:sp>
      <p:sp>
        <p:nvSpPr>
          <p:cNvPr id="20" name="Text 17"/>
          <p:cNvSpPr txBox="1"/>
          <p:nvPr/>
        </p:nvSpPr>
        <p:spPr>
          <a:xfrm>
            <a:off x="6309360" y="3602736"/>
            <a:ext cx="914400" cy="411480"/>
          </a:xfrm>
          <a:prstGeom prst="rect">
            <a:avLst/>
          </a:prstGeom>
          <a:noFill/>
        </p:spPr>
        <p:txBody>
          <a:bodyPr wrap="square" lIns="0" tIns="0" rIns="0" bIns="0" rtlCol="0" anchor="ctr"/>
          <a:lstStyle/>
          <a:p>
            <a:pPr marL="0" indent="0">
              <a:buNone/>
            </a:pPr>
            <a:r>
              <a:rPr lang="en-US" sz="1300" b="1" dirty="0">
                <a:solidFill>
                  <a:srgbClr val="1F2937"/>
                </a:solidFill>
                <a:latin typeface="Arial" panose="020B0604020202020204" pitchFamily="34" charset="0"/>
                <a:ea typeface="Arial" panose="020B0604020202020204" pitchFamily="34" charset="-122"/>
                <a:cs typeface="Arial" panose="020B0604020202020204" pitchFamily="34" charset="-120"/>
              </a:rPr>
              <a:t>Fatal</a:t>
            </a:r>
            <a:endParaRPr lang="en-US" sz="1300" dirty="0"/>
          </a:p>
        </p:txBody>
      </p:sp>
      <p:sp>
        <p:nvSpPr>
          <p:cNvPr id="21" name="Shape 18"/>
          <p:cNvSpPr/>
          <p:nvPr/>
        </p:nvSpPr>
        <p:spPr>
          <a:xfrm>
            <a:off x="7269480" y="3657600"/>
            <a:ext cx="2743200" cy="301752"/>
          </a:xfrm>
          <a:prstGeom prst="rect">
            <a:avLst/>
          </a:prstGeom>
          <a:solidFill>
            <a:srgbClr val="CC3224"/>
          </a:solidFill>
          <a:ln w="12700">
            <a:solidFill>
              <a:srgbClr val="CC3224"/>
            </a:solidFill>
            <a:prstDash val="solid"/>
          </a:ln>
        </p:spPr>
      </p:sp>
      <p:sp>
        <p:nvSpPr>
          <p:cNvPr id="22" name="Text 19"/>
          <p:cNvSpPr txBox="1"/>
          <p:nvPr/>
        </p:nvSpPr>
        <p:spPr>
          <a:xfrm>
            <a:off x="10104120" y="3602736"/>
            <a:ext cx="2743200" cy="411480"/>
          </a:xfrm>
          <a:prstGeom prst="rect">
            <a:avLst/>
          </a:prstGeom>
          <a:noFill/>
        </p:spPr>
        <p:txBody>
          <a:bodyPr wrap="square" lIns="0" tIns="0" rIns="0" bIns="0" rtlCol="0" anchor="ctr"/>
          <a:lstStyle/>
          <a:p>
            <a:pPr marL="0" indent="0">
              <a:buNone/>
            </a:pPr>
            <a:r>
              <a:rPr lang="en-US" sz="1200" dirty="0">
                <a:solidFill>
                  <a:srgbClr val="6B7280"/>
                </a:solidFill>
                <a:latin typeface="Arial" panose="020B0604020202020204" pitchFamily="34" charset="0"/>
                <a:ea typeface="Arial" panose="020B0604020202020204" pitchFamily="34" charset="-122"/>
                <a:cs typeface="Arial" panose="020B0604020202020204" pitchFamily="34" charset="-120"/>
              </a:rPr>
              <a:t>≈ 22  ·  1.5% of data</a:t>
            </a:r>
            <a:endParaRPr lang="en-US" sz="1200" dirty="0"/>
          </a:p>
        </p:txBody>
      </p:sp>
      <p:sp>
        <p:nvSpPr>
          <p:cNvPr id="23" name="Text 20"/>
          <p:cNvSpPr txBox="1"/>
          <p:nvPr/>
        </p:nvSpPr>
        <p:spPr>
          <a:xfrm>
            <a:off x="6309360" y="4343400"/>
            <a:ext cx="5056632" cy="2011680"/>
          </a:xfrm>
          <a:prstGeom prst="rect">
            <a:avLst/>
          </a:prstGeom>
          <a:noFill/>
        </p:spPr>
        <p:txBody>
          <a:bodyPr wrap="square" lIns="0" tIns="0" rIns="0" bIns="0" rtlCol="0" anchor="t"/>
          <a:lstStyle/>
          <a:p>
            <a:pPr marL="0" indent="0">
              <a:spcAft>
                <a:spcPts val="600"/>
              </a:spcAft>
              <a:buNone/>
            </a:pPr>
            <a:r>
              <a:rPr lang="en-US" sz="1300" dirty="0">
                <a:solidFill>
                  <a:srgbClr val="1F2937"/>
                </a:solidFill>
                <a:latin typeface="Arial" panose="020B0604020202020204" pitchFamily="34" charset="0"/>
                <a:ea typeface="Arial" panose="020B0604020202020204" pitchFamily="34" charset="-122"/>
                <a:cs typeface="Arial" panose="020B0604020202020204" pitchFamily="34" charset="-120"/>
              </a:rPr>
              <a:t>One missed fatal crash costs ~50× more than a missed slight one during training.</a:t>
            </a:r>
            <a:endParaRPr lang="en-US" sz="1300" dirty="0"/>
          </a:p>
          <a:p>
            <a:pPr marL="0" indent="0">
              <a:spcAft>
                <a:spcPts val="600"/>
              </a:spcAft>
              <a:buNone/>
            </a:pPr>
            <a:r>
              <a:rPr lang="en-US" sz="1300" b="1" dirty="0">
                <a:solidFill>
                  <a:srgbClr val="1B3A64"/>
                </a:solidFill>
                <a:latin typeface="Arial" panose="020B0604020202020204" pitchFamily="34" charset="0"/>
                <a:ea typeface="Arial" panose="020B0604020202020204" pitchFamily="34" charset="-122"/>
                <a:cs typeface="Arial" panose="020B0604020202020204" pitchFamily="34" charset="-120"/>
              </a:rPr>
              <a:t>Trade-off: </a:t>
            </a:r>
            <a:r>
              <a:rPr lang="en-US" sz="1300" dirty="0">
                <a:solidFill>
                  <a:srgbClr val="1F2937"/>
                </a:solidFill>
                <a:latin typeface="Arial" panose="020B0604020202020204" pitchFamily="34" charset="0"/>
                <a:ea typeface="Arial" panose="020B0604020202020204" pitchFamily="34" charset="-122"/>
                <a:cs typeface="Arial" panose="020B0604020202020204" pitchFamily="34" charset="-120"/>
              </a:rPr>
              <a:t>more severe predictions incl. false alarms; accuracy falls, severe recall rises.</a:t>
            </a:r>
            <a:endParaRPr lang="en-US" sz="1300" dirty="0"/>
          </a:p>
          <a:p>
            <a:pPr marL="0" indent="0">
              <a:spcAft>
                <a:spcPts val="600"/>
              </a:spcAft>
              <a:buNone/>
            </a:pPr>
            <a:r>
              <a:rPr lang="en-US" sz="1300" dirty="0">
                <a:solidFill>
                  <a:srgbClr val="1F2937"/>
                </a:solidFill>
                <a:latin typeface="Arial" panose="020B0604020202020204" pitchFamily="34" charset="0"/>
                <a:ea typeface="Arial" panose="020B0604020202020204" pitchFamily="34" charset="-122"/>
                <a:cs typeface="Arial" panose="020B0604020202020204" pitchFamily="34" charset="-120"/>
              </a:rPr>
              <a:t>Chosen over SMOTE: no synthetic collisions, only real data.</a:t>
            </a:r>
            <a:endParaRPr lang="en-US" sz="1300" dirty="0"/>
          </a:p>
        </p:txBody>
      </p:sp>
      <p:sp>
        <p:nvSpPr>
          <p:cNvPr id="25" name="Slide Number Placeholder 0"/>
          <p:cNvSpPr>
            <a:spLocks noGrp="1"/>
          </p:cNvSpPr>
          <p:nvPr>
            <p:ph type="sldNum" sz="quarter" idx="4294967295"/>
          </p:nvPr>
        </p:nvSpPr>
        <p:spPr>
          <a:xfrm>
            <a:off x="11320272" y="6492240"/>
            <a:ext cx="320040" cy="256032"/>
          </a:xfrm>
          <a:prstGeom prst="rect">
            <a:avLst/>
          </a:prstGeom>
        </p:spPr>
        <p:txBody>
          <a:bodyPr/>
          <a:lstStyle>
            <a:lvl1pPr>
              <a:defRPr sz="1000">
                <a:solidFill>
                  <a:srgbClr val="6B7280"/>
                </a:solidFill>
                <a:latin typeface="Arial" panose="020B0604020202020204"/>
                <a:ea typeface="Arial" panose="020B0604020202020204"/>
                <a:cs typeface="Arial" panose="020B0604020202020204"/>
              </a:defRPr>
            </a:lvl1pPr>
          </a:lstStyle>
          <a:p>
            <a:pPr algn="r"/>
            <a:fld id="{F7021451-1387-4CA6-816F-3879F97B5CBC}" type="slidenum">
              <a:rPr lang="en-US" b="0"/>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7"/>
          <p:cNvSpPr/>
          <p:nvPr>
            <p:ph type="title" idx="107" hasCustomPrompt="1"/>
          </p:nvPr>
        </p:nvSpPr>
        <p:spPr>
          <a:xfrm>
            <a:off x="594360" y="566928"/>
            <a:ext cx="10515600" cy="594360"/>
          </a:xfrm>
          <a:prstGeom prst="rect">
            <a:avLst/>
          </a:prstGeom>
          <a:noFill/>
        </p:spPr>
        <p:txBody>
          <a:bodyPr wrap="square" lIns="0" tIns="0" rIns="0" bIns="0" rtlCol="0" anchor="ctr"/>
          <a:lstStyle/>
          <a:p>
            <a:pPr marL="0" indent="0" algn="l">
              <a:buNone/>
            </a:pPr>
            <a:r>
              <a:rPr lang="en-US" sz="3000" b="1" dirty="0">
                <a:solidFill>
                  <a:srgbClr val="1B3A64"/>
                </a:solidFill>
                <a:latin typeface="Arial" panose="020B0604020202020204" pitchFamily="34" charset="0"/>
                <a:ea typeface="Arial" panose="020B0604020202020204" pitchFamily="34" charset="-122"/>
                <a:cs typeface="Arial" panose="020B0604020202020204" pitchFamily="34" charset="-120"/>
              </a:rPr>
              <a:t>6. Results &amp; Key Insights</a:t>
            </a:r>
            <a:endParaRPr lang="en-US" sz="3000" dirty="0"/>
          </a:p>
        </p:txBody>
      </p:sp>
      <p:sp>
        <p:nvSpPr>
          <p:cNvPr id="3" name="content panel"/>
          <p:cNvSpPr/>
          <p:nvPr/>
        </p:nvSpPr>
        <p:spPr>
          <a:xfrm>
            <a:off x="548640" y="1417320"/>
            <a:ext cx="11091672" cy="4846320"/>
          </a:xfrm>
          <a:prstGeom prst="roundRect">
            <a:avLst>
              <a:gd name="adj" fmla="val 1132"/>
            </a:avLst>
          </a:prstGeom>
          <a:solidFill>
            <a:srgbClr val="FFFFFF"/>
          </a:solidFill>
          <a:ln w="15875">
            <a:solidFill>
              <a:srgbClr val="D1D5DB"/>
            </a:solidFill>
            <a:prstDash val="solid"/>
          </a:ln>
        </p:spPr>
      </p:sp>
      <p:sp>
        <p:nvSpPr>
          <p:cNvPr id="5" name="stat tile"/>
          <p:cNvSpPr/>
          <p:nvPr/>
        </p:nvSpPr>
        <p:spPr>
          <a:xfrm>
            <a:off x="822960" y="1645920"/>
            <a:ext cx="3337560" cy="1143000"/>
          </a:xfrm>
          <a:prstGeom prst="roundRect">
            <a:avLst>
              <a:gd name="adj" fmla="val 6400"/>
            </a:avLst>
          </a:prstGeom>
          <a:solidFill>
            <a:srgbClr val="F3F4F6"/>
          </a:solidFill>
          <a:ln w="12700">
            <a:solidFill>
              <a:srgbClr val="F3F4F6"/>
            </a:solidFill>
            <a:prstDash val="solid"/>
          </a:ln>
        </p:spPr>
      </p:sp>
      <p:sp>
        <p:nvSpPr>
          <p:cNvPr id="6" name="Text 3"/>
          <p:cNvSpPr txBox="1"/>
          <p:nvPr/>
        </p:nvSpPr>
        <p:spPr>
          <a:xfrm>
            <a:off x="822960" y="1755648"/>
            <a:ext cx="3337560" cy="628650"/>
          </a:xfrm>
          <a:prstGeom prst="rect">
            <a:avLst/>
          </a:prstGeom>
          <a:noFill/>
        </p:spPr>
        <p:txBody>
          <a:bodyPr wrap="square" lIns="0" tIns="0" rIns="0" bIns="0" rtlCol="0" anchor="ctr"/>
          <a:lstStyle/>
          <a:p>
            <a:pPr marL="0" indent="0" algn="ctr">
              <a:buNone/>
            </a:pPr>
            <a:r>
              <a:rPr lang="en-US" sz="3400" b="1" dirty="0">
                <a:solidFill>
                  <a:srgbClr val="CC3224"/>
                </a:solidFill>
                <a:latin typeface="Arial" panose="020B0604020202020204" pitchFamily="34" charset="0"/>
                <a:ea typeface="Arial" panose="020B0604020202020204" pitchFamily="34" charset="-122"/>
                <a:cs typeface="Arial" panose="020B0604020202020204" pitchFamily="34" charset="-120"/>
              </a:rPr>
              <a:t>64.6%</a:t>
            </a:r>
            <a:endParaRPr lang="en-US" sz="3400" dirty="0"/>
          </a:p>
        </p:txBody>
      </p:sp>
      <p:sp>
        <p:nvSpPr>
          <p:cNvPr id="7" name="Text 4"/>
          <p:cNvSpPr txBox="1"/>
          <p:nvPr/>
        </p:nvSpPr>
        <p:spPr>
          <a:xfrm>
            <a:off x="960120" y="2354580"/>
            <a:ext cx="3063240" cy="411480"/>
          </a:xfrm>
          <a:prstGeom prst="rect">
            <a:avLst/>
          </a:prstGeom>
          <a:noFill/>
        </p:spPr>
        <p:txBody>
          <a:bodyPr wrap="square" lIns="0" tIns="0" rIns="0" bIns="0" rtlCol="0" anchor="t"/>
          <a:lstStyle/>
          <a:p>
            <a:pPr marL="0" indent="0" algn="ctr">
              <a:buNone/>
            </a:pPr>
            <a:r>
              <a:rPr lang="en-US" sz="1200" dirty="0">
                <a:solidFill>
                  <a:srgbClr val="6B7280"/>
                </a:solidFill>
                <a:latin typeface="Arial" panose="020B0604020202020204" pitchFamily="34" charset="0"/>
                <a:ea typeface="Arial" panose="020B0604020202020204" pitchFamily="34" charset="-122"/>
                <a:cs typeface="Arial" panose="020B0604020202020204" pitchFamily="34" charset="-120"/>
              </a:rPr>
              <a:t>KSI recall – severe crashes caught</a:t>
            </a:r>
            <a:endParaRPr lang="en-US" sz="1200" dirty="0"/>
          </a:p>
        </p:txBody>
      </p:sp>
      <p:sp>
        <p:nvSpPr>
          <p:cNvPr id="8" name="stat tile"/>
          <p:cNvSpPr/>
          <p:nvPr/>
        </p:nvSpPr>
        <p:spPr>
          <a:xfrm>
            <a:off x="4425696" y="1645920"/>
            <a:ext cx="3337560" cy="1143000"/>
          </a:xfrm>
          <a:prstGeom prst="roundRect">
            <a:avLst>
              <a:gd name="adj" fmla="val 6400"/>
            </a:avLst>
          </a:prstGeom>
          <a:solidFill>
            <a:srgbClr val="F3F4F6"/>
          </a:solidFill>
          <a:ln w="12700">
            <a:solidFill>
              <a:srgbClr val="F3F4F6"/>
            </a:solidFill>
            <a:prstDash val="solid"/>
          </a:ln>
        </p:spPr>
      </p:sp>
      <p:sp>
        <p:nvSpPr>
          <p:cNvPr id="9" name="Text 6"/>
          <p:cNvSpPr txBox="1"/>
          <p:nvPr/>
        </p:nvSpPr>
        <p:spPr>
          <a:xfrm>
            <a:off x="4425696" y="1755648"/>
            <a:ext cx="3337560" cy="628650"/>
          </a:xfrm>
          <a:prstGeom prst="rect">
            <a:avLst/>
          </a:prstGeom>
          <a:noFill/>
        </p:spPr>
        <p:txBody>
          <a:bodyPr wrap="square" lIns="0" tIns="0" rIns="0" bIns="0" rtlCol="0" anchor="ctr"/>
          <a:lstStyle/>
          <a:p>
            <a:pPr marL="0" indent="0" algn="ctr">
              <a:buNone/>
            </a:pPr>
            <a:r>
              <a:rPr lang="en-US" sz="3400" b="1" dirty="0">
                <a:solidFill>
                  <a:srgbClr val="1B3A64"/>
                </a:solidFill>
                <a:latin typeface="Arial" panose="020B0604020202020204" pitchFamily="34" charset="0"/>
                <a:ea typeface="Arial" panose="020B0604020202020204" pitchFamily="34" charset="-122"/>
                <a:cs typeface="Arial" panose="020B0604020202020204" pitchFamily="34" charset="-120"/>
              </a:rPr>
              <a:t>0.431</a:t>
            </a:r>
            <a:endParaRPr lang="en-US" sz="3400" dirty="0"/>
          </a:p>
        </p:txBody>
      </p:sp>
      <p:sp>
        <p:nvSpPr>
          <p:cNvPr id="10" name="Text 7"/>
          <p:cNvSpPr txBox="1"/>
          <p:nvPr/>
        </p:nvSpPr>
        <p:spPr>
          <a:xfrm>
            <a:off x="4562856" y="2354580"/>
            <a:ext cx="3063240" cy="411480"/>
          </a:xfrm>
          <a:prstGeom prst="rect">
            <a:avLst/>
          </a:prstGeom>
          <a:noFill/>
        </p:spPr>
        <p:txBody>
          <a:bodyPr wrap="square" lIns="0" tIns="0" rIns="0" bIns="0" rtlCol="0" anchor="t"/>
          <a:lstStyle/>
          <a:p>
            <a:pPr marL="0" indent="0" algn="ctr">
              <a:buNone/>
            </a:pPr>
            <a:r>
              <a:rPr lang="en-US" sz="1200" dirty="0">
                <a:solidFill>
                  <a:srgbClr val="6B7280"/>
                </a:solidFill>
                <a:latin typeface="Arial" panose="020B0604020202020204" pitchFamily="34" charset="0"/>
                <a:ea typeface="Arial" panose="020B0604020202020204" pitchFamily="34" charset="-122"/>
                <a:cs typeface="Arial" panose="020B0604020202020204" pitchFamily="34" charset="-120"/>
              </a:rPr>
              <a:t>Macro-F1 (always-'Slight' ≈ 0.29)</a:t>
            </a:r>
            <a:endParaRPr lang="en-US" sz="1200" dirty="0"/>
          </a:p>
        </p:txBody>
      </p:sp>
      <p:sp>
        <p:nvSpPr>
          <p:cNvPr id="11" name="stat tile"/>
          <p:cNvSpPr/>
          <p:nvPr/>
        </p:nvSpPr>
        <p:spPr>
          <a:xfrm>
            <a:off x="8028432" y="1645920"/>
            <a:ext cx="3337560" cy="1143000"/>
          </a:xfrm>
          <a:prstGeom prst="roundRect">
            <a:avLst>
              <a:gd name="adj" fmla="val 6400"/>
            </a:avLst>
          </a:prstGeom>
          <a:solidFill>
            <a:srgbClr val="F3F4F6"/>
          </a:solidFill>
          <a:ln w="12700">
            <a:solidFill>
              <a:srgbClr val="F3F4F6"/>
            </a:solidFill>
            <a:prstDash val="solid"/>
          </a:ln>
        </p:spPr>
      </p:sp>
      <p:sp>
        <p:nvSpPr>
          <p:cNvPr id="12" name="Text 9"/>
          <p:cNvSpPr txBox="1"/>
          <p:nvPr/>
        </p:nvSpPr>
        <p:spPr>
          <a:xfrm>
            <a:off x="8028432" y="1755648"/>
            <a:ext cx="3337560" cy="628650"/>
          </a:xfrm>
          <a:prstGeom prst="rect">
            <a:avLst/>
          </a:prstGeom>
          <a:noFill/>
        </p:spPr>
        <p:txBody>
          <a:bodyPr wrap="square" lIns="0" tIns="0" rIns="0" bIns="0" rtlCol="0" anchor="ctr"/>
          <a:lstStyle/>
          <a:p>
            <a:pPr marL="0" indent="0" algn="ctr">
              <a:buNone/>
            </a:pPr>
            <a:r>
              <a:rPr lang="en-US" sz="3400" b="1" dirty="0">
                <a:solidFill>
                  <a:srgbClr val="6B7280"/>
                </a:solidFill>
                <a:latin typeface="Arial" panose="020B0604020202020204" pitchFamily="34" charset="0"/>
                <a:ea typeface="Arial" panose="020B0604020202020204" pitchFamily="34" charset="-122"/>
                <a:cs typeface="Arial" panose="020B0604020202020204" pitchFamily="34" charset="-120"/>
              </a:rPr>
              <a:t>62.1%</a:t>
            </a:r>
            <a:endParaRPr lang="en-US" sz="3400" dirty="0"/>
          </a:p>
        </p:txBody>
      </p:sp>
      <p:sp>
        <p:nvSpPr>
          <p:cNvPr id="13" name="Text 10"/>
          <p:cNvSpPr txBox="1"/>
          <p:nvPr/>
        </p:nvSpPr>
        <p:spPr>
          <a:xfrm>
            <a:off x="8165592" y="2354580"/>
            <a:ext cx="3063240" cy="411480"/>
          </a:xfrm>
          <a:prstGeom prst="rect">
            <a:avLst/>
          </a:prstGeom>
          <a:noFill/>
        </p:spPr>
        <p:txBody>
          <a:bodyPr wrap="square" lIns="0" tIns="0" rIns="0" bIns="0" rtlCol="0" anchor="t"/>
          <a:lstStyle/>
          <a:p>
            <a:pPr marL="0" indent="0" algn="ctr">
              <a:buNone/>
            </a:pPr>
            <a:r>
              <a:rPr lang="en-US" sz="1200" dirty="0">
                <a:solidFill>
                  <a:srgbClr val="6B7280"/>
                </a:solidFill>
                <a:latin typeface="Arial" panose="020B0604020202020204" pitchFamily="34" charset="0"/>
                <a:ea typeface="Arial" panose="020B0604020202020204" pitchFamily="34" charset="-122"/>
                <a:cs typeface="Arial" panose="020B0604020202020204" pitchFamily="34" charset="-120"/>
              </a:rPr>
              <a:t>Accuracy – lower by design</a:t>
            </a:r>
            <a:endParaRPr lang="en-US" sz="1200" dirty="0"/>
          </a:p>
        </p:txBody>
      </p:sp>
      <p:graphicFrame>
        <p:nvGraphicFramePr>
          <p:cNvPr id="14" name="Chart 0"/>
          <p:cNvGraphicFramePr/>
          <p:nvPr/>
        </p:nvGraphicFramePr>
        <p:xfrm>
          <a:off x="822960" y="2926080"/>
          <a:ext cx="5303520" cy="2926080"/>
        </p:xfrm>
        <a:graphic>
          <a:graphicData uri="http://schemas.openxmlformats.org/drawingml/2006/chart">
            <c:chart xmlns:c="http://schemas.openxmlformats.org/drawingml/2006/chart" xmlns:r="http://schemas.openxmlformats.org/officeDocument/2006/relationships" r:id="rId1"/>
          </a:graphicData>
        </a:graphic>
      </p:graphicFrame>
      <p:sp>
        <p:nvSpPr>
          <p:cNvPr id="15" name="Text 11"/>
          <p:cNvSpPr txBox="1"/>
          <p:nvPr/>
        </p:nvSpPr>
        <p:spPr>
          <a:xfrm>
            <a:off x="6492240" y="3017520"/>
            <a:ext cx="4846320" cy="2834640"/>
          </a:xfrm>
          <a:prstGeom prst="rect">
            <a:avLst/>
          </a:prstGeom>
          <a:noFill/>
        </p:spPr>
        <p:txBody>
          <a:bodyPr wrap="square" lIns="0" tIns="0" rIns="0" bIns="0" rtlCol="0" anchor="t"/>
          <a:lstStyle/>
          <a:p>
            <a:pPr marL="0" indent="0">
              <a:spcAft>
                <a:spcPts val="800"/>
              </a:spcAft>
              <a:buNone/>
            </a:pPr>
            <a:r>
              <a:rPr lang="en-US" sz="1400" b="1" dirty="0">
                <a:solidFill>
                  <a:srgbClr val="1B3A64"/>
                </a:solidFill>
                <a:latin typeface="Arial" panose="020B0604020202020204" pitchFamily="34" charset="0"/>
                <a:ea typeface="Arial" panose="020B0604020202020204" pitchFamily="34" charset="-122"/>
                <a:cs typeface="Arial" panose="020B0604020202020204" pitchFamily="34" charset="-120"/>
              </a:rPr>
              <a:t>Unseen data: </a:t>
            </a:r>
            <a:r>
              <a:rPr lang="en-US" sz="1400" dirty="0">
                <a:solidFill>
                  <a:srgbClr val="1F2937"/>
                </a:solidFill>
                <a:latin typeface="Arial" panose="020B0604020202020204" pitchFamily="34" charset="0"/>
                <a:ea typeface="Arial" panose="020B0604020202020204" pitchFamily="34" charset="-122"/>
                <a:cs typeface="Arial" panose="020B0604020202020204" pitchFamily="34" charset="-120"/>
              </a:rPr>
              <a:t>Oct–Dec 2024 test months were never used in training.</a:t>
            </a:r>
            <a:endParaRPr lang="en-US" sz="1400" dirty="0"/>
          </a:p>
          <a:p>
            <a:pPr marL="0" indent="0">
              <a:spcAft>
                <a:spcPts val="800"/>
              </a:spcAft>
              <a:buNone/>
            </a:pPr>
            <a:r>
              <a:rPr lang="en-US" sz="1400" b="1" dirty="0">
                <a:solidFill>
                  <a:srgbClr val="1B3A64"/>
                </a:solidFill>
                <a:latin typeface="Arial" panose="020B0604020202020204" pitchFamily="34" charset="0"/>
                <a:ea typeface="Arial" panose="020B0604020202020204" pitchFamily="34" charset="-122"/>
                <a:cs typeface="Arial" panose="020B0604020202020204" pitchFamily="34" charset="-120"/>
              </a:rPr>
              <a:t>Severe crashes: </a:t>
            </a:r>
            <a:r>
              <a:rPr lang="en-US" sz="1400" dirty="0">
                <a:solidFill>
                  <a:srgbClr val="1F2937"/>
                </a:solidFill>
                <a:latin typeface="Arial" panose="020B0604020202020204" pitchFamily="34" charset="0"/>
                <a:ea typeface="Arial" panose="020B0604020202020204" pitchFamily="34" charset="-122"/>
                <a:cs typeface="Arial" panose="020B0604020202020204" pitchFamily="34" charset="-120"/>
              </a:rPr>
              <a:t>about two in three fatal or serious collisions are flagged as severe.</a:t>
            </a:r>
            <a:endParaRPr lang="en-US" sz="1400" dirty="0"/>
          </a:p>
          <a:p>
            <a:pPr marL="0" indent="0">
              <a:spcAft>
                <a:spcPts val="800"/>
              </a:spcAft>
              <a:buNone/>
            </a:pPr>
            <a:r>
              <a:rPr lang="en-US" sz="1400" b="1" dirty="0">
                <a:solidFill>
                  <a:srgbClr val="1B3A64"/>
                </a:solidFill>
                <a:latin typeface="Arial" panose="020B0604020202020204" pitchFamily="34" charset="0"/>
                <a:ea typeface="Arial" panose="020B0604020202020204" pitchFamily="34" charset="-122"/>
                <a:cs typeface="Arial" panose="020B0604020202020204" pitchFamily="34" charset="-120"/>
              </a:rPr>
              <a:t>Fatal: </a:t>
            </a:r>
            <a:r>
              <a:rPr lang="en-US" sz="1400" dirty="0">
                <a:solidFill>
                  <a:srgbClr val="1F2937"/>
                </a:solidFill>
                <a:latin typeface="Arial" panose="020B0604020202020204" pitchFamily="34" charset="0"/>
                <a:ea typeface="Arial" panose="020B0604020202020204" pitchFamily="34" charset="-122"/>
                <a:cs typeface="Arial" panose="020B0604020202020204" pitchFamily="34" charset="-120"/>
              </a:rPr>
              <a:t>83% of fatal crashes flagged as Fatal or Serious.</a:t>
            </a:r>
            <a:endParaRPr lang="en-US" sz="1400" dirty="0"/>
          </a:p>
          <a:p>
            <a:pPr marL="0" indent="0">
              <a:spcAft>
                <a:spcPts val="800"/>
              </a:spcAft>
              <a:buNone/>
            </a:pPr>
            <a:r>
              <a:rPr lang="en-US" sz="1400" b="1" dirty="0">
                <a:solidFill>
                  <a:srgbClr val="1B3A64"/>
                </a:solidFill>
                <a:latin typeface="Arial" panose="020B0604020202020204" pitchFamily="34" charset="0"/>
                <a:ea typeface="Arial" panose="020B0604020202020204" pitchFamily="34" charset="-122"/>
                <a:cs typeface="Arial" panose="020B0604020202020204" pitchFamily="34" charset="-120"/>
              </a:rPr>
              <a:t>Accuracy: </a:t>
            </a:r>
            <a:r>
              <a:rPr lang="en-US" sz="1400" dirty="0">
                <a:solidFill>
                  <a:srgbClr val="1F2937"/>
                </a:solidFill>
                <a:latin typeface="Arial" panose="020B0604020202020204" pitchFamily="34" charset="0"/>
                <a:ea typeface="Arial" panose="020B0604020202020204" pitchFamily="34" charset="-122"/>
                <a:cs typeface="Arial" panose="020B0604020202020204" pitchFamily="34" charset="-120"/>
              </a:rPr>
              <a:t>below the 75.6% of the lazy model – the price of catching severe crashes.</a:t>
            </a:r>
            <a:endParaRPr lang="en-US" sz="1400" dirty="0"/>
          </a:p>
        </p:txBody>
      </p:sp>
      <p:sp>
        <p:nvSpPr>
          <p:cNvPr id="25" name="Slide Number Placeholder 0"/>
          <p:cNvSpPr>
            <a:spLocks noGrp="1"/>
          </p:cNvSpPr>
          <p:nvPr>
            <p:ph type="sldNum" sz="quarter" idx="4294967295"/>
          </p:nvPr>
        </p:nvSpPr>
        <p:spPr>
          <a:xfrm>
            <a:off x="11320272" y="6492240"/>
            <a:ext cx="320040" cy="256032"/>
          </a:xfrm>
          <a:prstGeom prst="rect">
            <a:avLst/>
          </a:prstGeom>
        </p:spPr>
        <p:txBody>
          <a:bodyPr/>
          <a:lstStyle>
            <a:lvl1pPr>
              <a:defRPr sz="1000">
                <a:solidFill>
                  <a:srgbClr val="6B7280"/>
                </a:solidFill>
                <a:latin typeface="Arial" panose="020B0604020202020204"/>
                <a:ea typeface="Arial" panose="020B0604020202020204"/>
                <a:cs typeface="Arial" panose="020B0604020202020204"/>
              </a:defRPr>
            </a:lvl1pPr>
          </a:lstStyle>
          <a:p>
            <a:pPr algn="r"/>
            <a:fld id="{F7021451-1387-4CA6-816F-3879F97B5CBC}" type="slidenum">
              <a:rPr lang="en-US" b="0"/>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7"/>
          <p:cNvSpPr/>
          <p:nvPr>
            <p:ph type="title" idx="107" hasCustomPrompt="1"/>
          </p:nvPr>
        </p:nvSpPr>
        <p:spPr>
          <a:xfrm>
            <a:off x="594360" y="566928"/>
            <a:ext cx="10515600" cy="594360"/>
          </a:xfrm>
          <a:prstGeom prst="rect">
            <a:avLst/>
          </a:prstGeom>
          <a:noFill/>
        </p:spPr>
        <p:txBody>
          <a:bodyPr wrap="square" lIns="0" tIns="0" rIns="0" bIns="0" rtlCol="0" anchor="ctr"/>
          <a:lstStyle/>
          <a:p>
            <a:pPr marL="0" indent="0" algn="l">
              <a:buNone/>
            </a:pPr>
            <a:r>
              <a:rPr lang="en-US" sz="3000" b="1" dirty="0">
                <a:solidFill>
                  <a:srgbClr val="1B3A64"/>
                </a:solidFill>
                <a:latin typeface="Arial" panose="020B0604020202020204" pitchFamily="34" charset="0"/>
                <a:ea typeface="Arial" panose="020B0604020202020204" pitchFamily="34" charset="-122"/>
                <a:cs typeface="Arial" panose="020B0604020202020204" pitchFamily="34" charset="-120"/>
              </a:rPr>
              <a:t>7. Confusion Matrix</a:t>
            </a:r>
            <a:endParaRPr lang="en-US" sz="3000" dirty="0"/>
          </a:p>
        </p:txBody>
      </p:sp>
      <p:sp>
        <p:nvSpPr>
          <p:cNvPr id="3" name="content panel"/>
          <p:cNvSpPr/>
          <p:nvPr/>
        </p:nvSpPr>
        <p:spPr>
          <a:xfrm>
            <a:off x="548640" y="1417320"/>
            <a:ext cx="11091672" cy="4846320"/>
          </a:xfrm>
          <a:prstGeom prst="roundRect">
            <a:avLst>
              <a:gd name="adj" fmla="val 1132"/>
            </a:avLst>
          </a:prstGeom>
          <a:solidFill>
            <a:srgbClr val="FFFFFF"/>
          </a:solidFill>
          <a:ln w="15875">
            <a:solidFill>
              <a:srgbClr val="D1D5DB"/>
            </a:solidFill>
            <a:prstDash val="solid"/>
          </a:ln>
        </p:spPr>
      </p:sp>
      <p:sp>
        <p:nvSpPr>
          <p:cNvPr id="5" name="Shape 2"/>
          <p:cNvSpPr/>
          <p:nvPr/>
        </p:nvSpPr>
        <p:spPr>
          <a:xfrm>
            <a:off x="822960" y="1645920"/>
            <a:ext cx="1883664" cy="548640"/>
          </a:xfrm>
          <a:prstGeom prst="rect">
            <a:avLst/>
          </a:prstGeom>
          <a:solidFill>
            <a:srgbClr val="1B3A64"/>
          </a:solidFill>
          <a:ln w="12700">
            <a:solidFill>
              <a:srgbClr val="1B3A64"/>
            </a:solidFill>
            <a:prstDash val="solid"/>
          </a:ln>
        </p:spPr>
      </p:sp>
      <p:sp>
        <p:nvSpPr>
          <p:cNvPr id="6" name="Text 3"/>
          <p:cNvSpPr txBox="1"/>
          <p:nvPr/>
        </p:nvSpPr>
        <p:spPr>
          <a:xfrm>
            <a:off x="822960" y="1645920"/>
            <a:ext cx="1883664" cy="548640"/>
          </a:xfrm>
          <a:prstGeom prst="rect">
            <a:avLst/>
          </a:prstGeom>
          <a:noFill/>
        </p:spPr>
        <p:txBody>
          <a:bodyPr wrap="square" lIns="0" tIns="0" rIns="0" bIns="0" rtlCol="0" anchor="ctr"/>
          <a:lstStyle/>
          <a:p>
            <a:pPr marL="0" indent="0" algn="ctr">
              <a:buNone/>
            </a:pPr>
            <a:r>
              <a:rPr lang="en-US" sz="1200" b="1" dirty="0">
                <a:solidFill>
                  <a:srgbClr val="FFFFFF"/>
                </a:solidFill>
                <a:latin typeface="Arial" panose="020B0604020202020204" pitchFamily="34" charset="0"/>
                <a:ea typeface="Arial" panose="020B0604020202020204" pitchFamily="34" charset="-122"/>
                <a:cs typeface="Arial" panose="020B0604020202020204" pitchFamily="34" charset="-120"/>
              </a:rPr>
              <a:t>Actual ↓ / Predicted →</a:t>
            </a:r>
            <a:endParaRPr lang="en-US" sz="1200" dirty="0"/>
          </a:p>
        </p:txBody>
      </p:sp>
      <p:sp>
        <p:nvSpPr>
          <p:cNvPr id="7" name="Shape 4"/>
          <p:cNvSpPr/>
          <p:nvPr/>
        </p:nvSpPr>
        <p:spPr>
          <a:xfrm>
            <a:off x="2743200" y="1645920"/>
            <a:ext cx="1335024" cy="548640"/>
          </a:xfrm>
          <a:prstGeom prst="rect">
            <a:avLst/>
          </a:prstGeom>
          <a:solidFill>
            <a:srgbClr val="1B3A64"/>
          </a:solidFill>
          <a:ln w="12700">
            <a:solidFill>
              <a:srgbClr val="1B3A64"/>
            </a:solidFill>
            <a:prstDash val="solid"/>
          </a:ln>
        </p:spPr>
      </p:sp>
      <p:sp>
        <p:nvSpPr>
          <p:cNvPr id="8" name="Text 5"/>
          <p:cNvSpPr txBox="1"/>
          <p:nvPr/>
        </p:nvSpPr>
        <p:spPr>
          <a:xfrm>
            <a:off x="2743200" y="1645920"/>
            <a:ext cx="1335024" cy="548640"/>
          </a:xfrm>
          <a:prstGeom prst="rect">
            <a:avLst/>
          </a:prstGeom>
          <a:noFill/>
        </p:spPr>
        <p:txBody>
          <a:bodyPr wrap="square" lIns="0" tIns="0" rIns="0" bIns="0" rtlCol="0" anchor="ctr"/>
          <a:lstStyle/>
          <a:p>
            <a:pPr marL="0" indent="0" algn="ctr">
              <a:buNone/>
            </a:pPr>
            <a:r>
              <a:rPr lang="en-US" sz="1400" b="1" dirty="0">
                <a:solidFill>
                  <a:srgbClr val="FFFFFF"/>
                </a:solidFill>
                <a:latin typeface="Arial" panose="020B0604020202020204" pitchFamily="34" charset="0"/>
                <a:ea typeface="Arial" panose="020B0604020202020204" pitchFamily="34" charset="-122"/>
                <a:cs typeface="Arial" panose="020B0604020202020204" pitchFamily="34" charset="-120"/>
              </a:rPr>
              <a:t>Fatal</a:t>
            </a:r>
            <a:endParaRPr lang="en-US" sz="1400" dirty="0"/>
          </a:p>
        </p:txBody>
      </p:sp>
      <p:sp>
        <p:nvSpPr>
          <p:cNvPr id="9" name="Shape 6"/>
          <p:cNvSpPr/>
          <p:nvPr/>
        </p:nvSpPr>
        <p:spPr>
          <a:xfrm>
            <a:off x="4114800" y="1645920"/>
            <a:ext cx="1335024" cy="548640"/>
          </a:xfrm>
          <a:prstGeom prst="rect">
            <a:avLst/>
          </a:prstGeom>
          <a:solidFill>
            <a:srgbClr val="1B3A64"/>
          </a:solidFill>
          <a:ln w="12700">
            <a:solidFill>
              <a:srgbClr val="1B3A64"/>
            </a:solidFill>
            <a:prstDash val="solid"/>
          </a:ln>
        </p:spPr>
      </p:sp>
      <p:sp>
        <p:nvSpPr>
          <p:cNvPr id="10" name="Text 7"/>
          <p:cNvSpPr txBox="1"/>
          <p:nvPr/>
        </p:nvSpPr>
        <p:spPr>
          <a:xfrm>
            <a:off x="4114800" y="1645920"/>
            <a:ext cx="1335024" cy="548640"/>
          </a:xfrm>
          <a:prstGeom prst="rect">
            <a:avLst/>
          </a:prstGeom>
          <a:noFill/>
        </p:spPr>
        <p:txBody>
          <a:bodyPr wrap="square" lIns="0" tIns="0" rIns="0" bIns="0" rtlCol="0" anchor="ctr"/>
          <a:lstStyle/>
          <a:p>
            <a:pPr marL="0" indent="0" algn="ctr">
              <a:buNone/>
            </a:pPr>
            <a:r>
              <a:rPr lang="en-US" sz="1400" b="1" dirty="0">
                <a:solidFill>
                  <a:srgbClr val="FFFFFF"/>
                </a:solidFill>
                <a:latin typeface="Arial" panose="020B0604020202020204" pitchFamily="34" charset="0"/>
                <a:ea typeface="Arial" panose="020B0604020202020204" pitchFamily="34" charset="-122"/>
                <a:cs typeface="Arial" panose="020B0604020202020204" pitchFamily="34" charset="-120"/>
              </a:rPr>
              <a:t>Serious</a:t>
            </a:r>
            <a:endParaRPr lang="en-US" sz="1400" dirty="0"/>
          </a:p>
        </p:txBody>
      </p:sp>
      <p:sp>
        <p:nvSpPr>
          <p:cNvPr id="11" name="Shape 8"/>
          <p:cNvSpPr/>
          <p:nvPr/>
        </p:nvSpPr>
        <p:spPr>
          <a:xfrm>
            <a:off x="5486400" y="1645920"/>
            <a:ext cx="1335024" cy="548640"/>
          </a:xfrm>
          <a:prstGeom prst="rect">
            <a:avLst/>
          </a:prstGeom>
          <a:solidFill>
            <a:srgbClr val="1B3A64"/>
          </a:solidFill>
          <a:ln w="12700">
            <a:solidFill>
              <a:srgbClr val="1B3A64"/>
            </a:solidFill>
            <a:prstDash val="solid"/>
          </a:ln>
        </p:spPr>
      </p:sp>
      <p:sp>
        <p:nvSpPr>
          <p:cNvPr id="12" name="Text 9"/>
          <p:cNvSpPr txBox="1"/>
          <p:nvPr/>
        </p:nvSpPr>
        <p:spPr>
          <a:xfrm>
            <a:off x="5486400" y="1645920"/>
            <a:ext cx="1335024" cy="548640"/>
          </a:xfrm>
          <a:prstGeom prst="rect">
            <a:avLst/>
          </a:prstGeom>
          <a:noFill/>
        </p:spPr>
        <p:txBody>
          <a:bodyPr wrap="square" lIns="0" tIns="0" rIns="0" bIns="0" rtlCol="0" anchor="ctr"/>
          <a:lstStyle/>
          <a:p>
            <a:pPr marL="0" indent="0" algn="ctr">
              <a:buNone/>
            </a:pPr>
            <a:r>
              <a:rPr lang="en-US" sz="1400" b="1" dirty="0">
                <a:solidFill>
                  <a:srgbClr val="FFFFFF"/>
                </a:solidFill>
                <a:latin typeface="Arial" panose="020B0604020202020204" pitchFamily="34" charset="0"/>
                <a:ea typeface="Arial" panose="020B0604020202020204" pitchFamily="34" charset="-122"/>
                <a:cs typeface="Arial" panose="020B0604020202020204" pitchFamily="34" charset="-120"/>
              </a:rPr>
              <a:t>Slight</a:t>
            </a:r>
            <a:endParaRPr lang="en-US" sz="1400" dirty="0"/>
          </a:p>
        </p:txBody>
      </p:sp>
      <p:sp>
        <p:nvSpPr>
          <p:cNvPr id="13" name="Shape 10"/>
          <p:cNvSpPr/>
          <p:nvPr/>
        </p:nvSpPr>
        <p:spPr>
          <a:xfrm>
            <a:off x="822960" y="2249424"/>
            <a:ext cx="1883664" cy="749808"/>
          </a:xfrm>
          <a:prstGeom prst="rect">
            <a:avLst/>
          </a:prstGeom>
          <a:solidFill>
            <a:srgbClr val="F3F4F6"/>
          </a:solidFill>
          <a:ln w="12700">
            <a:solidFill>
              <a:srgbClr val="F3F4F6"/>
            </a:solidFill>
            <a:prstDash val="solid"/>
          </a:ln>
        </p:spPr>
      </p:sp>
      <p:sp>
        <p:nvSpPr>
          <p:cNvPr id="14" name="Text 11"/>
          <p:cNvSpPr txBox="1"/>
          <p:nvPr/>
        </p:nvSpPr>
        <p:spPr>
          <a:xfrm>
            <a:off x="914400" y="2249424"/>
            <a:ext cx="1737360" cy="749808"/>
          </a:xfrm>
          <a:prstGeom prst="rect">
            <a:avLst/>
          </a:prstGeom>
          <a:noFill/>
        </p:spPr>
        <p:txBody>
          <a:bodyPr wrap="square" lIns="0" tIns="0" rIns="0" bIns="0" rtlCol="0" anchor="ctr"/>
          <a:lstStyle/>
          <a:p>
            <a:pPr marL="0" indent="0">
              <a:buNone/>
            </a:pPr>
            <a:r>
              <a:rPr lang="en-US" sz="1300" b="1" dirty="0">
                <a:solidFill>
                  <a:srgbClr val="1B3A64"/>
                </a:solidFill>
                <a:latin typeface="Arial" panose="020B0604020202020204" pitchFamily="34" charset="0"/>
                <a:ea typeface="Arial" panose="020B0604020202020204" pitchFamily="34" charset="-122"/>
                <a:cs typeface="Arial" panose="020B0604020202020204" pitchFamily="34" charset="-120"/>
              </a:rPr>
              <a:t>Fatal  (389)</a:t>
            </a:r>
            <a:endParaRPr lang="en-US" sz="1300" dirty="0"/>
          </a:p>
        </p:txBody>
      </p:sp>
      <p:sp>
        <p:nvSpPr>
          <p:cNvPr id="15" name="Shape 12"/>
          <p:cNvSpPr/>
          <p:nvPr/>
        </p:nvSpPr>
        <p:spPr>
          <a:xfrm>
            <a:off x="2743200" y="2249424"/>
            <a:ext cx="1335024" cy="749808"/>
          </a:xfrm>
          <a:prstGeom prst="rect">
            <a:avLst/>
          </a:prstGeom>
          <a:solidFill>
            <a:srgbClr val="FBD9B5"/>
          </a:solidFill>
          <a:ln w="12700">
            <a:solidFill>
              <a:srgbClr val="E8872A"/>
            </a:solidFill>
            <a:prstDash val="solid"/>
          </a:ln>
        </p:spPr>
      </p:sp>
      <p:sp>
        <p:nvSpPr>
          <p:cNvPr id="16" name="Text 13"/>
          <p:cNvSpPr txBox="1"/>
          <p:nvPr/>
        </p:nvSpPr>
        <p:spPr>
          <a:xfrm>
            <a:off x="2743200" y="2249424"/>
            <a:ext cx="1335024" cy="749808"/>
          </a:xfrm>
          <a:prstGeom prst="rect">
            <a:avLst/>
          </a:prstGeom>
          <a:noFill/>
        </p:spPr>
        <p:txBody>
          <a:bodyPr wrap="square" lIns="0" tIns="0" rIns="0" bIns="0" rtlCol="0" anchor="ctr"/>
          <a:lstStyle/>
          <a:p>
            <a:pPr marL="0" indent="0" algn="ctr">
              <a:buNone/>
            </a:pPr>
            <a:r>
              <a:rPr lang="en-US" sz="1700" b="1" dirty="0">
                <a:solidFill>
                  <a:srgbClr val="1F2937"/>
                </a:solidFill>
                <a:latin typeface="Arial" panose="020B0604020202020204" pitchFamily="34" charset="0"/>
                <a:ea typeface="Arial" panose="020B0604020202020204" pitchFamily="34" charset="-122"/>
                <a:cs typeface="Arial" panose="020B0604020202020204" pitchFamily="34" charset="-120"/>
              </a:rPr>
              <a:t>116</a:t>
            </a:r>
            <a:endParaRPr lang="en-US" sz="1400" dirty="0"/>
          </a:p>
          <a:p>
            <a:pPr marL="0" indent="0" algn="ctr">
              <a:buNone/>
            </a:pPr>
            <a:r>
              <a:rPr lang="en-US" sz="1200" dirty="0">
                <a:solidFill>
                  <a:srgbClr val="6B7280"/>
                </a:solidFill>
                <a:latin typeface="Arial" panose="020B0604020202020204" pitchFamily="34" charset="0"/>
                <a:ea typeface="Arial" panose="020B0604020202020204" pitchFamily="34" charset="-122"/>
                <a:cs typeface="Arial" panose="020B0604020202020204" pitchFamily="34" charset="-120"/>
              </a:rPr>
              <a:t>29.8%</a:t>
            </a:r>
            <a:endParaRPr lang="en-US" sz="1400" dirty="0"/>
          </a:p>
        </p:txBody>
      </p:sp>
      <p:sp>
        <p:nvSpPr>
          <p:cNvPr id="17" name="Shape 14"/>
          <p:cNvSpPr/>
          <p:nvPr/>
        </p:nvSpPr>
        <p:spPr>
          <a:xfrm>
            <a:off x="4114800" y="2249424"/>
            <a:ext cx="1335024" cy="749808"/>
          </a:xfrm>
          <a:prstGeom prst="rect">
            <a:avLst/>
          </a:prstGeom>
          <a:solidFill>
            <a:srgbClr val="FFFFFF"/>
          </a:solidFill>
          <a:ln w="12700">
            <a:solidFill>
              <a:srgbClr val="D1D5DB"/>
            </a:solidFill>
            <a:prstDash val="solid"/>
          </a:ln>
        </p:spPr>
      </p:sp>
      <p:sp>
        <p:nvSpPr>
          <p:cNvPr id="18" name="Text 15"/>
          <p:cNvSpPr txBox="1"/>
          <p:nvPr/>
        </p:nvSpPr>
        <p:spPr>
          <a:xfrm>
            <a:off x="4114800" y="2249424"/>
            <a:ext cx="1335024" cy="749808"/>
          </a:xfrm>
          <a:prstGeom prst="rect">
            <a:avLst/>
          </a:prstGeom>
          <a:noFill/>
        </p:spPr>
        <p:txBody>
          <a:bodyPr wrap="square" lIns="0" tIns="0" rIns="0" bIns="0" rtlCol="0" anchor="ctr"/>
          <a:lstStyle/>
          <a:p>
            <a:pPr marL="0" indent="0" algn="ctr">
              <a:buNone/>
            </a:pPr>
            <a:r>
              <a:rPr lang="en-US" sz="1700" b="1" dirty="0">
                <a:solidFill>
                  <a:srgbClr val="1F2937"/>
                </a:solidFill>
                <a:latin typeface="Arial" panose="020B0604020202020204" pitchFamily="34" charset="0"/>
                <a:ea typeface="Arial" panose="020B0604020202020204" pitchFamily="34" charset="-122"/>
                <a:cs typeface="Arial" panose="020B0604020202020204" pitchFamily="34" charset="-120"/>
              </a:rPr>
              <a:t>208</a:t>
            </a:r>
            <a:endParaRPr lang="en-US" sz="1400" dirty="0"/>
          </a:p>
          <a:p>
            <a:pPr marL="0" indent="0" algn="ctr">
              <a:buNone/>
            </a:pPr>
            <a:r>
              <a:rPr lang="en-US" sz="1200" dirty="0">
                <a:solidFill>
                  <a:srgbClr val="6B7280"/>
                </a:solidFill>
                <a:latin typeface="Arial" panose="020B0604020202020204" pitchFamily="34" charset="0"/>
                <a:ea typeface="Arial" panose="020B0604020202020204" pitchFamily="34" charset="-122"/>
                <a:cs typeface="Arial" panose="020B0604020202020204" pitchFamily="34" charset="-120"/>
              </a:rPr>
              <a:t>53.5%</a:t>
            </a:r>
            <a:endParaRPr lang="en-US" sz="1400" dirty="0"/>
          </a:p>
        </p:txBody>
      </p:sp>
      <p:sp>
        <p:nvSpPr>
          <p:cNvPr id="19" name="Shape 16"/>
          <p:cNvSpPr/>
          <p:nvPr/>
        </p:nvSpPr>
        <p:spPr>
          <a:xfrm>
            <a:off x="5486400" y="2249424"/>
            <a:ext cx="1335024" cy="749808"/>
          </a:xfrm>
          <a:prstGeom prst="rect">
            <a:avLst/>
          </a:prstGeom>
          <a:solidFill>
            <a:srgbClr val="FFFFFF"/>
          </a:solidFill>
          <a:ln w="12700">
            <a:solidFill>
              <a:srgbClr val="D1D5DB"/>
            </a:solidFill>
            <a:prstDash val="solid"/>
          </a:ln>
        </p:spPr>
      </p:sp>
      <p:sp>
        <p:nvSpPr>
          <p:cNvPr id="20" name="Text 17"/>
          <p:cNvSpPr txBox="1"/>
          <p:nvPr/>
        </p:nvSpPr>
        <p:spPr>
          <a:xfrm>
            <a:off x="5486400" y="2249424"/>
            <a:ext cx="1335024" cy="749808"/>
          </a:xfrm>
          <a:prstGeom prst="rect">
            <a:avLst/>
          </a:prstGeom>
          <a:noFill/>
        </p:spPr>
        <p:txBody>
          <a:bodyPr wrap="square" lIns="0" tIns="0" rIns="0" bIns="0" rtlCol="0" anchor="ctr"/>
          <a:lstStyle/>
          <a:p>
            <a:pPr marL="0" indent="0" algn="ctr">
              <a:buNone/>
            </a:pPr>
            <a:r>
              <a:rPr lang="en-US" sz="1700" b="1" dirty="0">
                <a:solidFill>
                  <a:srgbClr val="1F2937"/>
                </a:solidFill>
                <a:latin typeface="Arial" panose="020B0604020202020204" pitchFamily="34" charset="0"/>
                <a:ea typeface="Arial" panose="020B0604020202020204" pitchFamily="34" charset="-122"/>
                <a:cs typeface="Arial" panose="020B0604020202020204" pitchFamily="34" charset="-120"/>
              </a:rPr>
              <a:t>65</a:t>
            </a:r>
            <a:endParaRPr lang="en-US" sz="1400" dirty="0"/>
          </a:p>
          <a:p>
            <a:pPr marL="0" indent="0" algn="ctr">
              <a:buNone/>
            </a:pPr>
            <a:r>
              <a:rPr lang="en-US" sz="1200" dirty="0">
                <a:solidFill>
                  <a:srgbClr val="6B7280"/>
                </a:solidFill>
                <a:latin typeface="Arial" panose="020B0604020202020204" pitchFamily="34" charset="0"/>
                <a:ea typeface="Arial" panose="020B0604020202020204" pitchFamily="34" charset="-122"/>
                <a:cs typeface="Arial" panose="020B0604020202020204" pitchFamily="34" charset="-120"/>
              </a:rPr>
              <a:t>16.7%</a:t>
            </a:r>
            <a:endParaRPr lang="en-US" sz="1400" dirty="0"/>
          </a:p>
        </p:txBody>
      </p:sp>
      <p:sp>
        <p:nvSpPr>
          <p:cNvPr id="21" name="Shape 18"/>
          <p:cNvSpPr/>
          <p:nvPr/>
        </p:nvSpPr>
        <p:spPr>
          <a:xfrm>
            <a:off x="822960" y="3044952"/>
            <a:ext cx="1883664" cy="749808"/>
          </a:xfrm>
          <a:prstGeom prst="rect">
            <a:avLst/>
          </a:prstGeom>
          <a:solidFill>
            <a:srgbClr val="F3F4F6"/>
          </a:solidFill>
          <a:ln w="12700">
            <a:solidFill>
              <a:srgbClr val="F3F4F6"/>
            </a:solidFill>
            <a:prstDash val="solid"/>
          </a:ln>
        </p:spPr>
      </p:sp>
      <p:sp>
        <p:nvSpPr>
          <p:cNvPr id="22" name="Text 19"/>
          <p:cNvSpPr txBox="1"/>
          <p:nvPr/>
        </p:nvSpPr>
        <p:spPr>
          <a:xfrm>
            <a:off x="914400" y="3044952"/>
            <a:ext cx="1737360" cy="749808"/>
          </a:xfrm>
          <a:prstGeom prst="rect">
            <a:avLst/>
          </a:prstGeom>
          <a:noFill/>
        </p:spPr>
        <p:txBody>
          <a:bodyPr wrap="square" lIns="0" tIns="0" rIns="0" bIns="0" rtlCol="0" anchor="ctr"/>
          <a:lstStyle/>
          <a:p>
            <a:pPr marL="0" indent="0">
              <a:buNone/>
            </a:pPr>
            <a:r>
              <a:rPr lang="en-US" sz="1300" b="1" dirty="0">
                <a:solidFill>
                  <a:srgbClr val="1B3A64"/>
                </a:solidFill>
                <a:latin typeface="Arial" panose="020B0604020202020204" pitchFamily="34" charset="0"/>
                <a:ea typeface="Arial" panose="020B0604020202020204" pitchFamily="34" charset="-122"/>
                <a:cs typeface="Arial" panose="020B0604020202020204" pitchFamily="34" charset="-120"/>
              </a:rPr>
              <a:t>Serious  (5,851)</a:t>
            </a:r>
            <a:endParaRPr lang="en-US" sz="1300" dirty="0"/>
          </a:p>
        </p:txBody>
      </p:sp>
      <p:sp>
        <p:nvSpPr>
          <p:cNvPr id="23" name="Shape 20"/>
          <p:cNvSpPr/>
          <p:nvPr/>
        </p:nvSpPr>
        <p:spPr>
          <a:xfrm>
            <a:off x="2743200" y="3044952"/>
            <a:ext cx="1335024" cy="749808"/>
          </a:xfrm>
          <a:prstGeom prst="rect">
            <a:avLst/>
          </a:prstGeom>
          <a:solidFill>
            <a:srgbClr val="FFFFFF"/>
          </a:solidFill>
          <a:ln w="12700">
            <a:solidFill>
              <a:srgbClr val="D1D5DB"/>
            </a:solidFill>
            <a:prstDash val="solid"/>
          </a:ln>
        </p:spPr>
      </p:sp>
      <p:sp>
        <p:nvSpPr>
          <p:cNvPr id="24" name="Text 21"/>
          <p:cNvSpPr txBox="1"/>
          <p:nvPr/>
        </p:nvSpPr>
        <p:spPr>
          <a:xfrm>
            <a:off x="2743200" y="3044952"/>
            <a:ext cx="1335024" cy="749808"/>
          </a:xfrm>
          <a:prstGeom prst="rect">
            <a:avLst/>
          </a:prstGeom>
          <a:noFill/>
        </p:spPr>
        <p:txBody>
          <a:bodyPr wrap="square" lIns="0" tIns="0" rIns="0" bIns="0" rtlCol="0" anchor="ctr"/>
          <a:lstStyle/>
          <a:p>
            <a:pPr marL="0" indent="0" algn="ctr">
              <a:buNone/>
            </a:pPr>
            <a:r>
              <a:rPr lang="en-US" sz="1700" b="1" dirty="0">
                <a:solidFill>
                  <a:srgbClr val="1F2937"/>
                </a:solidFill>
                <a:latin typeface="Arial" panose="020B0604020202020204" pitchFamily="34" charset="0"/>
                <a:ea typeface="Arial" panose="020B0604020202020204" pitchFamily="34" charset="-122"/>
                <a:cs typeface="Arial" panose="020B0604020202020204" pitchFamily="34" charset="-120"/>
              </a:rPr>
              <a:t>458</a:t>
            </a:r>
            <a:endParaRPr lang="en-US" sz="1400" dirty="0"/>
          </a:p>
          <a:p>
            <a:pPr marL="0" indent="0" algn="ctr">
              <a:buNone/>
            </a:pPr>
            <a:r>
              <a:rPr lang="en-US" sz="1200" dirty="0">
                <a:solidFill>
                  <a:srgbClr val="6B7280"/>
                </a:solidFill>
                <a:latin typeface="Arial" panose="020B0604020202020204" pitchFamily="34" charset="0"/>
                <a:ea typeface="Arial" panose="020B0604020202020204" pitchFamily="34" charset="-122"/>
                <a:cs typeface="Arial" panose="020B0604020202020204" pitchFamily="34" charset="-120"/>
              </a:rPr>
              <a:t>7.8%</a:t>
            </a:r>
            <a:endParaRPr lang="en-US" sz="1400" dirty="0"/>
          </a:p>
        </p:txBody>
      </p:sp>
      <p:sp>
        <p:nvSpPr>
          <p:cNvPr id="25" name="Shape 22"/>
          <p:cNvSpPr/>
          <p:nvPr/>
        </p:nvSpPr>
        <p:spPr>
          <a:xfrm>
            <a:off x="4114800" y="3044952"/>
            <a:ext cx="1335024" cy="749808"/>
          </a:xfrm>
          <a:prstGeom prst="rect">
            <a:avLst/>
          </a:prstGeom>
          <a:solidFill>
            <a:srgbClr val="FBD9B5"/>
          </a:solidFill>
          <a:ln w="12700">
            <a:solidFill>
              <a:srgbClr val="E8872A"/>
            </a:solidFill>
            <a:prstDash val="solid"/>
          </a:ln>
        </p:spPr>
      </p:sp>
      <p:sp>
        <p:nvSpPr>
          <p:cNvPr id="26" name="Text 23"/>
          <p:cNvSpPr txBox="1"/>
          <p:nvPr/>
        </p:nvSpPr>
        <p:spPr>
          <a:xfrm>
            <a:off x="4114800" y="3044952"/>
            <a:ext cx="1335024" cy="749808"/>
          </a:xfrm>
          <a:prstGeom prst="rect">
            <a:avLst/>
          </a:prstGeom>
          <a:noFill/>
        </p:spPr>
        <p:txBody>
          <a:bodyPr wrap="square" lIns="0" tIns="0" rIns="0" bIns="0" rtlCol="0" anchor="ctr"/>
          <a:lstStyle/>
          <a:p>
            <a:pPr marL="0" indent="0" algn="ctr">
              <a:buNone/>
            </a:pPr>
            <a:r>
              <a:rPr lang="en-US" sz="1700" b="1" dirty="0">
                <a:solidFill>
                  <a:srgbClr val="1F2937"/>
                </a:solidFill>
                <a:latin typeface="Arial" panose="020B0604020202020204" pitchFamily="34" charset="0"/>
                <a:ea typeface="Arial" panose="020B0604020202020204" pitchFamily="34" charset="-122"/>
                <a:cs typeface="Arial" panose="020B0604020202020204" pitchFamily="34" charset="-120"/>
              </a:rPr>
              <a:t>3,248</a:t>
            </a:r>
            <a:endParaRPr lang="en-US" sz="1400" dirty="0"/>
          </a:p>
          <a:p>
            <a:pPr marL="0" indent="0" algn="ctr">
              <a:buNone/>
            </a:pPr>
            <a:r>
              <a:rPr lang="en-US" sz="1200" dirty="0">
                <a:solidFill>
                  <a:srgbClr val="6B7280"/>
                </a:solidFill>
                <a:latin typeface="Arial" panose="020B0604020202020204" pitchFamily="34" charset="0"/>
                <a:ea typeface="Arial" panose="020B0604020202020204" pitchFamily="34" charset="-122"/>
                <a:cs typeface="Arial" panose="020B0604020202020204" pitchFamily="34" charset="-120"/>
              </a:rPr>
              <a:t>55.5%</a:t>
            </a:r>
            <a:endParaRPr lang="en-US" sz="1400" dirty="0"/>
          </a:p>
        </p:txBody>
      </p:sp>
      <p:sp>
        <p:nvSpPr>
          <p:cNvPr id="27" name="Shape 24"/>
          <p:cNvSpPr/>
          <p:nvPr/>
        </p:nvSpPr>
        <p:spPr>
          <a:xfrm>
            <a:off x="5486400" y="3044952"/>
            <a:ext cx="1335024" cy="749808"/>
          </a:xfrm>
          <a:prstGeom prst="rect">
            <a:avLst/>
          </a:prstGeom>
          <a:solidFill>
            <a:srgbClr val="FFFFFF"/>
          </a:solidFill>
          <a:ln w="12700">
            <a:solidFill>
              <a:srgbClr val="D1D5DB"/>
            </a:solidFill>
            <a:prstDash val="solid"/>
          </a:ln>
        </p:spPr>
      </p:sp>
      <p:sp>
        <p:nvSpPr>
          <p:cNvPr id="28" name="Text 25"/>
          <p:cNvSpPr txBox="1"/>
          <p:nvPr/>
        </p:nvSpPr>
        <p:spPr>
          <a:xfrm>
            <a:off x="5486400" y="3044952"/>
            <a:ext cx="1335024" cy="749808"/>
          </a:xfrm>
          <a:prstGeom prst="rect">
            <a:avLst/>
          </a:prstGeom>
          <a:noFill/>
        </p:spPr>
        <p:txBody>
          <a:bodyPr wrap="square" lIns="0" tIns="0" rIns="0" bIns="0" rtlCol="0" anchor="ctr"/>
          <a:lstStyle/>
          <a:p>
            <a:pPr marL="0" indent="0" algn="ctr">
              <a:buNone/>
            </a:pPr>
            <a:r>
              <a:rPr lang="en-US" sz="1700" b="1" dirty="0">
                <a:solidFill>
                  <a:srgbClr val="1F2937"/>
                </a:solidFill>
                <a:latin typeface="Arial" panose="020B0604020202020204" pitchFamily="34" charset="0"/>
                <a:ea typeface="Arial" panose="020B0604020202020204" pitchFamily="34" charset="-122"/>
                <a:cs typeface="Arial" panose="020B0604020202020204" pitchFamily="34" charset="-120"/>
              </a:rPr>
              <a:t>2,145</a:t>
            </a:r>
            <a:endParaRPr lang="en-US" sz="1400" dirty="0"/>
          </a:p>
          <a:p>
            <a:pPr marL="0" indent="0" algn="ctr">
              <a:buNone/>
            </a:pPr>
            <a:r>
              <a:rPr lang="en-US" sz="1200" dirty="0">
                <a:solidFill>
                  <a:srgbClr val="6B7280"/>
                </a:solidFill>
                <a:latin typeface="Arial" panose="020B0604020202020204" pitchFamily="34" charset="0"/>
                <a:ea typeface="Arial" panose="020B0604020202020204" pitchFamily="34" charset="-122"/>
                <a:cs typeface="Arial" panose="020B0604020202020204" pitchFamily="34" charset="-120"/>
              </a:rPr>
              <a:t>36.7%</a:t>
            </a:r>
            <a:endParaRPr lang="en-US" sz="1400" dirty="0"/>
          </a:p>
        </p:txBody>
      </p:sp>
      <p:sp>
        <p:nvSpPr>
          <p:cNvPr id="29" name="Shape 26"/>
          <p:cNvSpPr/>
          <p:nvPr/>
        </p:nvSpPr>
        <p:spPr>
          <a:xfrm>
            <a:off x="822960" y="3840480"/>
            <a:ext cx="1883664" cy="749808"/>
          </a:xfrm>
          <a:prstGeom prst="rect">
            <a:avLst/>
          </a:prstGeom>
          <a:solidFill>
            <a:srgbClr val="F3F4F6"/>
          </a:solidFill>
          <a:ln w="12700">
            <a:solidFill>
              <a:srgbClr val="F3F4F6"/>
            </a:solidFill>
            <a:prstDash val="solid"/>
          </a:ln>
        </p:spPr>
      </p:sp>
      <p:sp>
        <p:nvSpPr>
          <p:cNvPr id="30" name="Text 27"/>
          <p:cNvSpPr txBox="1"/>
          <p:nvPr/>
        </p:nvSpPr>
        <p:spPr>
          <a:xfrm>
            <a:off x="914400" y="3840480"/>
            <a:ext cx="1737360" cy="749808"/>
          </a:xfrm>
          <a:prstGeom prst="rect">
            <a:avLst/>
          </a:prstGeom>
          <a:noFill/>
        </p:spPr>
        <p:txBody>
          <a:bodyPr wrap="square" lIns="0" tIns="0" rIns="0" bIns="0" rtlCol="0" anchor="ctr"/>
          <a:lstStyle/>
          <a:p>
            <a:pPr marL="0" indent="0">
              <a:buNone/>
            </a:pPr>
            <a:r>
              <a:rPr lang="en-US" sz="1300" b="1" dirty="0">
                <a:solidFill>
                  <a:srgbClr val="1B3A64"/>
                </a:solidFill>
                <a:latin typeface="Arial" panose="020B0604020202020204" pitchFamily="34" charset="0"/>
                <a:ea typeface="Arial" panose="020B0604020202020204" pitchFamily="34" charset="-122"/>
                <a:cs typeface="Arial" panose="020B0604020202020204" pitchFamily="34" charset="-120"/>
              </a:rPr>
              <a:t>Slight  (19,809)</a:t>
            </a:r>
            <a:endParaRPr lang="en-US" sz="1300" dirty="0"/>
          </a:p>
        </p:txBody>
      </p:sp>
      <p:sp>
        <p:nvSpPr>
          <p:cNvPr id="31" name="Shape 28"/>
          <p:cNvSpPr/>
          <p:nvPr/>
        </p:nvSpPr>
        <p:spPr>
          <a:xfrm>
            <a:off x="2743200" y="3840480"/>
            <a:ext cx="1335024" cy="749808"/>
          </a:xfrm>
          <a:prstGeom prst="rect">
            <a:avLst/>
          </a:prstGeom>
          <a:solidFill>
            <a:srgbClr val="FFFFFF"/>
          </a:solidFill>
          <a:ln w="12700">
            <a:solidFill>
              <a:srgbClr val="D1D5DB"/>
            </a:solidFill>
            <a:prstDash val="solid"/>
          </a:ln>
        </p:spPr>
      </p:sp>
      <p:sp>
        <p:nvSpPr>
          <p:cNvPr id="32" name="Text 29"/>
          <p:cNvSpPr txBox="1"/>
          <p:nvPr/>
        </p:nvSpPr>
        <p:spPr>
          <a:xfrm>
            <a:off x="2743200" y="3840480"/>
            <a:ext cx="1335024" cy="749808"/>
          </a:xfrm>
          <a:prstGeom prst="rect">
            <a:avLst/>
          </a:prstGeom>
          <a:noFill/>
        </p:spPr>
        <p:txBody>
          <a:bodyPr wrap="square" lIns="0" tIns="0" rIns="0" bIns="0" rtlCol="0" anchor="ctr"/>
          <a:lstStyle/>
          <a:p>
            <a:pPr marL="0" indent="0" algn="ctr">
              <a:buNone/>
            </a:pPr>
            <a:r>
              <a:rPr lang="en-US" sz="1700" b="1" dirty="0">
                <a:solidFill>
                  <a:srgbClr val="1F2937"/>
                </a:solidFill>
                <a:latin typeface="Arial" panose="020B0604020202020204" pitchFamily="34" charset="0"/>
                <a:ea typeface="Arial" panose="020B0604020202020204" pitchFamily="34" charset="-122"/>
                <a:cs typeface="Arial" panose="020B0604020202020204" pitchFamily="34" charset="-120"/>
              </a:rPr>
              <a:t>663</a:t>
            </a:r>
            <a:endParaRPr lang="en-US" sz="1400" dirty="0"/>
          </a:p>
          <a:p>
            <a:pPr marL="0" indent="0" algn="ctr">
              <a:buNone/>
            </a:pPr>
            <a:r>
              <a:rPr lang="en-US" sz="1200" dirty="0">
                <a:solidFill>
                  <a:srgbClr val="6B7280"/>
                </a:solidFill>
                <a:latin typeface="Arial" panose="020B0604020202020204" pitchFamily="34" charset="0"/>
                <a:ea typeface="Arial" panose="020B0604020202020204" pitchFamily="34" charset="-122"/>
                <a:cs typeface="Arial" panose="020B0604020202020204" pitchFamily="34" charset="-120"/>
              </a:rPr>
              <a:t>3.3%</a:t>
            </a:r>
            <a:endParaRPr lang="en-US" sz="1400" dirty="0"/>
          </a:p>
        </p:txBody>
      </p:sp>
      <p:sp>
        <p:nvSpPr>
          <p:cNvPr id="33" name="Shape 30"/>
          <p:cNvSpPr/>
          <p:nvPr/>
        </p:nvSpPr>
        <p:spPr>
          <a:xfrm>
            <a:off x="4114800" y="3840480"/>
            <a:ext cx="1335024" cy="749808"/>
          </a:xfrm>
          <a:prstGeom prst="rect">
            <a:avLst/>
          </a:prstGeom>
          <a:solidFill>
            <a:srgbClr val="FFFFFF"/>
          </a:solidFill>
          <a:ln w="12700">
            <a:solidFill>
              <a:srgbClr val="D1D5DB"/>
            </a:solidFill>
            <a:prstDash val="solid"/>
          </a:ln>
        </p:spPr>
      </p:sp>
      <p:sp>
        <p:nvSpPr>
          <p:cNvPr id="34" name="Text 31"/>
          <p:cNvSpPr txBox="1"/>
          <p:nvPr/>
        </p:nvSpPr>
        <p:spPr>
          <a:xfrm>
            <a:off x="4114800" y="3840480"/>
            <a:ext cx="1335024" cy="749808"/>
          </a:xfrm>
          <a:prstGeom prst="rect">
            <a:avLst/>
          </a:prstGeom>
          <a:noFill/>
        </p:spPr>
        <p:txBody>
          <a:bodyPr wrap="square" lIns="0" tIns="0" rIns="0" bIns="0" rtlCol="0" anchor="ctr"/>
          <a:lstStyle/>
          <a:p>
            <a:pPr marL="0" indent="0" algn="ctr">
              <a:buNone/>
            </a:pPr>
            <a:r>
              <a:rPr lang="en-US" sz="1700" b="1" dirty="0">
                <a:solidFill>
                  <a:srgbClr val="1F2937"/>
                </a:solidFill>
                <a:latin typeface="Arial" panose="020B0604020202020204" pitchFamily="34" charset="0"/>
                <a:ea typeface="Arial" panose="020B0604020202020204" pitchFamily="34" charset="-122"/>
                <a:cs typeface="Arial" panose="020B0604020202020204" pitchFamily="34" charset="-120"/>
              </a:rPr>
              <a:t>6,325</a:t>
            </a:r>
            <a:endParaRPr lang="en-US" sz="1400" dirty="0"/>
          </a:p>
          <a:p>
            <a:pPr marL="0" indent="0" algn="ctr">
              <a:buNone/>
            </a:pPr>
            <a:r>
              <a:rPr lang="en-US" sz="1200" dirty="0">
                <a:solidFill>
                  <a:srgbClr val="6B7280"/>
                </a:solidFill>
                <a:latin typeface="Arial" panose="020B0604020202020204" pitchFamily="34" charset="0"/>
                <a:ea typeface="Arial" panose="020B0604020202020204" pitchFamily="34" charset="-122"/>
                <a:cs typeface="Arial" panose="020B0604020202020204" pitchFamily="34" charset="-120"/>
              </a:rPr>
              <a:t>31.9%</a:t>
            </a:r>
            <a:endParaRPr lang="en-US" sz="1400" dirty="0"/>
          </a:p>
        </p:txBody>
      </p:sp>
      <p:sp>
        <p:nvSpPr>
          <p:cNvPr id="35" name="Shape 32"/>
          <p:cNvSpPr/>
          <p:nvPr/>
        </p:nvSpPr>
        <p:spPr>
          <a:xfrm>
            <a:off x="5486400" y="3840480"/>
            <a:ext cx="1335024" cy="749808"/>
          </a:xfrm>
          <a:prstGeom prst="rect">
            <a:avLst/>
          </a:prstGeom>
          <a:solidFill>
            <a:srgbClr val="FBD9B5"/>
          </a:solidFill>
          <a:ln w="12700">
            <a:solidFill>
              <a:srgbClr val="E8872A"/>
            </a:solidFill>
            <a:prstDash val="solid"/>
          </a:ln>
        </p:spPr>
      </p:sp>
      <p:sp>
        <p:nvSpPr>
          <p:cNvPr id="36" name="Text 33"/>
          <p:cNvSpPr txBox="1"/>
          <p:nvPr/>
        </p:nvSpPr>
        <p:spPr>
          <a:xfrm>
            <a:off x="5486400" y="3840480"/>
            <a:ext cx="1335024" cy="749808"/>
          </a:xfrm>
          <a:prstGeom prst="rect">
            <a:avLst/>
          </a:prstGeom>
          <a:noFill/>
        </p:spPr>
        <p:txBody>
          <a:bodyPr wrap="square" lIns="0" tIns="0" rIns="0" bIns="0" rtlCol="0" anchor="ctr"/>
          <a:lstStyle/>
          <a:p>
            <a:pPr marL="0" indent="0" algn="ctr">
              <a:buNone/>
            </a:pPr>
            <a:r>
              <a:rPr lang="en-US" sz="1700" b="1" dirty="0">
                <a:solidFill>
                  <a:srgbClr val="1F2937"/>
                </a:solidFill>
                <a:latin typeface="Arial" panose="020B0604020202020204" pitchFamily="34" charset="0"/>
                <a:ea typeface="Arial" panose="020B0604020202020204" pitchFamily="34" charset="-122"/>
                <a:cs typeface="Arial" panose="020B0604020202020204" pitchFamily="34" charset="-120"/>
              </a:rPr>
              <a:t>12,821</a:t>
            </a:r>
            <a:endParaRPr lang="en-US" sz="1400" dirty="0"/>
          </a:p>
          <a:p>
            <a:pPr marL="0" indent="0" algn="ctr">
              <a:buNone/>
            </a:pPr>
            <a:r>
              <a:rPr lang="en-US" sz="1200" dirty="0">
                <a:solidFill>
                  <a:srgbClr val="6B7280"/>
                </a:solidFill>
                <a:latin typeface="Arial" panose="020B0604020202020204" pitchFamily="34" charset="0"/>
                <a:ea typeface="Arial" panose="020B0604020202020204" pitchFamily="34" charset="-122"/>
                <a:cs typeface="Arial" panose="020B0604020202020204" pitchFamily="34" charset="-120"/>
              </a:rPr>
              <a:t>64.7%</a:t>
            </a:r>
            <a:endParaRPr lang="en-US" sz="1400" dirty="0"/>
          </a:p>
        </p:txBody>
      </p:sp>
      <p:sp>
        <p:nvSpPr>
          <p:cNvPr id="37" name="Text 34"/>
          <p:cNvSpPr txBox="1"/>
          <p:nvPr/>
        </p:nvSpPr>
        <p:spPr>
          <a:xfrm>
            <a:off x="822960" y="4727448"/>
            <a:ext cx="6035040" cy="457200"/>
          </a:xfrm>
          <a:prstGeom prst="rect">
            <a:avLst/>
          </a:prstGeom>
          <a:noFill/>
        </p:spPr>
        <p:txBody>
          <a:bodyPr wrap="square" lIns="0" tIns="0" rIns="0" bIns="0" rtlCol="0" anchor="t"/>
          <a:lstStyle/>
          <a:p>
            <a:pPr marL="0" indent="0">
              <a:buNone/>
            </a:pPr>
            <a:r>
              <a:rPr lang="en-US" sz="1200" i="1" dirty="0">
                <a:solidFill>
                  <a:srgbClr val="6B7280"/>
                </a:solidFill>
                <a:latin typeface="Arial" panose="020B0604020202020204" pitchFamily="34" charset="0"/>
                <a:ea typeface="Arial" panose="020B0604020202020204" pitchFamily="34" charset="-122"/>
                <a:cs typeface="Arial" panose="020B0604020202020204" pitchFamily="34" charset="-120"/>
              </a:rPr>
              <a:t>Highlighted diagonal = correct predictions; % = share of the actual class</a:t>
            </a:r>
            <a:endParaRPr lang="en-US" sz="1200" dirty="0"/>
          </a:p>
        </p:txBody>
      </p:sp>
      <p:sp>
        <p:nvSpPr>
          <p:cNvPr id="38" name="insight"/>
          <p:cNvSpPr/>
          <p:nvPr/>
        </p:nvSpPr>
        <p:spPr>
          <a:xfrm>
            <a:off x="7315200" y="1645920"/>
            <a:ext cx="4050792" cy="1234440"/>
          </a:xfrm>
          <a:prstGeom prst="roundRect">
            <a:avLst>
              <a:gd name="adj" fmla="val 5926"/>
            </a:avLst>
          </a:prstGeom>
          <a:solidFill>
            <a:srgbClr val="F3F4F6"/>
          </a:solidFill>
          <a:ln w="12700">
            <a:solidFill>
              <a:srgbClr val="F3F4F6"/>
            </a:solidFill>
            <a:prstDash val="solid"/>
          </a:ln>
        </p:spPr>
      </p:sp>
      <p:sp>
        <p:nvSpPr>
          <p:cNvPr id="39" name="Shape 36"/>
          <p:cNvSpPr/>
          <p:nvPr/>
        </p:nvSpPr>
        <p:spPr>
          <a:xfrm>
            <a:off x="7498080" y="1828800"/>
            <a:ext cx="274320" cy="274320"/>
          </a:xfrm>
          <a:prstGeom prst="ellipse">
            <a:avLst/>
          </a:prstGeom>
          <a:solidFill>
            <a:srgbClr val="2F855A"/>
          </a:solidFill>
          <a:ln w="12700">
            <a:solidFill>
              <a:srgbClr val="2F855A"/>
            </a:solidFill>
            <a:prstDash val="solid"/>
          </a:ln>
        </p:spPr>
      </p:sp>
      <p:sp>
        <p:nvSpPr>
          <p:cNvPr id="40" name="Text 37"/>
          <p:cNvSpPr txBox="1"/>
          <p:nvPr/>
        </p:nvSpPr>
        <p:spPr>
          <a:xfrm>
            <a:off x="7909560" y="1783080"/>
            <a:ext cx="3319272" cy="365760"/>
          </a:xfrm>
          <a:prstGeom prst="rect">
            <a:avLst/>
          </a:prstGeom>
          <a:noFill/>
        </p:spPr>
        <p:txBody>
          <a:bodyPr wrap="square" lIns="0" tIns="0" rIns="0" bIns="0" rtlCol="0" anchor="ctr"/>
          <a:lstStyle/>
          <a:p>
            <a:pPr marL="0" indent="0">
              <a:buNone/>
            </a:pPr>
            <a:r>
              <a:rPr lang="en-US" sz="1500" b="1" dirty="0">
                <a:solidFill>
                  <a:srgbClr val="1B3A64"/>
                </a:solidFill>
                <a:latin typeface="Arial" panose="020B0604020202020204" pitchFamily="34" charset="0"/>
                <a:ea typeface="Arial" panose="020B0604020202020204" pitchFamily="34" charset="-122"/>
                <a:cs typeface="Arial" panose="020B0604020202020204" pitchFamily="34" charset="-120"/>
              </a:rPr>
              <a:t>83% of fatal crashes flagged</a:t>
            </a:r>
            <a:endParaRPr lang="en-US" sz="1500" dirty="0"/>
          </a:p>
        </p:txBody>
      </p:sp>
      <p:sp>
        <p:nvSpPr>
          <p:cNvPr id="41" name="Text 38"/>
          <p:cNvSpPr txBox="1"/>
          <p:nvPr/>
        </p:nvSpPr>
        <p:spPr>
          <a:xfrm>
            <a:off x="7909560" y="2212848"/>
            <a:ext cx="3319272" cy="594360"/>
          </a:xfrm>
          <a:prstGeom prst="rect">
            <a:avLst/>
          </a:prstGeom>
          <a:noFill/>
        </p:spPr>
        <p:txBody>
          <a:bodyPr wrap="square" lIns="0" tIns="0" rIns="0" bIns="0" rtlCol="0" anchor="t"/>
          <a:lstStyle/>
          <a:p>
            <a:pPr marL="0" indent="0">
              <a:buNone/>
            </a:pPr>
            <a:r>
              <a:rPr lang="en-US" sz="1250" dirty="0">
                <a:solidFill>
                  <a:srgbClr val="1F2937"/>
                </a:solidFill>
                <a:latin typeface="Arial" panose="020B0604020202020204" pitchFamily="34" charset="0"/>
                <a:ea typeface="Arial" panose="020B0604020202020204" pitchFamily="34" charset="-122"/>
                <a:cs typeface="Arial" panose="020B0604020202020204" pitchFamily="34" charset="-120"/>
              </a:rPr>
              <a:t>116 predicted Fatal + 208 predicted Serious = 324 of 389</a:t>
            </a:r>
            <a:endParaRPr lang="en-US" sz="1250" dirty="0"/>
          </a:p>
        </p:txBody>
      </p:sp>
      <p:sp>
        <p:nvSpPr>
          <p:cNvPr id="42" name="insight"/>
          <p:cNvSpPr/>
          <p:nvPr/>
        </p:nvSpPr>
        <p:spPr>
          <a:xfrm>
            <a:off x="7315200" y="3017520"/>
            <a:ext cx="4050792" cy="1234440"/>
          </a:xfrm>
          <a:prstGeom prst="roundRect">
            <a:avLst>
              <a:gd name="adj" fmla="val 5926"/>
            </a:avLst>
          </a:prstGeom>
          <a:solidFill>
            <a:srgbClr val="F3F4F6"/>
          </a:solidFill>
          <a:ln w="12700">
            <a:solidFill>
              <a:srgbClr val="F3F4F6"/>
            </a:solidFill>
            <a:prstDash val="solid"/>
          </a:ln>
        </p:spPr>
      </p:sp>
      <p:sp>
        <p:nvSpPr>
          <p:cNvPr id="43" name="Shape 40"/>
          <p:cNvSpPr/>
          <p:nvPr/>
        </p:nvSpPr>
        <p:spPr>
          <a:xfrm>
            <a:off x="7498080" y="3200400"/>
            <a:ext cx="274320" cy="274320"/>
          </a:xfrm>
          <a:prstGeom prst="ellipse">
            <a:avLst/>
          </a:prstGeom>
          <a:solidFill>
            <a:srgbClr val="2F855A"/>
          </a:solidFill>
          <a:ln w="12700">
            <a:solidFill>
              <a:srgbClr val="2F855A"/>
            </a:solidFill>
            <a:prstDash val="solid"/>
          </a:ln>
        </p:spPr>
      </p:sp>
      <p:sp>
        <p:nvSpPr>
          <p:cNvPr id="44" name="Text 41"/>
          <p:cNvSpPr txBox="1"/>
          <p:nvPr/>
        </p:nvSpPr>
        <p:spPr>
          <a:xfrm>
            <a:off x="7909560" y="3154680"/>
            <a:ext cx="3319272" cy="365760"/>
          </a:xfrm>
          <a:prstGeom prst="rect">
            <a:avLst/>
          </a:prstGeom>
          <a:noFill/>
        </p:spPr>
        <p:txBody>
          <a:bodyPr wrap="square" lIns="0" tIns="0" rIns="0" bIns="0" rtlCol="0" anchor="ctr"/>
          <a:lstStyle/>
          <a:p>
            <a:pPr marL="0" indent="0">
              <a:buNone/>
            </a:pPr>
            <a:r>
              <a:rPr lang="en-US" sz="1500" b="1" dirty="0">
                <a:solidFill>
                  <a:srgbClr val="1B3A64"/>
                </a:solidFill>
                <a:latin typeface="Arial" panose="020B0604020202020204" pitchFamily="34" charset="0"/>
                <a:ea typeface="Arial" panose="020B0604020202020204" pitchFamily="34" charset="-122"/>
                <a:cs typeface="Arial" panose="020B0604020202020204" pitchFamily="34" charset="-120"/>
              </a:rPr>
              <a:t>3,248 of 5,851 serious caught</a:t>
            </a:r>
            <a:endParaRPr lang="en-US" sz="1500" dirty="0"/>
          </a:p>
        </p:txBody>
      </p:sp>
      <p:sp>
        <p:nvSpPr>
          <p:cNvPr id="45" name="Text 42"/>
          <p:cNvSpPr txBox="1"/>
          <p:nvPr/>
        </p:nvSpPr>
        <p:spPr>
          <a:xfrm>
            <a:off x="7909560" y="3584448"/>
            <a:ext cx="3319272" cy="594360"/>
          </a:xfrm>
          <a:prstGeom prst="rect">
            <a:avLst/>
          </a:prstGeom>
          <a:noFill/>
        </p:spPr>
        <p:txBody>
          <a:bodyPr wrap="square" lIns="0" tIns="0" rIns="0" bIns="0" rtlCol="0" anchor="t"/>
          <a:lstStyle/>
          <a:p>
            <a:pPr marL="0" indent="0">
              <a:buNone/>
            </a:pPr>
            <a:r>
              <a:rPr lang="en-US" sz="1250" dirty="0">
                <a:solidFill>
                  <a:srgbClr val="1F2937"/>
                </a:solidFill>
                <a:latin typeface="Arial" panose="020B0604020202020204" pitchFamily="34" charset="0"/>
                <a:ea typeface="Arial" panose="020B0604020202020204" pitchFamily="34" charset="-122"/>
                <a:cs typeface="Arial" panose="020B0604020202020204" pitchFamily="34" charset="-120"/>
              </a:rPr>
              <a:t>55.5% recall on the Serious class</a:t>
            </a:r>
            <a:endParaRPr lang="en-US" sz="1250" dirty="0"/>
          </a:p>
        </p:txBody>
      </p:sp>
      <p:sp>
        <p:nvSpPr>
          <p:cNvPr id="46" name="insight"/>
          <p:cNvSpPr/>
          <p:nvPr/>
        </p:nvSpPr>
        <p:spPr>
          <a:xfrm>
            <a:off x="7315200" y="4389120"/>
            <a:ext cx="4050792" cy="1234440"/>
          </a:xfrm>
          <a:prstGeom prst="roundRect">
            <a:avLst>
              <a:gd name="adj" fmla="val 5926"/>
            </a:avLst>
          </a:prstGeom>
          <a:solidFill>
            <a:srgbClr val="F3F4F6"/>
          </a:solidFill>
          <a:ln w="12700">
            <a:solidFill>
              <a:srgbClr val="F3F4F6"/>
            </a:solidFill>
            <a:prstDash val="solid"/>
          </a:ln>
        </p:spPr>
      </p:sp>
      <p:sp>
        <p:nvSpPr>
          <p:cNvPr id="47" name="Shape 44"/>
          <p:cNvSpPr/>
          <p:nvPr/>
        </p:nvSpPr>
        <p:spPr>
          <a:xfrm>
            <a:off x="7498080" y="4572000"/>
            <a:ext cx="274320" cy="274320"/>
          </a:xfrm>
          <a:prstGeom prst="ellipse">
            <a:avLst/>
          </a:prstGeom>
          <a:solidFill>
            <a:srgbClr val="CC3224"/>
          </a:solidFill>
          <a:ln w="12700">
            <a:solidFill>
              <a:srgbClr val="CC3224"/>
            </a:solidFill>
            <a:prstDash val="solid"/>
          </a:ln>
        </p:spPr>
      </p:sp>
      <p:sp>
        <p:nvSpPr>
          <p:cNvPr id="48" name="Text 45"/>
          <p:cNvSpPr txBox="1"/>
          <p:nvPr/>
        </p:nvSpPr>
        <p:spPr>
          <a:xfrm>
            <a:off x="7909560" y="4526280"/>
            <a:ext cx="3319272" cy="365760"/>
          </a:xfrm>
          <a:prstGeom prst="rect">
            <a:avLst/>
          </a:prstGeom>
          <a:noFill/>
        </p:spPr>
        <p:txBody>
          <a:bodyPr wrap="square" lIns="0" tIns="0" rIns="0" bIns="0" rtlCol="0" anchor="ctr"/>
          <a:lstStyle/>
          <a:p>
            <a:pPr marL="0" indent="0">
              <a:buNone/>
            </a:pPr>
            <a:r>
              <a:rPr lang="en-US" sz="1500" b="1" dirty="0">
                <a:solidFill>
                  <a:srgbClr val="1B3A64"/>
                </a:solidFill>
                <a:latin typeface="Arial" panose="020B0604020202020204" pitchFamily="34" charset="0"/>
                <a:ea typeface="Arial" panose="020B0604020202020204" pitchFamily="34" charset="-122"/>
                <a:cs typeface="Arial" panose="020B0604020202020204" pitchFamily="34" charset="-120"/>
              </a:rPr>
              <a:t>Cost: false alarms</a:t>
            </a:r>
            <a:endParaRPr lang="en-US" sz="1500" dirty="0"/>
          </a:p>
        </p:txBody>
      </p:sp>
      <p:sp>
        <p:nvSpPr>
          <p:cNvPr id="49" name="Text 46"/>
          <p:cNvSpPr txBox="1"/>
          <p:nvPr/>
        </p:nvSpPr>
        <p:spPr>
          <a:xfrm>
            <a:off x="7909560" y="4956048"/>
            <a:ext cx="3319272" cy="594360"/>
          </a:xfrm>
          <a:prstGeom prst="rect">
            <a:avLst/>
          </a:prstGeom>
          <a:noFill/>
        </p:spPr>
        <p:txBody>
          <a:bodyPr wrap="square" lIns="0" tIns="0" rIns="0" bIns="0" rtlCol="0" anchor="t"/>
          <a:lstStyle/>
          <a:p>
            <a:pPr marL="0" indent="0">
              <a:buNone/>
            </a:pPr>
            <a:r>
              <a:rPr lang="en-US" sz="1250" dirty="0">
                <a:solidFill>
                  <a:srgbClr val="1F2937"/>
                </a:solidFill>
                <a:latin typeface="Arial" panose="020B0604020202020204" pitchFamily="34" charset="0"/>
                <a:ea typeface="Arial" panose="020B0604020202020204" pitchFamily="34" charset="-122"/>
                <a:cs typeface="Arial" panose="020B0604020202020204" pitchFamily="34" charset="-120"/>
              </a:rPr>
              <a:t>6,325 slight crashes predicted Serious; Fatal precision ≈ 9%</a:t>
            </a:r>
            <a:endParaRPr lang="en-US" sz="1250" dirty="0"/>
          </a:p>
        </p:txBody>
      </p:sp>
      <p:sp>
        <p:nvSpPr>
          <p:cNvPr id="4" name="Slide Number Placeholder 0"/>
          <p:cNvSpPr>
            <a:spLocks noGrp="1"/>
          </p:cNvSpPr>
          <p:nvPr>
            <p:ph type="sldNum" sz="quarter" idx="4294967295"/>
          </p:nvPr>
        </p:nvSpPr>
        <p:spPr>
          <a:xfrm>
            <a:off x="11320272" y="6492240"/>
            <a:ext cx="320040" cy="256032"/>
          </a:xfrm>
          <a:prstGeom prst="rect">
            <a:avLst/>
          </a:prstGeom>
        </p:spPr>
        <p:txBody>
          <a:bodyPr/>
          <a:lstStyle>
            <a:lvl1pPr>
              <a:defRPr sz="1000">
                <a:solidFill>
                  <a:srgbClr val="6B7280"/>
                </a:solidFill>
                <a:latin typeface="Arial" panose="020B0604020202020204"/>
                <a:ea typeface="Arial" panose="020B0604020202020204"/>
                <a:cs typeface="Arial" panose="020B0604020202020204"/>
              </a:defRPr>
            </a:lvl1pPr>
          </a:lstStyle>
          <a:p>
            <a:pPr algn="r"/>
            <a:fld id="{F7021451-1387-4CA6-816F-3879F97B5CBC}" type="slidenum">
              <a:rPr lang="en-US" b="0"/>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7"/>
          <p:cNvSpPr/>
          <p:nvPr>
            <p:ph type="title" idx="107" hasCustomPrompt="1"/>
          </p:nvPr>
        </p:nvSpPr>
        <p:spPr>
          <a:xfrm>
            <a:off x="594360" y="566928"/>
            <a:ext cx="10515600" cy="594360"/>
          </a:xfrm>
          <a:prstGeom prst="rect">
            <a:avLst/>
          </a:prstGeom>
          <a:noFill/>
        </p:spPr>
        <p:txBody>
          <a:bodyPr wrap="square" lIns="0" tIns="0" rIns="0" bIns="0" rtlCol="0" anchor="ctr"/>
          <a:lstStyle/>
          <a:p>
            <a:pPr marL="0" indent="0" algn="l">
              <a:buNone/>
            </a:pPr>
            <a:r>
              <a:rPr lang="en-US" sz="3000" b="1" dirty="0">
                <a:solidFill>
                  <a:srgbClr val="1B3A64"/>
                </a:solidFill>
                <a:latin typeface="Arial" panose="020B0604020202020204" pitchFamily="34" charset="0"/>
                <a:ea typeface="Arial" panose="020B0604020202020204" pitchFamily="34" charset="-122"/>
                <a:cs typeface="Arial" panose="020B0604020202020204" pitchFamily="34" charset="-120"/>
              </a:rPr>
              <a:t>8. MLflow Tracking &amp; Registry</a:t>
            </a:r>
            <a:endParaRPr lang="en-US" sz="3000" dirty="0"/>
          </a:p>
        </p:txBody>
      </p:sp>
      <p:sp>
        <p:nvSpPr>
          <p:cNvPr id="3" name="content panel"/>
          <p:cNvSpPr/>
          <p:nvPr/>
        </p:nvSpPr>
        <p:spPr>
          <a:xfrm>
            <a:off x="548640" y="1417320"/>
            <a:ext cx="11091672" cy="4846320"/>
          </a:xfrm>
          <a:prstGeom prst="roundRect">
            <a:avLst>
              <a:gd name="adj" fmla="val 1132"/>
            </a:avLst>
          </a:prstGeom>
          <a:solidFill>
            <a:srgbClr val="FFFFFF"/>
          </a:solidFill>
          <a:ln w="15875">
            <a:solidFill>
              <a:srgbClr val="D1D5DB"/>
            </a:solidFill>
            <a:prstDash val="solid"/>
          </a:ln>
        </p:spPr>
      </p:sp>
      <p:sp>
        <p:nvSpPr>
          <p:cNvPr id="5" name="card"/>
          <p:cNvSpPr/>
          <p:nvPr/>
        </p:nvSpPr>
        <p:spPr>
          <a:xfrm>
            <a:off x="822960" y="1645920"/>
            <a:ext cx="4846320" cy="3657600"/>
          </a:xfrm>
          <a:prstGeom prst="roundRect">
            <a:avLst>
              <a:gd name="adj" fmla="val 2000"/>
            </a:avLst>
          </a:prstGeom>
          <a:solidFill>
            <a:srgbClr val="F3F4F6"/>
          </a:solidFill>
          <a:ln w="12700">
            <a:solidFill>
              <a:srgbClr val="F3F4F6"/>
            </a:solidFill>
            <a:prstDash val="solid"/>
          </a:ln>
        </p:spPr>
      </p:sp>
      <p:sp>
        <p:nvSpPr>
          <p:cNvPr id="6" name="Text 3"/>
          <p:cNvSpPr txBox="1"/>
          <p:nvPr/>
        </p:nvSpPr>
        <p:spPr>
          <a:xfrm>
            <a:off x="1051560" y="1783080"/>
            <a:ext cx="4389120" cy="365760"/>
          </a:xfrm>
          <a:prstGeom prst="rect">
            <a:avLst/>
          </a:prstGeom>
          <a:noFill/>
        </p:spPr>
        <p:txBody>
          <a:bodyPr wrap="square" lIns="0" tIns="0" rIns="0" bIns="0" rtlCol="0" anchor="t"/>
          <a:lstStyle/>
          <a:p>
            <a:pPr marL="0" indent="0">
              <a:buNone/>
            </a:pPr>
            <a:r>
              <a:rPr lang="en-US" sz="1600" b="1" dirty="0">
                <a:solidFill>
                  <a:srgbClr val="CC3224"/>
                </a:solidFill>
                <a:latin typeface="Arial" panose="020B0604020202020204" pitchFamily="34" charset="0"/>
                <a:ea typeface="Arial" panose="020B0604020202020204" pitchFamily="34" charset="-122"/>
                <a:cs typeface="Arial" panose="020B0604020202020204" pitchFamily="34" charset="-120"/>
              </a:rPr>
              <a:t>Logged on every run</a:t>
            </a:r>
            <a:endParaRPr lang="en-US" sz="1600" dirty="0"/>
          </a:p>
        </p:txBody>
      </p:sp>
      <p:sp>
        <p:nvSpPr>
          <p:cNvPr id="7" name="Text 4"/>
          <p:cNvSpPr txBox="1"/>
          <p:nvPr/>
        </p:nvSpPr>
        <p:spPr>
          <a:xfrm>
            <a:off x="1051560" y="2240280"/>
            <a:ext cx="4389120" cy="3017520"/>
          </a:xfrm>
          <a:prstGeom prst="rect">
            <a:avLst/>
          </a:prstGeom>
          <a:noFill/>
        </p:spPr>
        <p:txBody>
          <a:bodyPr wrap="square" lIns="0" tIns="0" rIns="0" bIns="0" rtlCol="0" anchor="t"/>
          <a:lstStyle/>
          <a:p>
            <a:pPr marL="0" indent="0">
              <a:spcAft>
                <a:spcPts val="900"/>
              </a:spcAft>
              <a:buNone/>
            </a:pPr>
            <a:r>
              <a:rPr lang="en-US" sz="1350" b="1" dirty="0">
                <a:solidFill>
                  <a:srgbClr val="1B3A64"/>
                </a:solidFill>
                <a:latin typeface="Arial" panose="020B0604020202020204" pitchFamily="34" charset="0"/>
                <a:ea typeface="Arial" panose="020B0604020202020204" pitchFamily="34" charset="-122"/>
                <a:cs typeface="Arial" panose="020B0604020202020204" pitchFamily="34" charset="-120"/>
              </a:rPr>
              <a:t>Parameters: </a:t>
            </a:r>
            <a:r>
              <a:rPr lang="en-US" sz="1350" dirty="0">
                <a:solidFill>
                  <a:srgbClr val="1F2937"/>
                </a:solidFill>
                <a:latin typeface="Arial" panose="020B0604020202020204" pitchFamily="34" charset="0"/>
                <a:ea typeface="Arial" panose="020B0604020202020204" pitchFamily="34" charset="-122"/>
                <a:cs typeface="Arial" panose="020B0604020202020204" pitchFamily="34" charset="-120"/>
              </a:rPr>
              <a:t>split dates, LightGBM settings, weighting</a:t>
            </a:r>
            <a:endParaRPr lang="en-US" sz="1350" dirty="0"/>
          </a:p>
          <a:p>
            <a:pPr marL="0" indent="0">
              <a:spcAft>
                <a:spcPts val="900"/>
              </a:spcAft>
              <a:buNone/>
            </a:pPr>
            <a:r>
              <a:rPr lang="en-US" sz="1350" b="1" dirty="0">
                <a:solidFill>
                  <a:srgbClr val="1B3A64"/>
                </a:solidFill>
                <a:latin typeface="Arial" panose="020B0604020202020204" pitchFamily="34" charset="0"/>
                <a:ea typeface="Arial" panose="020B0604020202020204" pitchFamily="34" charset="-122"/>
                <a:cs typeface="Arial" panose="020B0604020202020204" pitchFamily="34" charset="-120"/>
              </a:rPr>
              <a:t>Metrics: </a:t>
            </a:r>
            <a:r>
              <a:rPr lang="en-US" sz="1350" dirty="0">
                <a:solidFill>
                  <a:srgbClr val="1F2937"/>
                </a:solidFill>
                <a:latin typeface="Arial" panose="020B0604020202020204" pitchFamily="34" charset="0"/>
                <a:ea typeface="Arial" panose="020B0604020202020204" pitchFamily="34" charset="-122"/>
                <a:cs typeface="Arial" panose="020B0604020202020204" pitchFamily="34" charset="-120"/>
              </a:rPr>
              <a:t>macro-F1, per-class recall/precision/F1, KSI false-negative rate</a:t>
            </a:r>
            <a:endParaRPr lang="en-US" sz="1350" dirty="0"/>
          </a:p>
          <a:p>
            <a:pPr marL="0" indent="0">
              <a:spcAft>
                <a:spcPts val="900"/>
              </a:spcAft>
              <a:buNone/>
            </a:pPr>
            <a:r>
              <a:rPr lang="en-US" sz="1350" b="1" dirty="0">
                <a:solidFill>
                  <a:srgbClr val="1B3A64"/>
                </a:solidFill>
                <a:latin typeface="Arial" panose="020B0604020202020204" pitchFamily="34" charset="0"/>
                <a:ea typeface="Arial" panose="020B0604020202020204" pitchFamily="34" charset="-122"/>
                <a:cs typeface="Arial" panose="020B0604020202020204" pitchFamily="34" charset="-120"/>
              </a:rPr>
              <a:t>Artefacts: </a:t>
            </a:r>
            <a:r>
              <a:rPr lang="en-US" sz="1350" dirty="0">
                <a:solidFill>
                  <a:srgbClr val="1F2937"/>
                </a:solidFill>
                <a:latin typeface="Arial" panose="020B0604020202020204" pitchFamily="34" charset="0"/>
                <a:ea typeface="Arial" panose="020B0604020202020204" pitchFamily="34" charset="-122"/>
                <a:cs typeface="Arial" panose="020B0604020202020204" pitchFamily="34" charset="-120"/>
              </a:rPr>
              <a:t>confusion matrices, classification reports, reference profile</a:t>
            </a:r>
            <a:endParaRPr lang="en-US" sz="1350" dirty="0"/>
          </a:p>
          <a:p>
            <a:pPr marL="0" indent="0">
              <a:spcAft>
                <a:spcPts val="900"/>
              </a:spcAft>
              <a:buNone/>
            </a:pPr>
            <a:r>
              <a:rPr lang="en-US" sz="1350" b="1" dirty="0">
                <a:solidFill>
                  <a:srgbClr val="1B3A64"/>
                </a:solidFill>
                <a:latin typeface="Arial" panose="020B0604020202020204" pitchFamily="34" charset="0"/>
                <a:ea typeface="Arial" panose="020B0604020202020204" pitchFamily="34" charset="-122"/>
                <a:cs typeface="Arial" panose="020B0604020202020204" pitchFamily="34" charset="-120"/>
              </a:rPr>
              <a:t>Model: </a:t>
            </a:r>
            <a:r>
              <a:rPr lang="en-US" sz="1350" dirty="0">
                <a:solidFill>
                  <a:srgbClr val="1F2937"/>
                </a:solidFill>
                <a:latin typeface="Arial" panose="020B0604020202020204" pitchFamily="34" charset="0"/>
                <a:ea typeface="Arial" panose="020B0604020202020204" pitchFamily="34" charset="-122"/>
                <a:cs typeface="Arial" panose="020B0604020202020204" pitchFamily="34" charset="-120"/>
              </a:rPr>
              <a:t>full pipeline + input signature</a:t>
            </a:r>
            <a:endParaRPr lang="en-US" sz="1350" dirty="0"/>
          </a:p>
        </p:txBody>
      </p:sp>
      <p:sp>
        <p:nvSpPr>
          <p:cNvPr id="8" name="Text 5"/>
          <p:cNvSpPr txBox="1"/>
          <p:nvPr/>
        </p:nvSpPr>
        <p:spPr>
          <a:xfrm>
            <a:off x="6080760" y="1645920"/>
            <a:ext cx="5285232" cy="320040"/>
          </a:xfrm>
          <a:prstGeom prst="rect">
            <a:avLst/>
          </a:prstGeom>
          <a:noFill/>
        </p:spPr>
        <p:txBody>
          <a:bodyPr wrap="square" lIns="0" tIns="0" rIns="0" bIns="0" rtlCol="0" anchor="t"/>
          <a:lstStyle/>
          <a:p>
            <a:pPr marL="0" indent="0">
              <a:buNone/>
            </a:pPr>
            <a:r>
              <a:rPr lang="en-US" sz="1600" b="1" dirty="0">
                <a:solidFill>
                  <a:srgbClr val="1B3A64"/>
                </a:solidFill>
                <a:latin typeface="Arial" panose="020B0604020202020204" pitchFamily="34" charset="0"/>
                <a:ea typeface="Arial" panose="020B0604020202020204" pitchFamily="34" charset="-122"/>
                <a:cs typeface="Arial" panose="020B0604020202020204" pitchFamily="34" charset="-120"/>
              </a:rPr>
              <a:t>Champion / challenger gate</a:t>
            </a:r>
            <a:endParaRPr lang="en-US" sz="1600" dirty="0"/>
          </a:p>
        </p:txBody>
      </p:sp>
      <p:sp>
        <p:nvSpPr>
          <p:cNvPr id="9" name="Shape 6"/>
          <p:cNvSpPr/>
          <p:nvPr/>
        </p:nvSpPr>
        <p:spPr>
          <a:xfrm>
            <a:off x="7360920" y="2057400"/>
            <a:ext cx="2724912" cy="548640"/>
          </a:xfrm>
          <a:prstGeom prst="rect">
            <a:avLst/>
          </a:prstGeom>
          <a:solidFill>
            <a:srgbClr val="1B3A64"/>
          </a:solidFill>
          <a:ln w="12700">
            <a:solidFill>
              <a:srgbClr val="1B3A64"/>
            </a:solidFill>
            <a:prstDash val="solid"/>
          </a:ln>
        </p:spPr>
      </p:sp>
      <p:sp>
        <p:nvSpPr>
          <p:cNvPr id="10" name="Text 7"/>
          <p:cNvSpPr txBox="1"/>
          <p:nvPr/>
        </p:nvSpPr>
        <p:spPr>
          <a:xfrm>
            <a:off x="7360920" y="2057400"/>
            <a:ext cx="2724912" cy="548640"/>
          </a:xfrm>
          <a:prstGeom prst="rect">
            <a:avLst/>
          </a:prstGeom>
          <a:noFill/>
        </p:spPr>
        <p:txBody>
          <a:bodyPr wrap="square" lIns="0" tIns="0" rIns="0" bIns="0" rtlCol="0" anchor="ctr"/>
          <a:lstStyle/>
          <a:p>
            <a:pPr marL="0" indent="0" algn="ctr">
              <a:buNone/>
            </a:pPr>
            <a:r>
              <a:rPr lang="en-US" sz="1400" b="1" dirty="0">
                <a:solidFill>
                  <a:srgbClr val="FFFFFF"/>
                </a:solidFill>
                <a:latin typeface="Arial" panose="020B0604020202020204" pitchFamily="34" charset="0"/>
                <a:ea typeface="Arial" panose="020B0604020202020204" pitchFamily="34" charset="-122"/>
                <a:cs typeface="Arial" panose="020B0604020202020204" pitchFamily="34" charset="-120"/>
              </a:rPr>
              <a:t>New model version n</a:t>
            </a:r>
            <a:endParaRPr lang="en-US" sz="1400" dirty="0"/>
          </a:p>
        </p:txBody>
      </p:sp>
      <p:sp>
        <p:nvSpPr>
          <p:cNvPr id="11" name="Shape 8"/>
          <p:cNvSpPr/>
          <p:nvPr/>
        </p:nvSpPr>
        <p:spPr>
          <a:xfrm>
            <a:off x="8723376" y="2651760"/>
            <a:ext cx="0" cy="320040"/>
          </a:xfrm>
          <a:prstGeom prst="line">
            <a:avLst/>
          </a:prstGeom>
          <a:noFill/>
          <a:ln w="28575">
            <a:solidFill>
              <a:srgbClr val="E8872A"/>
            </a:solidFill>
            <a:prstDash val="solid"/>
            <a:tailEnd type="triangle"/>
          </a:ln>
        </p:spPr>
      </p:sp>
      <p:sp>
        <p:nvSpPr>
          <p:cNvPr id="12" name="Shape 9"/>
          <p:cNvSpPr/>
          <p:nvPr/>
        </p:nvSpPr>
        <p:spPr>
          <a:xfrm>
            <a:off x="6537960" y="3017520"/>
            <a:ext cx="4370832" cy="685800"/>
          </a:xfrm>
          <a:prstGeom prst="rect">
            <a:avLst/>
          </a:prstGeom>
          <a:solidFill>
            <a:srgbClr val="FDF0E3"/>
          </a:solidFill>
          <a:ln w="12700">
            <a:solidFill>
              <a:srgbClr val="E8872A"/>
            </a:solidFill>
            <a:prstDash val="solid"/>
          </a:ln>
        </p:spPr>
      </p:sp>
      <p:sp>
        <p:nvSpPr>
          <p:cNvPr id="13" name="Text 10"/>
          <p:cNvSpPr txBox="1"/>
          <p:nvPr/>
        </p:nvSpPr>
        <p:spPr>
          <a:xfrm>
            <a:off x="6537960" y="3017520"/>
            <a:ext cx="4370832" cy="685800"/>
          </a:xfrm>
          <a:prstGeom prst="rect">
            <a:avLst/>
          </a:prstGeom>
          <a:noFill/>
        </p:spPr>
        <p:txBody>
          <a:bodyPr wrap="square" lIns="0" tIns="0" rIns="0" bIns="0" rtlCol="0" anchor="ctr"/>
          <a:lstStyle/>
          <a:p>
            <a:pPr marL="0" indent="0" algn="ctr">
              <a:buNone/>
            </a:pPr>
            <a:r>
              <a:rPr lang="en-US" sz="1400" b="1" dirty="0">
                <a:solidFill>
                  <a:srgbClr val="1B3A64"/>
                </a:solidFill>
                <a:latin typeface="Arial" panose="020B0604020202020204" pitchFamily="34" charset="0"/>
                <a:ea typeface="Arial" panose="020B0604020202020204" pitchFamily="34" charset="-122"/>
                <a:cs typeface="Arial" panose="020B0604020202020204" pitchFamily="34" charset="-120"/>
              </a:rPr>
              <a:t>Macro-F1 beats champion by ≥ 0.005?</a:t>
            </a:r>
            <a:endParaRPr lang="en-US" sz="1400" dirty="0"/>
          </a:p>
        </p:txBody>
      </p:sp>
      <p:sp>
        <p:nvSpPr>
          <p:cNvPr id="14" name="Shape 11"/>
          <p:cNvSpPr/>
          <p:nvPr/>
        </p:nvSpPr>
        <p:spPr>
          <a:xfrm>
            <a:off x="7333488" y="3749040"/>
            <a:ext cx="0" cy="320040"/>
          </a:xfrm>
          <a:prstGeom prst="line">
            <a:avLst/>
          </a:prstGeom>
          <a:noFill/>
          <a:ln w="28575">
            <a:solidFill>
              <a:srgbClr val="2F855A"/>
            </a:solidFill>
            <a:prstDash val="solid"/>
            <a:tailEnd type="triangle"/>
          </a:ln>
        </p:spPr>
      </p:sp>
      <p:sp>
        <p:nvSpPr>
          <p:cNvPr id="15" name="Shape 12"/>
          <p:cNvSpPr/>
          <p:nvPr/>
        </p:nvSpPr>
        <p:spPr>
          <a:xfrm>
            <a:off x="10113264" y="3749040"/>
            <a:ext cx="0" cy="320040"/>
          </a:xfrm>
          <a:prstGeom prst="line">
            <a:avLst/>
          </a:prstGeom>
          <a:noFill/>
          <a:ln w="28575">
            <a:solidFill>
              <a:srgbClr val="6B7280"/>
            </a:solidFill>
            <a:prstDash val="solid"/>
            <a:tailEnd type="triangle"/>
          </a:ln>
        </p:spPr>
      </p:sp>
      <p:sp>
        <p:nvSpPr>
          <p:cNvPr id="16" name="Text 13"/>
          <p:cNvSpPr txBox="1"/>
          <p:nvPr/>
        </p:nvSpPr>
        <p:spPr>
          <a:xfrm>
            <a:off x="7424928" y="3776472"/>
            <a:ext cx="548640" cy="274320"/>
          </a:xfrm>
          <a:prstGeom prst="rect">
            <a:avLst/>
          </a:prstGeom>
          <a:noFill/>
        </p:spPr>
        <p:txBody>
          <a:bodyPr wrap="square" lIns="0" tIns="0" rIns="0" bIns="0" rtlCol="0" anchor="t"/>
          <a:lstStyle/>
          <a:p>
            <a:pPr marL="0" indent="0">
              <a:buNone/>
            </a:pPr>
            <a:r>
              <a:rPr lang="en-US" sz="1200" b="1" dirty="0">
                <a:solidFill>
                  <a:srgbClr val="2F855A"/>
                </a:solidFill>
                <a:latin typeface="Arial" panose="020B0604020202020204" pitchFamily="34" charset="0"/>
                <a:ea typeface="Arial" panose="020B0604020202020204" pitchFamily="34" charset="-122"/>
                <a:cs typeface="Arial" panose="020B0604020202020204" pitchFamily="34" charset="-120"/>
              </a:rPr>
              <a:t>yes</a:t>
            </a:r>
            <a:endParaRPr lang="en-US" sz="1200" dirty="0"/>
          </a:p>
        </p:txBody>
      </p:sp>
      <p:sp>
        <p:nvSpPr>
          <p:cNvPr id="17" name="Text 14"/>
          <p:cNvSpPr txBox="1"/>
          <p:nvPr/>
        </p:nvSpPr>
        <p:spPr>
          <a:xfrm>
            <a:off x="10204704" y="3776472"/>
            <a:ext cx="548640" cy="274320"/>
          </a:xfrm>
          <a:prstGeom prst="rect">
            <a:avLst/>
          </a:prstGeom>
          <a:noFill/>
        </p:spPr>
        <p:txBody>
          <a:bodyPr wrap="square" lIns="0" tIns="0" rIns="0" bIns="0" rtlCol="0" anchor="t"/>
          <a:lstStyle/>
          <a:p>
            <a:pPr marL="0" indent="0">
              <a:buNone/>
            </a:pPr>
            <a:r>
              <a:rPr lang="en-US" sz="1200" b="1" dirty="0">
                <a:solidFill>
                  <a:srgbClr val="6B7280"/>
                </a:solidFill>
                <a:latin typeface="Arial" panose="020B0604020202020204" pitchFamily="34" charset="0"/>
                <a:ea typeface="Arial" panose="020B0604020202020204" pitchFamily="34" charset="-122"/>
                <a:cs typeface="Arial" panose="020B0604020202020204" pitchFamily="34" charset="-120"/>
              </a:rPr>
              <a:t>no</a:t>
            </a:r>
            <a:endParaRPr lang="en-US" sz="1200" dirty="0"/>
          </a:p>
        </p:txBody>
      </p:sp>
      <p:sp>
        <p:nvSpPr>
          <p:cNvPr id="18" name="Shape 15"/>
          <p:cNvSpPr/>
          <p:nvPr/>
        </p:nvSpPr>
        <p:spPr>
          <a:xfrm>
            <a:off x="6080760" y="4114800"/>
            <a:ext cx="2505456" cy="1005840"/>
          </a:xfrm>
          <a:prstGeom prst="rect">
            <a:avLst/>
          </a:prstGeom>
          <a:solidFill>
            <a:srgbClr val="2F855A"/>
          </a:solidFill>
          <a:ln w="12700">
            <a:solidFill>
              <a:srgbClr val="2F855A"/>
            </a:solidFill>
            <a:prstDash val="solid"/>
          </a:ln>
        </p:spPr>
      </p:sp>
      <p:sp>
        <p:nvSpPr>
          <p:cNvPr id="19" name="Text 16"/>
          <p:cNvSpPr txBox="1"/>
          <p:nvPr/>
        </p:nvSpPr>
        <p:spPr>
          <a:xfrm>
            <a:off x="6172200" y="4114800"/>
            <a:ext cx="2322576" cy="1005840"/>
          </a:xfrm>
          <a:prstGeom prst="rect">
            <a:avLst/>
          </a:prstGeom>
          <a:noFill/>
        </p:spPr>
        <p:txBody>
          <a:bodyPr wrap="square" lIns="0" tIns="0" rIns="0" bIns="0" rtlCol="0" anchor="ctr"/>
          <a:lstStyle/>
          <a:p>
            <a:pPr marL="0" indent="0" algn="ctr">
              <a:buNone/>
            </a:pPr>
            <a:r>
              <a:rPr lang="en-US" sz="1300" b="1" dirty="0">
                <a:solidFill>
                  <a:srgbClr val="FFFFFF"/>
                </a:solidFill>
                <a:latin typeface="Arial" panose="020B0604020202020204" pitchFamily="34" charset="0"/>
                <a:ea typeface="Arial" panose="020B0604020202020204" pitchFamily="34" charset="-122"/>
                <a:cs typeface="Arial" panose="020B0604020202020204" pitchFamily="34" charset="-120"/>
              </a:rPr>
              <a:t>Move @champion alias, export models/champion</a:t>
            </a:r>
            <a:endParaRPr lang="en-US" sz="1300" dirty="0"/>
          </a:p>
        </p:txBody>
      </p:sp>
      <p:sp>
        <p:nvSpPr>
          <p:cNvPr id="20" name="Shape 17"/>
          <p:cNvSpPr/>
          <p:nvPr/>
        </p:nvSpPr>
        <p:spPr>
          <a:xfrm>
            <a:off x="8860536" y="4114800"/>
            <a:ext cx="2505456" cy="1005840"/>
          </a:xfrm>
          <a:prstGeom prst="rect">
            <a:avLst/>
          </a:prstGeom>
          <a:solidFill>
            <a:srgbClr val="6B7280"/>
          </a:solidFill>
          <a:ln w="12700">
            <a:solidFill>
              <a:srgbClr val="6B7280"/>
            </a:solidFill>
            <a:prstDash val="solid"/>
          </a:ln>
        </p:spPr>
      </p:sp>
      <p:sp>
        <p:nvSpPr>
          <p:cNvPr id="21" name="Text 18"/>
          <p:cNvSpPr txBox="1"/>
          <p:nvPr/>
        </p:nvSpPr>
        <p:spPr>
          <a:xfrm>
            <a:off x="8951976" y="4114800"/>
            <a:ext cx="2322576" cy="1005840"/>
          </a:xfrm>
          <a:prstGeom prst="rect">
            <a:avLst/>
          </a:prstGeom>
          <a:noFill/>
        </p:spPr>
        <p:txBody>
          <a:bodyPr wrap="square" lIns="0" tIns="0" rIns="0" bIns="0" rtlCol="0" anchor="ctr"/>
          <a:lstStyle/>
          <a:p>
            <a:pPr marL="0" indent="0" algn="ctr">
              <a:buNone/>
            </a:pPr>
            <a:r>
              <a:rPr lang="en-US" sz="1300" b="1" dirty="0">
                <a:solidFill>
                  <a:srgbClr val="FFFFFF"/>
                </a:solidFill>
                <a:latin typeface="Arial" panose="020B0604020202020204" pitchFamily="34" charset="0"/>
                <a:ea typeface="Arial" panose="020B0604020202020204" pitchFamily="34" charset="-122"/>
                <a:cs typeface="Arial" panose="020B0604020202020204" pitchFamily="34" charset="-120"/>
              </a:rPr>
              <a:t>Keep as version; champion unchanged</a:t>
            </a:r>
            <a:endParaRPr lang="en-US" sz="1300" dirty="0"/>
          </a:p>
        </p:txBody>
      </p:sp>
      <p:sp>
        <p:nvSpPr>
          <p:cNvPr id="22" name="callout"/>
          <p:cNvSpPr/>
          <p:nvPr/>
        </p:nvSpPr>
        <p:spPr>
          <a:xfrm>
            <a:off x="822960" y="5440680"/>
            <a:ext cx="10543032" cy="502920"/>
          </a:xfrm>
          <a:prstGeom prst="roundRect">
            <a:avLst>
              <a:gd name="adj" fmla="val 14545"/>
            </a:avLst>
          </a:prstGeom>
          <a:solidFill>
            <a:srgbClr val="FDF0E3"/>
          </a:solidFill>
          <a:ln w="12700">
            <a:solidFill>
              <a:srgbClr val="FDF0E3"/>
            </a:solidFill>
            <a:prstDash val="solid"/>
          </a:ln>
        </p:spPr>
      </p:sp>
      <p:sp>
        <p:nvSpPr>
          <p:cNvPr id="23" name="Text 20"/>
          <p:cNvSpPr txBox="1"/>
          <p:nvPr/>
        </p:nvSpPr>
        <p:spPr>
          <a:xfrm>
            <a:off x="1051560" y="5440680"/>
            <a:ext cx="10085832" cy="502920"/>
          </a:xfrm>
          <a:prstGeom prst="rect">
            <a:avLst/>
          </a:prstGeom>
          <a:noFill/>
        </p:spPr>
        <p:txBody>
          <a:bodyPr wrap="square" lIns="0" tIns="0" rIns="0" bIns="0" rtlCol="0" anchor="ctr"/>
          <a:lstStyle/>
          <a:p>
            <a:pPr marL="0" indent="0">
              <a:buNone/>
            </a:pPr>
            <a:r>
              <a:rPr lang="en-US" sz="1300" b="1" dirty="0">
                <a:solidFill>
                  <a:srgbClr val="1B3A64"/>
                </a:solidFill>
                <a:latin typeface="Arial" panose="020B0604020202020204" pitchFamily="34" charset="0"/>
                <a:ea typeface="Arial" panose="020B0604020202020204" pitchFamily="34" charset="-122"/>
                <a:cs typeface="Arial" panose="020B0604020202020204" pitchFamily="34" charset="-120"/>
              </a:rPr>
              <a:t>Rollback: </a:t>
            </a:r>
            <a:r>
              <a:rPr lang="en-US" sz="1300" dirty="0">
                <a:solidFill>
                  <a:srgbClr val="1F2937"/>
                </a:solidFill>
                <a:latin typeface="Arial" panose="020B0604020202020204" pitchFamily="34" charset="0"/>
                <a:ea typeface="Arial" panose="020B0604020202020204" pitchFamily="34" charset="-122"/>
                <a:cs typeface="Arial" panose="020B0604020202020204" pitchFamily="34" charset="-120"/>
              </a:rPr>
              <a:t>move the alias back to an older version. Versions are never deleted, so every prediction traces to its model version.</a:t>
            </a:r>
            <a:endParaRPr lang="en-US" sz="1300" dirty="0"/>
          </a:p>
        </p:txBody>
      </p:sp>
      <p:sp>
        <p:nvSpPr>
          <p:cNvPr id="25" name="Slide Number Placeholder 0"/>
          <p:cNvSpPr>
            <a:spLocks noGrp="1"/>
          </p:cNvSpPr>
          <p:nvPr>
            <p:ph type="sldNum" sz="quarter" idx="4294967295"/>
          </p:nvPr>
        </p:nvSpPr>
        <p:spPr>
          <a:xfrm>
            <a:off x="11320272" y="6492240"/>
            <a:ext cx="320040" cy="256032"/>
          </a:xfrm>
          <a:prstGeom prst="rect">
            <a:avLst/>
          </a:prstGeom>
        </p:spPr>
        <p:txBody>
          <a:bodyPr/>
          <a:lstStyle>
            <a:lvl1pPr>
              <a:defRPr sz="1000">
                <a:solidFill>
                  <a:srgbClr val="6B7280"/>
                </a:solidFill>
                <a:latin typeface="Arial" panose="020B0604020202020204"/>
                <a:ea typeface="Arial" panose="020B0604020202020204"/>
                <a:cs typeface="Arial" panose="020B0604020202020204"/>
              </a:defRPr>
            </a:lvl1pPr>
          </a:lstStyle>
          <a:p>
            <a:pPr algn="r"/>
            <a:fld id="{F7021451-1387-4CA6-816F-3879F97B5CBC}" type="slidenum">
              <a:rPr lang="en-US" b="0"/>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7"/>
          <p:cNvSpPr/>
          <p:nvPr>
            <p:ph type="title" idx="107" hasCustomPrompt="1"/>
          </p:nvPr>
        </p:nvSpPr>
        <p:spPr>
          <a:xfrm>
            <a:off x="594360" y="566928"/>
            <a:ext cx="10515600" cy="594360"/>
          </a:xfrm>
          <a:prstGeom prst="rect">
            <a:avLst/>
          </a:prstGeom>
          <a:noFill/>
        </p:spPr>
        <p:txBody>
          <a:bodyPr wrap="square" lIns="0" tIns="0" rIns="0" bIns="0" rtlCol="0" anchor="ctr"/>
          <a:lstStyle/>
          <a:p>
            <a:pPr marL="0" indent="0" algn="l">
              <a:buNone/>
            </a:pPr>
            <a:r>
              <a:rPr lang="en-US" sz="3000" b="1" dirty="0">
                <a:solidFill>
                  <a:srgbClr val="1B3A64"/>
                </a:solidFill>
                <a:latin typeface="Arial" panose="020B0604020202020204" pitchFamily="34" charset="0"/>
                <a:ea typeface="Arial" panose="020B0604020202020204" pitchFamily="34" charset="-122"/>
                <a:cs typeface="Arial" panose="020B0604020202020204" pitchFamily="34" charset="-120"/>
              </a:rPr>
              <a:t>9. Serving: FastAPI &amp; Docker</a:t>
            </a:r>
            <a:endParaRPr lang="en-US" sz="3000" dirty="0"/>
          </a:p>
        </p:txBody>
      </p:sp>
      <p:sp>
        <p:nvSpPr>
          <p:cNvPr id="3" name="content panel"/>
          <p:cNvSpPr/>
          <p:nvPr/>
        </p:nvSpPr>
        <p:spPr>
          <a:xfrm>
            <a:off x="548640" y="1417320"/>
            <a:ext cx="11091672" cy="4846320"/>
          </a:xfrm>
          <a:prstGeom prst="roundRect">
            <a:avLst>
              <a:gd name="adj" fmla="val 1132"/>
            </a:avLst>
          </a:prstGeom>
          <a:solidFill>
            <a:srgbClr val="FFFFFF"/>
          </a:solidFill>
          <a:ln w="15875">
            <a:solidFill>
              <a:srgbClr val="D1D5DB"/>
            </a:solidFill>
            <a:prstDash val="solid"/>
          </a:ln>
        </p:spPr>
      </p:sp>
      <p:sp>
        <p:nvSpPr>
          <p:cNvPr id="5" name="Text 2"/>
          <p:cNvSpPr txBox="1"/>
          <p:nvPr/>
        </p:nvSpPr>
        <p:spPr>
          <a:xfrm>
            <a:off x="822960" y="1600200"/>
            <a:ext cx="6172200" cy="320040"/>
          </a:xfrm>
          <a:prstGeom prst="rect">
            <a:avLst/>
          </a:prstGeom>
          <a:noFill/>
        </p:spPr>
        <p:txBody>
          <a:bodyPr wrap="square" lIns="0" tIns="0" rIns="0" bIns="0" rtlCol="0" anchor="t"/>
          <a:lstStyle/>
          <a:p>
            <a:pPr marL="0" indent="0">
              <a:buNone/>
            </a:pPr>
            <a:r>
              <a:rPr lang="en-US" sz="1600" b="1" dirty="0">
                <a:solidFill>
                  <a:srgbClr val="1B3A64"/>
                </a:solidFill>
                <a:latin typeface="Arial" panose="020B0604020202020204" pitchFamily="34" charset="0"/>
                <a:ea typeface="Arial" panose="020B0604020202020204" pitchFamily="34" charset="-122"/>
                <a:cs typeface="Arial" panose="020B0604020202020204" pitchFamily="34" charset="-120"/>
              </a:rPr>
              <a:t>REST endpoints</a:t>
            </a:r>
            <a:endParaRPr lang="en-US" sz="1600" dirty="0"/>
          </a:p>
        </p:txBody>
      </p:sp>
      <p:sp>
        <p:nvSpPr>
          <p:cNvPr id="6" name="Shape 3"/>
          <p:cNvSpPr/>
          <p:nvPr/>
        </p:nvSpPr>
        <p:spPr>
          <a:xfrm>
            <a:off x="822960" y="2011680"/>
            <a:ext cx="777240" cy="457200"/>
          </a:xfrm>
          <a:prstGeom prst="rect">
            <a:avLst/>
          </a:prstGeom>
          <a:solidFill>
            <a:srgbClr val="E8872A"/>
          </a:solidFill>
          <a:ln w="12700">
            <a:solidFill>
              <a:srgbClr val="E8872A"/>
            </a:solidFill>
            <a:prstDash val="solid"/>
          </a:ln>
        </p:spPr>
      </p:sp>
      <p:sp>
        <p:nvSpPr>
          <p:cNvPr id="7" name="Text 4"/>
          <p:cNvSpPr txBox="1"/>
          <p:nvPr/>
        </p:nvSpPr>
        <p:spPr>
          <a:xfrm>
            <a:off x="822960" y="2011680"/>
            <a:ext cx="777240" cy="457200"/>
          </a:xfrm>
          <a:prstGeom prst="rect">
            <a:avLst/>
          </a:prstGeom>
          <a:noFill/>
        </p:spPr>
        <p:txBody>
          <a:bodyPr wrap="square" lIns="0" tIns="0" rIns="0" bIns="0" rtlCol="0" anchor="ctr"/>
          <a:lstStyle/>
          <a:p>
            <a:pPr marL="0" indent="0" algn="ctr">
              <a:buNone/>
            </a:pPr>
            <a:r>
              <a:rPr lang="en-US" sz="1200" b="1" dirty="0">
                <a:solidFill>
                  <a:srgbClr val="FFFFFF"/>
                </a:solidFill>
                <a:latin typeface="Arial" panose="020B0604020202020204" pitchFamily="34" charset="0"/>
                <a:ea typeface="Arial" panose="020B0604020202020204" pitchFamily="34" charset="-122"/>
                <a:cs typeface="Arial" panose="020B0604020202020204" pitchFamily="34" charset="-120"/>
              </a:rPr>
              <a:t>POST</a:t>
            </a:r>
            <a:endParaRPr lang="en-US" sz="1200" dirty="0"/>
          </a:p>
        </p:txBody>
      </p:sp>
      <p:sp>
        <p:nvSpPr>
          <p:cNvPr id="8" name="Shape 5"/>
          <p:cNvSpPr/>
          <p:nvPr/>
        </p:nvSpPr>
        <p:spPr>
          <a:xfrm>
            <a:off x="1691640" y="2011680"/>
            <a:ext cx="5303520" cy="457200"/>
          </a:xfrm>
          <a:prstGeom prst="rect">
            <a:avLst/>
          </a:prstGeom>
          <a:solidFill>
            <a:srgbClr val="F3F4F6"/>
          </a:solidFill>
          <a:ln w="12700">
            <a:solidFill>
              <a:srgbClr val="F3F4F6"/>
            </a:solidFill>
            <a:prstDash val="solid"/>
          </a:ln>
        </p:spPr>
      </p:sp>
      <p:sp>
        <p:nvSpPr>
          <p:cNvPr id="9" name="Text 6"/>
          <p:cNvSpPr txBox="1"/>
          <p:nvPr/>
        </p:nvSpPr>
        <p:spPr>
          <a:xfrm>
            <a:off x="1828800" y="2011680"/>
            <a:ext cx="1920240" cy="457200"/>
          </a:xfrm>
          <a:prstGeom prst="rect">
            <a:avLst/>
          </a:prstGeom>
          <a:noFill/>
        </p:spPr>
        <p:txBody>
          <a:bodyPr wrap="square" lIns="0" tIns="0" rIns="0" bIns="0" rtlCol="0" anchor="ctr"/>
          <a:lstStyle/>
          <a:p>
            <a:pPr marL="0" indent="0">
              <a:buNone/>
            </a:pPr>
            <a:r>
              <a:rPr lang="en-US" sz="1300" b="1" dirty="0">
                <a:solidFill>
                  <a:srgbClr val="1B3A64"/>
                </a:solidFill>
                <a:latin typeface="Courier New" panose="02070309020205020404" pitchFamily="34" charset="0"/>
                <a:ea typeface="Courier New" panose="02070309020205020404" pitchFamily="34" charset="-122"/>
                <a:cs typeface="Courier New" panose="02070309020205020404" pitchFamily="34" charset="-120"/>
              </a:rPr>
              <a:t>/predict</a:t>
            </a:r>
            <a:endParaRPr lang="en-US" sz="1300" dirty="0"/>
          </a:p>
        </p:txBody>
      </p:sp>
      <p:sp>
        <p:nvSpPr>
          <p:cNvPr id="10" name="Text 7"/>
          <p:cNvSpPr txBox="1"/>
          <p:nvPr/>
        </p:nvSpPr>
        <p:spPr>
          <a:xfrm>
            <a:off x="3931920" y="2011680"/>
            <a:ext cx="3017520" cy="457200"/>
          </a:xfrm>
          <a:prstGeom prst="rect">
            <a:avLst/>
          </a:prstGeom>
          <a:noFill/>
        </p:spPr>
        <p:txBody>
          <a:bodyPr wrap="square" lIns="0" tIns="0" rIns="0" bIns="0" rtlCol="0" anchor="ctr"/>
          <a:lstStyle/>
          <a:p>
            <a:pPr marL="0" indent="0">
              <a:buNone/>
            </a:pPr>
            <a:r>
              <a:rPr lang="en-US" sz="1300" dirty="0">
                <a:solidFill>
                  <a:srgbClr val="1F2937"/>
                </a:solidFill>
                <a:latin typeface="Arial" panose="020B0604020202020204" pitchFamily="34" charset="0"/>
                <a:ea typeface="Arial" panose="020B0604020202020204" pitchFamily="34" charset="-122"/>
                <a:cs typeface="Arial" panose="020B0604020202020204" pitchFamily="34" charset="-120"/>
              </a:rPr>
              <a:t>one collision → class + probabilities</a:t>
            </a:r>
            <a:endParaRPr lang="en-US" sz="1300" dirty="0"/>
          </a:p>
        </p:txBody>
      </p:sp>
      <p:sp>
        <p:nvSpPr>
          <p:cNvPr id="11" name="Shape 8"/>
          <p:cNvSpPr/>
          <p:nvPr/>
        </p:nvSpPr>
        <p:spPr>
          <a:xfrm>
            <a:off x="822960" y="2578608"/>
            <a:ext cx="777240" cy="457200"/>
          </a:xfrm>
          <a:prstGeom prst="rect">
            <a:avLst/>
          </a:prstGeom>
          <a:solidFill>
            <a:srgbClr val="E8872A"/>
          </a:solidFill>
          <a:ln w="12700">
            <a:solidFill>
              <a:srgbClr val="E8872A"/>
            </a:solidFill>
            <a:prstDash val="solid"/>
          </a:ln>
        </p:spPr>
      </p:sp>
      <p:sp>
        <p:nvSpPr>
          <p:cNvPr id="12" name="Text 9"/>
          <p:cNvSpPr txBox="1"/>
          <p:nvPr/>
        </p:nvSpPr>
        <p:spPr>
          <a:xfrm>
            <a:off x="822960" y="2578608"/>
            <a:ext cx="777240" cy="457200"/>
          </a:xfrm>
          <a:prstGeom prst="rect">
            <a:avLst/>
          </a:prstGeom>
          <a:noFill/>
        </p:spPr>
        <p:txBody>
          <a:bodyPr wrap="square" lIns="0" tIns="0" rIns="0" bIns="0" rtlCol="0" anchor="ctr"/>
          <a:lstStyle/>
          <a:p>
            <a:pPr marL="0" indent="0" algn="ctr">
              <a:buNone/>
            </a:pPr>
            <a:r>
              <a:rPr lang="en-US" sz="1200" b="1" dirty="0">
                <a:solidFill>
                  <a:srgbClr val="FFFFFF"/>
                </a:solidFill>
                <a:latin typeface="Arial" panose="020B0604020202020204" pitchFamily="34" charset="0"/>
                <a:ea typeface="Arial" panose="020B0604020202020204" pitchFamily="34" charset="-122"/>
                <a:cs typeface="Arial" panose="020B0604020202020204" pitchFamily="34" charset="-120"/>
              </a:rPr>
              <a:t>POST</a:t>
            </a:r>
            <a:endParaRPr lang="en-US" sz="1200" dirty="0"/>
          </a:p>
        </p:txBody>
      </p:sp>
      <p:sp>
        <p:nvSpPr>
          <p:cNvPr id="13" name="Shape 10"/>
          <p:cNvSpPr/>
          <p:nvPr/>
        </p:nvSpPr>
        <p:spPr>
          <a:xfrm>
            <a:off x="1691640" y="2578608"/>
            <a:ext cx="5303520" cy="457200"/>
          </a:xfrm>
          <a:prstGeom prst="rect">
            <a:avLst/>
          </a:prstGeom>
          <a:solidFill>
            <a:srgbClr val="F3F4F6"/>
          </a:solidFill>
          <a:ln w="12700">
            <a:solidFill>
              <a:srgbClr val="F3F4F6"/>
            </a:solidFill>
            <a:prstDash val="solid"/>
          </a:ln>
        </p:spPr>
      </p:sp>
      <p:sp>
        <p:nvSpPr>
          <p:cNvPr id="14" name="Text 11"/>
          <p:cNvSpPr txBox="1"/>
          <p:nvPr/>
        </p:nvSpPr>
        <p:spPr>
          <a:xfrm>
            <a:off x="1828800" y="2578608"/>
            <a:ext cx="1920240" cy="457200"/>
          </a:xfrm>
          <a:prstGeom prst="rect">
            <a:avLst/>
          </a:prstGeom>
          <a:noFill/>
        </p:spPr>
        <p:txBody>
          <a:bodyPr wrap="square" lIns="0" tIns="0" rIns="0" bIns="0" rtlCol="0" anchor="ctr"/>
          <a:lstStyle/>
          <a:p>
            <a:pPr marL="0" indent="0">
              <a:buNone/>
            </a:pPr>
            <a:r>
              <a:rPr lang="en-US" sz="1300" b="1" dirty="0">
                <a:solidFill>
                  <a:srgbClr val="1B3A64"/>
                </a:solidFill>
                <a:latin typeface="Courier New" panose="02070309020205020404" pitchFamily="34" charset="0"/>
                <a:ea typeface="Courier New" panose="02070309020205020404" pitchFamily="34" charset="-122"/>
                <a:cs typeface="Courier New" panose="02070309020205020404" pitchFamily="34" charset="-120"/>
              </a:rPr>
              <a:t>/predict/batch</a:t>
            </a:r>
            <a:endParaRPr lang="en-US" sz="1300" dirty="0"/>
          </a:p>
        </p:txBody>
      </p:sp>
      <p:sp>
        <p:nvSpPr>
          <p:cNvPr id="15" name="Text 12"/>
          <p:cNvSpPr txBox="1"/>
          <p:nvPr/>
        </p:nvSpPr>
        <p:spPr>
          <a:xfrm>
            <a:off x="3931920" y="2578608"/>
            <a:ext cx="3017520" cy="457200"/>
          </a:xfrm>
          <a:prstGeom prst="rect">
            <a:avLst/>
          </a:prstGeom>
          <a:noFill/>
        </p:spPr>
        <p:txBody>
          <a:bodyPr wrap="square" lIns="0" tIns="0" rIns="0" bIns="0" rtlCol="0" anchor="ctr"/>
          <a:lstStyle/>
          <a:p>
            <a:pPr marL="0" indent="0">
              <a:buNone/>
            </a:pPr>
            <a:r>
              <a:rPr lang="en-US" sz="1300" dirty="0">
                <a:solidFill>
                  <a:srgbClr val="1F2937"/>
                </a:solidFill>
                <a:latin typeface="Arial" panose="020B0604020202020204" pitchFamily="34" charset="0"/>
                <a:ea typeface="Arial" panose="020B0604020202020204" pitchFamily="34" charset="-122"/>
                <a:cs typeface="Arial" panose="020B0604020202020204" pitchFamily="34" charset="-120"/>
              </a:rPr>
              <a:t>many collisions at once</a:t>
            </a:r>
            <a:endParaRPr lang="en-US" sz="1300" dirty="0"/>
          </a:p>
        </p:txBody>
      </p:sp>
      <p:sp>
        <p:nvSpPr>
          <p:cNvPr id="16" name="Shape 13"/>
          <p:cNvSpPr/>
          <p:nvPr/>
        </p:nvSpPr>
        <p:spPr>
          <a:xfrm>
            <a:off x="822960" y="3145536"/>
            <a:ext cx="777240" cy="457200"/>
          </a:xfrm>
          <a:prstGeom prst="rect">
            <a:avLst/>
          </a:prstGeom>
          <a:solidFill>
            <a:srgbClr val="1B3A64"/>
          </a:solidFill>
          <a:ln w="12700">
            <a:solidFill>
              <a:srgbClr val="1B3A64"/>
            </a:solidFill>
            <a:prstDash val="solid"/>
          </a:ln>
        </p:spPr>
      </p:sp>
      <p:sp>
        <p:nvSpPr>
          <p:cNvPr id="17" name="Text 14"/>
          <p:cNvSpPr txBox="1"/>
          <p:nvPr/>
        </p:nvSpPr>
        <p:spPr>
          <a:xfrm>
            <a:off x="822960" y="3145536"/>
            <a:ext cx="777240" cy="457200"/>
          </a:xfrm>
          <a:prstGeom prst="rect">
            <a:avLst/>
          </a:prstGeom>
          <a:noFill/>
        </p:spPr>
        <p:txBody>
          <a:bodyPr wrap="square" lIns="0" tIns="0" rIns="0" bIns="0" rtlCol="0" anchor="ctr"/>
          <a:lstStyle/>
          <a:p>
            <a:pPr marL="0" indent="0" algn="ctr">
              <a:buNone/>
            </a:pPr>
            <a:r>
              <a:rPr lang="en-US" sz="1200" b="1" dirty="0">
                <a:solidFill>
                  <a:srgbClr val="FFFFFF"/>
                </a:solidFill>
                <a:latin typeface="Arial" panose="020B0604020202020204" pitchFamily="34" charset="0"/>
                <a:ea typeface="Arial" panose="020B0604020202020204" pitchFamily="34" charset="-122"/>
                <a:cs typeface="Arial" panose="020B0604020202020204" pitchFamily="34" charset="-120"/>
              </a:rPr>
              <a:t>GET</a:t>
            </a:r>
            <a:endParaRPr lang="en-US" sz="1200" dirty="0"/>
          </a:p>
        </p:txBody>
      </p:sp>
      <p:sp>
        <p:nvSpPr>
          <p:cNvPr id="18" name="Shape 15"/>
          <p:cNvSpPr/>
          <p:nvPr/>
        </p:nvSpPr>
        <p:spPr>
          <a:xfrm>
            <a:off x="1691640" y="3145536"/>
            <a:ext cx="5303520" cy="457200"/>
          </a:xfrm>
          <a:prstGeom prst="rect">
            <a:avLst/>
          </a:prstGeom>
          <a:solidFill>
            <a:srgbClr val="F3F4F6"/>
          </a:solidFill>
          <a:ln w="12700">
            <a:solidFill>
              <a:srgbClr val="F3F4F6"/>
            </a:solidFill>
            <a:prstDash val="solid"/>
          </a:ln>
        </p:spPr>
      </p:sp>
      <p:sp>
        <p:nvSpPr>
          <p:cNvPr id="19" name="Text 16"/>
          <p:cNvSpPr txBox="1"/>
          <p:nvPr/>
        </p:nvSpPr>
        <p:spPr>
          <a:xfrm>
            <a:off x="1828800" y="3145536"/>
            <a:ext cx="1920240" cy="457200"/>
          </a:xfrm>
          <a:prstGeom prst="rect">
            <a:avLst/>
          </a:prstGeom>
          <a:noFill/>
        </p:spPr>
        <p:txBody>
          <a:bodyPr wrap="square" lIns="0" tIns="0" rIns="0" bIns="0" rtlCol="0" anchor="ctr"/>
          <a:lstStyle/>
          <a:p>
            <a:pPr marL="0" indent="0">
              <a:buNone/>
            </a:pPr>
            <a:r>
              <a:rPr lang="en-US" sz="1300" b="1" dirty="0">
                <a:solidFill>
                  <a:srgbClr val="1B3A64"/>
                </a:solidFill>
                <a:latin typeface="Courier New" panose="02070309020205020404" pitchFamily="34" charset="0"/>
                <a:ea typeface="Courier New" panose="02070309020205020404" pitchFamily="34" charset="-122"/>
                <a:cs typeface="Courier New" panose="02070309020205020404" pitchFamily="34" charset="-120"/>
              </a:rPr>
              <a:t>/health</a:t>
            </a:r>
            <a:endParaRPr lang="en-US" sz="1300" dirty="0"/>
          </a:p>
        </p:txBody>
      </p:sp>
      <p:sp>
        <p:nvSpPr>
          <p:cNvPr id="20" name="Text 17"/>
          <p:cNvSpPr txBox="1"/>
          <p:nvPr/>
        </p:nvSpPr>
        <p:spPr>
          <a:xfrm>
            <a:off x="3931920" y="3145536"/>
            <a:ext cx="3017520" cy="457200"/>
          </a:xfrm>
          <a:prstGeom prst="rect">
            <a:avLst/>
          </a:prstGeom>
          <a:noFill/>
        </p:spPr>
        <p:txBody>
          <a:bodyPr wrap="square" lIns="0" tIns="0" rIns="0" bIns="0" rtlCol="0" anchor="ctr"/>
          <a:lstStyle/>
          <a:p>
            <a:pPr marL="0" indent="0">
              <a:buNone/>
            </a:pPr>
            <a:r>
              <a:rPr lang="en-US" sz="1300" dirty="0">
                <a:solidFill>
                  <a:srgbClr val="1F2937"/>
                </a:solidFill>
                <a:latin typeface="Arial" panose="020B0604020202020204" pitchFamily="34" charset="0"/>
                <a:ea typeface="Arial" panose="020B0604020202020204" pitchFamily="34" charset="-122"/>
                <a:cs typeface="Arial" panose="020B0604020202020204" pitchFamily="34" charset="-120"/>
              </a:rPr>
              <a:t>is the service alive?</a:t>
            </a:r>
            <a:endParaRPr lang="en-US" sz="1300" dirty="0"/>
          </a:p>
        </p:txBody>
      </p:sp>
      <p:sp>
        <p:nvSpPr>
          <p:cNvPr id="21" name="Shape 18"/>
          <p:cNvSpPr/>
          <p:nvPr/>
        </p:nvSpPr>
        <p:spPr>
          <a:xfrm>
            <a:off x="822960" y="3712464"/>
            <a:ext cx="777240" cy="457200"/>
          </a:xfrm>
          <a:prstGeom prst="rect">
            <a:avLst/>
          </a:prstGeom>
          <a:solidFill>
            <a:srgbClr val="1B3A64"/>
          </a:solidFill>
          <a:ln w="12700">
            <a:solidFill>
              <a:srgbClr val="1B3A64"/>
            </a:solidFill>
            <a:prstDash val="solid"/>
          </a:ln>
        </p:spPr>
      </p:sp>
      <p:sp>
        <p:nvSpPr>
          <p:cNvPr id="22" name="Text 19"/>
          <p:cNvSpPr txBox="1"/>
          <p:nvPr/>
        </p:nvSpPr>
        <p:spPr>
          <a:xfrm>
            <a:off x="822960" y="3712464"/>
            <a:ext cx="777240" cy="457200"/>
          </a:xfrm>
          <a:prstGeom prst="rect">
            <a:avLst/>
          </a:prstGeom>
          <a:noFill/>
        </p:spPr>
        <p:txBody>
          <a:bodyPr wrap="square" lIns="0" tIns="0" rIns="0" bIns="0" rtlCol="0" anchor="ctr"/>
          <a:lstStyle/>
          <a:p>
            <a:pPr marL="0" indent="0" algn="ctr">
              <a:buNone/>
            </a:pPr>
            <a:r>
              <a:rPr lang="en-US" sz="1200" b="1" dirty="0">
                <a:solidFill>
                  <a:srgbClr val="FFFFFF"/>
                </a:solidFill>
                <a:latin typeface="Arial" panose="020B0604020202020204" pitchFamily="34" charset="0"/>
                <a:ea typeface="Arial" panose="020B0604020202020204" pitchFamily="34" charset="-122"/>
                <a:cs typeface="Arial" panose="020B0604020202020204" pitchFamily="34" charset="-120"/>
              </a:rPr>
              <a:t>GET</a:t>
            </a:r>
            <a:endParaRPr lang="en-US" sz="1200" dirty="0"/>
          </a:p>
        </p:txBody>
      </p:sp>
      <p:sp>
        <p:nvSpPr>
          <p:cNvPr id="23" name="Shape 20"/>
          <p:cNvSpPr/>
          <p:nvPr/>
        </p:nvSpPr>
        <p:spPr>
          <a:xfrm>
            <a:off x="1691640" y="3712464"/>
            <a:ext cx="5303520" cy="457200"/>
          </a:xfrm>
          <a:prstGeom prst="rect">
            <a:avLst/>
          </a:prstGeom>
          <a:solidFill>
            <a:srgbClr val="F3F4F6"/>
          </a:solidFill>
          <a:ln w="12700">
            <a:solidFill>
              <a:srgbClr val="F3F4F6"/>
            </a:solidFill>
            <a:prstDash val="solid"/>
          </a:ln>
        </p:spPr>
      </p:sp>
      <p:sp>
        <p:nvSpPr>
          <p:cNvPr id="24" name="Text 21"/>
          <p:cNvSpPr txBox="1"/>
          <p:nvPr/>
        </p:nvSpPr>
        <p:spPr>
          <a:xfrm>
            <a:off x="1828800" y="3712464"/>
            <a:ext cx="1920240" cy="457200"/>
          </a:xfrm>
          <a:prstGeom prst="rect">
            <a:avLst/>
          </a:prstGeom>
          <a:noFill/>
        </p:spPr>
        <p:txBody>
          <a:bodyPr wrap="square" lIns="0" tIns="0" rIns="0" bIns="0" rtlCol="0" anchor="ctr"/>
          <a:lstStyle/>
          <a:p>
            <a:pPr marL="0" indent="0">
              <a:buNone/>
            </a:pPr>
            <a:r>
              <a:rPr lang="en-US" sz="1300" b="1" dirty="0">
                <a:solidFill>
                  <a:srgbClr val="1B3A64"/>
                </a:solidFill>
                <a:latin typeface="Courier New" panose="02070309020205020404" pitchFamily="34" charset="0"/>
                <a:ea typeface="Courier New" panose="02070309020205020404" pitchFamily="34" charset="-122"/>
                <a:cs typeface="Courier New" panose="02070309020205020404" pitchFamily="34" charset="-120"/>
              </a:rPr>
              <a:t>/model-info</a:t>
            </a:r>
            <a:endParaRPr lang="en-US" sz="1300" dirty="0"/>
          </a:p>
        </p:txBody>
      </p:sp>
      <p:sp>
        <p:nvSpPr>
          <p:cNvPr id="25" name="Text 22"/>
          <p:cNvSpPr txBox="1"/>
          <p:nvPr/>
        </p:nvSpPr>
        <p:spPr>
          <a:xfrm>
            <a:off x="3931920" y="3712464"/>
            <a:ext cx="3017520" cy="457200"/>
          </a:xfrm>
          <a:prstGeom prst="rect">
            <a:avLst/>
          </a:prstGeom>
          <a:noFill/>
        </p:spPr>
        <p:txBody>
          <a:bodyPr wrap="square" lIns="0" tIns="0" rIns="0" bIns="0" rtlCol="0" anchor="ctr"/>
          <a:lstStyle/>
          <a:p>
            <a:pPr marL="0" indent="0">
              <a:buNone/>
            </a:pPr>
            <a:r>
              <a:rPr lang="en-US" sz="1300" dirty="0">
                <a:solidFill>
                  <a:srgbClr val="1F2937"/>
                </a:solidFill>
                <a:latin typeface="Arial" panose="020B0604020202020204" pitchFamily="34" charset="0"/>
                <a:ea typeface="Arial" panose="020B0604020202020204" pitchFamily="34" charset="-122"/>
                <a:cs typeface="Arial" panose="020B0604020202020204" pitchFamily="34" charset="-120"/>
              </a:rPr>
              <a:t>version, metrics, features</a:t>
            </a:r>
            <a:endParaRPr lang="en-US" sz="1300" dirty="0"/>
          </a:p>
        </p:txBody>
      </p:sp>
      <p:sp>
        <p:nvSpPr>
          <p:cNvPr id="26" name="Shape 23"/>
          <p:cNvSpPr/>
          <p:nvPr/>
        </p:nvSpPr>
        <p:spPr>
          <a:xfrm>
            <a:off x="822960" y="4279392"/>
            <a:ext cx="777240" cy="457200"/>
          </a:xfrm>
          <a:prstGeom prst="rect">
            <a:avLst/>
          </a:prstGeom>
          <a:solidFill>
            <a:srgbClr val="1B3A64"/>
          </a:solidFill>
          <a:ln w="12700">
            <a:solidFill>
              <a:srgbClr val="1B3A64"/>
            </a:solidFill>
            <a:prstDash val="solid"/>
          </a:ln>
        </p:spPr>
      </p:sp>
      <p:sp>
        <p:nvSpPr>
          <p:cNvPr id="27" name="Text 24"/>
          <p:cNvSpPr txBox="1"/>
          <p:nvPr/>
        </p:nvSpPr>
        <p:spPr>
          <a:xfrm>
            <a:off x="822960" y="4279392"/>
            <a:ext cx="777240" cy="457200"/>
          </a:xfrm>
          <a:prstGeom prst="rect">
            <a:avLst/>
          </a:prstGeom>
          <a:noFill/>
        </p:spPr>
        <p:txBody>
          <a:bodyPr wrap="square" lIns="0" tIns="0" rIns="0" bIns="0" rtlCol="0" anchor="ctr"/>
          <a:lstStyle/>
          <a:p>
            <a:pPr marL="0" indent="0" algn="ctr">
              <a:buNone/>
            </a:pPr>
            <a:r>
              <a:rPr lang="en-US" sz="1200" b="1" dirty="0">
                <a:solidFill>
                  <a:srgbClr val="FFFFFF"/>
                </a:solidFill>
                <a:latin typeface="Arial" panose="020B0604020202020204" pitchFamily="34" charset="0"/>
                <a:ea typeface="Arial" panose="020B0604020202020204" pitchFamily="34" charset="-122"/>
                <a:cs typeface="Arial" panose="020B0604020202020204" pitchFamily="34" charset="-120"/>
              </a:rPr>
              <a:t>GET</a:t>
            </a:r>
            <a:endParaRPr lang="en-US" sz="1200" dirty="0"/>
          </a:p>
        </p:txBody>
      </p:sp>
      <p:sp>
        <p:nvSpPr>
          <p:cNvPr id="28" name="Shape 25"/>
          <p:cNvSpPr/>
          <p:nvPr/>
        </p:nvSpPr>
        <p:spPr>
          <a:xfrm>
            <a:off x="1691640" y="4279392"/>
            <a:ext cx="5303520" cy="457200"/>
          </a:xfrm>
          <a:prstGeom prst="rect">
            <a:avLst/>
          </a:prstGeom>
          <a:solidFill>
            <a:srgbClr val="F3F4F6"/>
          </a:solidFill>
          <a:ln w="12700">
            <a:solidFill>
              <a:srgbClr val="F3F4F6"/>
            </a:solidFill>
            <a:prstDash val="solid"/>
          </a:ln>
        </p:spPr>
      </p:sp>
      <p:sp>
        <p:nvSpPr>
          <p:cNvPr id="29" name="Text 26"/>
          <p:cNvSpPr txBox="1"/>
          <p:nvPr/>
        </p:nvSpPr>
        <p:spPr>
          <a:xfrm>
            <a:off x="1828800" y="4279392"/>
            <a:ext cx="1920240" cy="457200"/>
          </a:xfrm>
          <a:prstGeom prst="rect">
            <a:avLst/>
          </a:prstGeom>
          <a:noFill/>
        </p:spPr>
        <p:txBody>
          <a:bodyPr wrap="square" lIns="0" tIns="0" rIns="0" bIns="0" rtlCol="0" anchor="ctr"/>
          <a:lstStyle/>
          <a:p>
            <a:pPr marL="0" indent="0">
              <a:buNone/>
            </a:pPr>
            <a:r>
              <a:rPr lang="en-US" sz="1300" b="1" dirty="0">
                <a:solidFill>
                  <a:srgbClr val="1B3A64"/>
                </a:solidFill>
                <a:latin typeface="Courier New" panose="02070309020205020404" pitchFamily="34" charset="0"/>
                <a:ea typeface="Courier New" panose="02070309020205020404" pitchFamily="34" charset="-122"/>
                <a:cs typeface="Courier New" panose="02070309020205020404" pitchFamily="34" charset="-120"/>
              </a:rPr>
              <a:t>/metrics</a:t>
            </a:r>
            <a:endParaRPr lang="en-US" sz="1300" dirty="0"/>
          </a:p>
        </p:txBody>
      </p:sp>
      <p:sp>
        <p:nvSpPr>
          <p:cNvPr id="30" name="Text 27"/>
          <p:cNvSpPr txBox="1"/>
          <p:nvPr/>
        </p:nvSpPr>
        <p:spPr>
          <a:xfrm>
            <a:off x="3931920" y="4279392"/>
            <a:ext cx="3017520" cy="457200"/>
          </a:xfrm>
          <a:prstGeom prst="rect">
            <a:avLst/>
          </a:prstGeom>
          <a:noFill/>
        </p:spPr>
        <p:txBody>
          <a:bodyPr wrap="square" lIns="0" tIns="0" rIns="0" bIns="0" rtlCol="0" anchor="ctr"/>
          <a:lstStyle/>
          <a:p>
            <a:pPr marL="0" indent="0">
              <a:buNone/>
            </a:pPr>
            <a:r>
              <a:rPr lang="en-US" sz="1300" dirty="0">
                <a:solidFill>
                  <a:srgbClr val="1F2937"/>
                </a:solidFill>
                <a:latin typeface="Arial" panose="020B0604020202020204" pitchFamily="34" charset="0"/>
                <a:ea typeface="Arial" panose="020B0604020202020204" pitchFamily="34" charset="-122"/>
                <a:cs typeface="Arial" panose="020B0604020202020204" pitchFamily="34" charset="-120"/>
              </a:rPr>
              <a:t>latency and error rate</a:t>
            </a:r>
            <a:endParaRPr lang="en-US" sz="1300" dirty="0"/>
          </a:p>
        </p:txBody>
      </p:sp>
      <p:sp>
        <p:nvSpPr>
          <p:cNvPr id="31" name="Text 28"/>
          <p:cNvSpPr txBox="1"/>
          <p:nvPr/>
        </p:nvSpPr>
        <p:spPr>
          <a:xfrm>
            <a:off x="822960" y="4983480"/>
            <a:ext cx="6172200" cy="822960"/>
          </a:xfrm>
          <a:prstGeom prst="rect">
            <a:avLst/>
          </a:prstGeom>
          <a:noFill/>
        </p:spPr>
        <p:txBody>
          <a:bodyPr wrap="square" lIns="0" tIns="0" rIns="0" bIns="0" rtlCol="0" anchor="t"/>
          <a:lstStyle/>
          <a:p>
            <a:pPr marL="0" indent="0">
              <a:buNone/>
            </a:pPr>
            <a:r>
              <a:rPr lang="en-US" sz="1300" dirty="0">
                <a:solidFill>
                  <a:srgbClr val="1F2937"/>
                </a:solidFill>
                <a:latin typeface="Arial" panose="020B0604020202020204" pitchFamily="34" charset="0"/>
                <a:ea typeface="Arial" panose="020B0604020202020204" pitchFamily="34" charset="-122"/>
                <a:cs typeface="Arial" panose="020B0604020202020204" pitchFamily="34" charset="-120"/>
              </a:rPr>
              <a:t>Input validated with pydantic: a bad payload returns HTTP 422 and is counted as a failure. Every request is logged with its model version.</a:t>
            </a:r>
            <a:endParaRPr lang="en-US" sz="1300" dirty="0"/>
          </a:p>
        </p:txBody>
      </p:sp>
      <p:sp>
        <p:nvSpPr>
          <p:cNvPr id="32" name="Text 29"/>
          <p:cNvSpPr txBox="1"/>
          <p:nvPr/>
        </p:nvSpPr>
        <p:spPr>
          <a:xfrm>
            <a:off x="7452360" y="1600200"/>
            <a:ext cx="3913632" cy="320040"/>
          </a:xfrm>
          <a:prstGeom prst="rect">
            <a:avLst/>
          </a:prstGeom>
          <a:noFill/>
        </p:spPr>
        <p:txBody>
          <a:bodyPr wrap="square" lIns="0" tIns="0" rIns="0" bIns="0" rtlCol="0" anchor="t"/>
          <a:lstStyle/>
          <a:p>
            <a:pPr marL="0" indent="0">
              <a:buNone/>
            </a:pPr>
            <a:r>
              <a:rPr lang="en-US" sz="1600" b="1" dirty="0">
                <a:solidFill>
                  <a:srgbClr val="1B3A64"/>
                </a:solidFill>
                <a:latin typeface="Arial" panose="020B0604020202020204" pitchFamily="34" charset="0"/>
                <a:ea typeface="Arial" panose="020B0604020202020204" pitchFamily="34" charset="-122"/>
                <a:cs typeface="Arial" panose="020B0604020202020204" pitchFamily="34" charset="-120"/>
              </a:rPr>
              <a:t>docker compose up – three services</a:t>
            </a:r>
            <a:endParaRPr lang="en-US" sz="1600" dirty="0"/>
          </a:p>
        </p:txBody>
      </p:sp>
      <p:sp>
        <p:nvSpPr>
          <p:cNvPr id="33" name="service"/>
          <p:cNvSpPr/>
          <p:nvPr/>
        </p:nvSpPr>
        <p:spPr>
          <a:xfrm>
            <a:off x="7452360" y="2011680"/>
            <a:ext cx="3913632" cy="1143000"/>
          </a:xfrm>
          <a:prstGeom prst="roundRect">
            <a:avLst>
              <a:gd name="adj" fmla="val 6400"/>
            </a:avLst>
          </a:prstGeom>
          <a:solidFill>
            <a:srgbClr val="F3F4F6"/>
          </a:solidFill>
          <a:ln w="12700">
            <a:solidFill>
              <a:srgbClr val="F3F4F6"/>
            </a:solidFill>
            <a:prstDash val="solid"/>
          </a:ln>
        </p:spPr>
      </p:sp>
      <p:sp>
        <p:nvSpPr>
          <p:cNvPr id="34" name="Shape 31"/>
          <p:cNvSpPr/>
          <p:nvPr/>
        </p:nvSpPr>
        <p:spPr>
          <a:xfrm>
            <a:off x="7635240" y="2240280"/>
            <a:ext cx="685800" cy="685800"/>
          </a:xfrm>
          <a:prstGeom prst="rect">
            <a:avLst/>
          </a:prstGeom>
          <a:solidFill>
            <a:srgbClr val="E8872A"/>
          </a:solidFill>
          <a:ln w="12700">
            <a:solidFill>
              <a:srgbClr val="E8872A"/>
            </a:solidFill>
            <a:prstDash val="solid"/>
          </a:ln>
        </p:spPr>
      </p:sp>
      <p:sp>
        <p:nvSpPr>
          <p:cNvPr id="35" name="Text 32"/>
          <p:cNvSpPr txBox="1"/>
          <p:nvPr/>
        </p:nvSpPr>
        <p:spPr>
          <a:xfrm>
            <a:off x="7635240" y="2240280"/>
            <a:ext cx="685800" cy="685800"/>
          </a:xfrm>
          <a:prstGeom prst="rect">
            <a:avLst/>
          </a:prstGeom>
          <a:noFill/>
        </p:spPr>
        <p:txBody>
          <a:bodyPr wrap="square" lIns="0" tIns="0" rIns="0" bIns="0" rtlCol="0" anchor="ctr"/>
          <a:lstStyle/>
          <a:p>
            <a:pPr marL="0" indent="0" algn="ctr">
              <a:buNone/>
            </a:pPr>
            <a:r>
              <a:rPr lang="en-US" sz="2400" b="1" dirty="0">
                <a:solidFill>
                  <a:srgbClr val="FFFFFF"/>
                </a:solidFill>
                <a:latin typeface="Arial" panose="020B0604020202020204" pitchFamily="34" charset="0"/>
                <a:ea typeface="Arial" panose="020B0604020202020204" pitchFamily="34" charset="-122"/>
                <a:cs typeface="Arial" panose="020B0604020202020204" pitchFamily="34" charset="-120"/>
              </a:rPr>
              <a:t>1</a:t>
            </a:r>
            <a:endParaRPr lang="en-US" sz="2400" dirty="0"/>
          </a:p>
        </p:txBody>
      </p:sp>
      <p:sp>
        <p:nvSpPr>
          <p:cNvPr id="36" name="Text 33"/>
          <p:cNvSpPr txBox="1"/>
          <p:nvPr/>
        </p:nvSpPr>
        <p:spPr>
          <a:xfrm>
            <a:off x="8503920" y="2148840"/>
            <a:ext cx="2724912" cy="365760"/>
          </a:xfrm>
          <a:prstGeom prst="rect">
            <a:avLst/>
          </a:prstGeom>
          <a:noFill/>
        </p:spPr>
        <p:txBody>
          <a:bodyPr wrap="square" lIns="0" tIns="0" rIns="0" bIns="0" rtlCol="0" anchor="ctr"/>
          <a:lstStyle/>
          <a:p>
            <a:pPr marL="0" indent="0">
              <a:buNone/>
            </a:pPr>
            <a:r>
              <a:rPr lang="en-US" sz="1500" b="1" dirty="0">
                <a:solidFill>
                  <a:srgbClr val="1B3A64"/>
                </a:solidFill>
                <a:latin typeface="Arial" panose="020B0604020202020204" pitchFamily="34" charset="0"/>
                <a:ea typeface="Arial" panose="020B0604020202020204" pitchFamily="34" charset="-122"/>
                <a:cs typeface="Arial" panose="020B0604020202020204" pitchFamily="34" charset="-120"/>
              </a:rPr>
              <a:t>FastAPI model service</a:t>
            </a:r>
            <a:endParaRPr lang="en-US" sz="1500" dirty="0"/>
          </a:p>
        </p:txBody>
      </p:sp>
      <p:sp>
        <p:nvSpPr>
          <p:cNvPr id="37" name="Text 34"/>
          <p:cNvSpPr txBox="1"/>
          <p:nvPr/>
        </p:nvSpPr>
        <p:spPr>
          <a:xfrm>
            <a:off x="8503920" y="2560320"/>
            <a:ext cx="2724912" cy="548640"/>
          </a:xfrm>
          <a:prstGeom prst="rect">
            <a:avLst/>
          </a:prstGeom>
          <a:noFill/>
        </p:spPr>
        <p:txBody>
          <a:bodyPr wrap="square" lIns="0" tIns="0" rIns="0" bIns="0" rtlCol="0" anchor="t"/>
          <a:lstStyle/>
          <a:p>
            <a:pPr marL="0" indent="0">
              <a:buNone/>
            </a:pPr>
            <a:r>
              <a:rPr lang="en-US" sz="1250" dirty="0">
                <a:solidFill>
                  <a:srgbClr val="1F2937"/>
                </a:solidFill>
                <a:latin typeface="Arial" panose="020B0604020202020204" pitchFamily="34" charset="0"/>
                <a:ea typeface="Arial" panose="020B0604020202020204" pitchFamily="34" charset="-122"/>
                <a:cs typeface="Arial" panose="020B0604020202020204" pitchFamily="34" charset="-120"/>
              </a:rPr>
              <a:t>:8000 – champion model baked into the image</a:t>
            </a:r>
            <a:endParaRPr lang="en-US" sz="1250" dirty="0"/>
          </a:p>
        </p:txBody>
      </p:sp>
      <p:sp>
        <p:nvSpPr>
          <p:cNvPr id="38" name="service"/>
          <p:cNvSpPr/>
          <p:nvPr/>
        </p:nvSpPr>
        <p:spPr>
          <a:xfrm>
            <a:off x="7452360" y="3291840"/>
            <a:ext cx="3913632" cy="1143000"/>
          </a:xfrm>
          <a:prstGeom prst="roundRect">
            <a:avLst>
              <a:gd name="adj" fmla="val 6400"/>
            </a:avLst>
          </a:prstGeom>
          <a:solidFill>
            <a:srgbClr val="F3F4F6"/>
          </a:solidFill>
          <a:ln w="12700">
            <a:solidFill>
              <a:srgbClr val="F3F4F6"/>
            </a:solidFill>
            <a:prstDash val="solid"/>
          </a:ln>
        </p:spPr>
      </p:sp>
      <p:sp>
        <p:nvSpPr>
          <p:cNvPr id="39" name="Shape 36"/>
          <p:cNvSpPr/>
          <p:nvPr/>
        </p:nvSpPr>
        <p:spPr>
          <a:xfrm>
            <a:off x="7635240" y="3520440"/>
            <a:ext cx="685800" cy="685800"/>
          </a:xfrm>
          <a:prstGeom prst="rect">
            <a:avLst/>
          </a:prstGeom>
          <a:solidFill>
            <a:srgbClr val="1B3A64"/>
          </a:solidFill>
          <a:ln w="12700">
            <a:solidFill>
              <a:srgbClr val="1B3A64"/>
            </a:solidFill>
            <a:prstDash val="solid"/>
          </a:ln>
        </p:spPr>
      </p:sp>
      <p:sp>
        <p:nvSpPr>
          <p:cNvPr id="40" name="Text 37"/>
          <p:cNvSpPr txBox="1"/>
          <p:nvPr/>
        </p:nvSpPr>
        <p:spPr>
          <a:xfrm>
            <a:off x="7635240" y="3520440"/>
            <a:ext cx="685800" cy="685800"/>
          </a:xfrm>
          <a:prstGeom prst="rect">
            <a:avLst/>
          </a:prstGeom>
          <a:noFill/>
        </p:spPr>
        <p:txBody>
          <a:bodyPr wrap="square" lIns="0" tIns="0" rIns="0" bIns="0" rtlCol="0" anchor="ctr"/>
          <a:lstStyle/>
          <a:p>
            <a:pPr marL="0" indent="0" algn="ctr">
              <a:buNone/>
            </a:pPr>
            <a:r>
              <a:rPr lang="en-US" sz="2400" b="1" dirty="0">
                <a:solidFill>
                  <a:srgbClr val="FFFFFF"/>
                </a:solidFill>
                <a:latin typeface="Arial" panose="020B0604020202020204" pitchFamily="34" charset="0"/>
                <a:ea typeface="Arial" panose="020B0604020202020204" pitchFamily="34" charset="-122"/>
                <a:cs typeface="Arial" panose="020B0604020202020204" pitchFamily="34" charset="-120"/>
              </a:rPr>
              <a:t>2</a:t>
            </a:r>
            <a:endParaRPr lang="en-US" sz="2400" dirty="0"/>
          </a:p>
        </p:txBody>
      </p:sp>
      <p:sp>
        <p:nvSpPr>
          <p:cNvPr id="41" name="Text 38"/>
          <p:cNvSpPr txBox="1"/>
          <p:nvPr/>
        </p:nvSpPr>
        <p:spPr>
          <a:xfrm>
            <a:off x="8503920" y="3429000"/>
            <a:ext cx="2724912" cy="365760"/>
          </a:xfrm>
          <a:prstGeom prst="rect">
            <a:avLst/>
          </a:prstGeom>
          <a:noFill/>
        </p:spPr>
        <p:txBody>
          <a:bodyPr wrap="square" lIns="0" tIns="0" rIns="0" bIns="0" rtlCol="0" anchor="ctr"/>
          <a:lstStyle/>
          <a:p>
            <a:pPr marL="0" indent="0">
              <a:buNone/>
            </a:pPr>
            <a:r>
              <a:rPr lang="en-US" sz="1500" b="1" dirty="0">
                <a:solidFill>
                  <a:srgbClr val="1B3A64"/>
                </a:solidFill>
                <a:latin typeface="Arial" panose="020B0604020202020204" pitchFamily="34" charset="0"/>
                <a:ea typeface="Arial" panose="020B0604020202020204" pitchFamily="34" charset="-122"/>
                <a:cs typeface="Arial" panose="020B0604020202020204" pitchFamily="34" charset="-120"/>
              </a:rPr>
              <a:t>MLflow server</a:t>
            </a:r>
            <a:endParaRPr lang="en-US" sz="1500" dirty="0"/>
          </a:p>
        </p:txBody>
      </p:sp>
      <p:sp>
        <p:nvSpPr>
          <p:cNvPr id="42" name="Text 39"/>
          <p:cNvSpPr txBox="1"/>
          <p:nvPr/>
        </p:nvSpPr>
        <p:spPr>
          <a:xfrm>
            <a:off x="8503920" y="3840480"/>
            <a:ext cx="2724912" cy="548640"/>
          </a:xfrm>
          <a:prstGeom prst="rect">
            <a:avLst/>
          </a:prstGeom>
          <a:noFill/>
        </p:spPr>
        <p:txBody>
          <a:bodyPr wrap="square" lIns="0" tIns="0" rIns="0" bIns="0" rtlCol="0" anchor="t"/>
          <a:lstStyle/>
          <a:p>
            <a:pPr marL="0" indent="0">
              <a:buNone/>
            </a:pPr>
            <a:r>
              <a:rPr lang="en-US" sz="1250" dirty="0">
                <a:solidFill>
                  <a:srgbClr val="1F2937"/>
                </a:solidFill>
                <a:latin typeface="Arial" panose="020B0604020202020204" pitchFamily="34" charset="0"/>
                <a:ea typeface="Arial" panose="020B0604020202020204" pitchFamily="34" charset="-122"/>
                <a:cs typeface="Arial" panose="020B0604020202020204" pitchFamily="34" charset="-120"/>
              </a:rPr>
              <a:t>:5000 – experiments and registry</a:t>
            </a:r>
            <a:endParaRPr lang="en-US" sz="1250" dirty="0"/>
          </a:p>
        </p:txBody>
      </p:sp>
      <p:sp>
        <p:nvSpPr>
          <p:cNvPr id="43" name="service"/>
          <p:cNvSpPr/>
          <p:nvPr/>
        </p:nvSpPr>
        <p:spPr>
          <a:xfrm>
            <a:off x="7452360" y="4572000"/>
            <a:ext cx="3913632" cy="1143000"/>
          </a:xfrm>
          <a:prstGeom prst="roundRect">
            <a:avLst>
              <a:gd name="adj" fmla="val 6400"/>
            </a:avLst>
          </a:prstGeom>
          <a:solidFill>
            <a:srgbClr val="F3F4F6"/>
          </a:solidFill>
          <a:ln w="12700">
            <a:solidFill>
              <a:srgbClr val="F3F4F6"/>
            </a:solidFill>
            <a:prstDash val="solid"/>
          </a:ln>
        </p:spPr>
      </p:sp>
      <p:sp>
        <p:nvSpPr>
          <p:cNvPr id="44" name="Shape 41"/>
          <p:cNvSpPr/>
          <p:nvPr/>
        </p:nvSpPr>
        <p:spPr>
          <a:xfrm>
            <a:off x="7635240" y="4800600"/>
            <a:ext cx="685800" cy="685800"/>
          </a:xfrm>
          <a:prstGeom prst="rect">
            <a:avLst/>
          </a:prstGeom>
          <a:solidFill>
            <a:srgbClr val="CC3224"/>
          </a:solidFill>
          <a:ln w="12700">
            <a:solidFill>
              <a:srgbClr val="CC3224"/>
            </a:solidFill>
            <a:prstDash val="solid"/>
          </a:ln>
        </p:spPr>
      </p:sp>
      <p:sp>
        <p:nvSpPr>
          <p:cNvPr id="45" name="Text 42"/>
          <p:cNvSpPr txBox="1"/>
          <p:nvPr/>
        </p:nvSpPr>
        <p:spPr>
          <a:xfrm>
            <a:off x="7635240" y="4800600"/>
            <a:ext cx="685800" cy="685800"/>
          </a:xfrm>
          <a:prstGeom prst="rect">
            <a:avLst/>
          </a:prstGeom>
          <a:noFill/>
        </p:spPr>
        <p:txBody>
          <a:bodyPr wrap="square" lIns="0" tIns="0" rIns="0" bIns="0" rtlCol="0" anchor="ctr"/>
          <a:lstStyle/>
          <a:p>
            <a:pPr marL="0" indent="0" algn="ctr">
              <a:buNone/>
            </a:pPr>
            <a:r>
              <a:rPr lang="en-US" sz="2400" b="1" dirty="0">
                <a:solidFill>
                  <a:srgbClr val="FFFFFF"/>
                </a:solidFill>
                <a:latin typeface="Arial" panose="020B0604020202020204" pitchFamily="34" charset="0"/>
                <a:ea typeface="Arial" panose="020B0604020202020204" pitchFamily="34" charset="-122"/>
                <a:cs typeface="Arial" panose="020B0604020202020204" pitchFamily="34" charset="-120"/>
              </a:rPr>
              <a:t>3</a:t>
            </a:r>
            <a:endParaRPr lang="en-US" sz="2400" dirty="0"/>
          </a:p>
        </p:txBody>
      </p:sp>
      <p:sp>
        <p:nvSpPr>
          <p:cNvPr id="46" name="Text 43"/>
          <p:cNvSpPr txBox="1"/>
          <p:nvPr/>
        </p:nvSpPr>
        <p:spPr>
          <a:xfrm>
            <a:off x="8503920" y="4709160"/>
            <a:ext cx="2724912" cy="365760"/>
          </a:xfrm>
          <a:prstGeom prst="rect">
            <a:avLst/>
          </a:prstGeom>
          <a:noFill/>
        </p:spPr>
        <p:txBody>
          <a:bodyPr wrap="square" lIns="0" tIns="0" rIns="0" bIns="0" rtlCol="0" anchor="ctr"/>
          <a:lstStyle/>
          <a:p>
            <a:pPr marL="0" indent="0">
              <a:buNone/>
            </a:pPr>
            <a:r>
              <a:rPr lang="en-US" sz="1500" b="1" dirty="0">
                <a:solidFill>
                  <a:srgbClr val="1B3A64"/>
                </a:solidFill>
                <a:latin typeface="Arial" panose="020B0604020202020204" pitchFamily="34" charset="0"/>
                <a:ea typeface="Arial" panose="020B0604020202020204" pitchFamily="34" charset="-122"/>
                <a:cs typeface="Arial" panose="020B0604020202020204" pitchFamily="34" charset="-120"/>
              </a:rPr>
              <a:t>Streamlit UI</a:t>
            </a:r>
            <a:endParaRPr lang="en-US" sz="1500" dirty="0"/>
          </a:p>
        </p:txBody>
      </p:sp>
      <p:sp>
        <p:nvSpPr>
          <p:cNvPr id="47" name="Text 44"/>
          <p:cNvSpPr txBox="1"/>
          <p:nvPr/>
        </p:nvSpPr>
        <p:spPr>
          <a:xfrm>
            <a:off x="8503920" y="5120640"/>
            <a:ext cx="2724912" cy="548640"/>
          </a:xfrm>
          <a:prstGeom prst="rect">
            <a:avLst/>
          </a:prstGeom>
          <a:noFill/>
        </p:spPr>
        <p:txBody>
          <a:bodyPr wrap="square" lIns="0" tIns="0" rIns="0" bIns="0" rtlCol="0" anchor="t"/>
          <a:lstStyle/>
          <a:p>
            <a:pPr marL="0" indent="0">
              <a:buNone/>
            </a:pPr>
            <a:r>
              <a:rPr lang="en-US" sz="1250" dirty="0">
                <a:solidFill>
                  <a:srgbClr val="1F2937"/>
                </a:solidFill>
                <a:latin typeface="Arial" panose="020B0604020202020204" pitchFamily="34" charset="0"/>
                <a:ea typeface="Arial" panose="020B0604020202020204" pitchFamily="34" charset="-122"/>
                <a:cs typeface="Arial" panose="020B0604020202020204" pitchFamily="34" charset="-120"/>
              </a:rPr>
              <a:t>:8502 – prediction form, model card, monitoring</a:t>
            </a:r>
            <a:endParaRPr lang="en-US" sz="1250" dirty="0"/>
          </a:p>
        </p:txBody>
      </p:sp>
      <p:sp>
        <p:nvSpPr>
          <p:cNvPr id="4" name="Slide Number Placeholder 0"/>
          <p:cNvSpPr>
            <a:spLocks noGrp="1"/>
          </p:cNvSpPr>
          <p:nvPr>
            <p:ph type="sldNum" sz="quarter" idx="4294967295"/>
          </p:nvPr>
        </p:nvSpPr>
        <p:spPr>
          <a:xfrm>
            <a:off x="11320272" y="6492240"/>
            <a:ext cx="320040" cy="256032"/>
          </a:xfrm>
          <a:prstGeom prst="rect">
            <a:avLst/>
          </a:prstGeom>
        </p:spPr>
        <p:txBody>
          <a:bodyPr/>
          <a:lstStyle>
            <a:lvl1pPr>
              <a:defRPr sz="1000">
                <a:solidFill>
                  <a:srgbClr val="6B7280"/>
                </a:solidFill>
                <a:latin typeface="Arial" panose="020B0604020202020204"/>
                <a:ea typeface="Arial" panose="020B0604020202020204"/>
                <a:cs typeface="Arial" panose="020B0604020202020204"/>
              </a:defRPr>
            </a:lvl1pPr>
          </a:lstStyle>
          <a:p>
            <a:pPr algn="r"/>
            <a:fld id="{F7021451-1387-4CA6-816F-3879F97B5CBC}" type="slidenum">
              <a:rPr lang="en-US" b="0"/>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7"/>
          <p:cNvSpPr/>
          <p:nvPr>
            <p:ph type="title" idx="107" hasCustomPrompt="1"/>
          </p:nvPr>
        </p:nvSpPr>
        <p:spPr>
          <a:xfrm>
            <a:off x="594360" y="566928"/>
            <a:ext cx="10515600" cy="594360"/>
          </a:xfrm>
          <a:prstGeom prst="rect">
            <a:avLst/>
          </a:prstGeom>
          <a:noFill/>
        </p:spPr>
        <p:txBody>
          <a:bodyPr wrap="square" lIns="0" tIns="0" rIns="0" bIns="0" rtlCol="0" anchor="ctr"/>
          <a:lstStyle/>
          <a:p>
            <a:pPr marL="0" indent="0" algn="l">
              <a:buNone/>
            </a:pPr>
            <a:r>
              <a:rPr lang="en-US" sz="3000" b="1" dirty="0">
                <a:solidFill>
                  <a:srgbClr val="1B3A64"/>
                </a:solidFill>
                <a:latin typeface="Arial" panose="020B0604020202020204" pitchFamily="34" charset="0"/>
                <a:ea typeface="Arial" panose="020B0604020202020204" pitchFamily="34" charset="-122"/>
                <a:cs typeface="Arial" panose="020B0604020202020204" pitchFamily="34" charset="-120"/>
              </a:rPr>
              <a:t>10. Monitoring &amp; Drift Detection</a:t>
            </a:r>
            <a:endParaRPr lang="en-US" sz="3000" dirty="0"/>
          </a:p>
        </p:txBody>
      </p:sp>
      <p:sp>
        <p:nvSpPr>
          <p:cNvPr id="3" name="content panel"/>
          <p:cNvSpPr/>
          <p:nvPr/>
        </p:nvSpPr>
        <p:spPr>
          <a:xfrm>
            <a:off x="548640" y="1417320"/>
            <a:ext cx="11091672" cy="4846320"/>
          </a:xfrm>
          <a:prstGeom prst="roundRect">
            <a:avLst>
              <a:gd name="adj" fmla="val 1132"/>
            </a:avLst>
          </a:prstGeom>
          <a:solidFill>
            <a:srgbClr val="FFFFFF"/>
          </a:solidFill>
          <a:ln w="15875">
            <a:solidFill>
              <a:srgbClr val="D1D5DB"/>
            </a:solidFill>
            <a:prstDash val="solid"/>
          </a:ln>
        </p:spPr>
      </p:sp>
      <p:sp>
        <p:nvSpPr>
          <p:cNvPr id="5" name="signal"/>
          <p:cNvSpPr/>
          <p:nvPr/>
        </p:nvSpPr>
        <p:spPr>
          <a:xfrm>
            <a:off x="822960" y="1645920"/>
            <a:ext cx="3337560" cy="1371600"/>
          </a:xfrm>
          <a:prstGeom prst="roundRect">
            <a:avLst>
              <a:gd name="adj" fmla="val 5333"/>
            </a:avLst>
          </a:prstGeom>
          <a:solidFill>
            <a:srgbClr val="F3F4F6"/>
          </a:solidFill>
          <a:ln w="12700">
            <a:solidFill>
              <a:srgbClr val="F3F4F6"/>
            </a:solidFill>
            <a:prstDash val="solid"/>
          </a:ln>
        </p:spPr>
      </p:sp>
      <p:sp>
        <p:nvSpPr>
          <p:cNvPr id="6" name="Shape 3"/>
          <p:cNvSpPr/>
          <p:nvPr/>
        </p:nvSpPr>
        <p:spPr>
          <a:xfrm>
            <a:off x="1005840" y="1810512"/>
            <a:ext cx="384048" cy="384048"/>
          </a:xfrm>
          <a:prstGeom prst="ellipse">
            <a:avLst/>
          </a:prstGeom>
          <a:solidFill>
            <a:srgbClr val="1B3A64"/>
          </a:solidFill>
          <a:ln w="12700">
            <a:solidFill>
              <a:srgbClr val="1B3A64"/>
            </a:solidFill>
            <a:prstDash val="solid"/>
          </a:ln>
        </p:spPr>
      </p:sp>
      <p:sp>
        <p:nvSpPr>
          <p:cNvPr id="7" name="Text 4"/>
          <p:cNvSpPr txBox="1"/>
          <p:nvPr/>
        </p:nvSpPr>
        <p:spPr>
          <a:xfrm>
            <a:off x="1005840" y="1810512"/>
            <a:ext cx="384048" cy="384048"/>
          </a:xfrm>
          <a:prstGeom prst="rect">
            <a:avLst/>
          </a:prstGeom>
          <a:noFill/>
        </p:spPr>
        <p:txBody>
          <a:bodyPr wrap="square" lIns="0" tIns="0" rIns="0" bIns="0" rtlCol="0" anchor="ctr"/>
          <a:lstStyle/>
          <a:p>
            <a:pPr marL="0" indent="0" algn="ctr">
              <a:buNone/>
            </a:pPr>
            <a:r>
              <a:rPr lang="en-US" sz="1400" b="1" dirty="0">
                <a:solidFill>
                  <a:srgbClr val="FFFFFF"/>
                </a:solidFill>
                <a:latin typeface="Arial" panose="020B0604020202020204" pitchFamily="34" charset="0"/>
                <a:ea typeface="Arial" panose="020B0604020202020204" pitchFamily="34" charset="-122"/>
                <a:cs typeface="Arial" panose="020B0604020202020204" pitchFamily="34" charset="-120"/>
              </a:rPr>
              <a:t>1</a:t>
            </a:r>
            <a:endParaRPr lang="en-US" sz="1400" dirty="0"/>
          </a:p>
        </p:txBody>
      </p:sp>
      <p:sp>
        <p:nvSpPr>
          <p:cNvPr id="8" name="Text 5"/>
          <p:cNvSpPr txBox="1"/>
          <p:nvPr/>
        </p:nvSpPr>
        <p:spPr>
          <a:xfrm>
            <a:off x="1508760" y="1810512"/>
            <a:ext cx="2514600" cy="384048"/>
          </a:xfrm>
          <a:prstGeom prst="rect">
            <a:avLst/>
          </a:prstGeom>
          <a:noFill/>
        </p:spPr>
        <p:txBody>
          <a:bodyPr wrap="square" lIns="0" tIns="0" rIns="0" bIns="0" rtlCol="0" anchor="ctr"/>
          <a:lstStyle/>
          <a:p>
            <a:pPr marL="0" indent="0">
              <a:buNone/>
            </a:pPr>
            <a:r>
              <a:rPr lang="en-US" sz="1500" b="1" dirty="0">
                <a:solidFill>
                  <a:srgbClr val="1B3A64"/>
                </a:solidFill>
                <a:latin typeface="Arial" panose="020B0604020202020204" pitchFamily="34" charset="0"/>
                <a:ea typeface="Arial" panose="020B0604020202020204" pitchFamily="34" charset="-122"/>
                <a:cs typeface="Arial" panose="020B0604020202020204" pitchFamily="34" charset="-120"/>
              </a:rPr>
              <a:t>Input data quality</a:t>
            </a:r>
            <a:endParaRPr lang="en-US" sz="1500" dirty="0"/>
          </a:p>
        </p:txBody>
      </p:sp>
      <p:sp>
        <p:nvSpPr>
          <p:cNvPr id="9" name="Text 6"/>
          <p:cNvSpPr txBox="1"/>
          <p:nvPr/>
        </p:nvSpPr>
        <p:spPr>
          <a:xfrm>
            <a:off x="1005840" y="2359152"/>
            <a:ext cx="2971800" cy="640080"/>
          </a:xfrm>
          <a:prstGeom prst="rect">
            <a:avLst/>
          </a:prstGeom>
          <a:noFill/>
        </p:spPr>
        <p:txBody>
          <a:bodyPr wrap="square" lIns="0" tIns="0" rIns="0" bIns="0" rtlCol="0" anchor="t"/>
          <a:lstStyle/>
          <a:p>
            <a:pPr marL="0" indent="0">
              <a:buNone/>
            </a:pPr>
            <a:r>
              <a:rPr lang="en-US" sz="1250" dirty="0">
                <a:solidFill>
                  <a:srgbClr val="1F2937"/>
                </a:solidFill>
                <a:latin typeface="Arial" panose="020B0604020202020204" pitchFamily="34" charset="0"/>
                <a:ea typeface="Arial" panose="020B0604020202020204" pitchFamily="34" charset="-122"/>
                <a:cs typeface="Arial" panose="020B0604020202020204" pitchFamily="34" charset="-120"/>
              </a:rPr>
              <a:t>Missing-rate increase, out-of-range values, unseen categories</a:t>
            </a:r>
            <a:endParaRPr lang="en-US" sz="1250" dirty="0"/>
          </a:p>
        </p:txBody>
      </p:sp>
      <p:sp>
        <p:nvSpPr>
          <p:cNvPr id="10" name="signal"/>
          <p:cNvSpPr/>
          <p:nvPr/>
        </p:nvSpPr>
        <p:spPr>
          <a:xfrm>
            <a:off x="4425696" y="1645920"/>
            <a:ext cx="3337560" cy="1371600"/>
          </a:xfrm>
          <a:prstGeom prst="roundRect">
            <a:avLst>
              <a:gd name="adj" fmla="val 5333"/>
            </a:avLst>
          </a:prstGeom>
          <a:solidFill>
            <a:srgbClr val="F3F4F6"/>
          </a:solidFill>
          <a:ln w="12700">
            <a:solidFill>
              <a:srgbClr val="F3F4F6"/>
            </a:solidFill>
            <a:prstDash val="solid"/>
          </a:ln>
        </p:spPr>
      </p:sp>
      <p:sp>
        <p:nvSpPr>
          <p:cNvPr id="11" name="Shape 8"/>
          <p:cNvSpPr/>
          <p:nvPr/>
        </p:nvSpPr>
        <p:spPr>
          <a:xfrm>
            <a:off x="4608576" y="1810512"/>
            <a:ext cx="384048" cy="384048"/>
          </a:xfrm>
          <a:prstGeom prst="ellipse">
            <a:avLst/>
          </a:prstGeom>
          <a:solidFill>
            <a:srgbClr val="CC3224"/>
          </a:solidFill>
          <a:ln w="12700">
            <a:solidFill>
              <a:srgbClr val="CC3224"/>
            </a:solidFill>
            <a:prstDash val="solid"/>
          </a:ln>
        </p:spPr>
      </p:sp>
      <p:sp>
        <p:nvSpPr>
          <p:cNvPr id="12" name="Text 9"/>
          <p:cNvSpPr txBox="1"/>
          <p:nvPr/>
        </p:nvSpPr>
        <p:spPr>
          <a:xfrm>
            <a:off x="4608576" y="1810512"/>
            <a:ext cx="384048" cy="384048"/>
          </a:xfrm>
          <a:prstGeom prst="rect">
            <a:avLst/>
          </a:prstGeom>
          <a:noFill/>
        </p:spPr>
        <p:txBody>
          <a:bodyPr wrap="square" lIns="0" tIns="0" rIns="0" bIns="0" rtlCol="0" anchor="ctr"/>
          <a:lstStyle/>
          <a:p>
            <a:pPr marL="0" indent="0" algn="ctr">
              <a:buNone/>
            </a:pPr>
            <a:r>
              <a:rPr lang="en-US" sz="1400" b="1" dirty="0">
                <a:solidFill>
                  <a:srgbClr val="FFFFFF"/>
                </a:solidFill>
                <a:latin typeface="Arial" panose="020B0604020202020204" pitchFamily="34" charset="0"/>
                <a:ea typeface="Arial" panose="020B0604020202020204" pitchFamily="34" charset="-122"/>
                <a:cs typeface="Arial" panose="020B0604020202020204" pitchFamily="34" charset="-120"/>
              </a:rPr>
              <a:t>2</a:t>
            </a:r>
            <a:endParaRPr lang="en-US" sz="1400" dirty="0"/>
          </a:p>
        </p:txBody>
      </p:sp>
      <p:sp>
        <p:nvSpPr>
          <p:cNvPr id="13" name="Text 10"/>
          <p:cNvSpPr txBox="1"/>
          <p:nvPr/>
        </p:nvSpPr>
        <p:spPr>
          <a:xfrm>
            <a:off x="5111496" y="1810512"/>
            <a:ext cx="2514600" cy="384048"/>
          </a:xfrm>
          <a:prstGeom prst="rect">
            <a:avLst/>
          </a:prstGeom>
          <a:noFill/>
        </p:spPr>
        <p:txBody>
          <a:bodyPr wrap="square" lIns="0" tIns="0" rIns="0" bIns="0" rtlCol="0" anchor="ctr"/>
          <a:lstStyle/>
          <a:p>
            <a:pPr marL="0" indent="0">
              <a:buNone/>
            </a:pPr>
            <a:r>
              <a:rPr lang="en-US" sz="1500" b="1" dirty="0">
                <a:solidFill>
                  <a:srgbClr val="1B3A64"/>
                </a:solidFill>
                <a:latin typeface="Arial" panose="020B0604020202020204" pitchFamily="34" charset="0"/>
                <a:ea typeface="Arial" panose="020B0604020202020204" pitchFamily="34" charset="-122"/>
                <a:cs typeface="Arial" panose="020B0604020202020204" pitchFamily="34" charset="-120"/>
              </a:rPr>
              <a:t>Feature drift (PSI)</a:t>
            </a:r>
            <a:endParaRPr lang="en-US" sz="1500" dirty="0"/>
          </a:p>
        </p:txBody>
      </p:sp>
      <p:sp>
        <p:nvSpPr>
          <p:cNvPr id="14" name="Text 11"/>
          <p:cNvSpPr txBox="1"/>
          <p:nvPr/>
        </p:nvSpPr>
        <p:spPr>
          <a:xfrm>
            <a:off x="4608576" y="2359152"/>
            <a:ext cx="2971800" cy="640080"/>
          </a:xfrm>
          <a:prstGeom prst="rect">
            <a:avLst/>
          </a:prstGeom>
          <a:noFill/>
        </p:spPr>
        <p:txBody>
          <a:bodyPr wrap="square" lIns="0" tIns="0" rIns="0" bIns="0" rtlCol="0" anchor="t"/>
          <a:lstStyle/>
          <a:p>
            <a:pPr marL="0" indent="0">
              <a:buNone/>
            </a:pPr>
            <a:r>
              <a:rPr lang="en-US" sz="1250" dirty="0">
                <a:solidFill>
                  <a:srgbClr val="1F2937"/>
                </a:solidFill>
                <a:latin typeface="Arial" panose="020B0604020202020204" pitchFamily="34" charset="0"/>
                <a:ea typeface="Arial" panose="020B0604020202020204" pitchFamily="34" charset="-122"/>
                <a:cs typeface="Arial" panose="020B0604020202020204" pitchFamily="34" charset="-120"/>
              </a:rPr>
              <a:t>Each feature’s distribution vs the training reference profile</a:t>
            </a:r>
            <a:endParaRPr lang="en-US" sz="1250" dirty="0"/>
          </a:p>
        </p:txBody>
      </p:sp>
      <p:sp>
        <p:nvSpPr>
          <p:cNvPr id="15" name="signal"/>
          <p:cNvSpPr/>
          <p:nvPr/>
        </p:nvSpPr>
        <p:spPr>
          <a:xfrm>
            <a:off x="8028432" y="1645920"/>
            <a:ext cx="3337560" cy="1371600"/>
          </a:xfrm>
          <a:prstGeom prst="roundRect">
            <a:avLst>
              <a:gd name="adj" fmla="val 5333"/>
            </a:avLst>
          </a:prstGeom>
          <a:solidFill>
            <a:srgbClr val="F3F4F6"/>
          </a:solidFill>
          <a:ln w="12700">
            <a:solidFill>
              <a:srgbClr val="F3F4F6"/>
            </a:solidFill>
            <a:prstDash val="solid"/>
          </a:ln>
        </p:spPr>
      </p:sp>
      <p:sp>
        <p:nvSpPr>
          <p:cNvPr id="16" name="Shape 13"/>
          <p:cNvSpPr/>
          <p:nvPr/>
        </p:nvSpPr>
        <p:spPr>
          <a:xfrm>
            <a:off x="8211312" y="1810512"/>
            <a:ext cx="384048" cy="384048"/>
          </a:xfrm>
          <a:prstGeom prst="ellipse">
            <a:avLst/>
          </a:prstGeom>
          <a:solidFill>
            <a:srgbClr val="1B3A64"/>
          </a:solidFill>
          <a:ln w="12700">
            <a:solidFill>
              <a:srgbClr val="1B3A64"/>
            </a:solidFill>
            <a:prstDash val="solid"/>
          </a:ln>
        </p:spPr>
      </p:sp>
      <p:sp>
        <p:nvSpPr>
          <p:cNvPr id="17" name="Text 14"/>
          <p:cNvSpPr txBox="1"/>
          <p:nvPr/>
        </p:nvSpPr>
        <p:spPr>
          <a:xfrm>
            <a:off x="8211312" y="1810512"/>
            <a:ext cx="384048" cy="384048"/>
          </a:xfrm>
          <a:prstGeom prst="rect">
            <a:avLst/>
          </a:prstGeom>
          <a:noFill/>
        </p:spPr>
        <p:txBody>
          <a:bodyPr wrap="square" lIns="0" tIns="0" rIns="0" bIns="0" rtlCol="0" anchor="ctr"/>
          <a:lstStyle/>
          <a:p>
            <a:pPr marL="0" indent="0" algn="ctr">
              <a:buNone/>
            </a:pPr>
            <a:r>
              <a:rPr lang="en-US" sz="1400" b="1" dirty="0">
                <a:solidFill>
                  <a:srgbClr val="FFFFFF"/>
                </a:solidFill>
                <a:latin typeface="Arial" panose="020B0604020202020204" pitchFamily="34" charset="0"/>
                <a:ea typeface="Arial" panose="020B0604020202020204" pitchFamily="34" charset="-122"/>
                <a:cs typeface="Arial" panose="020B0604020202020204" pitchFamily="34" charset="-120"/>
              </a:rPr>
              <a:t>3</a:t>
            </a:r>
            <a:endParaRPr lang="en-US" sz="1400" dirty="0"/>
          </a:p>
        </p:txBody>
      </p:sp>
      <p:sp>
        <p:nvSpPr>
          <p:cNvPr id="18" name="Text 15"/>
          <p:cNvSpPr txBox="1"/>
          <p:nvPr/>
        </p:nvSpPr>
        <p:spPr>
          <a:xfrm>
            <a:off x="8714232" y="1810512"/>
            <a:ext cx="2514600" cy="384048"/>
          </a:xfrm>
          <a:prstGeom prst="rect">
            <a:avLst/>
          </a:prstGeom>
          <a:noFill/>
        </p:spPr>
        <p:txBody>
          <a:bodyPr wrap="square" lIns="0" tIns="0" rIns="0" bIns="0" rtlCol="0" anchor="ctr"/>
          <a:lstStyle/>
          <a:p>
            <a:pPr marL="0" indent="0">
              <a:buNone/>
            </a:pPr>
            <a:r>
              <a:rPr lang="en-US" sz="1500" b="1" dirty="0">
                <a:solidFill>
                  <a:srgbClr val="1B3A64"/>
                </a:solidFill>
                <a:latin typeface="Arial" panose="020B0604020202020204" pitchFamily="34" charset="0"/>
                <a:ea typeface="Arial" panose="020B0604020202020204" pitchFamily="34" charset="-122"/>
                <a:cs typeface="Arial" panose="020B0604020202020204" pitchFamily="34" charset="-120"/>
              </a:rPr>
              <a:t>Class drift</a:t>
            </a:r>
            <a:endParaRPr lang="en-US" sz="1500" dirty="0"/>
          </a:p>
        </p:txBody>
      </p:sp>
      <p:sp>
        <p:nvSpPr>
          <p:cNvPr id="19" name="Text 16"/>
          <p:cNvSpPr txBox="1"/>
          <p:nvPr/>
        </p:nvSpPr>
        <p:spPr>
          <a:xfrm>
            <a:off x="8211312" y="2359152"/>
            <a:ext cx="2971800" cy="640080"/>
          </a:xfrm>
          <a:prstGeom prst="rect">
            <a:avLst/>
          </a:prstGeom>
          <a:noFill/>
        </p:spPr>
        <p:txBody>
          <a:bodyPr wrap="square" lIns="0" tIns="0" rIns="0" bIns="0" rtlCol="0" anchor="t"/>
          <a:lstStyle/>
          <a:p>
            <a:pPr marL="0" indent="0">
              <a:buNone/>
            </a:pPr>
            <a:r>
              <a:rPr lang="en-US" sz="1250" dirty="0">
                <a:solidFill>
                  <a:srgbClr val="1F2937"/>
                </a:solidFill>
                <a:latin typeface="Arial" panose="020B0604020202020204" pitchFamily="34" charset="0"/>
                <a:ea typeface="Arial" panose="020B0604020202020204" pitchFamily="34" charset="-122"/>
                <a:cs typeface="Arial" panose="020B0604020202020204" pitchFamily="34" charset="-120"/>
              </a:rPr>
              <a:t>Mix of predicted classes and, when labelled, actual classes</a:t>
            </a:r>
            <a:endParaRPr lang="en-US" sz="1250" dirty="0"/>
          </a:p>
        </p:txBody>
      </p:sp>
      <p:sp>
        <p:nvSpPr>
          <p:cNvPr id="20" name="signal"/>
          <p:cNvSpPr/>
          <p:nvPr/>
        </p:nvSpPr>
        <p:spPr>
          <a:xfrm>
            <a:off x="822960" y="3200400"/>
            <a:ext cx="3337560" cy="1371600"/>
          </a:xfrm>
          <a:prstGeom prst="roundRect">
            <a:avLst>
              <a:gd name="adj" fmla="val 5333"/>
            </a:avLst>
          </a:prstGeom>
          <a:solidFill>
            <a:srgbClr val="F3F4F6"/>
          </a:solidFill>
          <a:ln w="12700">
            <a:solidFill>
              <a:srgbClr val="F3F4F6"/>
            </a:solidFill>
            <a:prstDash val="solid"/>
          </a:ln>
        </p:spPr>
      </p:sp>
      <p:sp>
        <p:nvSpPr>
          <p:cNvPr id="21" name="Shape 18"/>
          <p:cNvSpPr/>
          <p:nvPr/>
        </p:nvSpPr>
        <p:spPr>
          <a:xfrm>
            <a:off x="1005840" y="3364992"/>
            <a:ext cx="384048" cy="384048"/>
          </a:xfrm>
          <a:prstGeom prst="ellipse">
            <a:avLst/>
          </a:prstGeom>
          <a:solidFill>
            <a:srgbClr val="1B3A64"/>
          </a:solidFill>
          <a:ln w="12700">
            <a:solidFill>
              <a:srgbClr val="1B3A64"/>
            </a:solidFill>
            <a:prstDash val="solid"/>
          </a:ln>
        </p:spPr>
      </p:sp>
      <p:sp>
        <p:nvSpPr>
          <p:cNvPr id="22" name="Text 19"/>
          <p:cNvSpPr txBox="1"/>
          <p:nvPr/>
        </p:nvSpPr>
        <p:spPr>
          <a:xfrm>
            <a:off x="1005840" y="3364992"/>
            <a:ext cx="384048" cy="384048"/>
          </a:xfrm>
          <a:prstGeom prst="rect">
            <a:avLst/>
          </a:prstGeom>
          <a:noFill/>
        </p:spPr>
        <p:txBody>
          <a:bodyPr wrap="square" lIns="0" tIns="0" rIns="0" bIns="0" rtlCol="0" anchor="ctr"/>
          <a:lstStyle/>
          <a:p>
            <a:pPr marL="0" indent="0" algn="ctr">
              <a:buNone/>
            </a:pPr>
            <a:r>
              <a:rPr lang="en-US" sz="1400" b="1" dirty="0">
                <a:solidFill>
                  <a:srgbClr val="FFFFFF"/>
                </a:solidFill>
                <a:latin typeface="Arial" panose="020B0604020202020204" pitchFamily="34" charset="0"/>
                <a:ea typeface="Arial" panose="020B0604020202020204" pitchFamily="34" charset="-122"/>
                <a:cs typeface="Arial" panose="020B0604020202020204" pitchFamily="34" charset="-120"/>
              </a:rPr>
              <a:t>4</a:t>
            </a:r>
            <a:endParaRPr lang="en-US" sz="1400" dirty="0"/>
          </a:p>
        </p:txBody>
      </p:sp>
      <p:sp>
        <p:nvSpPr>
          <p:cNvPr id="23" name="Text 20"/>
          <p:cNvSpPr txBox="1"/>
          <p:nvPr/>
        </p:nvSpPr>
        <p:spPr>
          <a:xfrm>
            <a:off x="1508760" y="3364992"/>
            <a:ext cx="2514600" cy="384048"/>
          </a:xfrm>
          <a:prstGeom prst="rect">
            <a:avLst/>
          </a:prstGeom>
          <a:noFill/>
        </p:spPr>
        <p:txBody>
          <a:bodyPr wrap="square" lIns="0" tIns="0" rIns="0" bIns="0" rtlCol="0" anchor="ctr"/>
          <a:lstStyle/>
          <a:p>
            <a:pPr marL="0" indent="0">
              <a:buNone/>
            </a:pPr>
            <a:r>
              <a:rPr lang="en-US" sz="1500" b="1" dirty="0">
                <a:solidFill>
                  <a:srgbClr val="1B3A64"/>
                </a:solidFill>
                <a:latin typeface="Arial" panose="020B0604020202020204" pitchFamily="34" charset="0"/>
                <a:ea typeface="Arial" panose="020B0604020202020204" pitchFamily="34" charset="-122"/>
                <a:cs typeface="Arial" panose="020B0604020202020204" pitchFamily="34" charset="-120"/>
              </a:rPr>
              <a:t>Location drift</a:t>
            </a:r>
            <a:endParaRPr lang="en-US" sz="1500" dirty="0"/>
          </a:p>
        </p:txBody>
      </p:sp>
      <p:sp>
        <p:nvSpPr>
          <p:cNvPr id="24" name="Text 21"/>
          <p:cNvSpPr txBox="1"/>
          <p:nvPr/>
        </p:nvSpPr>
        <p:spPr>
          <a:xfrm>
            <a:off x="1005840" y="3913632"/>
            <a:ext cx="2971800" cy="640080"/>
          </a:xfrm>
          <a:prstGeom prst="rect">
            <a:avLst/>
          </a:prstGeom>
          <a:noFill/>
        </p:spPr>
        <p:txBody>
          <a:bodyPr wrap="square" lIns="0" tIns="0" rIns="0" bIns="0" rtlCol="0" anchor="t"/>
          <a:lstStyle/>
          <a:p>
            <a:pPr marL="0" indent="0">
              <a:buNone/>
            </a:pPr>
            <a:r>
              <a:rPr lang="en-US" sz="1250" dirty="0">
                <a:solidFill>
                  <a:srgbClr val="1F2937"/>
                </a:solidFill>
                <a:latin typeface="Arial" panose="020B0604020202020204" pitchFamily="34" charset="0"/>
                <a:ea typeface="Arial" panose="020B0604020202020204" pitchFamily="34" charset="-122"/>
                <a:cs typeface="Arial" panose="020B0604020202020204" pitchFamily="34" charset="-120"/>
              </a:rPr>
              <a:t>Police-force and nation PSI, plus centroid shift in km</a:t>
            </a:r>
            <a:endParaRPr lang="en-US" sz="1250" dirty="0"/>
          </a:p>
        </p:txBody>
      </p:sp>
      <p:sp>
        <p:nvSpPr>
          <p:cNvPr id="25" name="signal"/>
          <p:cNvSpPr/>
          <p:nvPr/>
        </p:nvSpPr>
        <p:spPr>
          <a:xfrm>
            <a:off x="4425696" y="3200400"/>
            <a:ext cx="3337560" cy="1371600"/>
          </a:xfrm>
          <a:prstGeom prst="roundRect">
            <a:avLst>
              <a:gd name="adj" fmla="val 5333"/>
            </a:avLst>
          </a:prstGeom>
          <a:solidFill>
            <a:srgbClr val="F3F4F6"/>
          </a:solidFill>
          <a:ln w="12700">
            <a:solidFill>
              <a:srgbClr val="F3F4F6"/>
            </a:solidFill>
            <a:prstDash val="solid"/>
          </a:ln>
        </p:spPr>
      </p:sp>
      <p:sp>
        <p:nvSpPr>
          <p:cNvPr id="26" name="Shape 23"/>
          <p:cNvSpPr/>
          <p:nvPr/>
        </p:nvSpPr>
        <p:spPr>
          <a:xfrm>
            <a:off x="4608576" y="3364992"/>
            <a:ext cx="384048" cy="384048"/>
          </a:xfrm>
          <a:prstGeom prst="ellipse">
            <a:avLst/>
          </a:prstGeom>
          <a:solidFill>
            <a:srgbClr val="1B3A64"/>
          </a:solidFill>
          <a:ln w="12700">
            <a:solidFill>
              <a:srgbClr val="1B3A64"/>
            </a:solidFill>
            <a:prstDash val="solid"/>
          </a:ln>
        </p:spPr>
      </p:sp>
      <p:sp>
        <p:nvSpPr>
          <p:cNvPr id="27" name="Text 24"/>
          <p:cNvSpPr txBox="1"/>
          <p:nvPr/>
        </p:nvSpPr>
        <p:spPr>
          <a:xfrm>
            <a:off x="4608576" y="3364992"/>
            <a:ext cx="384048" cy="384048"/>
          </a:xfrm>
          <a:prstGeom prst="rect">
            <a:avLst/>
          </a:prstGeom>
          <a:noFill/>
        </p:spPr>
        <p:txBody>
          <a:bodyPr wrap="square" lIns="0" tIns="0" rIns="0" bIns="0" rtlCol="0" anchor="ctr"/>
          <a:lstStyle/>
          <a:p>
            <a:pPr marL="0" indent="0" algn="ctr">
              <a:buNone/>
            </a:pPr>
            <a:r>
              <a:rPr lang="en-US" sz="1400" b="1" dirty="0">
                <a:solidFill>
                  <a:srgbClr val="FFFFFF"/>
                </a:solidFill>
                <a:latin typeface="Arial" panose="020B0604020202020204" pitchFamily="34" charset="0"/>
                <a:ea typeface="Arial" panose="020B0604020202020204" pitchFamily="34" charset="-122"/>
                <a:cs typeface="Arial" panose="020B0604020202020204" pitchFamily="34" charset="-120"/>
              </a:rPr>
              <a:t>5</a:t>
            </a:r>
            <a:endParaRPr lang="en-US" sz="1400" dirty="0"/>
          </a:p>
        </p:txBody>
      </p:sp>
      <p:sp>
        <p:nvSpPr>
          <p:cNvPr id="28" name="Text 25"/>
          <p:cNvSpPr txBox="1"/>
          <p:nvPr/>
        </p:nvSpPr>
        <p:spPr>
          <a:xfrm>
            <a:off x="5111496" y="3364992"/>
            <a:ext cx="2514600" cy="384048"/>
          </a:xfrm>
          <a:prstGeom prst="rect">
            <a:avLst/>
          </a:prstGeom>
          <a:noFill/>
        </p:spPr>
        <p:txBody>
          <a:bodyPr wrap="square" lIns="0" tIns="0" rIns="0" bIns="0" rtlCol="0" anchor="ctr"/>
          <a:lstStyle/>
          <a:p>
            <a:pPr marL="0" indent="0">
              <a:buNone/>
            </a:pPr>
            <a:r>
              <a:rPr lang="en-US" sz="1500" b="1" dirty="0">
                <a:solidFill>
                  <a:srgbClr val="1B3A64"/>
                </a:solidFill>
                <a:latin typeface="Arial" panose="020B0604020202020204" pitchFamily="34" charset="0"/>
                <a:ea typeface="Arial" panose="020B0604020202020204" pitchFamily="34" charset="-122"/>
                <a:cs typeface="Arial" panose="020B0604020202020204" pitchFamily="34" charset="-120"/>
              </a:rPr>
              <a:t>Performance</a:t>
            </a:r>
            <a:endParaRPr lang="en-US" sz="1500" dirty="0"/>
          </a:p>
        </p:txBody>
      </p:sp>
      <p:sp>
        <p:nvSpPr>
          <p:cNvPr id="29" name="Text 26"/>
          <p:cNvSpPr txBox="1"/>
          <p:nvPr/>
        </p:nvSpPr>
        <p:spPr>
          <a:xfrm>
            <a:off x="4608576" y="3913632"/>
            <a:ext cx="2971800" cy="640080"/>
          </a:xfrm>
          <a:prstGeom prst="rect">
            <a:avLst/>
          </a:prstGeom>
          <a:noFill/>
        </p:spPr>
        <p:txBody>
          <a:bodyPr wrap="square" lIns="0" tIns="0" rIns="0" bIns="0" rtlCol="0" anchor="t"/>
          <a:lstStyle/>
          <a:p>
            <a:pPr marL="0" indent="0">
              <a:buNone/>
            </a:pPr>
            <a:r>
              <a:rPr lang="en-US" sz="1250" dirty="0">
                <a:solidFill>
                  <a:srgbClr val="1F2937"/>
                </a:solidFill>
                <a:latin typeface="Arial" panose="020B0604020202020204" pitchFamily="34" charset="0"/>
                <a:ea typeface="Arial" panose="020B0604020202020204" pitchFamily="34" charset="-122"/>
                <a:cs typeface="Arial" panose="020B0604020202020204" pitchFamily="34" charset="-120"/>
              </a:rPr>
              <a:t>Macro-F1, per-class recall, KSI false-negative rate</a:t>
            </a:r>
            <a:endParaRPr lang="en-US" sz="1250" dirty="0"/>
          </a:p>
        </p:txBody>
      </p:sp>
      <p:sp>
        <p:nvSpPr>
          <p:cNvPr id="30" name="signal"/>
          <p:cNvSpPr/>
          <p:nvPr/>
        </p:nvSpPr>
        <p:spPr>
          <a:xfrm>
            <a:off x="8028432" y="3200400"/>
            <a:ext cx="3337560" cy="1371600"/>
          </a:xfrm>
          <a:prstGeom prst="roundRect">
            <a:avLst>
              <a:gd name="adj" fmla="val 5333"/>
            </a:avLst>
          </a:prstGeom>
          <a:solidFill>
            <a:srgbClr val="F3F4F6"/>
          </a:solidFill>
          <a:ln w="12700">
            <a:solidFill>
              <a:srgbClr val="F3F4F6"/>
            </a:solidFill>
            <a:prstDash val="solid"/>
          </a:ln>
        </p:spPr>
      </p:sp>
      <p:sp>
        <p:nvSpPr>
          <p:cNvPr id="31" name="Shape 28"/>
          <p:cNvSpPr/>
          <p:nvPr/>
        </p:nvSpPr>
        <p:spPr>
          <a:xfrm>
            <a:off x="8211312" y="3364992"/>
            <a:ext cx="384048" cy="384048"/>
          </a:xfrm>
          <a:prstGeom prst="ellipse">
            <a:avLst/>
          </a:prstGeom>
          <a:solidFill>
            <a:srgbClr val="1B3A64"/>
          </a:solidFill>
          <a:ln w="12700">
            <a:solidFill>
              <a:srgbClr val="1B3A64"/>
            </a:solidFill>
            <a:prstDash val="solid"/>
          </a:ln>
        </p:spPr>
      </p:sp>
      <p:sp>
        <p:nvSpPr>
          <p:cNvPr id="32" name="Text 29"/>
          <p:cNvSpPr txBox="1"/>
          <p:nvPr/>
        </p:nvSpPr>
        <p:spPr>
          <a:xfrm>
            <a:off x="8211312" y="3364992"/>
            <a:ext cx="384048" cy="384048"/>
          </a:xfrm>
          <a:prstGeom prst="rect">
            <a:avLst/>
          </a:prstGeom>
          <a:noFill/>
        </p:spPr>
        <p:txBody>
          <a:bodyPr wrap="square" lIns="0" tIns="0" rIns="0" bIns="0" rtlCol="0" anchor="ctr"/>
          <a:lstStyle/>
          <a:p>
            <a:pPr marL="0" indent="0" algn="ctr">
              <a:buNone/>
            </a:pPr>
            <a:r>
              <a:rPr lang="en-US" sz="1400" b="1" dirty="0">
                <a:solidFill>
                  <a:srgbClr val="FFFFFF"/>
                </a:solidFill>
                <a:latin typeface="Arial" panose="020B0604020202020204" pitchFamily="34" charset="0"/>
                <a:ea typeface="Arial" panose="020B0604020202020204" pitchFamily="34" charset="-122"/>
                <a:cs typeface="Arial" panose="020B0604020202020204" pitchFamily="34" charset="-120"/>
              </a:rPr>
              <a:t>6</a:t>
            </a:r>
            <a:endParaRPr lang="en-US" sz="1400" dirty="0"/>
          </a:p>
        </p:txBody>
      </p:sp>
      <p:sp>
        <p:nvSpPr>
          <p:cNvPr id="33" name="Text 30"/>
          <p:cNvSpPr txBox="1"/>
          <p:nvPr/>
        </p:nvSpPr>
        <p:spPr>
          <a:xfrm>
            <a:off x="8714232" y="3364992"/>
            <a:ext cx="2514600" cy="384048"/>
          </a:xfrm>
          <a:prstGeom prst="rect">
            <a:avLst/>
          </a:prstGeom>
          <a:noFill/>
        </p:spPr>
        <p:txBody>
          <a:bodyPr wrap="square" lIns="0" tIns="0" rIns="0" bIns="0" rtlCol="0" anchor="ctr"/>
          <a:lstStyle/>
          <a:p>
            <a:pPr marL="0" indent="0">
              <a:buNone/>
            </a:pPr>
            <a:r>
              <a:rPr lang="en-US" sz="1500" b="1" dirty="0">
                <a:solidFill>
                  <a:srgbClr val="1B3A64"/>
                </a:solidFill>
                <a:latin typeface="Arial" panose="020B0604020202020204" pitchFamily="34" charset="0"/>
                <a:ea typeface="Arial" panose="020B0604020202020204" pitchFamily="34" charset="-122"/>
                <a:cs typeface="Arial" panose="020B0604020202020204" pitchFamily="34" charset="-120"/>
              </a:rPr>
              <a:t>Latency &amp; failures</a:t>
            </a:r>
            <a:endParaRPr lang="en-US" sz="1500" dirty="0"/>
          </a:p>
        </p:txBody>
      </p:sp>
      <p:sp>
        <p:nvSpPr>
          <p:cNvPr id="34" name="Text 31"/>
          <p:cNvSpPr txBox="1"/>
          <p:nvPr/>
        </p:nvSpPr>
        <p:spPr>
          <a:xfrm>
            <a:off x="8211312" y="3913632"/>
            <a:ext cx="2971800" cy="640080"/>
          </a:xfrm>
          <a:prstGeom prst="rect">
            <a:avLst/>
          </a:prstGeom>
          <a:noFill/>
        </p:spPr>
        <p:txBody>
          <a:bodyPr wrap="square" lIns="0" tIns="0" rIns="0" bIns="0" rtlCol="0" anchor="t"/>
          <a:lstStyle/>
          <a:p>
            <a:pPr marL="0" indent="0">
              <a:buNone/>
            </a:pPr>
            <a:r>
              <a:rPr lang="en-US" sz="1250" dirty="0">
                <a:solidFill>
                  <a:srgbClr val="1F2937"/>
                </a:solidFill>
                <a:latin typeface="Arial" panose="020B0604020202020204" pitchFamily="34" charset="0"/>
                <a:ea typeface="Arial" panose="020B0604020202020204" pitchFamily="34" charset="-122"/>
                <a:cs typeface="Arial" panose="020B0604020202020204" pitchFamily="34" charset="-120"/>
              </a:rPr>
              <a:t>p50 / p95 latency and error rate from the API log</a:t>
            </a:r>
            <a:endParaRPr lang="en-US" sz="1250" dirty="0"/>
          </a:p>
        </p:txBody>
      </p:sp>
      <p:sp>
        <p:nvSpPr>
          <p:cNvPr id="35" name="Text 32"/>
          <p:cNvSpPr txBox="1"/>
          <p:nvPr/>
        </p:nvSpPr>
        <p:spPr>
          <a:xfrm>
            <a:off x="822960" y="4846320"/>
            <a:ext cx="3108960" cy="457200"/>
          </a:xfrm>
          <a:prstGeom prst="rect">
            <a:avLst/>
          </a:prstGeom>
          <a:noFill/>
        </p:spPr>
        <p:txBody>
          <a:bodyPr wrap="square" lIns="0" tIns="0" rIns="0" bIns="0" rtlCol="0" anchor="ctr"/>
          <a:lstStyle/>
          <a:p>
            <a:pPr marL="0" indent="0">
              <a:buNone/>
            </a:pPr>
            <a:r>
              <a:rPr lang="en-US" sz="1300" b="1" dirty="0">
                <a:solidFill>
                  <a:srgbClr val="1B3A64"/>
                </a:solidFill>
                <a:latin typeface="Arial" panose="020B0604020202020204" pitchFamily="34" charset="0"/>
                <a:ea typeface="Arial" panose="020B0604020202020204" pitchFamily="34" charset="-122"/>
                <a:cs typeface="Arial" panose="020B0604020202020204" pitchFamily="34" charset="-120"/>
              </a:rPr>
              <a:t>PSI – Population Stability Index:</a:t>
            </a:r>
            <a:endParaRPr lang="en-US" sz="1300" dirty="0"/>
          </a:p>
        </p:txBody>
      </p:sp>
      <p:sp>
        <p:nvSpPr>
          <p:cNvPr id="36" name="Shape 33"/>
          <p:cNvSpPr/>
          <p:nvPr/>
        </p:nvSpPr>
        <p:spPr>
          <a:xfrm>
            <a:off x="4023360" y="4846320"/>
            <a:ext cx="2331720" cy="457200"/>
          </a:xfrm>
          <a:prstGeom prst="rect">
            <a:avLst/>
          </a:prstGeom>
          <a:solidFill>
            <a:srgbClr val="2F855A"/>
          </a:solidFill>
          <a:ln w="12700">
            <a:solidFill>
              <a:srgbClr val="2F855A"/>
            </a:solidFill>
            <a:prstDash val="solid"/>
          </a:ln>
        </p:spPr>
      </p:sp>
      <p:sp>
        <p:nvSpPr>
          <p:cNvPr id="37" name="Text 34"/>
          <p:cNvSpPr txBox="1"/>
          <p:nvPr/>
        </p:nvSpPr>
        <p:spPr>
          <a:xfrm>
            <a:off x="4023360" y="4846320"/>
            <a:ext cx="2331720" cy="457200"/>
          </a:xfrm>
          <a:prstGeom prst="rect">
            <a:avLst/>
          </a:prstGeom>
          <a:noFill/>
        </p:spPr>
        <p:txBody>
          <a:bodyPr wrap="square" lIns="0" tIns="0" rIns="0" bIns="0" rtlCol="0" anchor="ctr"/>
          <a:lstStyle/>
          <a:p>
            <a:pPr marL="0" indent="0" algn="ctr">
              <a:buNone/>
            </a:pPr>
            <a:r>
              <a:rPr lang="en-US" sz="1300" b="1" dirty="0">
                <a:solidFill>
                  <a:srgbClr val="FFFFFF"/>
                </a:solidFill>
                <a:latin typeface="Arial" panose="020B0604020202020204" pitchFamily="34" charset="0"/>
                <a:ea typeface="Arial" panose="020B0604020202020204" pitchFamily="34" charset="-122"/>
                <a:cs typeface="Arial" panose="020B0604020202020204" pitchFamily="34" charset="-120"/>
              </a:rPr>
              <a:t>&lt; 0.1  stable</a:t>
            </a:r>
            <a:endParaRPr lang="en-US" sz="1300" dirty="0"/>
          </a:p>
        </p:txBody>
      </p:sp>
      <p:sp>
        <p:nvSpPr>
          <p:cNvPr id="38" name="Shape 35"/>
          <p:cNvSpPr/>
          <p:nvPr/>
        </p:nvSpPr>
        <p:spPr>
          <a:xfrm>
            <a:off x="6492240" y="4846320"/>
            <a:ext cx="2331720" cy="457200"/>
          </a:xfrm>
          <a:prstGeom prst="rect">
            <a:avLst/>
          </a:prstGeom>
          <a:solidFill>
            <a:srgbClr val="E8872A"/>
          </a:solidFill>
          <a:ln w="12700">
            <a:solidFill>
              <a:srgbClr val="E8872A"/>
            </a:solidFill>
            <a:prstDash val="solid"/>
          </a:ln>
        </p:spPr>
      </p:sp>
      <p:sp>
        <p:nvSpPr>
          <p:cNvPr id="39" name="Text 36"/>
          <p:cNvSpPr txBox="1"/>
          <p:nvPr/>
        </p:nvSpPr>
        <p:spPr>
          <a:xfrm>
            <a:off x="6492240" y="4846320"/>
            <a:ext cx="2331720" cy="457200"/>
          </a:xfrm>
          <a:prstGeom prst="rect">
            <a:avLst/>
          </a:prstGeom>
          <a:noFill/>
        </p:spPr>
        <p:txBody>
          <a:bodyPr wrap="square" lIns="0" tIns="0" rIns="0" bIns="0" rtlCol="0" anchor="ctr"/>
          <a:lstStyle/>
          <a:p>
            <a:pPr marL="0" indent="0" algn="ctr">
              <a:buNone/>
            </a:pPr>
            <a:r>
              <a:rPr lang="en-US" sz="1300" b="1" dirty="0">
                <a:solidFill>
                  <a:srgbClr val="FFFFFF"/>
                </a:solidFill>
                <a:latin typeface="Arial" panose="020B0604020202020204" pitchFamily="34" charset="0"/>
                <a:ea typeface="Arial" panose="020B0604020202020204" pitchFamily="34" charset="-122"/>
                <a:cs typeface="Arial" panose="020B0604020202020204" pitchFamily="34" charset="-120"/>
              </a:rPr>
              <a:t>0.1 – 0.2  moderate</a:t>
            </a:r>
            <a:endParaRPr lang="en-US" sz="1300" dirty="0"/>
          </a:p>
        </p:txBody>
      </p:sp>
      <p:sp>
        <p:nvSpPr>
          <p:cNvPr id="40" name="Shape 37"/>
          <p:cNvSpPr/>
          <p:nvPr/>
        </p:nvSpPr>
        <p:spPr>
          <a:xfrm>
            <a:off x="8961120" y="4846320"/>
            <a:ext cx="2331720" cy="457200"/>
          </a:xfrm>
          <a:prstGeom prst="rect">
            <a:avLst/>
          </a:prstGeom>
          <a:solidFill>
            <a:srgbClr val="CC3224"/>
          </a:solidFill>
          <a:ln w="12700">
            <a:solidFill>
              <a:srgbClr val="CC3224"/>
            </a:solidFill>
            <a:prstDash val="solid"/>
          </a:ln>
        </p:spPr>
      </p:sp>
      <p:sp>
        <p:nvSpPr>
          <p:cNvPr id="41" name="Text 38"/>
          <p:cNvSpPr txBox="1"/>
          <p:nvPr/>
        </p:nvSpPr>
        <p:spPr>
          <a:xfrm>
            <a:off x="8961120" y="4846320"/>
            <a:ext cx="2331720" cy="457200"/>
          </a:xfrm>
          <a:prstGeom prst="rect">
            <a:avLst/>
          </a:prstGeom>
          <a:noFill/>
        </p:spPr>
        <p:txBody>
          <a:bodyPr wrap="square" lIns="0" tIns="0" rIns="0" bIns="0" rtlCol="0" anchor="ctr"/>
          <a:lstStyle/>
          <a:p>
            <a:pPr marL="0" indent="0" algn="ctr">
              <a:buNone/>
            </a:pPr>
            <a:r>
              <a:rPr lang="en-US" sz="1300" b="1" dirty="0">
                <a:solidFill>
                  <a:srgbClr val="FFFFFF"/>
                </a:solidFill>
                <a:latin typeface="Arial" panose="020B0604020202020204" pitchFamily="34" charset="0"/>
                <a:ea typeface="Arial" panose="020B0604020202020204" pitchFamily="34" charset="-122"/>
                <a:cs typeface="Arial" panose="020B0604020202020204" pitchFamily="34" charset="-120"/>
              </a:rPr>
              <a:t>&gt; 0.2  significant shift</a:t>
            </a:r>
            <a:endParaRPr lang="en-US" sz="1300" dirty="0"/>
          </a:p>
        </p:txBody>
      </p:sp>
      <p:sp>
        <p:nvSpPr>
          <p:cNvPr id="42" name="Text 39"/>
          <p:cNvSpPr txBox="1"/>
          <p:nvPr/>
        </p:nvSpPr>
        <p:spPr>
          <a:xfrm>
            <a:off x="822960" y="5440680"/>
            <a:ext cx="10543032" cy="457200"/>
          </a:xfrm>
          <a:prstGeom prst="rect">
            <a:avLst/>
          </a:prstGeom>
          <a:noFill/>
        </p:spPr>
        <p:txBody>
          <a:bodyPr wrap="square" lIns="0" tIns="0" rIns="0" bIns="0" rtlCol="0" anchor="t"/>
          <a:lstStyle/>
          <a:p>
            <a:pPr marL="0" indent="0">
              <a:buNone/>
            </a:pPr>
            <a:r>
              <a:rPr lang="en-US" sz="1200" dirty="0">
                <a:solidFill>
                  <a:srgbClr val="6B7280"/>
                </a:solidFill>
                <a:latin typeface="Arial" panose="020B0604020202020204" pitchFamily="34" charset="0"/>
                <a:ea typeface="Arial" panose="020B0604020202020204" pitchFamily="34" charset="-122"/>
                <a:cs typeface="Arial" panose="020B0604020202020204" pitchFamily="34" charset="-120"/>
              </a:rPr>
              <a:t>Unlabelled production traffic is checked from the API prediction log; labelled batches add the performance checks. Watched every week.</a:t>
            </a:r>
            <a:endParaRPr lang="en-US" sz="1200" dirty="0"/>
          </a:p>
        </p:txBody>
      </p:sp>
      <p:sp>
        <p:nvSpPr>
          <p:cNvPr id="4" name="Slide Number Placeholder 0"/>
          <p:cNvSpPr>
            <a:spLocks noGrp="1"/>
          </p:cNvSpPr>
          <p:nvPr>
            <p:ph type="sldNum" sz="quarter" idx="4294967295"/>
          </p:nvPr>
        </p:nvSpPr>
        <p:spPr>
          <a:xfrm>
            <a:off x="11320272" y="6492240"/>
            <a:ext cx="320040" cy="256032"/>
          </a:xfrm>
          <a:prstGeom prst="rect">
            <a:avLst/>
          </a:prstGeom>
        </p:spPr>
        <p:txBody>
          <a:bodyPr/>
          <a:lstStyle>
            <a:lvl1pPr>
              <a:defRPr sz="1000">
                <a:solidFill>
                  <a:srgbClr val="6B7280"/>
                </a:solidFill>
                <a:latin typeface="Arial" panose="020B0604020202020204"/>
                <a:ea typeface="Arial" panose="020B0604020202020204"/>
                <a:cs typeface="Arial" panose="020B0604020202020204"/>
              </a:defRPr>
            </a:lvl1pPr>
          </a:lstStyle>
          <a:p>
            <a:pPr algn="r"/>
            <a:fld id="{F7021451-1387-4CA6-816F-3879F97B5CBC}" type="slidenum">
              <a:rPr lang="en-US" b="0"/>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7"/>
          <p:cNvSpPr/>
          <p:nvPr>
            <p:ph type="title" idx="107" hasCustomPrompt="1"/>
          </p:nvPr>
        </p:nvSpPr>
        <p:spPr>
          <a:xfrm>
            <a:off x="594360" y="566928"/>
            <a:ext cx="10515600" cy="594360"/>
          </a:xfrm>
          <a:prstGeom prst="rect">
            <a:avLst/>
          </a:prstGeom>
          <a:noFill/>
        </p:spPr>
        <p:txBody>
          <a:bodyPr wrap="square" lIns="0" tIns="0" rIns="0" bIns="0" rtlCol="0" anchor="ctr"/>
          <a:lstStyle/>
          <a:p>
            <a:pPr marL="0" indent="0" algn="l">
              <a:buNone/>
            </a:pPr>
            <a:r>
              <a:rPr lang="en-US" sz="3000" b="1" dirty="0">
                <a:solidFill>
                  <a:srgbClr val="1B3A64"/>
                </a:solidFill>
                <a:latin typeface="Arial" panose="020B0604020202020204" pitchFamily="34" charset="0"/>
                <a:ea typeface="Arial" panose="020B0604020202020204" pitchFamily="34" charset="-122"/>
                <a:cs typeface="Arial" panose="020B0604020202020204" pitchFamily="34" charset="-120"/>
              </a:rPr>
              <a:t>11. Monitoring in Action</a:t>
            </a:r>
            <a:endParaRPr lang="en-US" sz="3000" dirty="0"/>
          </a:p>
        </p:txBody>
      </p:sp>
      <p:sp>
        <p:nvSpPr>
          <p:cNvPr id="3" name="content panel"/>
          <p:cNvSpPr/>
          <p:nvPr/>
        </p:nvSpPr>
        <p:spPr>
          <a:xfrm>
            <a:off x="548640" y="1417320"/>
            <a:ext cx="11091672" cy="4846320"/>
          </a:xfrm>
          <a:prstGeom prst="roundRect">
            <a:avLst>
              <a:gd name="adj" fmla="val 1132"/>
            </a:avLst>
          </a:prstGeom>
          <a:solidFill>
            <a:srgbClr val="FFFFFF"/>
          </a:solidFill>
          <a:ln w="15875">
            <a:solidFill>
              <a:srgbClr val="D1D5DB"/>
            </a:solidFill>
            <a:prstDash val="solid"/>
          </a:ln>
        </p:spPr>
      </p:sp>
      <p:sp>
        <p:nvSpPr>
          <p:cNvPr id="5" name="run"/>
          <p:cNvSpPr/>
          <p:nvPr/>
        </p:nvSpPr>
        <p:spPr>
          <a:xfrm>
            <a:off x="822960" y="1645920"/>
            <a:ext cx="5166360" cy="3611880"/>
          </a:xfrm>
          <a:prstGeom prst="roundRect">
            <a:avLst>
              <a:gd name="adj" fmla="val 2025"/>
            </a:avLst>
          </a:prstGeom>
          <a:solidFill>
            <a:srgbClr val="F3F4F6"/>
          </a:solidFill>
          <a:ln w="12700">
            <a:solidFill>
              <a:srgbClr val="F3F4F6"/>
            </a:solidFill>
            <a:prstDash val="solid"/>
          </a:ln>
        </p:spPr>
      </p:sp>
      <p:sp>
        <p:nvSpPr>
          <p:cNvPr id="6" name="Text 3"/>
          <p:cNvSpPr txBox="1"/>
          <p:nvPr/>
        </p:nvSpPr>
        <p:spPr>
          <a:xfrm>
            <a:off x="1051560" y="1783080"/>
            <a:ext cx="4709160" cy="365760"/>
          </a:xfrm>
          <a:prstGeom prst="rect">
            <a:avLst/>
          </a:prstGeom>
          <a:noFill/>
        </p:spPr>
        <p:txBody>
          <a:bodyPr wrap="square" lIns="0" tIns="0" rIns="0" bIns="0" rtlCol="0" anchor="t"/>
          <a:lstStyle/>
          <a:p>
            <a:pPr marL="0" indent="0">
              <a:buNone/>
            </a:pPr>
            <a:r>
              <a:rPr lang="en-US" sz="1500" b="1" dirty="0">
                <a:solidFill>
                  <a:srgbClr val="1B3A64"/>
                </a:solidFill>
                <a:latin typeface="Arial" panose="020B0604020202020204" pitchFamily="34" charset="0"/>
                <a:ea typeface="Arial" panose="020B0604020202020204" pitchFamily="34" charset="-122"/>
                <a:cs typeface="Arial" panose="020B0604020202020204" pitchFamily="34" charset="-120"/>
              </a:rPr>
              <a:t>Labelled batch · Oct–Dec 2024</a:t>
            </a:r>
            <a:endParaRPr lang="en-US" sz="1500" dirty="0"/>
          </a:p>
        </p:txBody>
      </p:sp>
      <p:sp>
        <p:nvSpPr>
          <p:cNvPr id="7" name="Text 4"/>
          <p:cNvSpPr txBox="1"/>
          <p:nvPr/>
        </p:nvSpPr>
        <p:spPr>
          <a:xfrm>
            <a:off x="1051560" y="2148840"/>
            <a:ext cx="4709160" cy="274320"/>
          </a:xfrm>
          <a:prstGeom prst="rect">
            <a:avLst/>
          </a:prstGeom>
          <a:noFill/>
        </p:spPr>
        <p:txBody>
          <a:bodyPr wrap="square" lIns="0" tIns="0" rIns="0" bIns="0" rtlCol="0" anchor="t"/>
          <a:lstStyle/>
          <a:p>
            <a:pPr marL="0" indent="0">
              <a:buNone/>
            </a:pPr>
            <a:r>
              <a:rPr lang="en-US" sz="1200" dirty="0">
                <a:solidFill>
                  <a:srgbClr val="6B7280"/>
                </a:solidFill>
                <a:latin typeface="Arial" panose="020B0604020202020204" pitchFamily="34" charset="0"/>
                <a:ea typeface="Arial" panose="020B0604020202020204" pitchFamily="34" charset="-122"/>
                <a:cs typeface="Arial" panose="020B0604020202020204" pitchFamily="34" charset="-120"/>
              </a:rPr>
              <a:t>26,342 rows</a:t>
            </a:r>
            <a:endParaRPr lang="en-US" sz="1200" dirty="0"/>
          </a:p>
        </p:txBody>
      </p:sp>
      <p:sp>
        <p:nvSpPr>
          <p:cNvPr id="8" name="Shape 5"/>
          <p:cNvSpPr/>
          <p:nvPr/>
        </p:nvSpPr>
        <p:spPr>
          <a:xfrm>
            <a:off x="1051560" y="2514600"/>
            <a:ext cx="4709160" cy="502920"/>
          </a:xfrm>
          <a:prstGeom prst="rect">
            <a:avLst/>
          </a:prstGeom>
          <a:solidFill>
            <a:srgbClr val="2F855A"/>
          </a:solidFill>
          <a:ln w="12700">
            <a:solidFill>
              <a:srgbClr val="2F855A"/>
            </a:solidFill>
            <a:prstDash val="solid"/>
          </a:ln>
        </p:spPr>
      </p:sp>
      <p:sp>
        <p:nvSpPr>
          <p:cNvPr id="9" name="Text 6"/>
          <p:cNvSpPr txBox="1"/>
          <p:nvPr/>
        </p:nvSpPr>
        <p:spPr>
          <a:xfrm>
            <a:off x="1051560" y="2514600"/>
            <a:ext cx="4709160" cy="502920"/>
          </a:xfrm>
          <a:prstGeom prst="rect">
            <a:avLst/>
          </a:prstGeom>
          <a:noFill/>
        </p:spPr>
        <p:txBody>
          <a:bodyPr wrap="square" lIns="0" tIns="0" rIns="0" bIns="0" rtlCol="0" anchor="ctr"/>
          <a:lstStyle/>
          <a:p>
            <a:pPr marL="0" indent="0" algn="ctr">
              <a:buNone/>
            </a:pPr>
            <a:r>
              <a:rPr lang="en-US" sz="1600" b="1" dirty="0">
                <a:solidFill>
                  <a:srgbClr val="FFFFFF"/>
                </a:solidFill>
                <a:latin typeface="Arial" panose="020B0604020202020204" pitchFamily="34" charset="0"/>
                <a:ea typeface="Arial" panose="020B0604020202020204" pitchFamily="34" charset="-122"/>
                <a:cs typeface="Arial" panose="020B0604020202020204" pitchFamily="34" charset="-120"/>
              </a:rPr>
              <a:t>No retraining needed</a:t>
            </a:r>
            <a:endParaRPr lang="en-US" sz="1600" dirty="0"/>
          </a:p>
        </p:txBody>
      </p:sp>
      <p:sp>
        <p:nvSpPr>
          <p:cNvPr id="10" name="Text 7"/>
          <p:cNvSpPr txBox="1"/>
          <p:nvPr/>
        </p:nvSpPr>
        <p:spPr>
          <a:xfrm>
            <a:off x="1051560" y="3200400"/>
            <a:ext cx="4709160" cy="2011680"/>
          </a:xfrm>
          <a:prstGeom prst="rect">
            <a:avLst/>
          </a:prstGeom>
          <a:noFill/>
        </p:spPr>
        <p:txBody>
          <a:bodyPr wrap="square" lIns="0" tIns="0" rIns="0" bIns="0" rtlCol="0" anchor="t"/>
          <a:lstStyle/>
          <a:p>
            <a:pPr marL="203200" indent="-203200">
              <a:spcAft>
                <a:spcPts val="700"/>
              </a:spcAft>
              <a:buSzPct val="100000"/>
              <a:buChar char="•"/>
            </a:pPr>
            <a:r>
              <a:rPr lang="en-US" sz="1300" dirty="0">
                <a:solidFill>
                  <a:srgbClr val="1F2937"/>
                </a:solidFill>
                <a:latin typeface="Arial" panose="020B0604020202020204" pitchFamily="34" charset="0"/>
                <a:ea typeface="Arial" panose="020B0604020202020204" pitchFamily="34" charset="-122"/>
                <a:cs typeface="Arial" panose="020B0604020202020204" pitchFamily="34" charset="-120"/>
              </a:rPr>
              <a:t>Macro-F1 stable at 0.431</a:t>
            </a:r>
            <a:endParaRPr lang="en-US" sz="1300" dirty="0"/>
          </a:p>
          <a:p>
            <a:pPr marL="203200" indent="-203200">
              <a:spcAft>
                <a:spcPts val="700"/>
              </a:spcAft>
              <a:buSzPct val="100000"/>
              <a:buChar char="•"/>
            </a:pPr>
            <a:r>
              <a:rPr lang="en-US" sz="1300" dirty="0">
                <a:solidFill>
                  <a:srgbClr val="1F2937"/>
                </a:solidFill>
                <a:latin typeface="Arial" panose="020B0604020202020204" pitchFamily="34" charset="0"/>
                <a:ea typeface="Arial" panose="020B0604020202020204" pitchFamily="34" charset="-122"/>
                <a:cs typeface="Arial" panose="020B0604020202020204" pitchFamily="34" charset="-120"/>
              </a:rPr>
              <a:t>Predicted class mix unchanged (Fatal 4.7%, Serious 37.5%)</a:t>
            </a:r>
            <a:endParaRPr lang="en-US" sz="1300" dirty="0"/>
          </a:p>
          <a:p>
            <a:pPr marL="203200" indent="-203200">
              <a:spcAft>
                <a:spcPts val="700"/>
              </a:spcAft>
              <a:buSzPct val="100000"/>
              <a:buChar char="•"/>
            </a:pPr>
            <a:r>
              <a:rPr lang="en-US" sz="1300" dirty="0">
                <a:solidFill>
                  <a:srgbClr val="1F2937"/>
                </a:solidFill>
                <a:latin typeface="Arial" panose="020B0604020202020204" pitchFamily="34" charset="0"/>
                <a:ea typeface="Arial" panose="020B0604020202020204" pitchFamily="34" charset="-122"/>
                <a:cs typeface="Arial" panose="020B0604020202020204" pitchFamily="34" charset="-120"/>
              </a:rPr>
              <a:t>Warnings only: temperature drift (winter), small missing-rate rise</a:t>
            </a:r>
            <a:endParaRPr lang="en-US" sz="1300" dirty="0"/>
          </a:p>
        </p:txBody>
      </p:sp>
      <p:sp>
        <p:nvSpPr>
          <p:cNvPr id="11" name="run"/>
          <p:cNvSpPr/>
          <p:nvPr/>
        </p:nvSpPr>
        <p:spPr>
          <a:xfrm>
            <a:off x="6199632" y="1645920"/>
            <a:ext cx="5166360" cy="3611880"/>
          </a:xfrm>
          <a:prstGeom prst="roundRect">
            <a:avLst>
              <a:gd name="adj" fmla="val 2025"/>
            </a:avLst>
          </a:prstGeom>
          <a:solidFill>
            <a:srgbClr val="F3F4F6"/>
          </a:solidFill>
          <a:ln w="12700">
            <a:solidFill>
              <a:srgbClr val="F3F4F6"/>
            </a:solidFill>
            <a:prstDash val="solid"/>
          </a:ln>
        </p:spPr>
      </p:sp>
      <p:sp>
        <p:nvSpPr>
          <p:cNvPr id="12" name="Text 9"/>
          <p:cNvSpPr txBox="1"/>
          <p:nvPr/>
        </p:nvSpPr>
        <p:spPr>
          <a:xfrm>
            <a:off x="6428232" y="1783080"/>
            <a:ext cx="4709160" cy="365760"/>
          </a:xfrm>
          <a:prstGeom prst="rect">
            <a:avLst/>
          </a:prstGeom>
          <a:noFill/>
        </p:spPr>
        <p:txBody>
          <a:bodyPr wrap="square" lIns="0" tIns="0" rIns="0" bIns="0" rtlCol="0" anchor="t"/>
          <a:lstStyle/>
          <a:p>
            <a:pPr marL="0" indent="0">
              <a:buNone/>
            </a:pPr>
            <a:r>
              <a:rPr lang="en-US" sz="1500" b="1" dirty="0">
                <a:solidFill>
                  <a:srgbClr val="1B3A64"/>
                </a:solidFill>
                <a:latin typeface="Arial" panose="020B0604020202020204" pitchFamily="34" charset="0"/>
                <a:ea typeface="Arial" panose="020B0604020202020204" pitchFamily="34" charset="-122"/>
                <a:cs typeface="Arial" panose="020B0604020202020204" pitchFamily="34" charset="-120"/>
              </a:rPr>
              <a:t>Simulated drift · rural, night, wet</a:t>
            </a:r>
            <a:endParaRPr lang="en-US" sz="1500" dirty="0"/>
          </a:p>
        </p:txBody>
      </p:sp>
      <p:sp>
        <p:nvSpPr>
          <p:cNvPr id="13" name="Text 10"/>
          <p:cNvSpPr txBox="1"/>
          <p:nvPr/>
        </p:nvSpPr>
        <p:spPr>
          <a:xfrm>
            <a:off x="6428232" y="2148840"/>
            <a:ext cx="4709160" cy="274320"/>
          </a:xfrm>
          <a:prstGeom prst="rect">
            <a:avLst/>
          </a:prstGeom>
          <a:noFill/>
        </p:spPr>
        <p:txBody>
          <a:bodyPr wrap="square" lIns="0" tIns="0" rIns="0" bIns="0" rtlCol="0" anchor="t"/>
          <a:lstStyle/>
          <a:p>
            <a:pPr marL="0" indent="0">
              <a:buNone/>
            </a:pPr>
            <a:r>
              <a:rPr lang="en-US" sz="1200" dirty="0">
                <a:solidFill>
                  <a:srgbClr val="6B7280"/>
                </a:solidFill>
                <a:latin typeface="Arial" panose="020B0604020202020204" pitchFamily="34" charset="0"/>
                <a:ea typeface="Arial" panose="020B0604020202020204" pitchFamily="34" charset="-122"/>
                <a:cs typeface="Arial" panose="020B0604020202020204" pitchFamily="34" charset="-120"/>
              </a:rPr>
              <a:t>9,361 rows</a:t>
            </a:r>
            <a:endParaRPr lang="en-US" sz="1200" dirty="0"/>
          </a:p>
        </p:txBody>
      </p:sp>
      <p:sp>
        <p:nvSpPr>
          <p:cNvPr id="14" name="Shape 11"/>
          <p:cNvSpPr/>
          <p:nvPr/>
        </p:nvSpPr>
        <p:spPr>
          <a:xfrm>
            <a:off x="6428232" y="2514600"/>
            <a:ext cx="4709160" cy="502920"/>
          </a:xfrm>
          <a:prstGeom prst="rect">
            <a:avLst/>
          </a:prstGeom>
          <a:solidFill>
            <a:srgbClr val="CC3224"/>
          </a:solidFill>
          <a:ln w="12700">
            <a:solidFill>
              <a:srgbClr val="CC3224"/>
            </a:solidFill>
            <a:prstDash val="solid"/>
          </a:ln>
        </p:spPr>
      </p:sp>
      <p:sp>
        <p:nvSpPr>
          <p:cNvPr id="15" name="Text 12"/>
          <p:cNvSpPr txBox="1"/>
          <p:nvPr/>
        </p:nvSpPr>
        <p:spPr>
          <a:xfrm>
            <a:off x="6428232" y="2514600"/>
            <a:ext cx="4709160" cy="502920"/>
          </a:xfrm>
          <a:prstGeom prst="rect">
            <a:avLst/>
          </a:prstGeom>
          <a:noFill/>
        </p:spPr>
        <p:txBody>
          <a:bodyPr wrap="square" lIns="0" tIns="0" rIns="0" bIns="0" rtlCol="0" anchor="ctr"/>
          <a:lstStyle/>
          <a:p>
            <a:pPr marL="0" indent="0" algn="ctr">
              <a:buNone/>
            </a:pPr>
            <a:r>
              <a:rPr lang="en-US" sz="1600" b="1" dirty="0">
                <a:solidFill>
                  <a:srgbClr val="FFFFFF"/>
                </a:solidFill>
                <a:latin typeface="Arial" panose="020B0604020202020204" pitchFamily="34" charset="0"/>
                <a:ea typeface="Arial" panose="020B0604020202020204" pitchFamily="34" charset="-122"/>
                <a:cs typeface="Arial" panose="020B0604020202020204" pitchFamily="34" charset="-120"/>
              </a:rPr>
              <a:t>RETRAIN</a:t>
            </a:r>
            <a:endParaRPr lang="en-US" sz="1600" dirty="0"/>
          </a:p>
        </p:txBody>
      </p:sp>
      <p:sp>
        <p:nvSpPr>
          <p:cNvPr id="16" name="Text 13"/>
          <p:cNvSpPr txBox="1"/>
          <p:nvPr/>
        </p:nvSpPr>
        <p:spPr>
          <a:xfrm>
            <a:off x="6428232" y="3200400"/>
            <a:ext cx="4709160" cy="2011680"/>
          </a:xfrm>
          <a:prstGeom prst="rect">
            <a:avLst/>
          </a:prstGeom>
          <a:noFill/>
        </p:spPr>
        <p:txBody>
          <a:bodyPr wrap="square" lIns="0" tIns="0" rIns="0" bIns="0" rtlCol="0" anchor="t"/>
          <a:lstStyle/>
          <a:p>
            <a:pPr marL="203200" indent="-203200">
              <a:spcAft>
                <a:spcPts val="700"/>
              </a:spcAft>
              <a:buSzPct val="100000"/>
              <a:buChar char="•"/>
            </a:pPr>
            <a:r>
              <a:rPr lang="en-US" sz="1300" dirty="0">
                <a:solidFill>
                  <a:srgbClr val="1F2937"/>
                </a:solidFill>
                <a:latin typeface="Arial" panose="020B0604020202020204" pitchFamily="34" charset="0"/>
                <a:ea typeface="Arial" panose="020B0604020202020204" pitchFamily="34" charset="-122"/>
                <a:cs typeface="Arial" panose="020B0604020202020204" pitchFamily="34" charset="-120"/>
              </a:rPr>
              <a:t>7 key features drifted (PSI &gt; 0.2)</a:t>
            </a:r>
            <a:endParaRPr lang="en-US" sz="1300" dirty="0"/>
          </a:p>
          <a:p>
            <a:pPr marL="203200" indent="-203200">
              <a:spcAft>
                <a:spcPts val="700"/>
              </a:spcAft>
              <a:buSzPct val="100000"/>
              <a:buChar char="•"/>
            </a:pPr>
            <a:r>
              <a:rPr lang="en-US" sz="1300" dirty="0">
                <a:solidFill>
                  <a:srgbClr val="1F2937"/>
                </a:solidFill>
                <a:latin typeface="Arial" panose="020B0604020202020204" pitchFamily="34" charset="0"/>
                <a:ea typeface="Arial" panose="020B0604020202020204" pitchFamily="34" charset="-122"/>
                <a:cs typeface="Arial" panose="020B0604020202020204" pitchFamily="34" charset="-120"/>
              </a:rPr>
              <a:t>Police-force location PSI 0.817</a:t>
            </a:r>
            <a:endParaRPr lang="en-US" sz="1300" dirty="0"/>
          </a:p>
          <a:p>
            <a:pPr marL="203200" indent="-203200">
              <a:spcAft>
                <a:spcPts val="700"/>
              </a:spcAft>
              <a:buSzPct val="100000"/>
              <a:buChar char="•"/>
            </a:pPr>
            <a:r>
              <a:rPr lang="en-US" sz="1300" dirty="0">
                <a:solidFill>
                  <a:srgbClr val="1F2937"/>
                </a:solidFill>
                <a:latin typeface="Arial" panose="020B0604020202020204" pitchFamily="34" charset="0"/>
                <a:ea typeface="Arial" panose="020B0604020202020204" pitchFamily="34" charset="-122"/>
                <a:cs typeface="Arial" panose="020B0604020202020204" pitchFamily="34" charset="-120"/>
              </a:rPr>
              <a:t>Centroid moved 43.7 km</a:t>
            </a:r>
            <a:endParaRPr lang="en-US" sz="1300" dirty="0"/>
          </a:p>
          <a:p>
            <a:pPr marL="203200" indent="-203200">
              <a:spcAft>
                <a:spcPts val="700"/>
              </a:spcAft>
              <a:buSzPct val="100000"/>
              <a:buChar char="•"/>
            </a:pPr>
            <a:r>
              <a:rPr lang="en-US" sz="1300" dirty="0">
                <a:solidFill>
                  <a:srgbClr val="1F2937"/>
                </a:solidFill>
                <a:latin typeface="Arial" panose="020B0604020202020204" pitchFamily="34" charset="0"/>
                <a:ea typeface="Arial" panose="020B0604020202020204" pitchFamily="34" charset="-122"/>
                <a:cs typeface="Arial" panose="020B0604020202020204" pitchFamily="34" charset="-120"/>
              </a:rPr>
              <a:t>Predicted fatal share 4.7% → 13.2%</a:t>
            </a:r>
            <a:endParaRPr lang="en-US" sz="1300" dirty="0"/>
          </a:p>
        </p:txBody>
      </p:sp>
      <p:sp>
        <p:nvSpPr>
          <p:cNvPr id="17" name="callout"/>
          <p:cNvSpPr/>
          <p:nvPr/>
        </p:nvSpPr>
        <p:spPr>
          <a:xfrm>
            <a:off x="822960" y="5440680"/>
            <a:ext cx="10543032" cy="502920"/>
          </a:xfrm>
          <a:prstGeom prst="roundRect">
            <a:avLst>
              <a:gd name="adj" fmla="val 14545"/>
            </a:avLst>
          </a:prstGeom>
          <a:solidFill>
            <a:srgbClr val="FDF0E3"/>
          </a:solidFill>
          <a:ln w="12700">
            <a:solidFill>
              <a:srgbClr val="FDF0E3"/>
            </a:solidFill>
            <a:prstDash val="solid"/>
          </a:ln>
        </p:spPr>
      </p:sp>
      <p:sp>
        <p:nvSpPr>
          <p:cNvPr id="18" name="Text 15"/>
          <p:cNvSpPr txBox="1"/>
          <p:nvPr/>
        </p:nvSpPr>
        <p:spPr>
          <a:xfrm>
            <a:off x="1051560" y="5440680"/>
            <a:ext cx="10085832" cy="502920"/>
          </a:xfrm>
          <a:prstGeom prst="rect">
            <a:avLst/>
          </a:prstGeom>
          <a:noFill/>
        </p:spPr>
        <p:txBody>
          <a:bodyPr wrap="square" lIns="0" tIns="0" rIns="0" bIns="0" rtlCol="0" anchor="ctr"/>
          <a:lstStyle/>
          <a:p>
            <a:pPr marL="0" indent="0">
              <a:buNone/>
            </a:pPr>
            <a:r>
              <a:rPr lang="en-US" sz="1400" b="1" dirty="0">
                <a:solidFill>
                  <a:srgbClr val="1B3A64"/>
                </a:solidFill>
                <a:latin typeface="Arial" panose="020B0604020202020204" pitchFamily="34" charset="0"/>
                <a:ea typeface="Arial" panose="020B0604020202020204" pitchFamily="34" charset="-122"/>
                <a:cs typeface="Arial" panose="020B0604020202020204" pitchFamily="34" charset="-120"/>
              </a:rPr>
              <a:t>Takeaway: </a:t>
            </a:r>
            <a:r>
              <a:rPr lang="en-US" sz="1400" dirty="0">
                <a:solidFill>
                  <a:srgbClr val="1F2937"/>
                </a:solidFill>
                <a:latin typeface="Arial" panose="020B0604020202020204" pitchFamily="34" charset="0"/>
                <a:ea typeface="Arial" panose="020B0604020202020204" pitchFamily="34" charset="-122"/>
                <a:cs typeface="Arial" panose="020B0604020202020204" pitchFamily="34" charset="-120"/>
              </a:rPr>
              <a:t>the monitor stays quiet when nothing has changed and raises the alarm when the data really shifts.</a:t>
            </a:r>
            <a:endParaRPr lang="en-US" sz="1400" dirty="0"/>
          </a:p>
        </p:txBody>
      </p:sp>
      <p:sp>
        <p:nvSpPr>
          <p:cNvPr id="25" name="Slide Number Placeholder 0"/>
          <p:cNvSpPr>
            <a:spLocks noGrp="1"/>
          </p:cNvSpPr>
          <p:nvPr>
            <p:ph type="sldNum" sz="quarter" idx="4294967295"/>
          </p:nvPr>
        </p:nvSpPr>
        <p:spPr>
          <a:xfrm>
            <a:off x="11320272" y="6492240"/>
            <a:ext cx="320040" cy="256032"/>
          </a:xfrm>
          <a:prstGeom prst="rect">
            <a:avLst/>
          </a:prstGeom>
        </p:spPr>
        <p:txBody>
          <a:bodyPr/>
          <a:lstStyle>
            <a:lvl1pPr>
              <a:defRPr sz="1000">
                <a:solidFill>
                  <a:srgbClr val="6B7280"/>
                </a:solidFill>
                <a:latin typeface="Arial" panose="020B0604020202020204"/>
                <a:ea typeface="Arial" panose="020B0604020202020204"/>
                <a:cs typeface="Arial" panose="020B0604020202020204"/>
              </a:defRPr>
            </a:lvl1pPr>
          </a:lstStyle>
          <a:p>
            <a:pPr algn="r"/>
            <a:fld id="{F7021451-1387-4CA6-816F-3879F97B5CBC}" type="slidenum">
              <a:rPr lang="en-US" b="0"/>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7"/>
          <p:cNvSpPr/>
          <p:nvPr>
            <p:ph type="title" idx="107" hasCustomPrompt="1"/>
          </p:nvPr>
        </p:nvSpPr>
        <p:spPr>
          <a:xfrm>
            <a:off x="594360" y="566928"/>
            <a:ext cx="10515600" cy="594360"/>
          </a:xfrm>
          <a:prstGeom prst="rect">
            <a:avLst/>
          </a:prstGeom>
          <a:noFill/>
        </p:spPr>
        <p:txBody>
          <a:bodyPr wrap="square" lIns="0" tIns="0" rIns="0" bIns="0" rtlCol="0" anchor="ctr"/>
          <a:lstStyle/>
          <a:p>
            <a:pPr marL="0" indent="0" algn="l">
              <a:buNone/>
            </a:pPr>
            <a:r>
              <a:rPr lang="en-US" sz="3000" b="1" dirty="0">
                <a:solidFill>
                  <a:srgbClr val="1B3A64"/>
                </a:solidFill>
                <a:latin typeface="Arial" panose="020B0604020202020204" pitchFamily="34" charset="0"/>
                <a:ea typeface="Arial" panose="020B0604020202020204" pitchFamily="34" charset="-122"/>
                <a:cs typeface="Arial" panose="020B0604020202020204" pitchFamily="34" charset="-120"/>
              </a:rPr>
              <a:t>12. Retraining Policy &amp; Lifecycle</a:t>
            </a:r>
            <a:endParaRPr lang="en-US" sz="3000" dirty="0"/>
          </a:p>
        </p:txBody>
      </p:sp>
      <p:sp>
        <p:nvSpPr>
          <p:cNvPr id="3" name="content panel"/>
          <p:cNvSpPr/>
          <p:nvPr/>
        </p:nvSpPr>
        <p:spPr>
          <a:xfrm>
            <a:off x="548640" y="1417320"/>
            <a:ext cx="11091672" cy="4846320"/>
          </a:xfrm>
          <a:prstGeom prst="roundRect">
            <a:avLst>
              <a:gd name="adj" fmla="val 1132"/>
            </a:avLst>
          </a:prstGeom>
          <a:solidFill>
            <a:srgbClr val="FFFFFF"/>
          </a:solidFill>
          <a:ln w="15875">
            <a:solidFill>
              <a:srgbClr val="D1D5DB"/>
            </a:solidFill>
            <a:prstDash val="solid"/>
          </a:ln>
        </p:spPr>
      </p:sp>
      <p:sp>
        <p:nvSpPr>
          <p:cNvPr id="5" name="card"/>
          <p:cNvSpPr/>
          <p:nvPr/>
        </p:nvSpPr>
        <p:spPr>
          <a:xfrm>
            <a:off x="822960" y="1645920"/>
            <a:ext cx="6035040" cy="3657600"/>
          </a:xfrm>
          <a:prstGeom prst="roundRect">
            <a:avLst>
              <a:gd name="adj" fmla="val 2000"/>
            </a:avLst>
          </a:prstGeom>
          <a:solidFill>
            <a:srgbClr val="F3F4F6"/>
          </a:solidFill>
          <a:ln w="12700">
            <a:solidFill>
              <a:srgbClr val="F3F4F6"/>
            </a:solidFill>
            <a:prstDash val="solid"/>
          </a:ln>
        </p:spPr>
      </p:sp>
      <p:sp>
        <p:nvSpPr>
          <p:cNvPr id="6" name="Text 3"/>
          <p:cNvSpPr txBox="1"/>
          <p:nvPr/>
        </p:nvSpPr>
        <p:spPr>
          <a:xfrm>
            <a:off x="1051560" y="1755648"/>
            <a:ext cx="5577840" cy="365760"/>
          </a:xfrm>
          <a:prstGeom prst="rect">
            <a:avLst/>
          </a:prstGeom>
          <a:noFill/>
        </p:spPr>
        <p:txBody>
          <a:bodyPr wrap="square" lIns="0" tIns="0" rIns="0" bIns="0" rtlCol="0" anchor="t"/>
          <a:lstStyle/>
          <a:p>
            <a:pPr marL="0" indent="0">
              <a:buNone/>
            </a:pPr>
            <a:r>
              <a:rPr lang="en-US" sz="1600" b="1" dirty="0">
                <a:solidFill>
                  <a:srgbClr val="CC3224"/>
                </a:solidFill>
                <a:latin typeface="Arial" panose="020B0604020202020204" pitchFamily="34" charset="0"/>
                <a:ea typeface="Arial" panose="020B0604020202020204" pitchFamily="34" charset="-122"/>
                <a:cs typeface="Arial" panose="020B0604020202020204" pitchFamily="34" charset="-120"/>
              </a:rPr>
              <a:t>Retrain if ANY of these holds</a:t>
            </a:r>
            <a:endParaRPr lang="en-US" sz="1600" dirty="0"/>
          </a:p>
        </p:txBody>
      </p:sp>
      <p:sp>
        <p:nvSpPr>
          <p:cNvPr id="7" name="Shape 4"/>
          <p:cNvSpPr/>
          <p:nvPr/>
        </p:nvSpPr>
        <p:spPr>
          <a:xfrm>
            <a:off x="1051560" y="2240280"/>
            <a:ext cx="384048" cy="384048"/>
          </a:xfrm>
          <a:prstGeom prst="ellipse">
            <a:avLst/>
          </a:prstGeom>
          <a:solidFill>
            <a:srgbClr val="1B3A64"/>
          </a:solidFill>
          <a:ln w="12700">
            <a:solidFill>
              <a:srgbClr val="1B3A64"/>
            </a:solidFill>
            <a:prstDash val="solid"/>
          </a:ln>
        </p:spPr>
      </p:sp>
      <p:sp>
        <p:nvSpPr>
          <p:cNvPr id="8" name="Text 5"/>
          <p:cNvSpPr txBox="1"/>
          <p:nvPr/>
        </p:nvSpPr>
        <p:spPr>
          <a:xfrm>
            <a:off x="1051560" y="2240280"/>
            <a:ext cx="384048" cy="384048"/>
          </a:xfrm>
          <a:prstGeom prst="rect">
            <a:avLst/>
          </a:prstGeom>
          <a:noFill/>
        </p:spPr>
        <p:txBody>
          <a:bodyPr wrap="square" lIns="0" tIns="0" rIns="0" bIns="0" rtlCol="0" anchor="ctr"/>
          <a:lstStyle/>
          <a:p>
            <a:pPr marL="0" indent="0" algn="ctr">
              <a:buNone/>
            </a:pPr>
            <a:r>
              <a:rPr lang="en-US" sz="1400" b="1" dirty="0">
                <a:solidFill>
                  <a:srgbClr val="FFFFFF"/>
                </a:solidFill>
                <a:latin typeface="Arial" panose="020B0604020202020204" pitchFamily="34" charset="0"/>
                <a:ea typeface="Arial" panose="020B0604020202020204" pitchFamily="34" charset="-122"/>
                <a:cs typeface="Arial" panose="020B0604020202020204" pitchFamily="34" charset="-120"/>
              </a:rPr>
              <a:t>1</a:t>
            </a:r>
            <a:endParaRPr lang="en-US" sz="1400" dirty="0"/>
          </a:p>
        </p:txBody>
      </p:sp>
      <p:sp>
        <p:nvSpPr>
          <p:cNvPr id="9" name="Text 6"/>
          <p:cNvSpPr txBox="1"/>
          <p:nvPr/>
        </p:nvSpPr>
        <p:spPr>
          <a:xfrm>
            <a:off x="1600200" y="2240280"/>
            <a:ext cx="5029200" cy="384048"/>
          </a:xfrm>
          <a:prstGeom prst="rect">
            <a:avLst/>
          </a:prstGeom>
          <a:noFill/>
        </p:spPr>
        <p:txBody>
          <a:bodyPr wrap="square" lIns="0" tIns="0" rIns="0" bIns="0" rtlCol="0" anchor="ctr"/>
          <a:lstStyle/>
          <a:p>
            <a:pPr marL="0" indent="0">
              <a:buNone/>
            </a:pPr>
            <a:r>
              <a:rPr lang="en-US" sz="1350" dirty="0">
                <a:solidFill>
                  <a:srgbClr val="1F2937"/>
                </a:solidFill>
                <a:latin typeface="Arial" panose="020B0604020202020204" pitchFamily="34" charset="0"/>
                <a:ea typeface="Arial" panose="020B0604020202020204" pitchFamily="34" charset="-122"/>
                <a:cs typeface="Arial" panose="020B0604020202020204" pitchFamily="34" charset="-120"/>
              </a:rPr>
              <a:t>More than 3 key features with PSI &gt; 0.2</a:t>
            </a:r>
            <a:endParaRPr lang="en-US" sz="1350" dirty="0"/>
          </a:p>
        </p:txBody>
      </p:sp>
      <p:sp>
        <p:nvSpPr>
          <p:cNvPr id="10" name="Shape 7"/>
          <p:cNvSpPr/>
          <p:nvPr/>
        </p:nvSpPr>
        <p:spPr>
          <a:xfrm>
            <a:off x="1051560" y="2743200"/>
            <a:ext cx="384048" cy="384048"/>
          </a:xfrm>
          <a:prstGeom prst="ellipse">
            <a:avLst/>
          </a:prstGeom>
          <a:solidFill>
            <a:srgbClr val="1B3A64"/>
          </a:solidFill>
          <a:ln w="12700">
            <a:solidFill>
              <a:srgbClr val="1B3A64"/>
            </a:solidFill>
            <a:prstDash val="solid"/>
          </a:ln>
        </p:spPr>
      </p:sp>
      <p:sp>
        <p:nvSpPr>
          <p:cNvPr id="11" name="Text 8"/>
          <p:cNvSpPr txBox="1"/>
          <p:nvPr/>
        </p:nvSpPr>
        <p:spPr>
          <a:xfrm>
            <a:off x="1051560" y="2743200"/>
            <a:ext cx="384048" cy="384048"/>
          </a:xfrm>
          <a:prstGeom prst="rect">
            <a:avLst/>
          </a:prstGeom>
          <a:noFill/>
        </p:spPr>
        <p:txBody>
          <a:bodyPr wrap="square" lIns="0" tIns="0" rIns="0" bIns="0" rtlCol="0" anchor="ctr"/>
          <a:lstStyle/>
          <a:p>
            <a:pPr marL="0" indent="0" algn="ctr">
              <a:buNone/>
            </a:pPr>
            <a:r>
              <a:rPr lang="en-US" sz="1400" b="1" dirty="0">
                <a:solidFill>
                  <a:srgbClr val="FFFFFF"/>
                </a:solidFill>
                <a:latin typeface="Arial" panose="020B0604020202020204" pitchFamily="34" charset="0"/>
                <a:ea typeface="Arial" panose="020B0604020202020204" pitchFamily="34" charset="-122"/>
                <a:cs typeface="Arial" panose="020B0604020202020204" pitchFamily="34" charset="-120"/>
              </a:rPr>
              <a:t>2</a:t>
            </a:r>
            <a:endParaRPr lang="en-US" sz="1400" dirty="0"/>
          </a:p>
        </p:txBody>
      </p:sp>
      <p:sp>
        <p:nvSpPr>
          <p:cNvPr id="12" name="Text 9"/>
          <p:cNvSpPr txBox="1"/>
          <p:nvPr/>
        </p:nvSpPr>
        <p:spPr>
          <a:xfrm>
            <a:off x="1600200" y="2743200"/>
            <a:ext cx="5029200" cy="384048"/>
          </a:xfrm>
          <a:prstGeom prst="rect">
            <a:avLst/>
          </a:prstGeom>
          <a:noFill/>
        </p:spPr>
        <p:txBody>
          <a:bodyPr wrap="square" lIns="0" tIns="0" rIns="0" bIns="0" rtlCol="0" anchor="ctr"/>
          <a:lstStyle/>
          <a:p>
            <a:pPr marL="0" indent="0">
              <a:buNone/>
            </a:pPr>
            <a:r>
              <a:rPr lang="en-US" sz="1350" dirty="0">
                <a:solidFill>
                  <a:srgbClr val="1F2937"/>
                </a:solidFill>
                <a:latin typeface="Arial" panose="020B0604020202020204" pitchFamily="34" charset="0"/>
                <a:ea typeface="Arial" panose="020B0604020202020204" pitchFamily="34" charset="-122"/>
                <a:cs typeface="Arial" panose="020B0604020202020204" pitchFamily="34" charset="-120"/>
              </a:rPr>
              <a:t>Class distribution PSI &gt; 0.1</a:t>
            </a:r>
            <a:endParaRPr lang="en-US" sz="1350" dirty="0"/>
          </a:p>
        </p:txBody>
      </p:sp>
      <p:sp>
        <p:nvSpPr>
          <p:cNvPr id="13" name="Shape 10"/>
          <p:cNvSpPr/>
          <p:nvPr/>
        </p:nvSpPr>
        <p:spPr>
          <a:xfrm>
            <a:off x="1051560" y="3246120"/>
            <a:ext cx="384048" cy="384048"/>
          </a:xfrm>
          <a:prstGeom prst="ellipse">
            <a:avLst/>
          </a:prstGeom>
          <a:solidFill>
            <a:srgbClr val="1B3A64"/>
          </a:solidFill>
          <a:ln w="12700">
            <a:solidFill>
              <a:srgbClr val="1B3A64"/>
            </a:solidFill>
            <a:prstDash val="solid"/>
          </a:ln>
        </p:spPr>
      </p:sp>
      <p:sp>
        <p:nvSpPr>
          <p:cNvPr id="14" name="Text 11"/>
          <p:cNvSpPr txBox="1"/>
          <p:nvPr/>
        </p:nvSpPr>
        <p:spPr>
          <a:xfrm>
            <a:off x="1051560" y="3246120"/>
            <a:ext cx="384048" cy="384048"/>
          </a:xfrm>
          <a:prstGeom prst="rect">
            <a:avLst/>
          </a:prstGeom>
          <a:noFill/>
        </p:spPr>
        <p:txBody>
          <a:bodyPr wrap="square" lIns="0" tIns="0" rIns="0" bIns="0" rtlCol="0" anchor="ctr"/>
          <a:lstStyle/>
          <a:p>
            <a:pPr marL="0" indent="0" algn="ctr">
              <a:buNone/>
            </a:pPr>
            <a:r>
              <a:rPr lang="en-US" sz="1400" b="1" dirty="0">
                <a:solidFill>
                  <a:srgbClr val="FFFFFF"/>
                </a:solidFill>
                <a:latin typeface="Arial" panose="020B0604020202020204" pitchFamily="34" charset="0"/>
                <a:ea typeface="Arial" panose="020B0604020202020204" pitchFamily="34" charset="-122"/>
                <a:cs typeface="Arial" panose="020B0604020202020204" pitchFamily="34" charset="-120"/>
              </a:rPr>
              <a:t>3</a:t>
            </a:r>
            <a:endParaRPr lang="en-US" sz="1400" dirty="0"/>
          </a:p>
        </p:txBody>
      </p:sp>
      <p:sp>
        <p:nvSpPr>
          <p:cNvPr id="15" name="Text 12"/>
          <p:cNvSpPr txBox="1"/>
          <p:nvPr/>
        </p:nvSpPr>
        <p:spPr>
          <a:xfrm>
            <a:off x="1600200" y="3246120"/>
            <a:ext cx="5029200" cy="384048"/>
          </a:xfrm>
          <a:prstGeom prst="rect">
            <a:avLst/>
          </a:prstGeom>
          <a:noFill/>
        </p:spPr>
        <p:txBody>
          <a:bodyPr wrap="square" lIns="0" tIns="0" rIns="0" bIns="0" rtlCol="0" anchor="ctr"/>
          <a:lstStyle/>
          <a:p>
            <a:pPr marL="0" indent="0">
              <a:buNone/>
            </a:pPr>
            <a:r>
              <a:rPr lang="en-US" sz="1350" dirty="0">
                <a:solidFill>
                  <a:srgbClr val="1F2937"/>
                </a:solidFill>
                <a:latin typeface="Arial" panose="020B0604020202020204" pitchFamily="34" charset="0"/>
                <a:ea typeface="Arial" panose="020B0604020202020204" pitchFamily="34" charset="-122"/>
                <a:cs typeface="Arial" panose="020B0604020202020204" pitchFamily="34" charset="-120"/>
              </a:rPr>
              <a:t>Location (police-force) PSI &gt; 0.2</a:t>
            </a:r>
            <a:endParaRPr lang="en-US" sz="1350" dirty="0"/>
          </a:p>
        </p:txBody>
      </p:sp>
      <p:sp>
        <p:nvSpPr>
          <p:cNvPr id="16" name="Shape 13"/>
          <p:cNvSpPr/>
          <p:nvPr/>
        </p:nvSpPr>
        <p:spPr>
          <a:xfrm>
            <a:off x="1051560" y="3749040"/>
            <a:ext cx="384048" cy="384048"/>
          </a:xfrm>
          <a:prstGeom prst="ellipse">
            <a:avLst/>
          </a:prstGeom>
          <a:solidFill>
            <a:srgbClr val="1B3A64"/>
          </a:solidFill>
          <a:ln w="12700">
            <a:solidFill>
              <a:srgbClr val="1B3A64"/>
            </a:solidFill>
            <a:prstDash val="solid"/>
          </a:ln>
        </p:spPr>
      </p:sp>
      <p:sp>
        <p:nvSpPr>
          <p:cNvPr id="17" name="Text 14"/>
          <p:cNvSpPr txBox="1"/>
          <p:nvPr/>
        </p:nvSpPr>
        <p:spPr>
          <a:xfrm>
            <a:off x="1051560" y="3749040"/>
            <a:ext cx="384048" cy="384048"/>
          </a:xfrm>
          <a:prstGeom prst="rect">
            <a:avLst/>
          </a:prstGeom>
          <a:noFill/>
        </p:spPr>
        <p:txBody>
          <a:bodyPr wrap="square" lIns="0" tIns="0" rIns="0" bIns="0" rtlCol="0" anchor="ctr"/>
          <a:lstStyle/>
          <a:p>
            <a:pPr marL="0" indent="0" algn="ctr">
              <a:buNone/>
            </a:pPr>
            <a:r>
              <a:rPr lang="en-US" sz="1400" b="1" dirty="0">
                <a:solidFill>
                  <a:srgbClr val="FFFFFF"/>
                </a:solidFill>
                <a:latin typeface="Arial" panose="020B0604020202020204" pitchFamily="34" charset="0"/>
                <a:ea typeface="Arial" panose="020B0604020202020204" pitchFamily="34" charset="-122"/>
                <a:cs typeface="Arial" panose="020B0604020202020204" pitchFamily="34" charset="-120"/>
              </a:rPr>
              <a:t>4</a:t>
            </a:r>
            <a:endParaRPr lang="en-US" sz="1400" dirty="0"/>
          </a:p>
        </p:txBody>
      </p:sp>
      <p:sp>
        <p:nvSpPr>
          <p:cNvPr id="18" name="Text 15"/>
          <p:cNvSpPr txBox="1"/>
          <p:nvPr/>
        </p:nvSpPr>
        <p:spPr>
          <a:xfrm>
            <a:off x="1600200" y="3749040"/>
            <a:ext cx="5029200" cy="384048"/>
          </a:xfrm>
          <a:prstGeom prst="rect">
            <a:avLst/>
          </a:prstGeom>
          <a:noFill/>
        </p:spPr>
        <p:txBody>
          <a:bodyPr wrap="square" lIns="0" tIns="0" rIns="0" bIns="0" rtlCol="0" anchor="ctr"/>
          <a:lstStyle/>
          <a:p>
            <a:pPr marL="0" indent="0">
              <a:buNone/>
            </a:pPr>
            <a:r>
              <a:rPr lang="en-US" sz="1350" dirty="0">
                <a:solidFill>
                  <a:srgbClr val="1F2937"/>
                </a:solidFill>
                <a:latin typeface="Arial" panose="020B0604020202020204" pitchFamily="34" charset="0"/>
                <a:ea typeface="Arial" panose="020B0604020202020204" pitchFamily="34" charset="-122"/>
                <a:cs typeface="Arial" panose="020B0604020202020204" pitchFamily="34" charset="-120"/>
              </a:rPr>
              <a:t>Macro-F1 drops by more than 0.05</a:t>
            </a:r>
            <a:endParaRPr lang="en-US" sz="1350" dirty="0"/>
          </a:p>
        </p:txBody>
      </p:sp>
      <p:sp>
        <p:nvSpPr>
          <p:cNvPr id="19" name="Shape 16"/>
          <p:cNvSpPr/>
          <p:nvPr/>
        </p:nvSpPr>
        <p:spPr>
          <a:xfrm>
            <a:off x="1051560" y="4251960"/>
            <a:ext cx="384048" cy="384048"/>
          </a:xfrm>
          <a:prstGeom prst="ellipse">
            <a:avLst/>
          </a:prstGeom>
          <a:solidFill>
            <a:srgbClr val="1B3A64"/>
          </a:solidFill>
          <a:ln w="12700">
            <a:solidFill>
              <a:srgbClr val="1B3A64"/>
            </a:solidFill>
            <a:prstDash val="solid"/>
          </a:ln>
        </p:spPr>
      </p:sp>
      <p:sp>
        <p:nvSpPr>
          <p:cNvPr id="20" name="Text 17"/>
          <p:cNvSpPr txBox="1"/>
          <p:nvPr/>
        </p:nvSpPr>
        <p:spPr>
          <a:xfrm>
            <a:off x="1051560" y="4251960"/>
            <a:ext cx="384048" cy="384048"/>
          </a:xfrm>
          <a:prstGeom prst="rect">
            <a:avLst/>
          </a:prstGeom>
          <a:noFill/>
        </p:spPr>
        <p:txBody>
          <a:bodyPr wrap="square" lIns="0" tIns="0" rIns="0" bIns="0" rtlCol="0" anchor="ctr"/>
          <a:lstStyle/>
          <a:p>
            <a:pPr marL="0" indent="0" algn="ctr">
              <a:buNone/>
            </a:pPr>
            <a:r>
              <a:rPr lang="en-US" sz="1400" b="1" dirty="0">
                <a:solidFill>
                  <a:srgbClr val="FFFFFF"/>
                </a:solidFill>
                <a:latin typeface="Arial" panose="020B0604020202020204" pitchFamily="34" charset="0"/>
                <a:ea typeface="Arial" panose="020B0604020202020204" pitchFamily="34" charset="-122"/>
                <a:cs typeface="Arial" panose="020B0604020202020204" pitchFamily="34" charset="-120"/>
              </a:rPr>
              <a:t>5</a:t>
            </a:r>
            <a:endParaRPr lang="en-US" sz="1400" dirty="0"/>
          </a:p>
        </p:txBody>
      </p:sp>
      <p:sp>
        <p:nvSpPr>
          <p:cNvPr id="21" name="Text 18"/>
          <p:cNvSpPr txBox="1"/>
          <p:nvPr/>
        </p:nvSpPr>
        <p:spPr>
          <a:xfrm>
            <a:off x="1600200" y="4251960"/>
            <a:ext cx="5029200" cy="384048"/>
          </a:xfrm>
          <a:prstGeom prst="rect">
            <a:avLst/>
          </a:prstGeom>
          <a:noFill/>
        </p:spPr>
        <p:txBody>
          <a:bodyPr wrap="square" lIns="0" tIns="0" rIns="0" bIns="0" rtlCol="0" anchor="ctr"/>
          <a:lstStyle/>
          <a:p>
            <a:pPr marL="0" indent="0">
              <a:buNone/>
            </a:pPr>
            <a:r>
              <a:rPr lang="en-US" sz="1350" dirty="0">
                <a:solidFill>
                  <a:srgbClr val="1F2937"/>
                </a:solidFill>
                <a:latin typeface="Arial" panose="020B0604020202020204" pitchFamily="34" charset="0"/>
                <a:ea typeface="Arial" panose="020B0604020202020204" pitchFamily="34" charset="-122"/>
                <a:cs typeface="Arial" panose="020B0604020202020204" pitchFamily="34" charset="-120"/>
              </a:rPr>
              <a:t>KSI false-negative rate rises by more than 0.05</a:t>
            </a:r>
            <a:endParaRPr lang="en-US" sz="1350" dirty="0"/>
          </a:p>
        </p:txBody>
      </p:sp>
      <p:sp>
        <p:nvSpPr>
          <p:cNvPr id="22" name="Shape 19"/>
          <p:cNvSpPr/>
          <p:nvPr/>
        </p:nvSpPr>
        <p:spPr>
          <a:xfrm>
            <a:off x="1051560" y="4754880"/>
            <a:ext cx="384048" cy="384048"/>
          </a:xfrm>
          <a:prstGeom prst="ellipse">
            <a:avLst/>
          </a:prstGeom>
          <a:solidFill>
            <a:srgbClr val="1B3A64"/>
          </a:solidFill>
          <a:ln w="12700">
            <a:solidFill>
              <a:srgbClr val="1B3A64"/>
            </a:solidFill>
            <a:prstDash val="solid"/>
          </a:ln>
        </p:spPr>
      </p:sp>
      <p:sp>
        <p:nvSpPr>
          <p:cNvPr id="23" name="Text 20"/>
          <p:cNvSpPr txBox="1"/>
          <p:nvPr/>
        </p:nvSpPr>
        <p:spPr>
          <a:xfrm>
            <a:off x="1051560" y="4754880"/>
            <a:ext cx="384048" cy="384048"/>
          </a:xfrm>
          <a:prstGeom prst="rect">
            <a:avLst/>
          </a:prstGeom>
          <a:noFill/>
        </p:spPr>
        <p:txBody>
          <a:bodyPr wrap="square" lIns="0" tIns="0" rIns="0" bIns="0" rtlCol="0" anchor="ctr"/>
          <a:lstStyle/>
          <a:p>
            <a:pPr marL="0" indent="0" algn="ctr">
              <a:buNone/>
            </a:pPr>
            <a:r>
              <a:rPr lang="en-US" sz="1400" b="1" dirty="0">
                <a:solidFill>
                  <a:srgbClr val="FFFFFF"/>
                </a:solidFill>
                <a:latin typeface="Arial" panose="020B0604020202020204" pitchFamily="34" charset="0"/>
                <a:ea typeface="Arial" panose="020B0604020202020204" pitchFamily="34" charset="-122"/>
                <a:cs typeface="Arial" panose="020B0604020202020204" pitchFamily="34" charset="-120"/>
              </a:rPr>
              <a:t>6</a:t>
            </a:r>
            <a:endParaRPr lang="en-US" sz="1400" dirty="0"/>
          </a:p>
        </p:txBody>
      </p:sp>
      <p:sp>
        <p:nvSpPr>
          <p:cNvPr id="24" name="Text 21"/>
          <p:cNvSpPr txBox="1"/>
          <p:nvPr/>
        </p:nvSpPr>
        <p:spPr>
          <a:xfrm>
            <a:off x="1600200" y="4754880"/>
            <a:ext cx="5029200" cy="384048"/>
          </a:xfrm>
          <a:prstGeom prst="rect">
            <a:avLst/>
          </a:prstGeom>
          <a:noFill/>
        </p:spPr>
        <p:txBody>
          <a:bodyPr wrap="square" lIns="0" tIns="0" rIns="0" bIns="0" rtlCol="0" anchor="ctr"/>
          <a:lstStyle/>
          <a:p>
            <a:pPr marL="0" indent="0">
              <a:buNone/>
            </a:pPr>
            <a:r>
              <a:rPr lang="en-US" sz="1350" dirty="0">
                <a:solidFill>
                  <a:srgbClr val="1F2937"/>
                </a:solidFill>
                <a:latin typeface="Arial" panose="020B0604020202020204" pitchFamily="34" charset="0"/>
                <a:ea typeface="Arial" panose="020B0604020202020204" pitchFamily="34" charset="-122"/>
                <a:cs typeface="Arial" panose="020B0604020202020204" pitchFamily="34" charset="-120"/>
              </a:rPr>
              <a:t>Champion older than 180 days (scheduled refresh)</a:t>
            </a:r>
            <a:endParaRPr lang="en-US" sz="1350" dirty="0"/>
          </a:p>
        </p:txBody>
      </p:sp>
      <p:sp>
        <p:nvSpPr>
          <p:cNvPr id="25" name="card"/>
          <p:cNvSpPr/>
          <p:nvPr/>
        </p:nvSpPr>
        <p:spPr>
          <a:xfrm>
            <a:off x="7132320" y="1645920"/>
            <a:ext cx="4233672" cy="3657600"/>
          </a:xfrm>
          <a:prstGeom prst="roundRect">
            <a:avLst>
              <a:gd name="adj" fmla="val 2000"/>
            </a:avLst>
          </a:prstGeom>
          <a:solidFill>
            <a:srgbClr val="FDF0E3"/>
          </a:solidFill>
          <a:ln w="12700">
            <a:solidFill>
              <a:srgbClr val="FDF0E3"/>
            </a:solidFill>
            <a:prstDash val="solid"/>
          </a:ln>
        </p:spPr>
      </p:sp>
      <p:sp>
        <p:nvSpPr>
          <p:cNvPr id="26" name="Text 23"/>
          <p:cNvSpPr txBox="1"/>
          <p:nvPr/>
        </p:nvSpPr>
        <p:spPr>
          <a:xfrm>
            <a:off x="7360920" y="1755648"/>
            <a:ext cx="3776472" cy="365760"/>
          </a:xfrm>
          <a:prstGeom prst="rect">
            <a:avLst/>
          </a:prstGeom>
          <a:noFill/>
        </p:spPr>
        <p:txBody>
          <a:bodyPr wrap="square" lIns="0" tIns="0" rIns="0" bIns="0" rtlCol="0" anchor="t"/>
          <a:lstStyle/>
          <a:p>
            <a:pPr marL="0" indent="0">
              <a:buNone/>
            </a:pPr>
            <a:r>
              <a:rPr lang="en-US" sz="1600" b="1" dirty="0">
                <a:solidFill>
                  <a:srgbClr val="E8872A"/>
                </a:solidFill>
                <a:latin typeface="Arial" panose="020B0604020202020204" pitchFamily="34" charset="0"/>
                <a:ea typeface="Arial" panose="020B0604020202020204" pitchFamily="34" charset="-122"/>
                <a:cs typeface="Arial" panose="020B0604020202020204" pitchFamily="34" charset="-120"/>
              </a:rPr>
              <a:t>Warnings only – fix upstream</a:t>
            </a:r>
            <a:endParaRPr lang="en-US" sz="1600" dirty="0"/>
          </a:p>
        </p:txBody>
      </p:sp>
      <p:sp>
        <p:nvSpPr>
          <p:cNvPr id="27" name="Text 24"/>
          <p:cNvSpPr txBox="1"/>
          <p:nvPr/>
        </p:nvSpPr>
        <p:spPr>
          <a:xfrm>
            <a:off x="7360920" y="2286000"/>
            <a:ext cx="3776472" cy="1188720"/>
          </a:xfrm>
          <a:prstGeom prst="rect">
            <a:avLst/>
          </a:prstGeom>
          <a:noFill/>
        </p:spPr>
        <p:txBody>
          <a:bodyPr wrap="square" lIns="0" tIns="0" rIns="0" bIns="0" rtlCol="0" anchor="t"/>
          <a:lstStyle/>
          <a:p>
            <a:pPr marL="203200" indent="-203200">
              <a:spcAft>
                <a:spcPts val="800"/>
              </a:spcAft>
              <a:buSzPct val="100000"/>
              <a:buChar char="•"/>
            </a:pPr>
            <a:r>
              <a:rPr lang="en-US" sz="1400" dirty="0">
                <a:solidFill>
                  <a:srgbClr val="1F2937"/>
                </a:solidFill>
                <a:latin typeface="Arial" panose="020B0604020202020204" pitchFamily="34" charset="0"/>
                <a:ea typeface="Arial" panose="020B0604020202020204" pitchFamily="34" charset="-122"/>
                <a:cs typeface="Arial" panose="020B0604020202020204" pitchFamily="34" charset="-120"/>
              </a:rPr>
              <a:t>Missing-rate rise &gt; 10 points</a:t>
            </a:r>
            <a:endParaRPr lang="en-US" sz="1400" dirty="0"/>
          </a:p>
          <a:p>
            <a:pPr marL="203200" indent="-203200">
              <a:spcAft>
                <a:spcPts val="800"/>
              </a:spcAft>
              <a:buSzPct val="100000"/>
              <a:buChar char="•"/>
            </a:pPr>
            <a:r>
              <a:rPr lang="en-US" sz="1400" dirty="0">
                <a:solidFill>
                  <a:srgbClr val="1F2937"/>
                </a:solidFill>
                <a:latin typeface="Arial" panose="020B0604020202020204" pitchFamily="34" charset="0"/>
                <a:ea typeface="Arial" panose="020B0604020202020204" pitchFamily="34" charset="-122"/>
                <a:cs typeface="Arial" panose="020B0604020202020204" pitchFamily="34" charset="-120"/>
              </a:rPr>
              <a:t>API error rate &gt; 2%</a:t>
            </a:r>
            <a:endParaRPr lang="en-US" sz="1400" dirty="0"/>
          </a:p>
          <a:p>
            <a:pPr marL="203200" indent="-203200">
              <a:spcAft>
                <a:spcPts val="800"/>
              </a:spcAft>
              <a:buSzPct val="100000"/>
              <a:buChar char="•"/>
            </a:pPr>
            <a:r>
              <a:rPr lang="en-US" sz="1400" dirty="0">
                <a:solidFill>
                  <a:srgbClr val="1F2937"/>
                </a:solidFill>
                <a:latin typeface="Arial" panose="020B0604020202020204" pitchFamily="34" charset="0"/>
                <a:ea typeface="Arial" panose="020B0604020202020204" pitchFamily="34" charset="-122"/>
                <a:cs typeface="Arial" panose="020B0604020202020204" pitchFamily="34" charset="-120"/>
              </a:rPr>
              <a:t>p95 latency &gt; 300 ms</a:t>
            </a:r>
            <a:endParaRPr lang="en-US" sz="1400" dirty="0"/>
          </a:p>
        </p:txBody>
      </p:sp>
      <p:sp>
        <p:nvSpPr>
          <p:cNvPr id="28" name="Text 25"/>
          <p:cNvSpPr txBox="1"/>
          <p:nvPr/>
        </p:nvSpPr>
        <p:spPr>
          <a:xfrm>
            <a:off x="7360920" y="3657600"/>
            <a:ext cx="3776472" cy="1371600"/>
          </a:xfrm>
          <a:prstGeom prst="rect">
            <a:avLst/>
          </a:prstGeom>
          <a:noFill/>
        </p:spPr>
        <p:txBody>
          <a:bodyPr wrap="square" lIns="0" tIns="0" rIns="0" bIns="0" rtlCol="0" anchor="t"/>
          <a:lstStyle/>
          <a:p>
            <a:pPr marL="0" indent="0">
              <a:buNone/>
            </a:pPr>
            <a:r>
              <a:rPr lang="en-US" sz="1400" i="1" dirty="0">
                <a:solidFill>
                  <a:srgbClr val="1B3A64"/>
                </a:solidFill>
                <a:latin typeface="Arial" panose="020B0604020202020204" pitchFamily="34" charset="0"/>
                <a:ea typeface="Arial" panose="020B0604020202020204" pitchFamily="34" charset="-122"/>
                <a:cs typeface="Arial" panose="020B0604020202020204" pitchFamily="34" charset="-120"/>
              </a:rPr>
              <a:t>Retraining on broken data would make the model worse.</a:t>
            </a:r>
            <a:endParaRPr lang="en-US" sz="1400" dirty="0"/>
          </a:p>
        </p:txBody>
      </p:sp>
      <p:sp>
        <p:nvSpPr>
          <p:cNvPr id="29" name="Shape 26"/>
          <p:cNvSpPr/>
          <p:nvPr/>
        </p:nvSpPr>
        <p:spPr>
          <a:xfrm>
            <a:off x="822960" y="5440680"/>
            <a:ext cx="10543032" cy="502920"/>
          </a:xfrm>
          <a:prstGeom prst="rect">
            <a:avLst/>
          </a:prstGeom>
          <a:solidFill>
            <a:srgbClr val="1B3A64"/>
          </a:solidFill>
          <a:ln w="12700">
            <a:solidFill>
              <a:srgbClr val="1B3A64"/>
            </a:solidFill>
            <a:prstDash val="solid"/>
          </a:ln>
        </p:spPr>
      </p:sp>
      <p:sp>
        <p:nvSpPr>
          <p:cNvPr id="30" name="Text 27"/>
          <p:cNvSpPr txBox="1"/>
          <p:nvPr/>
        </p:nvSpPr>
        <p:spPr>
          <a:xfrm>
            <a:off x="822960" y="5440680"/>
            <a:ext cx="10543032" cy="502920"/>
          </a:xfrm>
          <a:prstGeom prst="rect">
            <a:avLst/>
          </a:prstGeom>
          <a:noFill/>
        </p:spPr>
        <p:txBody>
          <a:bodyPr wrap="square" lIns="0" tIns="0" rIns="0" bIns="0" rtlCol="0" anchor="ctr"/>
          <a:lstStyle/>
          <a:p>
            <a:pPr marL="0" indent="0" algn="ctr">
              <a:buNone/>
            </a:pPr>
            <a:r>
              <a:rPr lang="en-US" sz="1500" b="1" dirty="0">
                <a:solidFill>
                  <a:srgbClr val="FFFFFF"/>
                </a:solidFill>
                <a:latin typeface="Arial" panose="020B0604020202020204" pitchFamily="34" charset="0"/>
                <a:ea typeface="Arial" panose="020B0604020202020204" pitchFamily="34" charset="-122"/>
                <a:cs typeface="Arial" panose="020B0604020202020204" pitchFamily="34" charset="-120"/>
              </a:rPr>
              <a:t>Every Monday (Airflow):  monitor  →  branch  →  retrain or skip  →  champion gate</a:t>
            </a:r>
            <a:endParaRPr lang="en-US" sz="1500" dirty="0"/>
          </a:p>
        </p:txBody>
      </p:sp>
      <p:sp>
        <p:nvSpPr>
          <p:cNvPr id="4" name="Slide Number Placeholder 0"/>
          <p:cNvSpPr>
            <a:spLocks noGrp="1"/>
          </p:cNvSpPr>
          <p:nvPr>
            <p:ph type="sldNum" sz="quarter" idx="4294967295"/>
          </p:nvPr>
        </p:nvSpPr>
        <p:spPr>
          <a:xfrm>
            <a:off x="11320272" y="6492240"/>
            <a:ext cx="320040" cy="256032"/>
          </a:xfrm>
          <a:prstGeom prst="rect">
            <a:avLst/>
          </a:prstGeom>
        </p:spPr>
        <p:txBody>
          <a:bodyPr/>
          <a:lstStyle>
            <a:lvl1pPr>
              <a:defRPr sz="1000">
                <a:solidFill>
                  <a:srgbClr val="6B7280"/>
                </a:solidFill>
                <a:latin typeface="Arial" panose="020B0604020202020204"/>
                <a:ea typeface="Arial" panose="020B0604020202020204"/>
                <a:cs typeface="Arial" panose="020B0604020202020204"/>
              </a:defRPr>
            </a:lvl1pPr>
          </a:lstStyle>
          <a:p>
            <a:pPr algn="r"/>
            <a:fld id="{F7021451-1387-4CA6-816F-3879F97B5CBC}" type="slidenum">
              <a:rPr lang="en-US" b="0"/>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7"/>
          <p:cNvSpPr/>
          <p:nvPr>
            <p:ph type="title" idx="107" hasCustomPrompt="1"/>
          </p:nvPr>
        </p:nvSpPr>
        <p:spPr>
          <a:xfrm>
            <a:off x="594360" y="566928"/>
            <a:ext cx="10515600" cy="594360"/>
          </a:xfrm>
          <a:prstGeom prst="rect">
            <a:avLst/>
          </a:prstGeom>
          <a:noFill/>
        </p:spPr>
        <p:txBody>
          <a:bodyPr wrap="square" lIns="0" tIns="0" rIns="0" bIns="0" rtlCol="0" anchor="ctr"/>
          <a:lstStyle/>
          <a:p>
            <a:pPr marL="0" indent="0" algn="l">
              <a:buNone/>
            </a:pPr>
            <a:r>
              <a:rPr lang="en-US" sz="3000" b="1" dirty="0">
                <a:solidFill>
                  <a:srgbClr val="1B3A64"/>
                </a:solidFill>
                <a:latin typeface="Arial" panose="020B0604020202020204" pitchFamily="34" charset="0"/>
                <a:ea typeface="Arial" panose="020B0604020202020204" pitchFamily="34" charset="-122"/>
                <a:cs typeface="Arial" panose="020B0604020202020204" pitchFamily="34" charset="-120"/>
              </a:rPr>
              <a:t>13. Conclusion &amp; Future Scope</a:t>
            </a:r>
            <a:endParaRPr lang="en-US" sz="3000" dirty="0"/>
          </a:p>
        </p:txBody>
      </p:sp>
      <p:sp>
        <p:nvSpPr>
          <p:cNvPr id="3" name="content panel"/>
          <p:cNvSpPr/>
          <p:nvPr/>
        </p:nvSpPr>
        <p:spPr>
          <a:xfrm>
            <a:off x="548640" y="1417320"/>
            <a:ext cx="11091672" cy="4846320"/>
          </a:xfrm>
          <a:prstGeom prst="roundRect">
            <a:avLst>
              <a:gd name="adj" fmla="val 1132"/>
            </a:avLst>
          </a:prstGeom>
          <a:solidFill>
            <a:srgbClr val="FFFFFF"/>
          </a:solidFill>
          <a:ln w="15875">
            <a:solidFill>
              <a:srgbClr val="D1D5DB"/>
            </a:solidFill>
            <a:prstDash val="solid"/>
          </a:ln>
        </p:spPr>
      </p:sp>
      <p:sp>
        <p:nvSpPr>
          <p:cNvPr id="5" name="summary"/>
          <p:cNvSpPr/>
          <p:nvPr/>
        </p:nvSpPr>
        <p:spPr>
          <a:xfrm>
            <a:off x="822960" y="1645920"/>
            <a:ext cx="3337560" cy="1691640"/>
          </a:xfrm>
          <a:prstGeom prst="roundRect">
            <a:avLst>
              <a:gd name="adj" fmla="val 4324"/>
            </a:avLst>
          </a:prstGeom>
          <a:solidFill>
            <a:srgbClr val="F3F4F6"/>
          </a:solidFill>
          <a:ln w="12700">
            <a:solidFill>
              <a:srgbClr val="F3F4F6"/>
            </a:solidFill>
            <a:prstDash val="solid"/>
          </a:ln>
        </p:spPr>
      </p:sp>
      <p:sp>
        <p:nvSpPr>
          <p:cNvPr id="6" name="Shape 3"/>
          <p:cNvSpPr/>
          <p:nvPr/>
        </p:nvSpPr>
        <p:spPr>
          <a:xfrm>
            <a:off x="1005840" y="1828800"/>
            <a:ext cx="320040" cy="320040"/>
          </a:xfrm>
          <a:prstGeom prst="rect">
            <a:avLst/>
          </a:prstGeom>
          <a:solidFill>
            <a:srgbClr val="1B3A64"/>
          </a:solidFill>
          <a:ln w="12700">
            <a:solidFill>
              <a:srgbClr val="1B3A64"/>
            </a:solidFill>
            <a:prstDash val="solid"/>
          </a:ln>
        </p:spPr>
      </p:sp>
      <p:sp>
        <p:nvSpPr>
          <p:cNvPr id="7" name="Text 4"/>
          <p:cNvSpPr txBox="1"/>
          <p:nvPr/>
        </p:nvSpPr>
        <p:spPr>
          <a:xfrm>
            <a:off x="1463040" y="1783080"/>
            <a:ext cx="2514600" cy="411480"/>
          </a:xfrm>
          <a:prstGeom prst="rect">
            <a:avLst/>
          </a:prstGeom>
          <a:noFill/>
        </p:spPr>
        <p:txBody>
          <a:bodyPr wrap="square" lIns="0" tIns="0" rIns="0" bIns="0" rtlCol="0" anchor="ctr"/>
          <a:lstStyle/>
          <a:p>
            <a:pPr marL="0" indent="0">
              <a:buNone/>
            </a:pPr>
            <a:r>
              <a:rPr lang="en-US" sz="1600" b="1" dirty="0">
                <a:solidFill>
                  <a:srgbClr val="1B3A64"/>
                </a:solidFill>
                <a:latin typeface="Arial" panose="020B0604020202020204" pitchFamily="34" charset="0"/>
                <a:ea typeface="Arial" panose="020B0604020202020204" pitchFamily="34" charset="-122"/>
                <a:cs typeface="Arial" panose="020B0604020202020204" pitchFamily="34" charset="-120"/>
              </a:rPr>
              <a:t>Built</a:t>
            </a:r>
            <a:endParaRPr lang="en-US" sz="1600" dirty="0"/>
          </a:p>
        </p:txBody>
      </p:sp>
      <p:sp>
        <p:nvSpPr>
          <p:cNvPr id="8" name="Text 5"/>
          <p:cNvSpPr txBox="1"/>
          <p:nvPr/>
        </p:nvSpPr>
        <p:spPr>
          <a:xfrm>
            <a:off x="1005840" y="2304288"/>
            <a:ext cx="2971800" cy="1005840"/>
          </a:xfrm>
          <a:prstGeom prst="rect">
            <a:avLst/>
          </a:prstGeom>
          <a:noFill/>
        </p:spPr>
        <p:txBody>
          <a:bodyPr wrap="square" lIns="0" tIns="0" rIns="0" bIns="0" rtlCol="0" anchor="t"/>
          <a:lstStyle/>
          <a:p>
            <a:pPr marL="0" indent="0">
              <a:buNone/>
            </a:pPr>
            <a:r>
              <a:rPr lang="en-US" sz="1300" dirty="0">
                <a:solidFill>
                  <a:srgbClr val="1F2937"/>
                </a:solidFill>
                <a:latin typeface="Arial" panose="020B0604020202020204" pitchFamily="34" charset="0"/>
                <a:ea typeface="Arial" panose="020B0604020202020204" pitchFamily="34" charset="-122"/>
                <a:cs typeface="Arial" panose="020B0604020202020204" pitchFamily="34" charset="-120"/>
              </a:rPr>
              <a:t>LightGBM pipeline, class weights, chronological split – 64.6% KSI recall; 83% of fatal crashes flagged as severe</a:t>
            </a:r>
            <a:endParaRPr lang="en-US" sz="1300" dirty="0"/>
          </a:p>
        </p:txBody>
      </p:sp>
      <p:sp>
        <p:nvSpPr>
          <p:cNvPr id="9" name="summary"/>
          <p:cNvSpPr/>
          <p:nvPr/>
        </p:nvSpPr>
        <p:spPr>
          <a:xfrm>
            <a:off x="4425696" y="1645920"/>
            <a:ext cx="3337560" cy="1691640"/>
          </a:xfrm>
          <a:prstGeom prst="roundRect">
            <a:avLst>
              <a:gd name="adj" fmla="val 4324"/>
            </a:avLst>
          </a:prstGeom>
          <a:solidFill>
            <a:srgbClr val="F3F4F6"/>
          </a:solidFill>
          <a:ln w="12700">
            <a:solidFill>
              <a:srgbClr val="F3F4F6"/>
            </a:solidFill>
            <a:prstDash val="solid"/>
          </a:ln>
        </p:spPr>
      </p:sp>
      <p:sp>
        <p:nvSpPr>
          <p:cNvPr id="10" name="Shape 7"/>
          <p:cNvSpPr/>
          <p:nvPr/>
        </p:nvSpPr>
        <p:spPr>
          <a:xfrm>
            <a:off x="4608576" y="1828800"/>
            <a:ext cx="320040" cy="320040"/>
          </a:xfrm>
          <a:prstGeom prst="rect">
            <a:avLst/>
          </a:prstGeom>
          <a:solidFill>
            <a:srgbClr val="E8872A"/>
          </a:solidFill>
          <a:ln w="12700">
            <a:solidFill>
              <a:srgbClr val="E8872A"/>
            </a:solidFill>
            <a:prstDash val="solid"/>
          </a:ln>
        </p:spPr>
      </p:sp>
      <p:sp>
        <p:nvSpPr>
          <p:cNvPr id="11" name="Text 8"/>
          <p:cNvSpPr txBox="1"/>
          <p:nvPr/>
        </p:nvSpPr>
        <p:spPr>
          <a:xfrm>
            <a:off x="5065776" y="1783080"/>
            <a:ext cx="2514600" cy="411480"/>
          </a:xfrm>
          <a:prstGeom prst="rect">
            <a:avLst/>
          </a:prstGeom>
          <a:noFill/>
        </p:spPr>
        <p:txBody>
          <a:bodyPr wrap="square" lIns="0" tIns="0" rIns="0" bIns="0" rtlCol="0" anchor="ctr"/>
          <a:lstStyle/>
          <a:p>
            <a:pPr marL="0" indent="0">
              <a:buNone/>
            </a:pPr>
            <a:r>
              <a:rPr lang="en-US" sz="1600" b="1" dirty="0">
                <a:solidFill>
                  <a:srgbClr val="1B3A64"/>
                </a:solidFill>
                <a:latin typeface="Arial" panose="020B0604020202020204" pitchFamily="34" charset="0"/>
                <a:ea typeface="Arial" panose="020B0604020202020204" pitchFamily="34" charset="-122"/>
                <a:cs typeface="Arial" panose="020B0604020202020204" pitchFamily="34" charset="-120"/>
              </a:rPr>
              <a:t>Operationalised</a:t>
            </a:r>
            <a:endParaRPr lang="en-US" sz="1600" dirty="0"/>
          </a:p>
        </p:txBody>
      </p:sp>
      <p:sp>
        <p:nvSpPr>
          <p:cNvPr id="12" name="Text 9"/>
          <p:cNvSpPr txBox="1"/>
          <p:nvPr/>
        </p:nvSpPr>
        <p:spPr>
          <a:xfrm>
            <a:off x="4608576" y="2304288"/>
            <a:ext cx="2971800" cy="1005840"/>
          </a:xfrm>
          <a:prstGeom prst="rect">
            <a:avLst/>
          </a:prstGeom>
          <a:noFill/>
        </p:spPr>
        <p:txBody>
          <a:bodyPr wrap="square" lIns="0" tIns="0" rIns="0" bIns="0" rtlCol="0" anchor="t"/>
          <a:lstStyle/>
          <a:p>
            <a:pPr marL="0" indent="0">
              <a:buNone/>
            </a:pPr>
            <a:r>
              <a:rPr lang="en-US" sz="1300" dirty="0">
                <a:solidFill>
                  <a:srgbClr val="1F2937"/>
                </a:solidFill>
                <a:latin typeface="Arial" panose="020B0604020202020204" pitchFamily="34" charset="0"/>
                <a:ea typeface="Arial" panose="020B0604020202020204" pitchFamily="34" charset="-122"/>
                <a:cs typeface="Arial" panose="020B0604020202020204" pitchFamily="34" charset="-120"/>
              </a:rPr>
              <a:t>MLflow tracking and registry with a champion gate; FastAPI in Docker with a Streamlit front end</a:t>
            </a:r>
            <a:endParaRPr lang="en-US" sz="1300" dirty="0"/>
          </a:p>
        </p:txBody>
      </p:sp>
      <p:sp>
        <p:nvSpPr>
          <p:cNvPr id="13" name="summary"/>
          <p:cNvSpPr/>
          <p:nvPr/>
        </p:nvSpPr>
        <p:spPr>
          <a:xfrm>
            <a:off x="8028432" y="1645920"/>
            <a:ext cx="3337560" cy="1691640"/>
          </a:xfrm>
          <a:prstGeom prst="roundRect">
            <a:avLst>
              <a:gd name="adj" fmla="val 4324"/>
            </a:avLst>
          </a:prstGeom>
          <a:solidFill>
            <a:srgbClr val="F3F4F6"/>
          </a:solidFill>
          <a:ln w="12700">
            <a:solidFill>
              <a:srgbClr val="F3F4F6"/>
            </a:solidFill>
            <a:prstDash val="solid"/>
          </a:ln>
        </p:spPr>
      </p:sp>
      <p:sp>
        <p:nvSpPr>
          <p:cNvPr id="14" name="Shape 11"/>
          <p:cNvSpPr/>
          <p:nvPr/>
        </p:nvSpPr>
        <p:spPr>
          <a:xfrm>
            <a:off x="8211312" y="1828800"/>
            <a:ext cx="320040" cy="320040"/>
          </a:xfrm>
          <a:prstGeom prst="rect">
            <a:avLst/>
          </a:prstGeom>
          <a:solidFill>
            <a:srgbClr val="CC3224"/>
          </a:solidFill>
          <a:ln w="12700">
            <a:solidFill>
              <a:srgbClr val="CC3224"/>
            </a:solidFill>
            <a:prstDash val="solid"/>
          </a:ln>
        </p:spPr>
      </p:sp>
      <p:sp>
        <p:nvSpPr>
          <p:cNvPr id="15" name="Text 12"/>
          <p:cNvSpPr txBox="1"/>
          <p:nvPr/>
        </p:nvSpPr>
        <p:spPr>
          <a:xfrm>
            <a:off x="8668512" y="1783080"/>
            <a:ext cx="2514600" cy="411480"/>
          </a:xfrm>
          <a:prstGeom prst="rect">
            <a:avLst/>
          </a:prstGeom>
          <a:noFill/>
        </p:spPr>
        <p:txBody>
          <a:bodyPr wrap="square" lIns="0" tIns="0" rIns="0" bIns="0" rtlCol="0" anchor="ctr"/>
          <a:lstStyle/>
          <a:p>
            <a:pPr marL="0" indent="0">
              <a:buNone/>
            </a:pPr>
            <a:r>
              <a:rPr lang="en-US" sz="1600" b="1" dirty="0">
                <a:solidFill>
                  <a:srgbClr val="1B3A64"/>
                </a:solidFill>
                <a:latin typeface="Arial" panose="020B0604020202020204" pitchFamily="34" charset="0"/>
                <a:ea typeface="Arial" panose="020B0604020202020204" pitchFamily="34" charset="-122"/>
                <a:cs typeface="Arial" panose="020B0604020202020204" pitchFamily="34" charset="-120"/>
              </a:rPr>
              <a:t>Kept healthy</a:t>
            </a:r>
            <a:endParaRPr lang="en-US" sz="1600" dirty="0"/>
          </a:p>
        </p:txBody>
      </p:sp>
      <p:sp>
        <p:nvSpPr>
          <p:cNvPr id="16" name="Text 13"/>
          <p:cNvSpPr txBox="1"/>
          <p:nvPr/>
        </p:nvSpPr>
        <p:spPr>
          <a:xfrm>
            <a:off x="8211312" y="2304288"/>
            <a:ext cx="2971800" cy="1005840"/>
          </a:xfrm>
          <a:prstGeom prst="rect">
            <a:avLst/>
          </a:prstGeom>
          <a:noFill/>
        </p:spPr>
        <p:txBody>
          <a:bodyPr wrap="square" lIns="0" tIns="0" rIns="0" bIns="0" rtlCol="0" anchor="t"/>
          <a:lstStyle/>
          <a:p>
            <a:pPr marL="0" indent="0">
              <a:buNone/>
            </a:pPr>
            <a:r>
              <a:rPr lang="en-US" sz="1300" dirty="0">
                <a:solidFill>
                  <a:srgbClr val="1F2937"/>
                </a:solidFill>
                <a:latin typeface="Arial" panose="020B0604020202020204" pitchFamily="34" charset="0"/>
                <a:ea typeface="Arial" panose="020B0604020202020204" pitchFamily="34" charset="-122"/>
                <a:cs typeface="Arial" panose="020B0604020202020204" pitchFamily="34" charset="-120"/>
              </a:rPr>
              <a:t>Drift, location, recall and latency monitoring with an explicit retraining policy, run weekly by Airflow</a:t>
            </a:r>
            <a:endParaRPr lang="en-US" sz="1300" dirty="0"/>
          </a:p>
        </p:txBody>
      </p:sp>
      <p:sp>
        <p:nvSpPr>
          <p:cNvPr id="17" name="Text 14"/>
          <p:cNvSpPr txBox="1"/>
          <p:nvPr/>
        </p:nvSpPr>
        <p:spPr>
          <a:xfrm>
            <a:off x="822960" y="3520440"/>
            <a:ext cx="5166360" cy="320040"/>
          </a:xfrm>
          <a:prstGeom prst="rect">
            <a:avLst/>
          </a:prstGeom>
          <a:noFill/>
        </p:spPr>
        <p:txBody>
          <a:bodyPr wrap="square" lIns="0" tIns="0" rIns="0" bIns="0" rtlCol="0" anchor="t"/>
          <a:lstStyle/>
          <a:p>
            <a:pPr marL="0" indent="0">
              <a:buNone/>
            </a:pPr>
            <a:r>
              <a:rPr lang="en-US" sz="1600" b="1" dirty="0">
                <a:solidFill>
                  <a:srgbClr val="CC3224"/>
                </a:solidFill>
                <a:latin typeface="Arial" panose="020B0604020202020204" pitchFamily="34" charset="0"/>
                <a:ea typeface="Arial" panose="020B0604020202020204" pitchFamily="34" charset="-122"/>
                <a:cs typeface="Arial" panose="020B0604020202020204" pitchFamily="34" charset="-120"/>
              </a:rPr>
              <a:t>Limitations</a:t>
            </a:r>
            <a:endParaRPr lang="en-US" sz="1600" dirty="0"/>
          </a:p>
        </p:txBody>
      </p:sp>
      <p:sp>
        <p:nvSpPr>
          <p:cNvPr id="18" name="Text 15"/>
          <p:cNvSpPr txBox="1"/>
          <p:nvPr/>
        </p:nvSpPr>
        <p:spPr>
          <a:xfrm>
            <a:off x="822960" y="3931920"/>
            <a:ext cx="5166360" cy="2194560"/>
          </a:xfrm>
          <a:prstGeom prst="rect">
            <a:avLst/>
          </a:prstGeom>
          <a:noFill/>
        </p:spPr>
        <p:txBody>
          <a:bodyPr wrap="square" lIns="0" tIns="0" rIns="0" bIns="0" rtlCol="0" anchor="t"/>
          <a:lstStyle/>
          <a:p>
            <a:pPr marL="203200" indent="-203200">
              <a:spcAft>
                <a:spcPts val="1000"/>
              </a:spcAft>
              <a:buSzPct val="100000"/>
              <a:buChar char="•"/>
            </a:pPr>
            <a:r>
              <a:rPr lang="en-US" sz="1500" dirty="0">
                <a:solidFill>
                  <a:srgbClr val="1F2937"/>
                </a:solidFill>
                <a:latin typeface="Arial" panose="020B0604020202020204" pitchFamily="34" charset="0"/>
                <a:ea typeface="Arial" panose="020B0604020202020204" pitchFamily="34" charset="-122"/>
                <a:cs typeface="Arial" panose="020B0604020202020204" pitchFamily="34" charset="-120"/>
              </a:rPr>
              <a:t>Weather at 1° grid – regional, not street-level</a:t>
            </a:r>
            <a:endParaRPr lang="en-US" sz="1500" dirty="0"/>
          </a:p>
          <a:p>
            <a:pPr marL="203200" indent="-203200">
              <a:spcAft>
                <a:spcPts val="1000"/>
              </a:spcAft>
              <a:buSzPct val="100000"/>
              <a:buChar char="•"/>
            </a:pPr>
            <a:r>
              <a:rPr lang="en-US" sz="1500" dirty="0">
                <a:solidFill>
                  <a:srgbClr val="1F2937"/>
                </a:solidFill>
                <a:latin typeface="Arial" panose="020B0604020202020204" pitchFamily="34" charset="0"/>
                <a:ea typeface="Arial" panose="020B0604020202020204" pitchFamily="34" charset="-122"/>
                <a:cs typeface="Arial" panose="020B0604020202020204" pitchFamily="34" charset="-120"/>
              </a:rPr>
              <a:t>Unrecorded factors (speed at impact, seatbelts) cap performance</a:t>
            </a:r>
            <a:endParaRPr lang="en-US" sz="1500" dirty="0"/>
          </a:p>
          <a:p>
            <a:pPr marL="203200" indent="-203200">
              <a:spcAft>
                <a:spcPts val="1000"/>
              </a:spcAft>
              <a:buSzPct val="100000"/>
              <a:buChar char="•"/>
            </a:pPr>
            <a:r>
              <a:rPr lang="en-US" sz="1500" dirty="0">
                <a:solidFill>
                  <a:srgbClr val="1F2937"/>
                </a:solidFill>
                <a:latin typeface="Arial" panose="020B0604020202020204" pitchFamily="34" charset="0"/>
                <a:ea typeface="Arial" panose="020B0604020202020204" pitchFamily="34" charset="-122"/>
                <a:cs typeface="Arial" panose="020B0604020202020204" pitchFamily="34" charset="-120"/>
              </a:rPr>
              <a:t>Probabilities not calibrated</a:t>
            </a:r>
            <a:endParaRPr lang="en-US" sz="1500" dirty="0"/>
          </a:p>
          <a:p>
            <a:pPr marL="203200" indent="-203200">
              <a:spcAft>
                <a:spcPts val="1000"/>
              </a:spcAft>
              <a:buSzPct val="100000"/>
              <a:buChar char="•"/>
            </a:pPr>
            <a:r>
              <a:rPr lang="en-US" sz="1500" dirty="0">
                <a:solidFill>
                  <a:srgbClr val="1F2937"/>
                </a:solidFill>
                <a:latin typeface="Arial" panose="020B0604020202020204" pitchFamily="34" charset="0"/>
                <a:ea typeface="Arial" panose="020B0604020202020204" pitchFamily="34" charset="-122"/>
                <a:cs typeface="Arial" panose="020B0604020202020204" pitchFamily="34" charset="-120"/>
              </a:rPr>
              <a:t>Fatal precision ≈ 9% – many false alarms</a:t>
            </a:r>
            <a:endParaRPr lang="en-US" sz="1500" dirty="0"/>
          </a:p>
        </p:txBody>
      </p:sp>
      <p:sp>
        <p:nvSpPr>
          <p:cNvPr id="19" name="Text 16"/>
          <p:cNvSpPr txBox="1"/>
          <p:nvPr/>
        </p:nvSpPr>
        <p:spPr>
          <a:xfrm>
            <a:off x="6199632" y="3520440"/>
            <a:ext cx="5166360" cy="320040"/>
          </a:xfrm>
          <a:prstGeom prst="rect">
            <a:avLst/>
          </a:prstGeom>
          <a:noFill/>
        </p:spPr>
        <p:txBody>
          <a:bodyPr wrap="square" lIns="0" tIns="0" rIns="0" bIns="0" rtlCol="0" anchor="t"/>
          <a:lstStyle/>
          <a:p>
            <a:pPr marL="0" indent="0">
              <a:buNone/>
            </a:pPr>
            <a:r>
              <a:rPr lang="en-US" sz="1600" b="1" dirty="0">
                <a:solidFill>
                  <a:srgbClr val="2F855A"/>
                </a:solidFill>
                <a:latin typeface="Arial" panose="020B0604020202020204" pitchFamily="34" charset="0"/>
                <a:ea typeface="Arial" panose="020B0604020202020204" pitchFamily="34" charset="-122"/>
                <a:cs typeface="Arial" panose="020B0604020202020204" pitchFamily="34" charset="-120"/>
              </a:rPr>
              <a:t>Future scope</a:t>
            </a:r>
            <a:endParaRPr lang="en-US" sz="1600" dirty="0"/>
          </a:p>
        </p:txBody>
      </p:sp>
      <p:sp>
        <p:nvSpPr>
          <p:cNvPr id="20" name="Text 17"/>
          <p:cNvSpPr txBox="1"/>
          <p:nvPr/>
        </p:nvSpPr>
        <p:spPr>
          <a:xfrm>
            <a:off x="6199632" y="3931920"/>
            <a:ext cx="5166360" cy="2194560"/>
          </a:xfrm>
          <a:prstGeom prst="rect">
            <a:avLst/>
          </a:prstGeom>
          <a:noFill/>
        </p:spPr>
        <p:txBody>
          <a:bodyPr wrap="square" lIns="0" tIns="0" rIns="0" bIns="0" rtlCol="0" anchor="t"/>
          <a:lstStyle/>
          <a:p>
            <a:pPr marL="203200" indent="-203200">
              <a:spcAft>
                <a:spcPts val="1000"/>
              </a:spcAft>
              <a:buSzPct val="100000"/>
              <a:buChar char="•"/>
            </a:pPr>
            <a:r>
              <a:rPr lang="en-US" sz="1500" dirty="0">
                <a:solidFill>
                  <a:srgbClr val="1F2937"/>
                </a:solidFill>
                <a:latin typeface="Arial" panose="020B0604020202020204" pitchFamily="34" charset="0"/>
                <a:ea typeface="Arial" panose="020B0604020202020204" pitchFamily="34" charset="-122"/>
                <a:cs typeface="Arial" panose="020B0604020202020204" pitchFamily="34" charset="-120"/>
              </a:rPr>
              <a:t>Probability calibration and threshold tuning for a target KSI recall</a:t>
            </a:r>
            <a:endParaRPr lang="en-US" sz="1500" dirty="0"/>
          </a:p>
          <a:p>
            <a:pPr marL="203200" indent="-203200">
              <a:spcAft>
                <a:spcPts val="1000"/>
              </a:spcAft>
              <a:buSzPct val="100000"/>
              <a:buChar char="•"/>
            </a:pPr>
            <a:r>
              <a:rPr lang="en-US" sz="1500" dirty="0">
                <a:solidFill>
                  <a:srgbClr val="1F2937"/>
                </a:solidFill>
                <a:latin typeface="Arial" panose="020B0604020202020204" pitchFamily="34" charset="0"/>
                <a:ea typeface="Arial" panose="020B0604020202020204" pitchFamily="34" charset="-122"/>
                <a:cs typeface="Arial" panose="020B0604020202020204" pitchFamily="34" charset="-120"/>
              </a:rPr>
              <a:t>OpenStreetMap road context as extra features</a:t>
            </a:r>
            <a:endParaRPr lang="en-US" sz="1500" dirty="0"/>
          </a:p>
          <a:p>
            <a:pPr marL="203200" indent="-203200">
              <a:spcAft>
                <a:spcPts val="1000"/>
              </a:spcAft>
              <a:buSzPct val="100000"/>
              <a:buChar char="•"/>
            </a:pPr>
            <a:r>
              <a:rPr lang="en-US" sz="1500" dirty="0">
                <a:solidFill>
                  <a:srgbClr val="1F2937"/>
                </a:solidFill>
                <a:latin typeface="Arial" panose="020B0604020202020204" pitchFamily="34" charset="0"/>
                <a:ea typeface="Arial" panose="020B0604020202020204" pitchFamily="34" charset="-122"/>
                <a:cs typeface="Arial" panose="020B0604020202020204" pitchFamily="34" charset="-120"/>
              </a:rPr>
              <a:t>Tracked comparison with XGBoost / random forest</a:t>
            </a:r>
            <a:endParaRPr lang="en-US" sz="1500" dirty="0"/>
          </a:p>
          <a:p>
            <a:pPr marL="203200" indent="-203200">
              <a:spcAft>
                <a:spcPts val="1000"/>
              </a:spcAft>
              <a:buSzPct val="100000"/>
              <a:buChar char="•"/>
            </a:pPr>
            <a:r>
              <a:rPr lang="en-US" sz="1500" dirty="0">
                <a:solidFill>
                  <a:srgbClr val="1F2937"/>
                </a:solidFill>
                <a:latin typeface="Arial" panose="020B0604020202020204" pitchFamily="34" charset="0"/>
                <a:ea typeface="Arial" panose="020B0604020202020204" pitchFamily="34" charset="-122"/>
                <a:cs typeface="Arial" panose="020B0604020202020204" pitchFamily="34" charset="-120"/>
              </a:rPr>
              <a:t>Canary deployment of new champions</a:t>
            </a:r>
            <a:endParaRPr lang="en-US" sz="1500" dirty="0"/>
          </a:p>
        </p:txBody>
      </p:sp>
      <p:sp>
        <p:nvSpPr>
          <p:cNvPr id="25" name="Slide Number Placeholder 0"/>
          <p:cNvSpPr>
            <a:spLocks noGrp="1"/>
          </p:cNvSpPr>
          <p:nvPr>
            <p:ph type="sldNum" sz="quarter" idx="4294967295"/>
          </p:nvPr>
        </p:nvSpPr>
        <p:spPr>
          <a:xfrm>
            <a:off x="11320272" y="6492240"/>
            <a:ext cx="320040" cy="256032"/>
          </a:xfrm>
          <a:prstGeom prst="rect">
            <a:avLst/>
          </a:prstGeom>
        </p:spPr>
        <p:txBody>
          <a:bodyPr/>
          <a:lstStyle>
            <a:lvl1pPr>
              <a:defRPr sz="1000">
                <a:solidFill>
                  <a:srgbClr val="6B7280"/>
                </a:solidFill>
                <a:latin typeface="Arial" panose="020B0604020202020204"/>
                <a:ea typeface="Arial" panose="020B0604020202020204"/>
                <a:cs typeface="Arial" panose="020B0604020202020204"/>
              </a:defRPr>
            </a:lvl1pPr>
          </a:lstStyle>
          <a:p>
            <a:pPr algn="r"/>
            <a:fld id="{F7021451-1387-4CA6-816F-3879F97B5CBC}" type="slidenum">
              <a:rPr lang="en-US" b="0"/>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7"/>
          <p:cNvSpPr/>
          <p:nvPr>
            <p:ph type="title" idx="107" hasCustomPrompt="1"/>
          </p:nvPr>
        </p:nvSpPr>
        <p:spPr>
          <a:xfrm>
            <a:off x="594360" y="566928"/>
            <a:ext cx="10515600" cy="594360"/>
          </a:xfrm>
          <a:prstGeom prst="rect">
            <a:avLst/>
          </a:prstGeom>
          <a:noFill/>
        </p:spPr>
        <p:txBody>
          <a:bodyPr wrap="square" lIns="0" tIns="0" rIns="0" bIns="0" rtlCol="0" anchor="ctr"/>
          <a:lstStyle/>
          <a:p>
            <a:pPr marL="0" indent="0" algn="l">
              <a:buNone/>
            </a:pPr>
            <a:r>
              <a:rPr lang="en-US" sz="3000" b="1" dirty="0">
                <a:solidFill>
                  <a:srgbClr val="1B3A64"/>
                </a:solidFill>
                <a:latin typeface="Arial" panose="020B0604020202020204" pitchFamily="34" charset="0"/>
                <a:ea typeface="Arial" panose="020B0604020202020204" pitchFamily="34" charset="-122"/>
                <a:cs typeface="Arial" panose="020B0604020202020204" pitchFamily="34" charset="-120"/>
              </a:rPr>
              <a:t>14. References</a:t>
            </a:r>
            <a:endParaRPr lang="en-US" sz="3000" dirty="0"/>
          </a:p>
        </p:txBody>
      </p:sp>
      <p:sp>
        <p:nvSpPr>
          <p:cNvPr id="3" name="content panel"/>
          <p:cNvSpPr/>
          <p:nvPr/>
        </p:nvSpPr>
        <p:spPr>
          <a:xfrm>
            <a:off x="548640" y="1417320"/>
            <a:ext cx="11091672" cy="4846320"/>
          </a:xfrm>
          <a:prstGeom prst="roundRect">
            <a:avLst>
              <a:gd name="adj" fmla="val 1132"/>
            </a:avLst>
          </a:prstGeom>
          <a:solidFill>
            <a:srgbClr val="FFFFFF"/>
          </a:solidFill>
          <a:ln w="15875">
            <a:solidFill>
              <a:srgbClr val="D1D5DB"/>
            </a:solidFill>
            <a:prstDash val="solid"/>
          </a:ln>
        </p:spPr>
      </p:sp>
      <p:sp>
        <p:nvSpPr>
          <p:cNvPr id="4" name="Text 2"/>
          <p:cNvSpPr txBox="1"/>
          <p:nvPr/>
        </p:nvSpPr>
        <p:spPr>
          <a:xfrm>
            <a:off x="822960" y="1737360"/>
            <a:ext cx="10543032" cy="4114800"/>
          </a:xfrm>
          <a:prstGeom prst="rect">
            <a:avLst/>
          </a:prstGeom>
          <a:noFill/>
        </p:spPr>
        <p:txBody>
          <a:bodyPr wrap="square" lIns="0" tIns="0" rIns="0" bIns="0" rtlCol="0" anchor="t"/>
          <a:lstStyle/>
          <a:p>
            <a:pPr marL="203200" indent="-203200">
              <a:spcAft>
                <a:spcPts val="1000"/>
              </a:spcAft>
              <a:buSzPct val="100000"/>
              <a:buChar char="•"/>
            </a:pPr>
            <a:r>
              <a:rPr lang="en-US" sz="1400" dirty="0">
                <a:solidFill>
                  <a:srgbClr val="1F2937"/>
                </a:solidFill>
                <a:latin typeface="Arial" panose="020B0604020202020204" pitchFamily="34" charset="0"/>
                <a:ea typeface="Arial" panose="020B0604020202020204" pitchFamily="34" charset="-122"/>
                <a:cs typeface="Arial" panose="020B0604020202020204" pitchFamily="34" charset="-120"/>
              </a:rPr>
              <a:t>Department for Transport, STATS19 road safety data (collision, vehicle, casualty files, 2023–2024) – Open Government Licence v3.0.</a:t>
            </a:r>
            <a:endParaRPr lang="en-US" sz="1400" dirty="0"/>
          </a:p>
          <a:p>
            <a:pPr marL="203200" indent="-203200">
              <a:spcAft>
                <a:spcPts val="1000"/>
              </a:spcAft>
              <a:buSzPct val="100000"/>
              <a:buChar char="•"/>
            </a:pPr>
            <a:r>
              <a:rPr lang="en-US" sz="1400" dirty="0">
                <a:solidFill>
                  <a:srgbClr val="1F2937"/>
                </a:solidFill>
                <a:latin typeface="Arial" panose="020B0604020202020204" pitchFamily="34" charset="0"/>
                <a:ea typeface="Arial" panose="020B0604020202020204" pitchFamily="34" charset="-122"/>
                <a:cs typeface="Arial" panose="020B0604020202020204" pitchFamily="34" charset="-120"/>
              </a:rPr>
              <a:t>Open-Meteo, Historical Weather API (archive) – CC BY 4.0.</a:t>
            </a:r>
            <a:endParaRPr lang="en-US" sz="1400" dirty="0"/>
          </a:p>
          <a:p>
            <a:pPr marL="203200" indent="-203200">
              <a:spcAft>
                <a:spcPts val="1000"/>
              </a:spcAft>
              <a:buSzPct val="100000"/>
              <a:buChar char="•"/>
            </a:pPr>
            <a:r>
              <a:rPr lang="en-US" sz="1400" dirty="0">
                <a:solidFill>
                  <a:srgbClr val="1F2937"/>
                </a:solidFill>
                <a:latin typeface="Arial" panose="020B0604020202020204" pitchFamily="34" charset="0"/>
                <a:ea typeface="Arial" panose="020B0604020202020204" pitchFamily="34" charset="-122"/>
                <a:cs typeface="Arial" panose="020B0604020202020204" pitchFamily="34" charset="-120"/>
              </a:rPr>
              <a:t>LightGBM documentation – gradient-boosted decision trees and class weighting.</a:t>
            </a:r>
            <a:endParaRPr lang="en-US" sz="1400" dirty="0"/>
          </a:p>
          <a:p>
            <a:pPr marL="203200" indent="-203200">
              <a:spcAft>
                <a:spcPts val="1000"/>
              </a:spcAft>
              <a:buSzPct val="100000"/>
              <a:buChar char="•"/>
            </a:pPr>
            <a:r>
              <a:rPr lang="en-US" sz="1400" dirty="0">
                <a:solidFill>
                  <a:srgbClr val="1F2937"/>
                </a:solidFill>
                <a:latin typeface="Arial" panose="020B0604020202020204" pitchFamily="34" charset="0"/>
                <a:ea typeface="Arial" panose="020B0604020202020204" pitchFamily="34" charset="-122"/>
                <a:cs typeface="Arial" panose="020B0604020202020204" pitchFamily="34" charset="-120"/>
              </a:rPr>
              <a:t>scikit-learn documentation – Pipeline, ColumnTransformer, classification metrics.</a:t>
            </a:r>
            <a:endParaRPr lang="en-US" sz="1400" dirty="0"/>
          </a:p>
          <a:p>
            <a:pPr marL="203200" indent="-203200">
              <a:spcAft>
                <a:spcPts val="1000"/>
              </a:spcAft>
              <a:buSzPct val="100000"/>
              <a:buChar char="•"/>
            </a:pPr>
            <a:r>
              <a:rPr lang="en-US" sz="1400" dirty="0">
                <a:solidFill>
                  <a:srgbClr val="1F2937"/>
                </a:solidFill>
                <a:latin typeface="Arial" panose="020B0604020202020204" pitchFamily="34" charset="0"/>
                <a:ea typeface="Arial" panose="020B0604020202020204" pitchFamily="34" charset="-122"/>
                <a:cs typeface="Arial" panose="020B0604020202020204" pitchFamily="34" charset="-120"/>
              </a:rPr>
              <a:t>MLflow documentation – Tracking and Model Registry (aliases).</a:t>
            </a:r>
            <a:endParaRPr lang="en-US" sz="1400" dirty="0"/>
          </a:p>
          <a:p>
            <a:pPr marL="203200" indent="-203200">
              <a:spcAft>
                <a:spcPts val="1000"/>
              </a:spcAft>
              <a:buSzPct val="100000"/>
              <a:buChar char="•"/>
            </a:pPr>
            <a:r>
              <a:rPr lang="en-US" sz="1400" dirty="0">
                <a:solidFill>
                  <a:srgbClr val="1F2937"/>
                </a:solidFill>
                <a:latin typeface="Arial" panose="020B0604020202020204" pitchFamily="34" charset="0"/>
                <a:ea typeface="Arial" panose="020B0604020202020204" pitchFamily="34" charset="-122"/>
                <a:cs typeface="Arial" panose="020B0604020202020204" pitchFamily="34" charset="-120"/>
              </a:rPr>
              <a:t>FastAPI and pydantic documentation; Docker and Docker Compose documentation.</a:t>
            </a:r>
            <a:endParaRPr lang="en-US" sz="1400" dirty="0"/>
          </a:p>
          <a:p>
            <a:pPr marL="203200" indent="-203200">
              <a:spcAft>
                <a:spcPts val="1000"/>
              </a:spcAft>
              <a:buSzPct val="100000"/>
              <a:buChar char="•"/>
            </a:pPr>
            <a:r>
              <a:rPr lang="en-US" sz="1400" dirty="0">
                <a:solidFill>
                  <a:srgbClr val="1F2937"/>
                </a:solidFill>
                <a:latin typeface="Arial" panose="020B0604020202020204" pitchFamily="34" charset="0"/>
                <a:ea typeface="Arial" panose="020B0604020202020204" pitchFamily="34" charset="-122"/>
                <a:cs typeface="Arial" panose="020B0604020202020204" pitchFamily="34" charset="-120"/>
              </a:rPr>
              <a:t>Apache Airflow and Streamlit documentation.</a:t>
            </a:r>
            <a:endParaRPr lang="en-US" sz="1400" dirty="0"/>
          </a:p>
          <a:p>
            <a:pPr marL="203200" indent="-203200">
              <a:spcAft>
                <a:spcPts val="1000"/>
              </a:spcAft>
              <a:buSzPct val="100000"/>
              <a:buChar char="•"/>
            </a:pPr>
            <a:r>
              <a:rPr lang="en-US" sz="1400" dirty="0">
                <a:solidFill>
                  <a:srgbClr val="1F2937"/>
                </a:solidFill>
                <a:latin typeface="Arial" panose="020B0604020202020204" pitchFamily="34" charset="0"/>
                <a:ea typeface="Arial" panose="020B0604020202020204" pitchFamily="34" charset="-122"/>
                <a:cs typeface="Arial" panose="020B0604020202020204" pitchFamily="34" charset="-120"/>
              </a:rPr>
              <a:t>Population Stability Index (PSI) – standard drift measure for model monitoring.</a:t>
            </a:r>
            <a:endParaRPr lang="en-US" sz="1400" dirty="0"/>
          </a:p>
          <a:p>
            <a:pPr marL="203200" indent="-203200">
              <a:spcAft>
                <a:spcPts val="1000"/>
              </a:spcAft>
              <a:buSzPct val="100000"/>
              <a:buChar char="•"/>
            </a:pPr>
            <a:r>
              <a:rPr lang="en-US" sz="1400" dirty="0">
                <a:solidFill>
                  <a:srgbClr val="1F2937"/>
                </a:solidFill>
                <a:latin typeface="Arial" panose="020B0604020202020204" pitchFamily="34" charset="0"/>
                <a:ea typeface="Arial" panose="020B0604020202020204" pitchFamily="34" charset="-122"/>
                <a:cs typeface="Arial" panose="020B0604020202020204" pitchFamily="34" charset="-120"/>
              </a:rPr>
              <a:t>Part 1 of this project: Traffic Accident Severity Analytics (data pipeline and ml_accident_features table).</a:t>
            </a:r>
            <a:endParaRPr lang="en-US" sz="1400" dirty="0"/>
          </a:p>
        </p:txBody>
      </p:sp>
      <p:sp>
        <p:nvSpPr>
          <p:cNvPr id="25" name="Slide Number Placeholder 0"/>
          <p:cNvSpPr>
            <a:spLocks noGrp="1"/>
          </p:cNvSpPr>
          <p:nvPr>
            <p:ph type="sldNum" sz="quarter" idx="4294967295"/>
          </p:nvPr>
        </p:nvSpPr>
        <p:spPr>
          <a:xfrm>
            <a:off x="11320272" y="6492240"/>
            <a:ext cx="320040" cy="256032"/>
          </a:xfrm>
          <a:prstGeom prst="rect">
            <a:avLst/>
          </a:prstGeom>
        </p:spPr>
        <p:txBody>
          <a:bodyPr/>
          <a:lstStyle>
            <a:lvl1pPr>
              <a:defRPr sz="1000">
                <a:solidFill>
                  <a:srgbClr val="6B7280"/>
                </a:solidFill>
                <a:latin typeface="Arial" panose="020B0604020202020204"/>
                <a:ea typeface="Arial" panose="020B0604020202020204"/>
                <a:cs typeface="Arial" panose="020B0604020202020204"/>
              </a:defRPr>
            </a:lvl1pPr>
          </a:lstStyle>
          <a:p>
            <a:pPr algn="r"/>
            <a:fld id="{F7021451-1387-4CA6-816F-3879F97B5CBC}" type="slidenum">
              <a:rPr lang="en-US" b="0"/>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7"/>
          <p:cNvSpPr/>
          <p:nvPr>
            <p:ph type="title" idx="107" hasCustomPrompt="1"/>
          </p:nvPr>
        </p:nvSpPr>
        <p:spPr>
          <a:xfrm>
            <a:off x="594360" y="566928"/>
            <a:ext cx="10515600" cy="594360"/>
          </a:xfrm>
          <a:prstGeom prst="rect">
            <a:avLst/>
          </a:prstGeom>
          <a:noFill/>
        </p:spPr>
        <p:txBody>
          <a:bodyPr wrap="square" lIns="0" tIns="0" rIns="0" bIns="0" rtlCol="0" anchor="ctr"/>
          <a:lstStyle/>
          <a:p>
            <a:pPr marL="0" indent="0" algn="l">
              <a:buNone/>
            </a:pPr>
            <a:r>
              <a:rPr lang="en-US" sz="3000" b="1" dirty="0">
                <a:solidFill>
                  <a:srgbClr val="1B3A64"/>
                </a:solidFill>
                <a:latin typeface="Arial" panose="020B0604020202020204" pitchFamily="34" charset="0"/>
                <a:ea typeface="Arial" panose="020B0604020202020204" pitchFamily="34" charset="-122"/>
                <a:cs typeface="Arial" panose="020B0604020202020204" pitchFamily="34" charset="-120"/>
              </a:rPr>
              <a:t>Thank You</a:t>
            </a:r>
            <a:endParaRPr lang="en-US" sz="3000" dirty="0"/>
          </a:p>
        </p:txBody>
      </p:sp>
      <p:sp>
        <p:nvSpPr>
          <p:cNvPr id="3" name="Text 1"/>
          <p:cNvSpPr txBox="1"/>
          <p:nvPr/>
        </p:nvSpPr>
        <p:spPr>
          <a:xfrm>
            <a:off x="594360" y="2743200"/>
            <a:ext cx="11018520" cy="914400"/>
          </a:xfrm>
          <a:prstGeom prst="rect">
            <a:avLst/>
          </a:prstGeom>
          <a:noFill/>
        </p:spPr>
        <p:txBody>
          <a:bodyPr wrap="square" lIns="0" tIns="0" rIns="0" bIns="0" rtlCol="0" anchor="ctr"/>
          <a:lstStyle/>
          <a:p>
            <a:pPr marL="0" indent="0" algn="ctr">
              <a:buNone/>
            </a:pPr>
            <a:r>
              <a:rPr lang="en-US" sz="4800" b="1" dirty="0">
                <a:solidFill>
                  <a:srgbClr val="1B3A64"/>
                </a:solidFill>
                <a:latin typeface="Arial" panose="020B0604020202020204" pitchFamily="34" charset="0"/>
                <a:ea typeface="Arial" panose="020B0604020202020204" pitchFamily="34" charset="-122"/>
                <a:cs typeface="Arial" panose="020B0604020202020204" pitchFamily="34" charset="-120"/>
              </a:rPr>
              <a:t>Questions &amp; Discussion</a:t>
            </a:r>
            <a:endParaRPr lang="en-US" sz="4800" dirty="0"/>
          </a:p>
        </p:txBody>
      </p:sp>
      <p:sp>
        <p:nvSpPr>
          <p:cNvPr id="4" name="Text 2"/>
          <p:cNvSpPr txBox="1"/>
          <p:nvPr/>
        </p:nvSpPr>
        <p:spPr>
          <a:xfrm>
            <a:off x="594360" y="3931920"/>
            <a:ext cx="11018520" cy="457200"/>
          </a:xfrm>
          <a:prstGeom prst="rect">
            <a:avLst/>
          </a:prstGeom>
          <a:noFill/>
        </p:spPr>
        <p:txBody>
          <a:bodyPr wrap="square" lIns="0" tIns="0" rIns="0" bIns="0" rtlCol="0" anchor="t"/>
          <a:lstStyle/>
          <a:p>
            <a:pPr marL="0" indent="0" algn="ctr">
              <a:buNone/>
            </a:pPr>
            <a:r>
              <a:rPr lang="en-US" sz="2000" dirty="0">
                <a:solidFill>
                  <a:srgbClr val="6B7280"/>
                </a:solidFill>
                <a:latin typeface="Arial" panose="020B0604020202020204" pitchFamily="34" charset="0"/>
                <a:ea typeface="Arial" panose="020B0604020202020204" pitchFamily="34" charset="-122"/>
                <a:cs typeface="Arial" panose="020B0604020202020204" pitchFamily="34" charset="-120"/>
              </a:rPr>
              <a:t>Student Name: Madhan Matthew S   |   USN: 1CR23AI052</a:t>
            </a:r>
            <a:endParaRPr lang="en-US" sz="2000" dirty="0"/>
          </a:p>
        </p:txBody>
      </p:sp>
      <p:sp>
        <p:nvSpPr>
          <p:cNvPr id="25" name="Slide Number Placeholder 0"/>
          <p:cNvSpPr>
            <a:spLocks noGrp="1"/>
          </p:cNvSpPr>
          <p:nvPr>
            <p:ph type="sldNum" sz="quarter" idx="4294967295"/>
          </p:nvPr>
        </p:nvSpPr>
        <p:spPr>
          <a:xfrm>
            <a:off x="11320272" y="6492240"/>
            <a:ext cx="320040" cy="256032"/>
          </a:xfrm>
          <a:prstGeom prst="rect">
            <a:avLst/>
          </a:prstGeom>
        </p:spPr>
        <p:txBody>
          <a:bodyPr/>
          <a:lstStyle>
            <a:lvl1pPr>
              <a:defRPr sz="1000">
                <a:solidFill>
                  <a:srgbClr val="6B7280"/>
                </a:solidFill>
                <a:latin typeface="Arial" panose="020B0604020202020204"/>
                <a:ea typeface="Arial" panose="020B0604020202020204"/>
                <a:cs typeface="Arial" panose="020B0604020202020204"/>
              </a:defRPr>
            </a:lvl1pPr>
          </a:lstStyle>
          <a:p>
            <a:pPr algn="r"/>
            <a:fld id="{F7021451-1387-4CA6-816F-3879F97B5CBC}" type="slidenum">
              <a:rPr lang="en-US" b="0"/>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8714</Words>
  <Application>WPS Presentation</Application>
  <PresentationFormat>On-screen Show (16:9)</PresentationFormat>
  <Paragraphs>530</Paragraphs>
  <Slides>16</Slides>
  <Notes>16</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16</vt:i4>
      </vt:variant>
    </vt:vector>
  </HeadingPairs>
  <TitlesOfParts>
    <vt:vector size="29" baseType="lpstr">
      <vt:lpstr>Arial</vt:lpstr>
      <vt:lpstr>SimSun</vt:lpstr>
      <vt:lpstr>Wingdings</vt:lpstr>
      <vt:lpstr>Arial</vt:lpstr>
      <vt:lpstr>Arial</vt:lpstr>
      <vt:lpstr>Arial</vt:lpstr>
      <vt:lpstr>Courier New</vt:lpstr>
      <vt:lpstr>Courier New</vt:lpstr>
      <vt:lpstr>Courier New</vt:lpstr>
      <vt:lpstr>Microsoft YaHei</vt:lpstr>
      <vt:lpstr>Arial Unicode MS</vt:lpstr>
      <vt:lpstr>Calibri</vt:lpstr>
      <vt:lpstr>Office Theme</vt:lpstr>
      <vt:lpstr>PowerPoint 演示文稿</vt:lpstr>
      <vt:lpstr>1. Project Overview</vt:lpstr>
      <vt:lpstr>2. Dataset &amp; Chronological Split</vt:lpstr>
      <vt:lpstr>3. Proposed MLOps Architecture</vt:lpstr>
      <vt:lpstr>4. Model Training Pipeline</vt:lpstr>
      <vt:lpstr>5. Class Imbalance &amp; Metrics</vt:lpstr>
      <vt:lpstr>6. Results &amp; Key Insights</vt:lpstr>
      <vt:lpstr>7. Confusion Matrix</vt:lpstr>
      <vt:lpstr>8. MLflow Tracking &amp; Registry</vt:lpstr>
      <vt:lpstr>9. Serving: FastAPI &amp; Docker</vt:lpstr>
      <vt:lpstr>10. Monitoring &amp; Drift Detection</vt:lpstr>
      <vt:lpstr>11. Monitoring in Action</vt:lpstr>
      <vt:lpstr>12. Retraining Policy &amp; Lifecycle</vt:lpstr>
      <vt:lpstr>13. Conclusion &amp; Future Scope</vt:lpstr>
      <vt:lpstr>14. References</vt:lpstr>
      <vt:lpstr>Thank You</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Predicting Accident Severity with MLOps - Part 2</dc:title>
  <dc:creator>Madhan Matthew S</dc:creator>
  <dc:subject>PptxGenJS Presentation</dc:subject>
  <cp:lastModifiedBy>Harish S</cp:lastModifiedBy>
  <cp:revision>2</cp:revision>
  <dcterms:created xsi:type="dcterms:W3CDTF">2026-10-10T07:35:00Z</dcterms:created>
  <dcterms:modified xsi:type="dcterms:W3CDTF">2026-10-13T14:29:32Z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11FB099EB80F459E826AE7854CEAC071_13</vt:lpwstr>
  </property>
  <property fmtid="{D5CDD505-2E9C-101B-9397-08002B2CF9AE}" pid="3" name="KSOProductBuildVer">
    <vt:lpwstr>1033-12.1.0.29162</vt:lpwstr>
  </property>
</Properties>
</file>