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f4a8f81-5074-d4d3-5a31-bc4b4457e246}">
          <p14:sldIdLst>
            <p14:sldId id="256"/>
            <p14:sldId id="257"/>
            <p14:sldId id="258"/>
          </p14:sldIdLst>
        </p14:section>
        <p14:section name="Model development" id="{0973f6f1-653f-af68-e2e2-fb413af2f5c2}">
          <p14:sldIdLst>
            <p14:sldId id="259"/>
            <p14:sldId id="260"/>
            <p14:sldId id="261"/>
            <p14:sldId id="262"/>
          </p14:sldIdLst>
        </p14:section>
        <p14:section name="Results" id="{afdf10b4-1038-c574-a442-db11b33c88cf}">
          <p14:sldIdLst>
            <p14:sldId id="263"/>
            <p14:sldId id="264"/>
          </p14:sldIdLst>
        </p14:section>
        <p14:section name="Tracking, deployment and monitoring" id="{f4e42ea2-f90d-f7e4-398e-faa510167abc}">
          <p14:sldIdLst>
            <p14:sldId id="265"/>
            <p14:sldId id="266"/>
            <p14:sldId id="267"/>
            <p14:sldId id="268"/>
            <p14:sldId id="269"/>
          </p14:sldIdLst>
        </p14:section>
        <p14:section name="Wrap-up" id="{246021da-0b97-ee07-a134-e3307a6cd613}">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Severity</c:v>
                </c:pt>
              </c:strCache>
            </c:strRef>
          </c:tx>
          <c:spPr>
            <a:solidFill>
              <a:schemeClr val="accent1"/>
            </a:solidFill>
            <a:ln w="9525" cap="flat">
              <a:solidFill>
                <a:srgbClr val="F9F9F9"/>
              </a:solidFill>
              <a:prstDash val="solid"/>
              <a:round/>
            </a:ln>
            <a:effectLst/>
          </c:spPr>
          <c:dPt>
            <c:idx val="0"/>
            <c:bubble3D val="0"/>
            <c:spPr>
              <a:solidFill>
                <a:srgbClr val="6C757D"/>
              </a:solidFill>
              <a:effectLst/>
            </c:spPr>
          </c:dPt>
          <c:dPt>
            <c:idx val="1"/>
            <c:bubble3D val="0"/>
            <c:spPr>
              <a:solidFill>
                <a:srgbClr val="F2A900"/>
              </a:solidFill>
              <a:effectLst/>
            </c:spPr>
          </c:dPt>
          <c:dPt>
            <c:idx val="2"/>
            <c:bubble3D val="0"/>
            <c:spPr>
              <a:solidFill>
                <a:srgbClr val="C8323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Slight 75.6%</c:v>
                </c:pt>
                <c:pt idx="1">
                  <c:v>Serious 22.9%</c:v>
                </c:pt>
                <c:pt idx="2">
                  <c:v>Fatal 1.5%</c:v>
                </c:pt>
              </c:strCache>
            </c:strRef>
          </c:cat>
          <c:val>
            <c:numRef>
              <c:f>Sheet1!$B$2:$B$4</c:f>
              <c:numCache>
                <c:ptCount val="3"/>
                <c:pt idx="0">
                  <c:v>75.6</c:v>
                </c:pt>
                <c:pt idx="1">
                  <c:v>22.9</c:v>
                </c:pt>
                <c:pt idx="2">
                  <c:v>1.5</c:v>
                </c:pt>
              </c:numCache>
            </c:numRef>
          </c:val>
        </c:ser>
        <c:firstSliceAng val="0"/>
        <c:holeSize val="55"/>
      </c:doughnutChart>
      <c:spPr>
        <a:noFill/>
        <a:ln>
          <a:noFill/>
        </a:ln>
        <a:effectLst/>
      </c:spPr>
    </c:plotArea>
    <c:legend>
      <c:legendPos val="b"/>
      <c:overlay val="0"/>
      <c:txPr>
        <a:bodyPr/>
        <a:lstStyle/>
        <a:p>
          <a:pPr>
            <a:defRPr sz="1600">
              <a:solidFill>
                <a:srgbClr val="1B1F2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6C757D"/>
                </a:solidFill>
                <a:latin typeface="+mn-lt"/>
              </a:defRPr>
            </a:pPr>
            <a:r>
              <a:rPr sz="1300" b="0" i="0" u="none" strike="noStrike">
                <a:solidFill>
                  <a:srgbClr val="6C757D"/>
                </a:solidFill>
                <a:latin typeface="+mn-lt"/>
              </a:rPr>
              <a:t>Recall per class on the test period (share of each true class caught)</a:t>
            </a:r>
          </a:p>
        </c:rich>
      </c:tx>
      <c:layout/>
      <c:overlay val="0"/>
    </c:title>
    <c:autoTitleDeleted val="0"/>
    <c:plotArea>
      <c:layout/>
      <c:barChart>
        <c:barDir val="col"/>
        <c:grouping val="clustered"/>
        <c:varyColors val="0"/>
        <c:ser>
          <c:idx val="0"/>
          <c:order val="0"/>
          <c:tx>
            <c:strRef>
              <c:f>Sheet1!$B$1</c:f>
              <c:strCache>
                <c:ptCount val="1"/>
                <c:pt idx="0">
                  <c:v>Recall</c:v>
                </c:pt>
              </c:strCache>
            </c:strRef>
          </c:tx>
          <c:spPr>
            <a:solidFill>
              <a:srgbClr val="C8323F"/>
            </a:solidFill>
            <a:effectLst/>
          </c:spPr>
          <c:invertIfNegative val="0"/>
          <c:dLbls>
            <c:numFmt formatCode="0.0&quot;%&quot;" sourceLinked="0"/>
            <c:txPr>
              <a:bodyPr/>
              <a:lstStyle/>
              <a:p>
                <a:pPr>
                  <a:defRPr b="0" i="0" strike="noStrike" sz="1400" u="none">
                    <a:solidFill>
                      <a:srgbClr val="1B1F24"/>
                    </a:solidFill>
                    <a:latin typeface="+mn-lt"/>
                  </a:defRPr>
                </a:pPr>
              </a:p>
            </c:txPr>
            <c:showLegendKey val="0"/>
            <c:showVal val="1"/>
            <c:showCatName val="0"/>
            <c:showSerName val="0"/>
            <c:showPercent val="0"/>
            <c:showBubbleSize val="0"/>
            <c:showLeaderLines val="0"/>
          </c:dLbls>
          <c:dPt>
            <c:idx val="0"/>
            <c:invertIfNegative val="0"/>
            <c:bubble3D val="0"/>
            <c:spPr>
              <a:solidFill>
                <a:srgbClr val="C8323F"/>
              </a:solidFill>
              <a:effectLst/>
            </c:spPr>
          </c:dPt>
          <c:dPt>
            <c:idx val="1"/>
            <c:invertIfNegative val="0"/>
            <c:bubble3D val="0"/>
            <c:spPr>
              <a:solidFill>
                <a:srgbClr val="F2A900"/>
              </a:solidFill>
              <a:effectLst/>
            </c:spPr>
          </c:dPt>
          <c:dPt>
            <c:idx val="2"/>
            <c:invertIfNegative val="0"/>
            <c:bubble3D val="0"/>
            <c:spPr>
              <a:solidFill>
                <a:srgbClr val="6C757D"/>
              </a:solidFill>
              <a:effectLst/>
            </c:spPr>
          </c:dPt>
          <c:cat>
            <c:multiLvlStrRef>
              <c:f>Sheet1!$A$2:$A$4</c:f>
              <c:multiLvlStrCache>
                <c:ptCount val="3"/>
                <c:lvl>
                  <c:pt idx="0">
                    <c:v>Fatal</c:v>
                  </c:pt>
                  <c:pt idx="1">
                    <c:v>Serious</c:v>
                  </c:pt>
                  <c:pt idx="2">
                    <c:v>Slight</c:v>
                  </c:pt>
                </c:lvl>
              </c:multiLvlStrCache>
            </c:multiLvlStrRef>
          </c:cat>
          <c:val>
            <c:numRef>
              <c:f>Sheet1!$B$2:$B$4</c:f>
              <c:numCache>
                <c:formatCode>General</c:formatCode>
                <c:ptCount val="3"/>
                <c:pt idx="0">
                  <c:v>29.8</c:v>
                </c:pt>
                <c:pt idx="1">
                  <c:v>55.5</c:v>
                </c:pt>
                <c:pt idx="2">
                  <c:v>64.7</c:v>
                </c:pt>
              </c:numCache>
            </c:numRef>
          </c:val>
        </c:ser>
        <c:dLbls>
          <c:numFmt formatCode="0.0&quot;%&quot;" sourceLinked="0"/>
          <c:txPr>
            <a:bodyPr/>
            <a:lstStyle/>
            <a:p>
              <a:pPr>
                <a:defRPr b="0" i="0" strike="noStrike" sz="1400" u="none">
                  <a:solidFill>
                    <a:srgbClr val="1B1F2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B1F24"/>
                </a:solidFill>
                <a:latin typeface="+mn-lt"/>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Madhan Matthew S, USN 1CR23AI052, from 7A AIML. In Part 2, I take the clean table from Part 1 and build a complete MLOps system around a machine-learning model.
MLOps means applying engineering discipline to machine learning. It's not only about training a model once in a notebook. It means tracking every experiment, versioning models, deploying the model as a real service, monitoring it in production, and having clear rules for when to retrain it.
The model predicts whether a collision is Fatal, Serious or Slight, using only information available when the collision is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is simple to state. When a collision is reported, can we predict how severe it will turn out to be?
The input is the ml_accident_features table from Part 1: 205,173 collisions. The model uses 35 features, including time, location, road type, speed limit, light conditions, measured weather, and which vehicles were involved.
The output is a probability for each of the three classes: Fatal, Serious and Slight.
Why is this useful? A system like this could flag the collisions that are likely to be serious or fatal, so emergency and road-safety resources can be prioritised.
I want to stress one thing. Every feature is something known at the time of reporting. The model never sees anything that is only known after the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difficulty is class imbalance, which I showed at the end of Part 1.
75.6 percent of collisions are slight and only 1.5 percent are fatal.
Here's why that matters. Imagine a lazy model that always answers "Slight". It would be 75.6 percent accurate, which sounds good, but it would miss every single fatal and serious collision. Those are exactly the ones we care about.
So accuracy is the wrong metric for this problem. Instead, I focus on two metrics.
Macro-F1: the F1 score is calculated for each class separately and then averaged, so the rare Fatal class counts as much as the common Slight class.
KSI recall: out of all the collisions that really were fatal or serious, what percentage did the model catch? Missing a severe collision, a false negative, is the costly mistake in road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system on one slide. It's a loop, not a straight line.
Top row, from left to right. The features come from Part 1. The training script builds the model pipeline. Every training run is logged to MLflow. Then the model is registered in the MLflow Model Registry, and the best model gets the "champion" label.
Then down to the bottom row. The champion model is served by a FastAPI web service running in a Docker container. A Streamlit app lets users enter a collision and get a prediction. Every prediction is written to a log.
The monitoring script reads new data and the prediction log, checks for drift and performance drops, and decides whether to retrain. If yes, we go back to training, and the loop closes.
An Airflow DAG runs this monitor-and-retrain cycle every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important design decision was how to split the data into training and test sets.
Most tutorials use a random split. But for time-based data, that's a mistake. With a random split, the model trains on collisions from December 2024 and is then tested on collisions from January 2023. It learns future seasonal patterns that it could never know in real life, and the test score becomes too optimistic.
So I split by time. I train on January 2023 to June 2024, which is 18 months. I use July to September 2024 for validation, and October to December 2024 as the final test.
This copies how the model is really used: it learns from the past and predicts the future. All the results I'm about to show are on the test period, which the model never saw during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model itself is built. It's a single scikit-learn Pipeline object with three stages.
Stage one is my own custom transformer, the AccidentFeatureEngineer. It creates new features. Cyclical time: hour 23 and hour 0 are next to each other, so I encode the hour and month with sine and cosine. It also creates flags like "is it dark", "is the road wet", "is it a high-speed road", and "is a vulnerable road user involved", meaning a pedestrian, cyclist or motorcyclist.
Stage two is a ColumnTransformer. It fills missing numbers with the median and one-hot encodes the categories. Rare categories are grouped into an "infrequent" bucket, so an unseen category in production doesn't crash the model.
Stage three is the LightGBM classifier. LightGBM is a gradient-boosted decision tree library. It's fast on 200,000 rows and handles mixed data well.
Why put everything in one pipeline? Because the exact same code runs in training and in serving. There's no risk of the API preparing the data differently from training, which is a common bug called training-serving skew.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did I handle the imbalance? I used balanced class weights.
The idea is simple. During training, each collision gets a weight that is inversely proportional to how common its class is. Slight collisions are very common, so each one gets a small weight, about 0.44. Serious ones get about 1.5. Fatal collisions are rare, so each one gets a weight of about 22.
In other words, getting one fatal collision wrong hurts the model about 50 times more than getting one slight collision wrong. This forces the model to pay attention to the rare, severe cases.
The trade-off is that the model will now predict "Serious" or "Fatal" more often, including some false alarms. Overall accuracy goes down, but recall on the severe classes goes up. For road safety, that's the right trade: a false alarm costs a little, but a missed fatal collision costs a lot.
I chose weighting over oversampling methods like SMOTE because weighting doesn't create any synthetic collisions. The model trains only on real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results on the test period, October to December 2024, which the model never saw.
The most important number is KSI recall: 64.6 percent. Out of all the collisions that really were fatal or serious, the model flagged about two out of three as severe.
Macro-F1 is 0.431. That sounds low, but for a three-class problem with a 1.5 percent class and no information about speed at impact, it's reasonable. A model that always says "Slight" would get a macro-F1 of only about 0.29.
Per class, the chart shows recall: Fatal 29.8 percent, Serious 55.5 percent and Slight 64.7 percent.
Accuracy is 62.1 percent, which is lower than the 75.6 percent of the lazy "always Slight" model. That's intentional: it's the price of catching severe collisions, as I explained on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confusion matrix for the test period. The rows are what really happened, and the columns are what the model predicted. The highlighted diagonal shows the correct predictions.
Look at the Fatal row. There were 389 fatal collisions. The model predicted 116 as fatal and another 208 as serious. So 324 of the 389 fatal collisions, 83 percent, were flagged as severe in some way. Only 65 were predicted as slight. That's an encouraging result.
For Serious, 3,248 out of 5,851 were caught.
The main weakness is the bottom row. 6,325 slight collisions were predicted as serious. Those are false alarms. That's the cost of the class weighting, and it's also why Fatal precision is low, at about 9 percent. In future work I would tune the decision thresholds to balance this more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MLflow is the tool I used to track experiments and manage model versions.
Every training run logs four things. The parameters: split dates, LightGBM settings and the weighting. The metrics: macro-F1, per-class recall, precision and F1, and the KSI false-negative rate. The artefacts: confusion matrices, classification reports and the training data profile. And the model itself, with its input signature.
Then comes the registry and the champion-challenger gate. Every run registers a new version of "traffic-severity-classifier". But the "champion" alias, the version that production uses, only moves if the new model beats the current champion's macro-F1 by at least 0.005 on the same test window. Otherwise the old champion stays. So a worse model can never replace a better one by accident.
Rollback is easy: you just move the alias back to the old version. Versions are never deleted, so every prediction can be traced back to the model version that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deploy the model, I built a REST API with FastAPI.
There are five endpoints. POST /predict for a single collision. POST /predict/batch for many at once. GET /health to check the service is alive. GET /model-info, which shows which model version is running and its metrics. And GET /metrics, which reports latency and error rate.
Inputs are validated with pydantic. If someone sends an invalid payload, for example a text value where a number is expected, the API returns a 422 error and counts it as a failure. Every request is logged with its model version, which feeds the monitoring.
Everything is containerised. The Dockerfile bakes the champion model into the image, and docker-compose starts three services: the API on port 8000, the MLflow server on 5000, and the Streamlit UI on 8502. The Streamlit app has a prediction form that calls the API, a model card, and a monitoring view.
[If possible, demo here: open localhost:8000/docs and run a prediction, or use the Streamlit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model is deployed, the world keeps changing. Road layouts change, weather changes with the seasons, and policing practices change. So the model's performance can quietly get worse over time. This is called drift. My monitoring script watches six signals.
One, input data quality: are more values suddenly missing, or are there unseen categories?
Two, feature drift, measured with PSI, the Population Stability Index. PSI compares the distribution of a feature in new data with its distribution in the training data. Below 0.1 means stable, 0.1 to 0.2 is a moderate shift, and above 0.2 is a significant shift.
Three, class drift: is the mix of predicted classes, or of actual classes, changing?
Four, location drift: are collisions coming from different police forces than before? I also measure how far the geographic centre of the collisions has moved, in kilometres.
Five, performance: macro-F1 and the KSI false-negative rate, whenever labels are available.
Six, latency and failures from the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real monitoring runs that show the system working.
On the left is the normal case. I ran the monitor on the labelled batch from October to December 2024: 26,342 collisions. The decision was no retraining needed. Macro-F1 was stable at 0.431, and the predicted class mix matched the reference almost exactly. There were two warnings: some temperature drift, which is expected because it's winter data, and a small missing-value increase in one column. Warnings are reported, but they don't trigger retraining.
On the right, I deliberately simulated drift. I built a batch shifted towards rural, night-time, wet-road collisions, to check that the alarms actually fire. They did. Seven key features drifted with a PSI above 0.2, the police-force location PSI was 0.817, and the centre of the collisions moved by 43.7 kilometres. The predicted fatal share jumped from 4.7 percent to 13.2 percent. Decision: RETRAIN.
So the monitor stays quiet when nothing has changed, and it raises the alarm when the data really shifts. That's exactly what you want.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retraining decision isn't a feeling. It's an explicit policy written in code, in the RetrainingPolicy class.
Retraining is triggered if any one of six conditions holds. More than three key features have PSI above 0.2. The class distribution PSI is above 0.1. The location PSI is above 0.2. Macro-F1 has dropped by more than 0.05. The KSI false-negative rate has risen by more than 0.05. Or the champion is older than 180 days, which is a scheduled refresh.
On the right are three conditions that only raise warnings: a big jump in missing values, an API error rate above 2 percent, or p95 latency above 300 milliseconds. Why don't these trigger retraining? Because they point to a broken upstream feed or an infrastructure fault. If you retrain on broken data, you just make the model worse. The right fix is to repair the pipeline first.
All of this runs automatically. An Airflow DAG runs every Monday: monitor, then branch, then either retrain or skip. Retraining goes through the same champion-challenger gate, so the lifecycle is fully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honest limitations.
Weather is at the one-degree grid, so it describes regional rather than street-level conditions.
Severity depends heavily on things that simply aren't recorded at report time, like the speed at impact or whether seatbelts were worn. That puts a ceiling on how well any model can perform with this data.
The probabilities aren't calibrated, so a predicted 30 percent doesn't necessarily mean a 30 percent chance. And Fatal precision is low, around 9 percent, so there are many false alarms.
For future work: calibrate the probabilities, tune the decision thresholds to hit a target KSI recall, add richer road context from OpenStreetMap, compare LightGBM against other models like XGBoost in a tracked experiment, and use canary deployments, sending a small share of traffic to a new model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Part 2.
I built a severity classifier: a single LightGBM pipeline with class weighting and a chronological split. On unseen data it catches about 65 percent of severe collisions, and 83 percent of fatal ones are flagged as severe.
I made it operational: every run is tracked in MLflow, models are versioned with a champion-challenger gate, and the champion is served by FastAPI in Docker with a Streamlit front end.
And I kept it healthy: monitoring for data quality, drift, location shift, recall and latency, plus an explicit retraining policy that runs weekly in Airflow.
Together with Part 1, the whole project goes from raw public data all the way to a monitored, self-maintaining prediction service.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232A3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8412480" cy="411480"/>
          </a:xfrm>
          <a:prstGeom prst="rect">
            <a:avLst/>
          </a:prstGeom>
          <a:noFill/>
          <a:ln/>
        </p:spPr>
        <p:txBody>
          <a:bodyPr wrap="square" rtlCol="0"/>
          <a:lstStyle>
            <a:lvl1pPr indent="0" marL="0">
              <a:buNone/>
              <a:defRPr lang="en-US" sz="1400" b="1" spc="2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731520" y="1920240"/>
            <a:ext cx="822960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731520" y="3931920"/>
            <a:ext cx="7863840" cy="118872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Dark">
    <p:bg>
      <p:bgPr>
        <a:solidFill>
          <a:srgbClr val="232A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Project 4 · Part 2 – MLOps pipeline</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4.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4.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4.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body" hasCustomPrompt="1"/>
          </p:nvPr>
        </p:nvSpPr>
        <p:spPr>
          <a:xfrm>
            <a:off x="731520" y="1417320"/>
            <a:ext cx="8412480" cy="411480"/>
          </a:xfrm>
          <a:prstGeom prst="rect">
            <a:avLst/>
          </a:prstGeom>
          <a:noFill/>
          <a:ln/>
        </p:spPr>
        <p:txBody>
          <a:bodyPr wrap="square" lIns="0" tIns="0" rIns="0" bIns="0" rtlCol="0"/>
          <a:lstStyle/>
          <a:p>
            <a:pPr indent="0" marL="0">
              <a:buNone/>
            </a:pPr>
            <a:r>
              <a:rPr lang="en-US" sz="1400" b="1" spc="200" kern="0" dirty="0">
                <a:solidFill>
                  <a:schemeClr val="accent1"/>
                </a:solidFill>
              </a:rPr>
              <a:t>PROJECT 4  ·  DATA ENGINEERING AND MLOPS  ·  PART 2</a:t>
            </a:r>
            <a:endParaRPr lang="en-US" sz="1400" dirty="0"/>
          </a:p>
        </p:txBody>
      </p:sp>
      <p:sp>
        <p:nvSpPr>
          <p:cNvPr id="4" name="Text 0"/>
          <p:cNvSpPr/>
          <p:nvPr>
            <p:ph idx="101" type="title" hasCustomPrompt="1"/>
          </p:nvPr>
        </p:nvSpPr>
        <p:spPr>
          <a:xfrm>
            <a:off x="731520" y="1920240"/>
            <a:ext cx="8229600" cy="1828800"/>
          </a:xfrm>
          <a:prstGeom prst="rect">
            <a:avLst/>
          </a:prstGeom>
          <a:noFill/>
          <a:ln/>
        </p:spPr>
        <p:txBody>
          <a:bodyPr wrap="square" lIns="0" tIns="0" rIns="0" bIns="0" rtlCol="0" anchor="t"/>
          <a:lstStyle/>
          <a:p>
            <a:pPr algn="l" indent="0" marL="0">
              <a:buNone/>
            </a:pPr>
            <a:r>
              <a:rPr lang="en-US" sz="4400" b="1" dirty="0">
                <a:solidFill>
                  <a:schemeClr val="bg1"/>
                </a:solidFill>
              </a:rPr>
              <a:t>Predicting Accident Severity with MLOps</a:t>
            </a:r>
            <a:endParaRPr lang="en-US" sz="4400" dirty="0"/>
          </a:p>
        </p:txBody>
      </p:sp>
      <p:sp>
        <p:nvSpPr>
          <p:cNvPr id="5" name="Text 0"/>
          <p:cNvSpPr/>
          <p:nvPr>
            <p:ph idx="102" type="body" hasCustomPrompt="1"/>
          </p:nvPr>
        </p:nvSpPr>
        <p:spPr>
          <a:xfrm>
            <a:off x="731520" y="3931920"/>
            <a:ext cx="7863840" cy="1188720"/>
          </a:xfrm>
          <a:prstGeom prst="rect">
            <a:avLst/>
          </a:prstGeom>
          <a:noFill/>
          <a:ln/>
        </p:spPr>
        <p:txBody>
          <a:bodyPr wrap="square" lIns="0" tIns="0" rIns="0" bIns="0" rtlCol="0" anchor="t"/>
          <a:lstStyle/>
          <a:p>
            <a:pPr indent="0" marL="0">
              <a:buNone/>
            </a:pPr>
            <a:r>
              <a:rPr lang="en-US" sz="2000" dirty="0">
                <a:solidFill>
                  <a:schemeClr val="bg2"/>
                </a:solidFill>
              </a:rPr>
              <a:t>LightGBM classifier · MLflow tracking and registry · FastAPI in Docker · drift monitoring and retraining</a:t>
            </a:r>
            <a:endParaRPr lang="en-US" sz="2000" dirty="0"/>
          </a:p>
        </p:txBody>
      </p:sp>
      <p:sp>
        <p:nvSpPr>
          <p:cNvPr id="6" name="Text 3"/>
          <p:cNvSpPr txBox="1"/>
          <p:nvPr/>
        </p:nvSpPr>
        <p:spPr>
          <a:xfrm>
            <a:off x="731520" y="5257800"/>
            <a:ext cx="7863840" cy="822960"/>
          </a:xfrm>
          <a:prstGeom prst="rect">
            <a:avLst/>
          </a:prstGeom>
          <a:noFill/>
          <a:ln/>
        </p:spPr>
        <p:txBody>
          <a:bodyPr wrap="square" lIns="0" tIns="0" rIns="0" bIns="0" rtlCol="0" anchor="t"/>
          <a:lstStyle/>
          <a:p>
            <a:pPr indent="0" marL="0">
              <a:buNone/>
            </a:pPr>
            <a:r>
              <a:rPr lang="en-US" sz="1800" b="1" dirty="0">
                <a:solidFill>
                  <a:schemeClr val="bg1"/>
                </a:solidFill>
              </a:rPr>
              <a:t>Madhan Matthew S</a:t>
            </a:r>
            <a:endParaRPr lang="en-US" sz="1800" dirty="0"/>
          </a:p>
          <a:p>
            <a:pPr indent="0" marL="0">
              <a:buNone/>
            </a:pPr>
            <a:r>
              <a:rPr lang="en-US" sz="1800" dirty="0">
                <a:solidFill>
                  <a:schemeClr val="accent1"/>
                </a:solidFill>
              </a:rPr>
              <a:t>USN 1CR23AI052  ·  7A AIML</a:t>
            </a:r>
            <a:endParaRPr lang="en-US" sz="1800" dirty="0"/>
          </a:p>
        </p:txBody>
      </p:sp>
      <p:sp>
        <p:nvSpPr>
          <p:cNvPr id="7" name="icon-circle FaBrain"/>
          <p:cNvSpPr/>
          <p:nvPr/>
        </p:nvSpPr>
        <p:spPr>
          <a:xfrm>
            <a:off x="9464040" y="2148840"/>
            <a:ext cx="2011680" cy="2011680"/>
          </a:xfrm>
          <a:prstGeom prst="ellipse">
            <a:avLst/>
          </a:prstGeom>
          <a:solidFill>
            <a:schemeClr val="accent1"/>
          </a:solidFill>
          <a:ln/>
        </p:spPr>
      </p:sp>
      <p:pic>
        <p:nvPicPr>
          <p:cNvPr id="8" name="icon FaBrain" descr="Brain icon">    </p:cNvPr>
          <p:cNvPicPr>
            <a:picLocks noChangeAspect="1"/>
          </p:cNvPicPr>
          <p:nvPr/>
        </p:nvPicPr>
        <p:blipFill>
          <a:blip r:embed="rId1"/>
          <a:stretch>
            <a:fillRect/>
          </a:stretch>
        </p:blipFill>
        <p:spPr>
          <a:xfrm>
            <a:off x="9946843" y="2631643"/>
            <a:ext cx="1046074" cy="104607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Goal: predict severity when a crash is reported</a:t>
            </a:r>
            <a:endParaRPr lang="en-US" sz="3200" dirty="0"/>
          </a:p>
        </p:txBody>
      </p:sp>
      <p:sp>
        <p:nvSpPr>
          <p:cNvPr id="4" name="input card"/>
          <p:cNvSpPr/>
          <p:nvPr/>
        </p:nvSpPr>
        <p:spPr>
          <a:xfrm>
            <a:off x="548640" y="1600200"/>
            <a:ext cx="3291840" cy="3017520"/>
          </a:xfrm>
          <a:prstGeom prst="roundRect">
            <a:avLst>
              <a:gd name="adj" fmla="val 3030"/>
            </a:avLst>
          </a:prstGeom>
          <a:solidFill>
            <a:schemeClr val="bg2"/>
          </a:solidFill>
          <a:ln/>
          <a:effectLst>
            <a:outerShdw sx="100000" sy="100000" kx="0" ky="0" algn="bl" rotWithShape="0" blurRad="76200" dist="25400" dir="5400000">
              <a:srgbClr val="000000">
                <a:alpha val="12000"/>
              </a:srgbClr>
            </a:outerShdw>
          </a:effectLst>
        </p:spPr>
      </p:sp>
      <p:sp>
        <p:nvSpPr>
          <p:cNvPr id="5" name="icon-circle FaTable"/>
          <p:cNvSpPr/>
          <p:nvPr/>
        </p:nvSpPr>
        <p:spPr>
          <a:xfrm>
            <a:off x="822960" y="1874520"/>
            <a:ext cx="640080" cy="640080"/>
          </a:xfrm>
          <a:prstGeom prst="ellipse">
            <a:avLst/>
          </a:prstGeom>
          <a:solidFill>
            <a:schemeClr val="accent1"/>
          </a:solidFill>
          <a:ln/>
        </p:spPr>
      </p:sp>
      <p:pic>
        <p:nvPicPr>
          <p:cNvPr id="6" name="icon FaTable" descr="Table icon">    </p:cNvPr>
          <p:cNvPicPr>
            <a:picLocks noChangeAspect="1"/>
          </p:cNvPicPr>
          <p:nvPr/>
        </p:nvPicPr>
        <p:blipFill>
          <a:blip r:embed="rId1"/>
          <a:stretch>
            <a:fillRect/>
          </a:stretch>
        </p:blipFill>
        <p:spPr>
          <a:xfrm>
            <a:off x="976579" y="2028139"/>
            <a:ext cx="332842" cy="332842"/>
          </a:xfrm>
          <a:prstGeom prst="rect">
            <a:avLst/>
          </a:prstGeom>
        </p:spPr>
      </p:pic>
      <p:sp>
        <p:nvSpPr>
          <p:cNvPr id="7" name="Text 3"/>
          <p:cNvSpPr txBox="1"/>
          <p:nvPr/>
        </p:nvSpPr>
        <p:spPr>
          <a:xfrm>
            <a:off x="1645920" y="1874520"/>
            <a:ext cx="2011680" cy="6400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Input</a:t>
            </a:r>
            <a:endParaRPr lang="en-US" sz="1800" dirty="0"/>
          </a:p>
        </p:txBody>
      </p:sp>
      <p:sp>
        <p:nvSpPr>
          <p:cNvPr id="8" name="Text 4"/>
          <p:cNvSpPr txBox="1"/>
          <p:nvPr/>
        </p:nvSpPr>
        <p:spPr>
          <a:xfrm>
            <a:off x="822960" y="2697480"/>
            <a:ext cx="2834640" cy="182880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chemeClr val="tx1"/>
                </a:solidFill>
              </a:rPr>
              <a:t>ml_accident_features from Part 1</a:t>
            </a:r>
            <a:endParaRPr lang="en-US" sz="1400" dirty="0"/>
          </a:p>
          <a:p>
            <a:pPr marL="228600" indent="-228600">
              <a:spcAft>
                <a:spcPts val="800"/>
              </a:spcAft>
              <a:buSzPct val="100000"/>
              <a:buChar char="•"/>
            </a:pPr>
            <a:r>
              <a:rPr lang="en-US" sz="1400" dirty="0">
                <a:solidFill>
                  <a:schemeClr val="tx1"/>
                </a:solidFill>
              </a:rPr>
              <a:t>205,173 collisions</a:t>
            </a:r>
            <a:endParaRPr lang="en-US" sz="1400" dirty="0"/>
          </a:p>
          <a:p>
            <a:pPr marL="228600" indent="-228600">
              <a:spcAft>
                <a:spcPts val="800"/>
              </a:spcAft>
              <a:buSzPct val="100000"/>
              <a:buChar char="•"/>
            </a:pPr>
            <a:r>
              <a:rPr lang="en-US" sz="1400" dirty="0">
                <a:solidFill>
                  <a:schemeClr val="tx1"/>
                </a:solidFill>
              </a:rPr>
              <a:t>35 features: time, location, road, light, weather, vehicles</a:t>
            </a:r>
            <a:endParaRPr lang="en-US" sz="1400" dirty="0"/>
          </a:p>
        </p:txBody>
      </p:sp>
      <p:sp>
        <p:nvSpPr>
          <p:cNvPr id="9" name="Shape 5"/>
          <p:cNvSpPr/>
          <p:nvPr/>
        </p:nvSpPr>
        <p:spPr>
          <a:xfrm>
            <a:off x="3931920" y="3108960"/>
            <a:ext cx="640080" cy="914"/>
          </a:xfrm>
          <a:prstGeom prst="line">
            <a:avLst/>
          </a:prstGeom>
          <a:noFill/>
          <a:ln w="25400">
            <a:solidFill>
              <a:schemeClr val="tx2"/>
            </a:solidFill>
            <a:prstDash val="solid"/>
            <a:tailEnd type="triangle"/>
          </a:ln>
        </p:spPr>
      </p:sp>
      <p:sp>
        <p:nvSpPr>
          <p:cNvPr id="10" name="model circle"/>
          <p:cNvSpPr/>
          <p:nvPr/>
        </p:nvSpPr>
        <p:spPr>
          <a:xfrm>
            <a:off x="4663440" y="2057400"/>
            <a:ext cx="2103120" cy="2103120"/>
          </a:xfrm>
          <a:prstGeom prst="ellipse">
            <a:avLst/>
          </a:prstGeom>
          <a:solidFill>
            <a:schemeClr val="tx2"/>
          </a:solidFill>
          <a:ln/>
        </p:spPr>
      </p:sp>
      <p:pic>
        <p:nvPicPr>
          <p:cNvPr id="11" name="model icon" descr="Model icon">    </p:cNvPr>
          <p:cNvPicPr>
            <a:picLocks noChangeAspect="1"/>
          </p:cNvPicPr>
          <p:nvPr/>
        </p:nvPicPr>
        <p:blipFill>
          <a:blip r:embed="rId2"/>
          <a:stretch>
            <a:fillRect/>
          </a:stretch>
        </p:blipFill>
        <p:spPr>
          <a:xfrm>
            <a:off x="5257800" y="2377440"/>
            <a:ext cx="914400" cy="914400"/>
          </a:xfrm>
          <a:prstGeom prst="rect">
            <a:avLst/>
          </a:prstGeom>
        </p:spPr>
      </p:pic>
      <p:sp>
        <p:nvSpPr>
          <p:cNvPr id="12" name="Text 7"/>
          <p:cNvSpPr txBox="1"/>
          <p:nvPr/>
        </p:nvSpPr>
        <p:spPr>
          <a:xfrm>
            <a:off x="4663440" y="3337560"/>
            <a:ext cx="2103120" cy="411480"/>
          </a:xfrm>
          <a:prstGeom prst="rect">
            <a:avLst/>
          </a:prstGeom>
          <a:noFill/>
          <a:ln/>
        </p:spPr>
        <p:txBody>
          <a:bodyPr wrap="square" lIns="0" tIns="0" rIns="0" bIns="0" rtlCol="0" anchor="t"/>
          <a:lstStyle/>
          <a:p>
            <a:pPr algn="ctr" indent="0" marL="0">
              <a:buNone/>
            </a:pPr>
            <a:r>
              <a:rPr lang="en-US" sz="1400" b="1" dirty="0">
                <a:solidFill>
                  <a:schemeClr val="bg1"/>
                </a:solidFill>
              </a:rPr>
              <a:t>LightGBM pipeline</a:t>
            </a:r>
            <a:endParaRPr lang="en-US" sz="1400" dirty="0"/>
          </a:p>
        </p:txBody>
      </p:sp>
      <p:sp>
        <p:nvSpPr>
          <p:cNvPr id="13" name="Shape 8"/>
          <p:cNvSpPr/>
          <p:nvPr/>
        </p:nvSpPr>
        <p:spPr>
          <a:xfrm>
            <a:off x="6858000" y="3108960"/>
            <a:ext cx="640080" cy="914"/>
          </a:xfrm>
          <a:prstGeom prst="line">
            <a:avLst/>
          </a:prstGeom>
          <a:noFill/>
          <a:ln w="25400">
            <a:solidFill>
              <a:schemeClr val="tx2"/>
            </a:solidFill>
            <a:prstDash val="solid"/>
            <a:tailEnd type="triangle"/>
          </a:ln>
        </p:spPr>
      </p:sp>
      <p:sp>
        <p:nvSpPr>
          <p:cNvPr id="14" name="Text 9"/>
          <p:cNvSpPr txBox="1"/>
          <p:nvPr/>
        </p:nvSpPr>
        <p:spPr>
          <a:xfrm>
            <a:off x="7589520" y="1600200"/>
            <a:ext cx="4023360" cy="36576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Output: probability per class</a:t>
            </a:r>
            <a:endParaRPr lang="en-US" sz="1600" dirty="0"/>
          </a:p>
        </p:txBody>
      </p:sp>
      <p:sp>
        <p:nvSpPr>
          <p:cNvPr id="15" name="class Fatal"/>
          <p:cNvSpPr/>
          <p:nvPr/>
        </p:nvSpPr>
        <p:spPr>
          <a:xfrm>
            <a:off x="7589520" y="2103120"/>
            <a:ext cx="4023360" cy="685800"/>
          </a:xfrm>
          <a:prstGeom prst="roundRect">
            <a:avLst>
              <a:gd name="adj" fmla="val 13333"/>
            </a:avLst>
          </a:prstGeom>
          <a:solidFill>
            <a:schemeClr val="accent2"/>
          </a:solidFill>
          <a:ln/>
        </p:spPr>
      </p:sp>
      <p:sp>
        <p:nvSpPr>
          <p:cNvPr id="16" name="Text 11"/>
          <p:cNvSpPr txBox="1"/>
          <p:nvPr/>
        </p:nvSpPr>
        <p:spPr>
          <a:xfrm>
            <a:off x="7818120" y="2103120"/>
            <a:ext cx="2286000" cy="685800"/>
          </a:xfrm>
          <a:prstGeom prst="rect">
            <a:avLst/>
          </a:prstGeom>
          <a:noFill/>
          <a:ln/>
        </p:spPr>
        <p:txBody>
          <a:bodyPr wrap="square" lIns="0" tIns="0" rIns="0" bIns="0" rtlCol="0" anchor="ctr"/>
          <a:lstStyle/>
          <a:p>
            <a:pPr indent="0" marL="0">
              <a:buNone/>
            </a:pPr>
            <a:r>
              <a:rPr lang="en-US" sz="1700" b="1" dirty="0">
                <a:solidFill>
                  <a:schemeClr val="bg1"/>
                </a:solidFill>
              </a:rPr>
              <a:t>Fatal</a:t>
            </a:r>
            <a:endParaRPr lang="en-US" sz="1700" dirty="0"/>
          </a:p>
        </p:txBody>
      </p:sp>
      <p:sp>
        <p:nvSpPr>
          <p:cNvPr id="17" name="Text 12"/>
          <p:cNvSpPr txBox="1"/>
          <p:nvPr/>
        </p:nvSpPr>
        <p:spPr>
          <a:xfrm>
            <a:off x="9966960" y="2103120"/>
            <a:ext cx="1463040" cy="685800"/>
          </a:xfrm>
          <a:prstGeom prst="rect">
            <a:avLst/>
          </a:prstGeom>
          <a:noFill/>
          <a:ln/>
        </p:spPr>
        <p:txBody>
          <a:bodyPr wrap="square" lIns="0" tIns="0" rIns="0" bIns="0" rtlCol="0" anchor="ctr"/>
          <a:lstStyle/>
          <a:p>
            <a:pPr algn="r" indent="0" marL="0">
              <a:buNone/>
            </a:pPr>
            <a:r>
              <a:rPr lang="en-US" sz="1500" dirty="0">
                <a:solidFill>
                  <a:schemeClr val="bg1"/>
                </a:solidFill>
              </a:rPr>
              <a:t>e.g. 4%</a:t>
            </a:r>
            <a:endParaRPr lang="en-US" sz="1500" dirty="0"/>
          </a:p>
        </p:txBody>
      </p:sp>
      <p:sp>
        <p:nvSpPr>
          <p:cNvPr id="18" name="class Serious"/>
          <p:cNvSpPr/>
          <p:nvPr/>
        </p:nvSpPr>
        <p:spPr>
          <a:xfrm>
            <a:off x="7589520" y="2971800"/>
            <a:ext cx="4023360" cy="685800"/>
          </a:xfrm>
          <a:prstGeom prst="roundRect">
            <a:avLst>
              <a:gd name="adj" fmla="val 13333"/>
            </a:avLst>
          </a:prstGeom>
          <a:solidFill>
            <a:schemeClr val="accent1"/>
          </a:solidFill>
          <a:ln/>
        </p:spPr>
      </p:sp>
      <p:sp>
        <p:nvSpPr>
          <p:cNvPr id="19" name="Text 14"/>
          <p:cNvSpPr txBox="1"/>
          <p:nvPr/>
        </p:nvSpPr>
        <p:spPr>
          <a:xfrm>
            <a:off x="7818120" y="2971800"/>
            <a:ext cx="2286000" cy="685800"/>
          </a:xfrm>
          <a:prstGeom prst="rect">
            <a:avLst/>
          </a:prstGeom>
          <a:noFill/>
          <a:ln/>
        </p:spPr>
        <p:txBody>
          <a:bodyPr wrap="square" lIns="0" tIns="0" rIns="0" bIns="0" rtlCol="0" anchor="ctr"/>
          <a:lstStyle/>
          <a:p>
            <a:pPr indent="0" marL="0">
              <a:buNone/>
            </a:pPr>
            <a:r>
              <a:rPr lang="en-US" sz="1700" b="1" dirty="0">
                <a:solidFill>
                  <a:schemeClr val="tx1"/>
                </a:solidFill>
              </a:rPr>
              <a:t>Serious</a:t>
            </a:r>
            <a:endParaRPr lang="en-US" sz="1700" dirty="0"/>
          </a:p>
        </p:txBody>
      </p:sp>
      <p:sp>
        <p:nvSpPr>
          <p:cNvPr id="20" name="Text 15"/>
          <p:cNvSpPr txBox="1"/>
          <p:nvPr/>
        </p:nvSpPr>
        <p:spPr>
          <a:xfrm>
            <a:off x="9966960" y="2971800"/>
            <a:ext cx="1463040" cy="685800"/>
          </a:xfrm>
          <a:prstGeom prst="rect">
            <a:avLst/>
          </a:prstGeom>
          <a:noFill/>
          <a:ln/>
        </p:spPr>
        <p:txBody>
          <a:bodyPr wrap="square" lIns="0" tIns="0" rIns="0" bIns="0" rtlCol="0" anchor="ctr"/>
          <a:lstStyle/>
          <a:p>
            <a:pPr algn="r" indent="0" marL="0">
              <a:buNone/>
            </a:pPr>
            <a:r>
              <a:rPr lang="en-US" sz="1500" dirty="0">
                <a:solidFill>
                  <a:schemeClr val="tx1"/>
                </a:solidFill>
              </a:rPr>
              <a:t>e.g. 37%</a:t>
            </a:r>
            <a:endParaRPr lang="en-US" sz="1500" dirty="0"/>
          </a:p>
        </p:txBody>
      </p:sp>
      <p:sp>
        <p:nvSpPr>
          <p:cNvPr id="21" name="class Slight"/>
          <p:cNvSpPr/>
          <p:nvPr/>
        </p:nvSpPr>
        <p:spPr>
          <a:xfrm>
            <a:off x="7589520" y="3840480"/>
            <a:ext cx="4023360" cy="685800"/>
          </a:xfrm>
          <a:prstGeom prst="roundRect">
            <a:avLst>
              <a:gd name="adj" fmla="val 13333"/>
            </a:avLst>
          </a:prstGeom>
          <a:solidFill>
            <a:schemeClr val="accent4"/>
          </a:solidFill>
          <a:ln/>
        </p:spPr>
      </p:sp>
      <p:sp>
        <p:nvSpPr>
          <p:cNvPr id="22" name="Text 17"/>
          <p:cNvSpPr txBox="1"/>
          <p:nvPr/>
        </p:nvSpPr>
        <p:spPr>
          <a:xfrm>
            <a:off x="7818120" y="3840480"/>
            <a:ext cx="2286000" cy="685800"/>
          </a:xfrm>
          <a:prstGeom prst="rect">
            <a:avLst/>
          </a:prstGeom>
          <a:noFill/>
          <a:ln/>
        </p:spPr>
        <p:txBody>
          <a:bodyPr wrap="square" lIns="0" tIns="0" rIns="0" bIns="0" rtlCol="0" anchor="ctr"/>
          <a:lstStyle/>
          <a:p>
            <a:pPr indent="0" marL="0">
              <a:buNone/>
            </a:pPr>
            <a:r>
              <a:rPr lang="en-US" sz="1700" b="1" dirty="0">
                <a:solidFill>
                  <a:schemeClr val="bg1"/>
                </a:solidFill>
              </a:rPr>
              <a:t>Slight</a:t>
            </a:r>
            <a:endParaRPr lang="en-US" sz="1700" dirty="0"/>
          </a:p>
        </p:txBody>
      </p:sp>
      <p:sp>
        <p:nvSpPr>
          <p:cNvPr id="23" name="Text 18"/>
          <p:cNvSpPr txBox="1"/>
          <p:nvPr/>
        </p:nvSpPr>
        <p:spPr>
          <a:xfrm>
            <a:off x="9966960" y="3840480"/>
            <a:ext cx="1463040" cy="685800"/>
          </a:xfrm>
          <a:prstGeom prst="rect">
            <a:avLst/>
          </a:prstGeom>
          <a:noFill/>
          <a:ln/>
        </p:spPr>
        <p:txBody>
          <a:bodyPr wrap="square" lIns="0" tIns="0" rIns="0" bIns="0" rtlCol="0" anchor="ctr"/>
          <a:lstStyle/>
          <a:p>
            <a:pPr algn="r" indent="0" marL="0">
              <a:buNone/>
            </a:pPr>
            <a:r>
              <a:rPr lang="en-US" sz="1500" dirty="0">
                <a:solidFill>
                  <a:schemeClr val="bg1"/>
                </a:solidFill>
              </a:rPr>
              <a:t>e.g. 59%</a:t>
            </a:r>
            <a:endParaRPr lang="en-US" sz="1500" dirty="0"/>
          </a:p>
        </p:txBody>
      </p:sp>
      <p:sp>
        <p:nvSpPr>
          <p:cNvPr id="24" name="use case card"/>
          <p:cNvSpPr/>
          <p:nvPr/>
        </p:nvSpPr>
        <p:spPr>
          <a:xfrm>
            <a:off x="548640" y="4983480"/>
            <a:ext cx="11064240" cy="1051560"/>
          </a:xfrm>
          <a:prstGeom prst="roundRect">
            <a:avLst>
              <a:gd name="adj" fmla="val 8696"/>
            </a:avLst>
          </a:prstGeom>
          <a:solidFill>
            <a:schemeClr val="accent6"/>
          </a:solidFill>
          <a:ln/>
        </p:spPr>
      </p:sp>
      <p:sp>
        <p:nvSpPr>
          <p:cNvPr id="25" name="Text 20"/>
          <p:cNvSpPr txBox="1"/>
          <p:nvPr/>
        </p:nvSpPr>
        <p:spPr>
          <a:xfrm>
            <a:off x="822960" y="4983480"/>
            <a:ext cx="10607040" cy="1051560"/>
          </a:xfrm>
          <a:prstGeom prst="rect">
            <a:avLst/>
          </a:prstGeom>
          <a:noFill/>
          <a:ln/>
        </p:spPr>
        <p:txBody>
          <a:bodyPr wrap="square" lIns="0" tIns="0" rIns="0" bIns="0" rtlCol="0" anchor="ctr"/>
          <a:lstStyle/>
          <a:p>
            <a:pPr indent="0" marL="0">
              <a:buNone/>
            </a:pPr>
            <a:r>
              <a:rPr lang="en-US" sz="1600" b="1" dirty="0">
                <a:solidFill>
                  <a:schemeClr val="tx1"/>
                </a:solidFill>
              </a:rPr>
              <a:t>Use case: </a:t>
            </a:r>
            <a:pPr indent="0" marL="0">
              <a:buNone/>
            </a:pPr>
            <a:r>
              <a:rPr lang="en-US" sz="1600" dirty="0">
                <a:solidFill>
                  <a:schemeClr val="tx1"/>
                </a:solidFill>
              </a:rPr>
              <a:t>flag likely serious or fatal collisions early so response and road-safety resources can be prioritised. Only information known at reporting time is used.</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The core difficulty: severe crashes are rare</a:t>
            </a:r>
            <a:endParaRPr lang="en-US" sz="3200" dirty="0"/>
          </a:p>
        </p:txBody>
      </p:sp>
      <p:graphicFrame>
        <p:nvGraphicFramePr>
          <p:cNvPr id="4" name="class balance doughnut" descr=""/>
          <p:cNvGraphicFramePr/>
          <p:nvPr/>
        </p:nvGraphicFramePr>
        <p:xfrm>
          <a:off x="548640" y="1463040"/>
          <a:ext cx="4937760" cy="4480560"/>
        </p:xfrm>
        <a:graphic xmlns:a="http://schemas.openxmlformats.org/drawingml/2006/main">
          <a:graphicData uri="http://schemas.openxmlformats.org/drawingml/2006/chart">
            <c:chart xmlns:c="http://schemas.openxmlformats.org/drawingml/2006/chart" r:id="rId1"/>
          </a:graphicData>
        </a:graphic>
      </p:graphicFrame>
      <p:sp>
        <p:nvSpPr>
          <p:cNvPr id="5" name="naive model card"/>
          <p:cNvSpPr/>
          <p:nvPr/>
        </p:nvSpPr>
        <p:spPr>
          <a:xfrm>
            <a:off x="5943600" y="1508760"/>
            <a:ext cx="5669280" cy="2057400"/>
          </a:xfrm>
          <a:prstGeom prst="roundRect">
            <a:avLst>
              <a:gd name="adj" fmla="val 4444"/>
            </a:avLst>
          </a:prstGeom>
          <a:solidFill>
            <a:schemeClr val="bg2"/>
          </a:solidFill>
          <a:ln/>
        </p:spPr>
      </p:sp>
      <p:sp>
        <p:nvSpPr>
          <p:cNvPr id="6" name="Text 2"/>
          <p:cNvSpPr txBox="1"/>
          <p:nvPr/>
        </p:nvSpPr>
        <p:spPr>
          <a:xfrm>
            <a:off x="6263640" y="1691640"/>
            <a:ext cx="2377440" cy="822960"/>
          </a:xfrm>
          <a:prstGeom prst="rect">
            <a:avLst/>
          </a:prstGeom>
          <a:noFill/>
          <a:ln/>
        </p:spPr>
        <p:txBody>
          <a:bodyPr wrap="square" lIns="0" tIns="0" rIns="0" bIns="0" rtlCol="0" anchor="b"/>
          <a:lstStyle/>
          <a:p>
            <a:pPr indent="0" marL="0">
              <a:buNone/>
            </a:pPr>
            <a:r>
              <a:rPr lang="en-US" sz="4400" b="1" dirty="0">
                <a:solidFill>
                  <a:schemeClr val="accent2"/>
                </a:solidFill>
                <a:latin typeface="Arial" pitchFamily="34" charset="0"/>
                <a:ea typeface="Arial" pitchFamily="34" charset="-122"/>
                <a:cs typeface="Arial" pitchFamily="34" charset="-120"/>
              </a:rPr>
              <a:t>75.6%</a:t>
            </a:r>
            <a:endParaRPr lang="en-US" sz="4400" dirty="0"/>
          </a:p>
        </p:txBody>
      </p:sp>
      <p:sp>
        <p:nvSpPr>
          <p:cNvPr id="7" name="Text 3"/>
          <p:cNvSpPr txBox="1"/>
          <p:nvPr/>
        </p:nvSpPr>
        <p:spPr>
          <a:xfrm>
            <a:off x="6263640" y="2560320"/>
            <a:ext cx="5120640" cy="822960"/>
          </a:xfrm>
          <a:prstGeom prst="rect">
            <a:avLst/>
          </a:prstGeom>
          <a:noFill/>
          <a:ln/>
        </p:spPr>
        <p:txBody>
          <a:bodyPr wrap="square" lIns="0" tIns="0" rIns="0" bIns="0" rtlCol="0" anchor="t"/>
          <a:lstStyle/>
          <a:p>
            <a:pPr indent="0" marL="0">
              <a:buNone/>
            </a:pPr>
            <a:r>
              <a:rPr lang="en-US" sz="1500" dirty="0">
                <a:solidFill>
                  <a:schemeClr val="tx1"/>
                </a:solidFill>
              </a:rPr>
              <a:t>accuracy of a model that always says 'Slight'… and it misses every fatal and serious crash</a:t>
            </a:r>
            <a:endParaRPr lang="en-US" sz="1500" dirty="0"/>
          </a:p>
        </p:txBody>
      </p:sp>
      <p:sp>
        <p:nvSpPr>
          <p:cNvPr id="8" name="Text 4"/>
          <p:cNvSpPr txBox="1"/>
          <p:nvPr/>
        </p:nvSpPr>
        <p:spPr>
          <a:xfrm>
            <a:off x="5943600" y="3794760"/>
            <a:ext cx="5669280" cy="365760"/>
          </a:xfrm>
          <a:prstGeom prst="rect">
            <a:avLst/>
          </a:prstGeom>
          <a:noFill/>
          <a:ln/>
        </p:spPr>
        <p:txBody>
          <a:bodyPr wrap="square" lIns="0" tIns="0" rIns="0" bIns="0" rtlCol="0" anchor="t"/>
          <a:lstStyle/>
          <a:p>
            <a:pPr indent="0" marL="0">
              <a:buNone/>
            </a:pPr>
            <a:r>
              <a:rPr lang="en-US" sz="1700" b="1" dirty="0">
                <a:solidFill>
                  <a:schemeClr val="tx2"/>
                </a:solidFill>
                <a:latin typeface="Arial" pitchFamily="34" charset="0"/>
                <a:ea typeface="Arial" pitchFamily="34" charset="-122"/>
                <a:cs typeface="Arial" pitchFamily="34" charset="-120"/>
              </a:rPr>
              <a:t>So I measure what matters instead</a:t>
            </a:r>
            <a:endParaRPr lang="en-US" sz="1700" dirty="0"/>
          </a:p>
        </p:txBody>
      </p:sp>
      <p:sp>
        <p:nvSpPr>
          <p:cNvPr id="9" name="icon-circle FaBalanceScale"/>
          <p:cNvSpPr/>
          <p:nvPr/>
        </p:nvSpPr>
        <p:spPr>
          <a:xfrm>
            <a:off x="5943600" y="4297680"/>
            <a:ext cx="502920" cy="502920"/>
          </a:xfrm>
          <a:prstGeom prst="ellipse">
            <a:avLst/>
          </a:prstGeom>
          <a:solidFill>
            <a:schemeClr val="accent1"/>
          </a:solidFill>
          <a:ln/>
        </p:spPr>
      </p:sp>
      <p:pic>
        <p:nvPicPr>
          <p:cNvPr id="10" name="icon FaBalanceScale" descr="BalanceScale icon">    </p:cNvPr>
          <p:cNvPicPr>
            <a:picLocks noChangeAspect="1"/>
          </p:cNvPicPr>
          <p:nvPr/>
        </p:nvPicPr>
        <p:blipFill>
          <a:blip r:embed="rId2"/>
          <a:stretch>
            <a:fillRect/>
          </a:stretch>
        </p:blipFill>
        <p:spPr>
          <a:xfrm>
            <a:off x="6064301" y="4418381"/>
            <a:ext cx="261518" cy="261518"/>
          </a:xfrm>
          <a:prstGeom prst="rect">
            <a:avLst/>
          </a:prstGeom>
        </p:spPr>
      </p:pic>
      <p:sp>
        <p:nvSpPr>
          <p:cNvPr id="11" name="Text 6"/>
          <p:cNvSpPr txBox="1"/>
          <p:nvPr/>
        </p:nvSpPr>
        <p:spPr>
          <a:xfrm>
            <a:off x="6675120" y="4279392"/>
            <a:ext cx="493776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Macro-F1</a:t>
            </a:r>
            <a:endParaRPr lang="en-US" sz="1600" dirty="0"/>
          </a:p>
        </p:txBody>
      </p:sp>
      <p:sp>
        <p:nvSpPr>
          <p:cNvPr id="12" name="Text 7"/>
          <p:cNvSpPr txBox="1"/>
          <p:nvPr/>
        </p:nvSpPr>
        <p:spPr>
          <a:xfrm>
            <a:off x="6675120" y="4626864"/>
            <a:ext cx="4937760" cy="640080"/>
          </a:xfrm>
          <a:prstGeom prst="rect">
            <a:avLst/>
          </a:prstGeom>
          <a:noFill/>
          <a:ln/>
        </p:spPr>
        <p:txBody>
          <a:bodyPr wrap="square" lIns="0" tIns="0" rIns="0" bIns="0" rtlCol="0" anchor="t"/>
          <a:lstStyle/>
          <a:p>
            <a:pPr indent="0" marL="0">
              <a:buNone/>
            </a:pPr>
            <a:r>
              <a:rPr lang="en-US" sz="1400" dirty="0">
                <a:solidFill>
                  <a:schemeClr val="tx1"/>
                </a:solidFill>
              </a:rPr>
              <a:t>F1 per class, then averaged – rare Fatal counts as much as common Slight</a:t>
            </a:r>
            <a:endParaRPr lang="en-US" sz="1400" dirty="0"/>
          </a:p>
        </p:txBody>
      </p:sp>
      <p:sp>
        <p:nvSpPr>
          <p:cNvPr id="13" name="icon-circle FaAmbulance"/>
          <p:cNvSpPr/>
          <p:nvPr/>
        </p:nvSpPr>
        <p:spPr>
          <a:xfrm>
            <a:off x="5943600" y="5257800"/>
            <a:ext cx="502920" cy="502920"/>
          </a:xfrm>
          <a:prstGeom prst="ellipse">
            <a:avLst/>
          </a:prstGeom>
          <a:solidFill>
            <a:schemeClr val="accent1"/>
          </a:solidFill>
          <a:ln/>
        </p:spPr>
      </p:sp>
      <p:pic>
        <p:nvPicPr>
          <p:cNvPr id="14" name="icon FaAmbulance" descr="Ambulance icon">    </p:cNvPr>
          <p:cNvPicPr>
            <a:picLocks noChangeAspect="1"/>
          </p:cNvPicPr>
          <p:nvPr/>
        </p:nvPicPr>
        <p:blipFill>
          <a:blip r:embed="rId3"/>
          <a:stretch>
            <a:fillRect/>
          </a:stretch>
        </p:blipFill>
        <p:spPr>
          <a:xfrm>
            <a:off x="6064301" y="5378501"/>
            <a:ext cx="261518" cy="261518"/>
          </a:xfrm>
          <a:prstGeom prst="rect">
            <a:avLst/>
          </a:prstGeom>
        </p:spPr>
      </p:pic>
      <p:sp>
        <p:nvSpPr>
          <p:cNvPr id="15" name="Text 9"/>
          <p:cNvSpPr txBox="1"/>
          <p:nvPr/>
        </p:nvSpPr>
        <p:spPr>
          <a:xfrm>
            <a:off x="6675120" y="5239512"/>
            <a:ext cx="493776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KSI recall</a:t>
            </a:r>
            <a:endParaRPr lang="en-US" sz="1600" dirty="0"/>
          </a:p>
        </p:txBody>
      </p:sp>
      <p:sp>
        <p:nvSpPr>
          <p:cNvPr id="16" name="Text 10"/>
          <p:cNvSpPr txBox="1"/>
          <p:nvPr/>
        </p:nvSpPr>
        <p:spPr>
          <a:xfrm>
            <a:off x="6675120" y="5586984"/>
            <a:ext cx="4937760" cy="640080"/>
          </a:xfrm>
          <a:prstGeom prst="rect">
            <a:avLst/>
          </a:prstGeom>
          <a:noFill/>
          <a:ln/>
        </p:spPr>
        <p:txBody>
          <a:bodyPr wrap="square" lIns="0" tIns="0" rIns="0" bIns="0" rtlCol="0" anchor="t"/>
          <a:lstStyle/>
          <a:p>
            <a:pPr indent="0" marL="0">
              <a:buNone/>
            </a:pPr>
            <a:r>
              <a:rPr lang="en-US" sz="1400" dirty="0">
                <a:solidFill>
                  <a:schemeClr val="tx1"/>
                </a:solidFill>
              </a:rPr>
              <a:t>Share of truly fatal or serious crashes the model catches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End-to-end MLOps architecture</a:t>
            </a:r>
            <a:endParaRPr lang="en-US" sz="3200" dirty="0"/>
          </a:p>
        </p:txBody>
      </p:sp>
      <p:sp>
        <p:nvSpPr>
          <p:cNvPr id="4" name="flow Part 1 features"/>
          <p:cNvSpPr/>
          <p:nvPr/>
        </p:nvSpPr>
        <p:spPr>
          <a:xfrm>
            <a:off x="548640" y="1463040"/>
            <a:ext cx="2377440" cy="1600200"/>
          </a:xfrm>
          <a:prstGeom prst="roundRect">
            <a:avLst>
              <a:gd name="adj" fmla="val 5714"/>
            </a:avLst>
          </a:prstGeom>
          <a:solidFill>
            <a:schemeClr val="bg2"/>
          </a:solidFill>
          <a:ln/>
          <a:effectLst>
            <a:outerShdw sx="100000" sy="100000" kx="0" ky="0" algn="bl" rotWithShape="0" blurRad="76200" dist="25400" dir="5400000">
              <a:srgbClr val="000000">
                <a:alpha val="12000"/>
              </a:srgbClr>
            </a:outerShdw>
          </a:effectLst>
        </p:spPr>
      </p:sp>
      <p:sp>
        <p:nvSpPr>
          <p:cNvPr id="5" name="icon-circle FaTable"/>
          <p:cNvSpPr/>
          <p:nvPr/>
        </p:nvSpPr>
        <p:spPr>
          <a:xfrm>
            <a:off x="731520" y="1645920"/>
            <a:ext cx="502920" cy="502920"/>
          </a:xfrm>
          <a:prstGeom prst="ellipse">
            <a:avLst/>
          </a:prstGeom>
          <a:solidFill>
            <a:schemeClr val="accent1"/>
          </a:solidFill>
          <a:ln/>
        </p:spPr>
      </p:sp>
      <p:pic>
        <p:nvPicPr>
          <p:cNvPr id="6" name="icon FaTable" descr="Table icon">    </p:cNvPr>
          <p:cNvPicPr>
            <a:picLocks noChangeAspect="1"/>
          </p:cNvPicPr>
          <p:nvPr/>
        </p:nvPicPr>
        <p:blipFill>
          <a:blip r:embed="rId1"/>
          <a:stretch>
            <a:fillRect/>
          </a:stretch>
        </p:blipFill>
        <p:spPr>
          <a:xfrm>
            <a:off x="852221" y="1766621"/>
            <a:ext cx="261518" cy="261518"/>
          </a:xfrm>
          <a:prstGeom prst="rect">
            <a:avLst/>
          </a:prstGeom>
        </p:spPr>
      </p:pic>
      <p:sp>
        <p:nvSpPr>
          <p:cNvPr id="7" name="Text 3"/>
          <p:cNvSpPr txBox="1"/>
          <p:nvPr/>
        </p:nvSpPr>
        <p:spPr>
          <a:xfrm>
            <a:off x="1371600" y="1645920"/>
            <a:ext cx="1463040" cy="50292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Part 1 features</a:t>
            </a:r>
            <a:endParaRPr lang="en-US" sz="1500" dirty="0"/>
          </a:p>
        </p:txBody>
      </p:sp>
      <p:sp>
        <p:nvSpPr>
          <p:cNvPr id="8" name="Text 4"/>
          <p:cNvSpPr txBox="1"/>
          <p:nvPr/>
        </p:nvSpPr>
        <p:spPr>
          <a:xfrm>
            <a:off x="731520" y="2286000"/>
            <a:ext cx="2057400" cy="640080"/>
          </a:xfrm>
          <a:prstGeom prst="rect">
            <a:avLst/>
          </a:prstGeom>
          <a:noFill/>
          <a:ln/>
        </p:spPr>
        <p:txBody>
          <a:bodyPr wrap="square" lIns="0" tIns="0" rIns="0" bIns="0" rtlCol="0" anchor="t"/>
          <a:lstStyle/>
          <a:p>
            <a:pPr indent="0" marL="0">
              <a:buNone/>
            </a:pPr>
            <a:r>
              <a:rPr lang="en-US" sz="1400" dirty="0">
                <a:solidFill>
                  <a:schemeClr val="tx1"/>
                </a:solidFill>
              </a:rPr>
              <a:t>ml_accident_features</a:t>
            </a:r>
            <a:endParaRPr lang="en-US" sz="1400" dirty="0"/>
          </a:p>
        </p:txBody>
      </p:sp>
      <p:sp>
        <p:nvSpPr>
          <p:cNvPr id="9" name="Shape 5"/>
          <p:cNvSpPr/>
          <p:nvPr/>
        </p:nvSpPr>
        <p:spPr>
          <a:xfrm>
            <a:off x="2971800" y="2258568"/>
            <a:ext cx="429768" cy="914"/>
          </a:xfrm>
          <a:prstGeom prst="line">
            <a:avLst/>
          </a:prstGeom>
          <a:noFill/>
          <a:ln w="25400">
            <a:solidFill>
              <a:schemeClr val="tx2"/>
            </a:solidFill>
            <a:prstDash val="solid"/>
            <a:tailEnd type="triangle"/>
          </a:ln>
        </p:spPr>
      </p:sp>
      <p:sp>
        <p:nvSpPr>
          <p:cNvPr id="10" name="flow Train"/>
          <p:cNvSpPr/>
          <p:nvPr/>
        </p:nvSpPr>
        <p:spPr>
          <a:xfrm>
            <a:off x="3447288" y="1463040"/>
            <a:ext cx="2377440" cy="1600200"/>
          </a:xfrm>
          <a:prstGeom prst="roundRect">
            <a:avLst>
              <a:gd name="adj" fmla="val 5714"/>
            </a:avLst>
          </a:prstGeom>
          <a:solidFill>
            <a:schemeClr val="bg2"/>
          </a:solidFill>
          <a:ln/>
          <a:effectLst>
            <a:outerShdw sx="100000" sy="100000" kx="0" ky="0" algn="bl" rotWithShape="0" blurRad="76200" dist="25400" dir="5400000">
              <a:srgbClr val="000000">
                <a:alpha val="12000"/>
              </a:srgbClr>
            </a:outerShdw>
          </a:effectLst>
        </p:spPr>
      </p:sp>
      <p:sp>
        <p:nvSpPr>
          <p:cNvPr id="11" name="icon-circle FaCogs"/>
          <p:cNvSpPr/>
          <p:nvPr/>
        </p:nvSpPr>
        <p:spPr>
          <a:xfrm>
            <a:off x="3630168" y="1645920"/>
            <a:ext cx="502920" cy="502920"/>
          </a:xfrm>
          <a:prstGeom prst="ellipse">
            <a:avLst/>
          </a:prstGeom>
          <a:solidFill>
            <a:schemeClr val="accent1"/>
          </a:solidFill>
          <a:ln/>
        </p:spPr>
      </p:sp>
      <p:pic>
        <p:nvPicPr>
          <p:cNvPr id="12" name="icon FaCogs" descr="Cogs icon">    </p:cNvPr>
          <p:cNvPicPr>
            <a:picLocks noChangeAspect="1"/>
          </p:cNvPicPr>
          <p:nvPr/>
        </p:nvPicPr>
        <p:blipFill>
          <a:blip r:embed="rId2"/>
          <a:stretch>
            <a:fillRect/>
          </a:stretch>
        </p:blipFill>
        <p:spPr>
          <a:xfrm>
            <a:off x="3750869" y="1766621"/>
            <a:ext cx="261518" cy="261518"/>
          </a:xfrm>
          <a:prstGeom prst="rect">
            <a:avLst/>
          </a:prstGeom>
        </p:spPr>
      </p:pic>
      <p:sp>
        <p:nvSpPr>
          <p:cNvPr id="13" name="Text 8"/>
          <p:cNvSpPr txBox="1"/>
          <p:nvPr/>
        </p:nvSpPr>
        <p:spPr>
          <a:xfrm>
            <a:off x="4270248" y="1645920"/>
            <a:ext cx="1463040" cy="50292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Train</a:t>
            </a:r>
            <a:endParaRPr lang="en-US" sz="1500" dirty="0"/>
          </a:p>
        </p:txBody>
      </p:sp>
      <p:sp>
        <p:nvSpPr>
          <p:cNvPr id="14" name="Text 9"/>
          <p:cNvSpPr txBox="1"/>
          <p:nvPr/>
        </p:nvSpPr>
        <p:spPr>
          <a:xfrm>
            <a:off x="3630168" y="2286000"/>
            <a:ext cx="2057400" cy="640080"/>
          </a:xfrm>
          <a:prstGeom prst="rect">
            <a:avLst/>
          </a:prstGeom>
          <a:noFill/>
          <a:ln/>
        </p:spPr>
        <p:txBody>
          <a:bodyPr wrap="square" lIns="0" tIns="0" rIns="0" bIns="0" rtlCol="0" anchor="t"/>
          <a:lstStyle/>
          <a:p>
            <a:pPr indent="0" marL="0">
              <a:buNone/>
            </a:pPr>
            <a:r>
              <a:rPr lang="en-US" sz="1400" dirty="0">
                <a:solidFill>
                  <a:schemeClr val="tx1"/>
                </a:solidFill>
              </a:rPr>
              <a:t>sklearn pipeline + LightGBM</a:t>
            </a:r>
            <a:endParaRPr lang="en-US" sz="1400" dirty="0"/>
          </a:p>
        </p:txBody>
      </p:sp>
      <p:sp>
        <p:nvSpPr>
          <p:cNvPr id="15" name="Shape 10"/>
          <p:cNvSpPr/>
          <p:nvPr/>
        </p:nvSpPr>
        <p:spPr>
          <a:xfrm>
            <a:off x="5870448" y="2258568"/>
            <a:ext cx="429768" cy="914"/>
          </a:xfrm>
          <a:prstGeom prst="line">
            <a:avLst/>
          </a:prstGeom>
          <a:noFill/>
          <a:ln w="25400">
            <a:solidFill>
              <a:schemeClr val="tx2"/>
            </a:solidFill>
            <a:prstDash val="solid"/>
            <a:tailEnd type="triangle"/>
          </a:ln>
        </p:spPr>
      </p:sp>
      <p:sp>
        <p:nvSpPr>
          <p:cNvPr id="16" name="flow MLflow tracking"/>
          <p:cNvSpPr/>
          <p:nvPr/>
        </p:nvSpPr>
        <p:spPr>
          <a:xfrm>
            <a:off x="6345936" y="1463040"/>
            <a:ext cx="2377440" cy="1600200"/>
          </a:xfrm>
          <a:prstGeom prst="roundRect">
            <a:avLst>
              <a:gd name="adj" fmla="val 5714"/>
            </a:avLst>
          </a:prstGeom>
          <a:solidFill>
            <a:schemeClr val="bg2"/>
          </a:solidFill>
          <a:ln/>
          <a:effectLst>
            <a:outerShdw sx="100000" sy="100000" kx="0" ky="0" algn="bl" rotWithShape="0" blurRad="76200" dist="25400" dir="5400000">
              <a:srgbClr val="000000">
                <a:alpha val="12000"/>
              </a:srgbClr>
            </a:outerShdw>
          </a:effectLst>
        </p:spPr>
      </p:sp>
      <p:sp>
        <p:nvSpPr>
          <p:cNvPr id="17" name="icon-circle FaFlask"/>
          <p:cNvSpPr/>
          <p:nvPr/>
        </p:nvSpPr>
        <p:spPr>
          <a:xfrm>
            <a:off x="6528816" y="1645920"/>
            <a:ext cx="502920" cy="502920"/>
          </a:xfrm>
          <a:prstGeom prst="ellipse">
            <a:avLst/>
          </a:prstGeom>
          <a:solidFill>
            <a:schemeClr val="accent1"/>
          </a:solidFill>
          <a:ln/>
        </p:spPr>
      </p:sp>
      <p:pic>
        <p:nvPicPr>
          <p:cNvPr id="18" name="icon FaFlask" descr="Flask icon">    </p:cNvPr>
          <p:cNvPicPr>
            <a:picLocks noChangeAspect="1"/>
          </p:cNvPicPr>
          <p:nvPr/>
        </p:nvPicPr>
        <p:blipFill>
          <a:blip r:embed="rId3"/>
          <a:stretch>
            <a:fillRect/>
          </a:stretch>
        </p:blipFill>
        <p:spPr>
          <a:xfrm>
            <a:off x="6649517" y="1766621"/>
            <a:ext cx="261518" cy="261518"/>
          </a:xfrm>
          <a:prstGeom prst="rect">
            <a:avLst/>
          </a:prstGeom>
        </p:spPr>
      </p:pic>
      <p:sp>
        <p:nvSpPr>
          <p:cNvPr id="19" name="Text 13"/>
          <p:cNvSpPr txBox="1"/>
          <p:nvPr/>
        </p:nvSpPr>
        <p:spPr>
          <a:xfrm>
            <a:off x="7168896" y="1645920"/>
            <a:ext cx="1463040" cy="50292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MLflow tracking</a:t>
            </a:r>
            <a:endParaRPr lang="en-US" sz="1500" dirty="0"/>
          </a:p>
        </p:txBody>
      </p:sp>
      <p:sp>
        <p:nvSpPr>
          <p:cNvPr id="20" name="Text 14"/>
          <p:cNvSpPr txBox="1"/>
          <p:nvPr/>
        </p:nvSpPr>
        <p:spPr>
          <a:xfrm>
            <a:off x="6528816" y="2286000"/>
            <a:ext cx="2057400" cy="640080"/>
          </a:xfrm>
          <a:prstGeom prst="rect">
            <a:avLst/>
          </a:prstGeom>
          <a:noFill/>
          <a:ln/>
        </p:spPr>
        <p:txBody>
          <a:bodyPr wrap="square" lIns="0" tIns="0" rIns="0" bIns="0" rtlCol="0" anchor="t"/>
          <a:lstStyle/>
          <a:p>
            <a:pPr indent="0" marL="0">
              <a:buNone/>
            </a:pPr>
            <a:r>
              <a:rPr lang="en-US" sz="1400" dirty="0">
                <a:solidFill>
                  <a:schemeClr val="tx1"/>
                </a:solidFill>
              </a:rPr>
              <a:t>params, metrics, artefacts</a:t>
            </a:r>
            <a:endParaRPr lang="en-US" sz="1400" dirty="0"/>
          </a:p>
        </p:txBody>
      </p:sp>
      <p:sp>
        <p:nvSpPr>
          <p:cNvPr id="21" name="Shape 15"/>
          <p:cNvSpPr/>
          <p:nvPr/>
        </p:nvSpPr>
        <p:spPr>
          <a:xfrm>
            <a:off x="8769096" y="2258568"/>
            <a:ext cx="429768" cy="914"/>
          </a:xfrm>
          <a:prstGeom prst="line">
            <a:avLst/>
          </a:prstGeom>
          <a:noFill/>
          <a:ln w="25400">
            <a:solidFill>
              <a:schemeClr val="tx2"/>
            </a:solidFill>
            <a:prstDash val="solid"/>
            <a:tailEnd type="triangle"/>
          </a:ln>
        </p:spPr>
      </p:sp>
      <p:sp>
        <p:nvSpPr>
          <p:cNvPr id="22" name="flow Model registry"/>
          <p:cNvSpPr/>
          <p:nvPr/>
        </p:nvSpPr>
        <p:spPr>
          <a:xfrm>
            <a:off x="9244584" y="1463040"/>
            <a:ext cx="2377440" cy="1600200"/>
          </a:xfrm>
          <a:prstGeom prst="roundRect">
            <a:avLst>
              <a:gd name="adj" fmla="val 5714"/>
            </a:avLst>
          </a:prstGeom>
          <a:solidFill>
            <a:schemeClr val="bg2"/>
          </a:solidFill>
          <a:ln/>
          <a:effectLst>
            <a:outerShdw sx="100000" sy="100000" kx="0" ky="0" algn="bl" rotWithShape="0" blurRad="76200" dist="25400" dir="5400000">
              <a:srgbClr val="000000">
                <a:alpha val="12000"/>
              </a:srgbClr>
            </a:outerShdw>
          </a:effectLst>
        </p:spPr>
      </p:sp>
      <p:sp>
        <p:nvSpPr>
          <p:cNvPr id="23" name="icon-circle FaTags"/>
          <p:cNvSpPr/>
          <p:nvPr/>
        </p:nvSpPr>
        <p:spPr>
          <a:xfrm>
            <a:off x="9427464" y="1645920"/>
            <a:ext cx="502920" cy="502920"/>
          </a:xfrm>
          <a:prstGeom prst="ellipse">
            <a:avLst/>
          </a:prstGeom>
          <a:solidFill>
            <a:schemeClr val="accent1"/>
          </a:solidFill>
          <a:ln/>
        </p:spPr>
      </p:sp>
      <p:pic>
        <p:nvPicPr>
          <p:cNvPr id="24" name="icon FaTags" descr="Tags icon">    </p:cNvPr>
          <p:cNvPicPr>
            <a:picLocks noChangeAspect="1"/>
          </p:cNvPicPr>
          <p:nvPr/>
        </p:nvPicPr>
        <p:blipFill>
          <a:blip r:embed="rId4"/>
          <a:stretch>
            <a:fillRect/>
          </a:stretch>
        </p:blipFill>
        <p:spPr>
          <a:xfrm>
            <a:off x="9548165" y="1766621"/>
            <a:ext cx="261518" cy="261518"/>
          </a:xfrm>
          <a:prstGeom prst="rect">
            <a:avLst/>
          </a:prstGeom>
        </p:spPr>
      </p:pic>
      <p:sp>
        <p:nvSpPr>
          <p:cNvPr id="25" name="Text 18"/>
          <p:cNvSpPr txBox="1"/>
          <p:nvPr/>
        </p:nvSpPr>
        <p:spPr>
          <a:xfrm>
            <a:off x="10067544" y="1645920"/>
            <a:ext cx="1463040" cy="50292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Model registry</a:t>
            </a:r>
            <a:endParaRPr lang="en-US" sz="1500" dirty="0"/>
          </a:p>
        </p:txBody>
      </p:sp>
      <p:sp>
        <p:nvSpPr>
          <p:cNvPr id="26" name="Text 19"/>
          <p:cNvSpPr txBox="1"/>
          <p:nvPr/>
        </p:nvSpPr>
        <p:spPr>
          <a:xfrm>
            <a:off x="9427464" y="2286000"/>
            <a:ext cx="2057400" cy="640080"/>
          </a:xfrm>
          <a:prstGeom prst="rect">
            <a:avLst/>
          </a:prstGeom>
          <a:noFill/>
          <a:ln/>
        </p:spPr>
        <p:txBody>
          <a:bodyPr wrap="square" lIns="0" tIns="0" rIns="0" bIns="0" rtlCol="0" anchor="t"/>
          <a:lstStyle/>
          <a:p>
            <a:pPr indent="0" marL="0">
              <a:buNone/>
            </a:pPr>
            <a:r>
              <a:rPr lang="en-US" sz="1400" dirty="0">
                <a:solidFill>
                  <a:schemeClr val="tx1"/>
                </a:solidFill>
              </a:rPr>
              <a:t>versions + @champion alias</a:t>
            </a:r>
            <a:endParaRPr lang="en-US" sz="1400" dirty="0"/>
          </a:p>
        </p:txBody>
      </p:sp>
      <p:sp>
        <p:nvSpPr>
          <p:cNvPr id="27" name="flow FastAPI in Docker"/>
          <p:cNvSpPr/>
          <p:nvPr/>
        </p:nvSpPr>
        <p:spPr>
          <a:xfrm>
            <a:off x="9244584" y="4069080"/>
            <a:ext cx="2377440" cy="1600200"/>
          </a:xfrm>
          <a:prstGeom prst="roundRect">
            <a:avLst>
              <a:gd name="adj" fmla="val 5714"/>
            </a:avLst>
          </a:prstGeom>
          <a:solidFill>
            <a:schemeClr val="bg2"/>
          </a:solidFill>
          <a:ln/>
          <a:effectLst>
            <a:outerShdw sx="100000" sy="100000" kx="0" ky="0" algn="bl" rotWithShape="0" blurRad="76200" dist="25400" dir="5400000">
              <a:srgbClr val="000000">
                <a:alpha val="12000"/>
              </a:srgbClr>
            </a:outerShdw>
          </a:effectLst>
        </p:spPr>
      </p:sp>
      <p:sp>
        <p:nvSpPr>
          <p:cNvPr id="28" name="icon-circle FaDocker"/>
          <p:cNvSpPr/>
          <p:nvPr/>
        </p:nvSpPr>
        <p:spPr>
          <a:xfrm>
            <a:off x="9427464" y="4251960"/>
            <a:ext cx="502920" cy="502920"/>
          </a:xfrm>
          <a:prstGeom prst="ellipse">
            <a:avLst/>
          </a:prstGeom>
          <a:solidFill>
            <a:schemeClr val="accent1"/>
          </a:solidFill>
          <a:ln/>
        </p:spPr>
      </p:sp>
      <p:pic>
        <p:nvPicPr>
          <p:cNvPr id="29" name="icon FaDocker" descr="Docker icon">    </p:cNvPr>
          <p:cNvPicPr>
            <a:picLocks noChangeAspect="1"/>
          </p:cNvPicPr>
          <p:nvPr/>
        </p:nvPicPr>
        <p:blipFill>
          <a:blip r:embed="rId5"/>
          <a:stretch>
            <a:fillRect/>
          </a:stretch>
        </p:blipFill>
        <p:spPr>
          <a:xfrm>
            <a:off x="9548165" y="4372661"/>
            <a:ext cx="261518" cy="261518"/>
          </a:xfrm>
          <a:prstGeom prst="rect">
            <a:avLst/>
          </a:prstGeom>
        </p:spPr>
      </p:pic>
      <p:sp>
        <p:nvSpPr>
          <p:cNvPr id="30" name="Text 22"/>
          <p:cNvSpPr txBox="1"/>
          <p:nvPr/>
        </p:nvSpPr>
        <p:spPr>
          <a:xfrm>
            <a:off x="10067544" y="4251960"/>
            <a:ext cx="1463040" cy="50292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FastAPI in Docker</a:t>
            </a:r>
            <a:endParaRPr lang="en-US" sz="1500" dirty="0"/>
          </a:p>
        </p:txBody>
      </p:sp>
      <p:sp>
        <p:nvSpPr>
          <p:cNvPr id="31" name="Text 23"/>
          <p:cNvSpPr txBox="1"/>
          <p:nvPr/>
        </p:nvSpPr>
        <p:spPr>
          <a:xfrm>
            <a:off x="9427464" y="4892040"/>
            <a:ext cx="2057400" cy="640080"/>
          </a:xfrm>
          <a:prstGeom prst="rect">
            <a:avLst/>
          </a:prstGeom>
          <a:noFill/>
          <a:ln/>
        </p:spPr>
        <p:txBody>
          <a:bodyPr wrap="square" lIns="0" tIns="0" rIns="0" bIns="0" rtlCol="0" anchor="t"/>
          <a:lstStyle/>
          <a:p>
            <a:pPr indent="0" marL="0">
              <a:buNone/>
            </a:pPr>
            <a:r>
              <a:rPr lang="en-US" sz="1400" dirty="0">
                <a:solidFill>
                  <a:schemeClr val="tx1"/>
                </a:solidFill>
              </a:rPr>
              <a:t>/predict, /metrics</a:t>
            </a:r>
            <a:endParaRPr lang="en-US" sz="1400" dirty="0"/>
          </a:p>
        </p:txBody>
      </p:sp>
      <p:sp>
        <p:nvSpPr>
          <p:cNvPr id="32" name="Shape 24"/>
          <p:cNvSpPr/>
          <p:nvPr/>
        </p:nvSpPr>
        <p:spPr>
          <a:xfrm>
            <a:off x="8769096" y="4864608"/>
            <a:ext cx="429768" cy="914"/>
          </a:xfrm>
          <a:prstGeom prst="line">
            <a:avLst/>
          </a:prstGeom>
          <a:noFill/>
          <a:ln w="25400">
            <a:solidFill>
              <a:schemeClr val="tx2"/>
            </a:solidFill>
            <a:prstDash val="solid"/>
            <a:headEnd type="triangle"/>
          </a:ln>
        </p:spPr>
      </p:sp>
      <p:sp>
        <p:nvSpPr>
          <p:cNvPr id="33" name="flow Streamlit UI"/>
          <p:cNvSpPr/>
          <p:nvPr/>
        </p:nvSpPr>
        <p:spPr>
          <a:xfrm>
            <a:off x="6345936" y="4069080"/>
            <a:ext cx="2377440" cy="1600200"/>
          </a:xfrm>
          <a:prstGeom prst="roundRect">
            <a:avLst>
              <a:gd name="adj" fmla="val 5714"/>
            </a:avLst>
          </a:prstGeom>
          <a:solidFill>
            <a:schemeClr val="bg2"/>
          </a:solidFill>
          <a:ln/>
          <a:effectLst>
            <a:outerShdw sx="100000" sy="100000" kx="0" ky="0" algn="bl" rotWithShape="0" blurRad="76200" dist="25400" dir="5400000">
              <a:srgbClr val="000000">
                <a:alpha val="12000"/>
              </a:srgbClr>
            </a:outerShdw>
          </a:effectLst>
        </p:spPr>
      </p:sp>
      <p:sp>
        <p:nvSpPr>
          <p:cNvPr id="34" name="icon-circle FaDesktop"/>
          <p:cNvSpPr/>
          <p:nvPr/>
        </p:nvSpPr>
        <p:spPr>
          <a:xfrm>
            <a:off x="6528816" y="4251960"/>
            <a:ext cx="502920" cy="502920"/>
          </a:xfrm>
          <a:prstGeom prst="ellipse">
            <a:avLst/>
          </a:prstGeom>
          <a:solidFill>
            <a:schemeClr val="accent1"/>
          </a:solidFill>
          <a:ln/>
        </p:spPr>
      </p:sp>
      <p:pic>
        <p:nvPicPr>
          <p:cNvPr id="35" name="icon FaDesktop" descr="Desktop icon">    </p:cNvPr>
          <p:cNvPicPr>
            <a:picLocks noChangeAspect="1"/>
          </p:cNvPicPr>
          <p:nvPr/>
        </p:nvPicPr>
        <p:blipFill>
          <a:blip r:embed="rId6"/>
          <a:stretch>
            <a:fillRect/>
          </a:stretch>
        </p:blipFill>
        <p:spPr>
          <a:xfrm>
            <a:off x="6649517" y="4372661"/>
            <a:ext cx="261518" cy="261518"/>
          </a:xfrm>
          <a:prstGeom prst="rect">
            <a:avLst/>
          </a:prstGeom>
        </p:spPr>
      </p:pic>
      <p:sp>
        <p:nvSpPr>
          <p:cNvPr id="36" name="Text 27"/>
          <p:cNvSpPr txBox="1"/>
          <p:nvPr/>
        </p:nvSpPr>
        <p:spPr>
          <a:xfrm>
            <a:off x="7168896" y="4251960"/>
            <a:ext cx="1463040" cy="50292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Streamlit UI</a:t>
            </a:r>
            <a:endParaRPr lang="en-US" sz="1500" dirty="0"/>
          </a:p>
        </p:txBody>
      </p:sp>
      <p:sp>
        <p:nvSpPr>
          <p:cNvPr id="37" name="Text 28"/>
          <p:cNvSpPr txBox="1"/>
          <p:nvPr/>
        </p:nvSpPr>
        <p:spPr>
          <a:xfrm>
            <a:off x="6528816" y="4892040"/>
            <a:ext cx="2057400" cy="640080"/>
          </a:xfrm>
          <a:prstGeom prst="rect">
            <a:avLst/>
          </a:prstGeom>
          <a:noFill/>
          <a:ln/>
        </p:spPr>
        <p:txBody>
          <a:bodyPr wrap="square" lIns="0" tIns="0" rIns="0" bIns="0" rtlCol="0" anchor="t"/>
          <a:lstStyle/>
          <a:p>
            <a:pPr indent="0" marL="0">
              <a:buNone/>
            </a:pPr>
            <a:r>
              <a:rPr lang="en-US" sz="1400" dirty="0">
                <a:solidFill>
                  <a:schemeClr val="tx1"/>
                </a:solidFill>
              </a:rPr>
              <a:t>prediction form, monitoring</a:t>
            </a:r>
            <a:endParaRPr lang="en-US" sz="1400" dirty="0"/>
          </a:p>
        </p:txBody>
      </p:sp>
      <p:sp>
        <p:nvSpPr>
          <p:cNvPr id="38" name="Shape 29"/>
          <p:cNvSpPr/>
          <p:nvPr/>
        </p:nvSpPr>
        <p:spPr>
          <a:xfrm>
            <a:off x="5870448" y="4864608"/>
            <a:ext cx="429768" cy="914"/>
          </a:xfrm>
          <a:prstGeom prst="line">
            <a:avLst/>
          </a:prstGeom>
          <a:noFill/>
          <a:ln w="25400">
            <a:solidFill>
              <a:schemeClr val="tx2"/>
            </a:solidFill>
            <a:prstDash val="solid"/>
            <a:headEnd type="triangle"/>
          </a:ln>
        </p:spPr>
      </p:sp>
      <p:sp>
        <p:nvSpPr>
          <p:cNvPr id="39" name="flow Prediction log"/>
          <p:cNvSpPr/>
          <p:nvPr/>
        </p:nvSpPr>
        <p:spPr>
          <a:xfrm>
            <a:off x="3447288" y="4069080"/>
            <a:ext cx="2377440" cy="1600200"/>
          </a:xfrm>
          <a:prstGeom prst="roundRect">
            <a:avLst>
              <a:gd name="adj" fmla="val 5714"/>
            </a:avLst>
          </a:prstGeom>
          <a:solidFill>
            <a:schemeClr val="bg2"/>
          </a:solidFill>
          <a:ln/>
          <a:effectLst>
            <a:outerShdw sx="100000" sy="100000" kx="0" ky="0" algn="bl" rotWithShape="0" blurRad="76200" dist="25400" dir="5400000">
              <a:srgbClr val="000000">
                <a:alpha val="12000"/>
              </a:srgbClr>
            </a:outerShdw>
          </a:effectLst>
        </p:spPr>
      </p:sp>
      <p:sp>
        <p:nvSpPr>
          <p:cNvPr id="40" name="icon-circle FaFileAlt"/>
          <p:cNvSpPr/>
          <p:nvPr/>
        </p:nvSpPr>
        <p:spPr>
          <a:xfrm>
            <a:off x="3630168" y="4251960"/>
            <a:ext cx="502920" cy="502920"/>
          </a:xfrm>
          <a:prstGeom prst="ellipse">
            <a:avLst/>
          </a:prstGeom>
          <a:solidFill>
            <a:schemeClr val="accent1"/>
          </a:solidFill>
          <a:ln/>
        </p:spPr>
      </p:sp>
      <p:pic>
        <p:nvPicPr>
          <p:cNvPr id="41" name="icon FaFileAlt" descr="FileAlt icon">    </p:cNvPr>
          <p:cNvPicPr>
            <a:picLocks noChangeAspect="1"/>
          </p:cNvPicPr>
          <p:nvPr/>
        </p:nvPicPr>
        <p:blipFill>
          <a:blip r:embed="rId7"/>
          <a:stretch>
            <a:fillRect/>
          </a:stretch>
        </p:blipFill>
        <p:spPr>
          <a:xfrm>
            <a:off x="3750869" y="4372661"/>
            <a:ext cx="261518" cy="261518"/>
          </a:xfrm>
          <a:prstGeom prst="rect">
            <a:avLst/>
          </a:prstGeom>
        </p:spPr>
      </p:pic>
      <p:sp>
        <p:nvSpPr>
          <p:cNvPr id="42" name="Text 32"/>
          <p:cNvSpPr txBox="1"/>
          <p:nvPr/>
        </p:nvSpPr>
        <p:spPr>
          <a:xfrm>
            <a:off x="4270248" y="4251960"/>
            <a:ext cx="1463040" cy="50292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Prediction log</a:t>
            </a:r>
            <a:endParaRPr lang="en-US" sz="1500" dirty="0"/>
          </a:p>
        </p:txBody>
      </p:sp>
      <p:sp>
        <p:nvSpPr>
          <p:cNvPr id="43" name="Text 33"/>
          <p:cNvSpPr txBox="1"/>
          <p:nvPr/>
        </p:nvSpPr>
        <p:spPr>
          <a:xfrm>
            <a:off x="3630168" y="4892040"/>
            <a:ext cx="2057400" cy="640080"/>
          </a:xfrm>
          <a:prstGeom prst="rect">
            <a:avLst/>
          </a:prstGeom>
          <a:noFill/>
          <a:ln/>
        </p:spPr>
        <p:txBody>
          <a:bodyPr wrap="square" lIns="0" tIns="0" rIns="0" bIns="0" rtlCol="0" anchor="t"/>
          <a:lstStyle/>
          <a:p>
            <a:pPr indent="0" marL="0">
              <a:buNone/>
            </a:pPr>
            <a:r>
              <a:rPr lang="en-US" sz="1400" dirty="0">
                <a:solidFill>
                  <a:schemeClr val="tx1"/>
                </a:solidFill>
              </a:rPr>
              <a:t>every request, model version</a:t>
            </a:r>
            <a:endParaRPr lang="en-US" sz="1400" dirty="0"/>
          </a:p>
        </p:txBody>
      </p:sp>
      <p:sp>
        <p:nvSpPr>
          <p:cNvPr id="44" name="Shape 34"/>
          <p:cNvSpPr/>
          <p:nvPr/>
        </p:nvSpPr>
        <p:spPr>
          <a:xfrm>
            <a:off x="2971800" y="4864608"/>
            <a:ext cx="429768" cy="914"/>
          </a:xfrm>
          <a:prstGeom prst="line">
            <a:avLst/>
          </a:prstGeom>
          <a:noFill/>
          <a:ln w="25400">
            <a:solidFill>
              <a:schemeClr val="tx2"/>
            </a:solidFill>
            <a:prstDash val="solid"/>
            <a:headEnd type="triangle"/>
          </a:ln>
        </p:spPr>
      </p:sp>
      <p:sp>
        <p:nvSpPr>
          <p:cNvPr id="45" name="flow Monitoring"/>
          <p:cNvSpPr/>
          <p:nvPr/>
        </p:nvSpPr>
        <p:spPr>
          <a:xfrm>
            <a:off x="548640" y="4069080"/>
            <a:ext cx="2377440" cy="1600200"/>
          </a:xfrm>
          <a:prstGeom prst="roundRect">
            <a:avLst>
              <a:gd name="adj" fmla="val 5714"/>
            </a:avLst>
          </a:prstGeom>
          <a:solidFill>
            <a:schemeClr val="tx2"/>
          </a:solidFill>
          <a:ln/>
          <a:effectLst>
            <a:outerShdw sx="100000" sy="100000" kx="0" ky="0" algn="bl" rotWithShape="0" blurRad="76200" dist="25400" dir="5400000">
              <a:srgbClr val="000000">
                <a:alpha val="12000"/>
              </a:srgbClr>
            </a:outerShdw>
          </a:effectLst>
        </p:spPr>
      </p:sp>
      <p:sp>
        <p:nvSpPr>
          <p:cNvPr id="46" name="icon-circle FaHeartbeat"/>
          <p:cNvSpPr/>
          <p:nvPr/>
        </p:nvSpPr>
        <p:spPr>
          <a:xfrm>
            <a:off x="731520" y="4251960"/>
            <a:ext cx="502920" cy="502920"/>
          </a:xfrm>
          <a:prstGeom prst="ellipse">
            <a:avLst/>
          </a:prstGeom>
          <a:solidFill>
            <a:schemeClr val="accent1"/>
          </a:solidFill>
          <a:ln/>
        </p:spPr>
      </p:sp>
      <p:pic>
        <p:nvPicPr>
          <p:cNvPr id="47" name="icon FaHeartbeat" descr="Heartbeat icon">    </p:cNvPr>
          <p:cNvPicPr>
            <a:picLocks noChangeAspect="1"/>
          </p:cNvPicPr>
          <p:nvPr/>
        </p:nvPicPr>
        <p:blipFill>
          <a:blip r:embed="rId8"/>
          <a:stretch>
            <a:fillRect/>
          </a:stretch>
        </p:blipFill>
        <p:spPr>
          <a:xfrm>
            <a:off x="852221" y="4372661"/>
            <a:ext cx="261518" cy="261518"/>
          </a:xfrm>
          <a:prstGeom prst="rect">
            <a:avLst/>
          </a:prstGeom>
        </p:spPr>
      </p:pic>
      <p:sp>
        <p:nvSpPr>
          <p:cNvPr id="48" name="Text 37"/>
          <p:cNvSpPr txBox="1"/>
          <p:nvPr/>
        </p:nvSpPr>
        <p:spPr>
          <a:xfrm>
            <a:off x="1371600" y="4251960"/>
            <a:ext cx="1463040" cy="502920"/>
          </a:xfrm>
          <a:prstGeom prst="rect">
            <a:avLst/>
          </a:prstGeom>
          <a:noFill/>
          <a:ln/>
        </p:spPr>
        <p:txBody>
          <a:bodyPr wrap="square" lIns="0" tIns="0" rIns="0" bIns="0" rtlCol="0" anchor="ctr"/>
          <a:lstStyle/>
          <a:p>
            <a:pPr indent="0" marL="0">
              <a:buNone/>
            </a:pPr>
            <a:r>
              <a:rPr lang="en-US" sz="1500" b="1" dirty="0">
                <a:solidFill>
                  <a:schemeClr val="bg1"/>
                </a:solidFill>
                <a:latin typeface="Arial" pitchFamily="34" charset="0"/>
                <a:ea typeface="Arial" pitchFamily="34" charset="-122"/>
                <a:cs typeface="Arial" pitchFamily="34" charset="-120"/>
              </a:rPr>
              <a:t>Monitoring</a:t>
            </a:r>
            <a:endParaRPr lang="en-US" sz="1500" dirty="0"/>
          </a:p>
        </p:txBody>
      </p:sp>
      <p:sp>
        <p:nvSpPr>
          <p:cNvPr id="49" name="Text 38"/>
          <p:cNvSpPr txBox="1"/>
          <p:nvPr/>
        </p:nvSpPr>
        <p:spPr>
          <a:xfrm>
            <a:off x="731520" y="4892040"/>
            <a:ext cx="2057400" cy="640080"/>
          </a:xfrm>
          <a:prstGeom prst="rect">
            <a:avLst/>
          </a:prstGeom>
          <a:noFill/>
          <a:ln/>
        </p:spPr>
        <p:txBody>
          <a:bodyPr wrap="square" lIns="0" tIns="0" rIns="0" bIns="0" rtlCol="0" anchor="t"/>
          <a:lstStyle/>
          <a:p>
            <a:pPr indent="0" marL="0">
              <a:buNone/>
            </a:pPr>
            <a:r>
              <a:rPr lang="en-US" sz="1400" dirty="0">
                <a:solidFill>
                  <a:schemeClr val="bg2"/>
                </a:solidFill>
              </a:rPr>
              <a:t>drift, recall, latency → retrain?</a:t>
            </a:r>
            <a:endParaRPr lang="en-US" sz="1400" dirty="0"/>
          </a:p>
        </p:txBody>
      </p:sp>
      <p:sp>
        <p:nvSpPr>
          <p:cNvPr id="50" name="Shape 39"/>
          <p:cNvSpPr/>
          <p:nvPr/>
        </p:nvSpPr>
        <p:spPr>
          <a:xfrm>
            <a:off x="10433304" y="3108960"/>
            <a:ext cx="914" cy="914400"/>
          </a:xfrm>
          <a:prstGeom prst="line">
            <a:avLst/>
          </a:prstGeom>
          <a:noFill/>
          <a:ln w="25400">
            <a:solidFill>
              <a:schemeClr val="tx2"/>
            </a:solidFill>
            <a:prstDash val="solid"/>
            <a:tailEnd type="triangle"/>
          </a:ln>
        </p:spPr>
      </p:sp>
      <p:sp>
        <p:nvSpPr>
          <p:cNvPr id="51" name="Text 40"/>
          <p:cNvSpPr txBox="1"/>
          <p:nvPr/>
        </p:nvSpPr>
        <p:spPr>
          <a:xfrm>
            <a:off x="10524744" y="3383280"/>
            <a:ext cx="1463040" cy="320040"/>
          </a:xfrm>
          <a:prstGeom prst="rect">
            <a:avLst/>
          </a:prstGeom>
          <a:noFill/>
          <a:ln/>
        </p:spPr>
        <p:txBody>
          <a:bodyPr wrap="square" lIns="0" tIns="0" rIns="0" bIns="0" rtlCol="0" anchor="t"/>
          <a:lstStyle/>
          <a:p>
            <a:pPr indent="0" marL="0">
              <a:buNone/>
            </a:pPr>
            <a:r>
              <a:rPr lang="en-US" sz="1200" dirty="0">
                <a:solidFill>
                  <a:schemeClr val="accent4"/>
                </a:solidFill>
              </a:rPr>
              <a:t>deploy champion</a:t>
            </a:r>
            <a:endParaRPr lang="en-US" sz="1200" dirty="0"/>
          </a:p>
        </p:txBody>
      </p:sp>
      <p:sp>
        <p:nvSpPr>
          <p:cNvPr id="52" name="Shape 41"/>
          <p:cNvSpPr/>
          <p:nvPr/>
        </p:nvSpPr>
        <p:spPr>
          <a:xfrm>
            <a:off x="1737360" y="3108960"/>
            <a:ext cx="914" cy="914400"/>
          </a:xfrm>
          <a:prstGeom prst="line">
            <a:avLst/>
          </a:prstGeom>
          <a:noFill/>
          <a:ln w="25400">
            <a:solidFill>
              <a:schemeClr val="accent2"/>
            </a:solidFill>
            <a:prstDash val="solid"/>
            <a:headEnd type="triangle"/>
          </a:ln>
        </p:spPr>
      </p:sp>
      <p:sp>
        <p:nvSpPr>
          <p:cNvPr id="53" name="Text 42"/>
          <p:cNvSpPr txBox="1"/>
          <p:nvPr/>
        </p:nvSpPr>
        <p:spPr>
          <a:xfrm>
            <a:off x="1828800" y="3383280"/>
            <a:ext cx="2194560" cy="320040"/>
          </a:xfrm>
          <a:prstGeom prst="rect">
            <a:avLst/>
          </a:prstGeom>
          <a:noFill/>
          <a:ln/>
        </p:spPr>
        <p:txBody>
          <a:bodyPr wrap="square" lIns="0" tIns="0" rIns="0" bIns="0" rtlCol="0" anchor="t"/>
          <a:lstStyle/>
          <a:p>
            <a:pPr indent="0" marL="0">
              <a:buNone/>
            </a:pPr>
            <a:r>
              <a:rPr lang="en-US" sz="1200" b="1" dirty="0">
                <a:solidFill>
                  <a:schemeClr val="accent2"/>
                </a:solidFill>
              </a:rPr>
              <a:t>retrain if policy says so</a:t>
            </a:r>
            <a:endParaRPr lang="en-US" sz="1200" dirty="0"/>
          </a:p>
        </p:txBody>
      </p:sp>
      <p:sp>
        <p:nvSpPr>
          <p:cNvPr id="54" name="Text 43"/>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400" i="1" dirty="0">
                <a:solidFill>
                  <a:schemeClr val="accent4"/>
                </a:solidFill>
              </a:rPr>
              <a:t>Airflow DAG severity_model_lifecycle runs monitor → retrain-or-skip every Monday</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Chronological split: no peeking into the future</a:t>
            </a:r>
            <a:endParaRPr lang="en-US" sz="3200" dirty="0"/>
          </a:p>
        </p:txBody>
      </p:sp>
      <p:sp>
        <p:nvSpPr>
          <p:cNvPr id="4" name="segment Train"/>
          <p:cNvSpPr/>
          <p:nvPr/>
        </p:nvSpPr>
        <p:spPr>
          <a:xfrm>
            <a:off x="548640" y="1920240"/>
            <a:ext cx="8298180" cy="822960"/>
          </a:xfrm>
          <a:prstGeom prst="rect">
            <a:avLst/>
          </a:prstGeom>
          <a:solidFill>
            <a:schemeClr val="tx2"/>
          </a:solidFill>
          <a:ln w="25400">
            <a:solidFill>
              <a:schemeClr val="bg1"/>
            </a:solidFill>
            <a:prstDash val="solid"/>
          </a:ln>
        </p:spPr>
      </p:sp>
      <p:sp>
        <p:nvSpPr>
          <p:cNvPr id="5" name="Text 2"/>
          <p:cNvSpPr txBox="1"/>
          <p:nvPr/>
        </p:nvSpPr>
        <p:spPr>
          <a:xfrm>
            <a:off x="548640" y="1920240"/>
            <a:ext cx="8298180" cy="822960"/>
          </a:xfrm>
          <a:prstGeom prst="rect">
            <a:avLst/>
          </a:prstGeom>
          <a:noFill/>
          <a:ln/>
        </p:spPr>
        <p:txBody>
          <a:bodyPr wrap="square" lIns="0" tIns="0" rIns="0" bIns="0" rtlCol="0" anchor="ctr"/>
          <a:lstStyle/>
          <a:p>
            <a:pPr algn="ctr" indent="0" marL="0">
              <a:buNone/>
            </a:pPr>
            <a:r>
              <a:rPr lang="en-US" sz="1800" b="1" dirty="0">
                <a:solidFill>
                  <a:schemeClr val="bg1"/>
                </a:solidFill>
              </a:rPr>
              <a:t>Train</a:t>
            </a:r>
            <a:endParaRPr lang="en-US" sz="1800" dirty="0"/>
          </a:p>
        </p:txBody>
      </p:sp>
      <p:sp>
        <p:nvSpPr>
          <p:cNvPr id="6" name="Text 3"/>
          <p:cNvSpPr txBox="1"/>
          <p:nvPr/>
        </p:nvSpPr>
        <p:spPr>
          <a:xfrm>
            <a:off x="548640" y="2834640"/>
            <a:ext cx="8298180" cy="365760"/>
          </a:xfrm>
          <a:prstGeom prst="rect">
            <a:avLst/>
          </a:prstGeom>
          <a:noFill/>
          <a:ln/>
        </p:spPr>
        <p:txBody>
          <a:bodyPr wrap="square" lIns="0" tIns="0" rIns="0" bIns="0" rtlCol="0" anchor="t"/>
          <a:lstStyle/>
          <a:p>
            <a:pPr algn="ctr" indent="0" marL="0">
              <a:buNone/>
            </a:pPr>
            <a:r>
              <a:rPr lang="en-US" sz="1400" dirty="0">
                <a:solidFill>
                  <a:schemeClr val="tx1"/>
                </a:solidFill>
              </a:rPr>
              <a:t>Jan 2023 – Jun 2024 (18 months)</a:t>
            </a:r>
            <a:endParaRPr lang="en-US" sz="1400" dirty="0"/>
          </a:p>
        </p:txBody>
      </p:sp>
      <p:sp>
        <p:nvSpPr>
          <p:cNvPr id="7" name="segment Valid"/>
          <p:cNvSpPr/>
          <p:nvPr/>
        </p:nvSpPr>
        <p:spPr>
          <a:xfrm>
            <a:off x="8846820" y="1920240"/>
            <a:ext cx="1383030" cy="822960"/>
          </a:xfrm>
          <a:prstGeom prst="rect">
            <a:avLst/>
          </a:prstGeom>
          <a:solidFill>
            <a:schemeClr val="accent1"/>
          </a:solidFill>
          <a:ln w="25400">
            <a:solidFill>
              <a:schemeClr val="bg1"/>
            </a:solidFill>
            <a:prstDash val="solid"/>
          </a:ln>
        </p:spPr>
      </p:sp>
      <p:sp>
        <p:nvSpPr>
          <p:cNvPr id="8" name="Text 5"/>
          <p:cNvSpPr txBox="1"/>
          <p:nvPr/>
        </p:nvSpPr>
        <p:spPr>
          <a:xfrm>
            <a:off x="8846820" y="1920240"/>
            <a:ext cx="1383030" cy="822960"/>
          </a:xfrm>
          <a:prstGeom prst="rect">
            <a:avLst/>
          </a:prstGeom>
          <a:noFill/>
          <a:ln/>
        </p:spPr>
        <p:txBody>
          <a:bodyPr wrap="square" lIns="0" tIns="0" rIns="0" bIns="0" rtlCol="0" anchor="ctr"/>
          <a:lstStyle/>
          <a:p>
            <a:pPr algn="ctr" indent="0" marL="0">
              <a:buNone/>
            </a:pPr>
            <a:r>
              <a:rPr lang="en-US" sz="1800" b="1" dirty="0">
                <a:solidFill>
                  <a:schemeClr val="tx1"/>
                </a:solidFill>
              </a:rPr>
              <a:t>Valid</a:t>
            </a:r>
            <a:endParaRPr lang="en-US" sz="1800" dirty="0"/>
          </a:p>
        </p:txBody>
      </p:sp>
      <p:sp>
        <p:nvSpPr>
          <p:cNvPr id="9" name="Text 6"/>
          <p:cNvSpPr txBox="1"/>
          <p:nvPr/>
        </p:nvSpPr>
        <p:spPr>
          <a:xfrm>
            <a:off x="8298180" y="2834640"/>
            <a:ext cx="2480310" cy="365760"/>
          </a:xfrm>
          <a:prstGeom prst="rect">
            <a:avLst/>
          </a:prstGeom>
          <a:noFill/>
          <a:ln/>
        </p:spPr>
        <p:txBody>
          <a:bodyPr wrap="square" lIns="0" tIns="0" rIns="0" bIns="0" rtlCol="0" anchor="t"/>
          <a:lstStyle/>
          <a:p>
            <a:pPr algn="ctr" indent="0" marL="0">
              <a:buNone/>
            </a:pPr>
            <a:r>
              <a:rPr lang="en-US" sz="1400" dirty="0">
                <a:solidFill>
                  <a:schemeClr val="tx1"/>
                </a:solidFill>
              </a:rPr>
              <a:t>Jul – Sep 2024</a:t>
            </a:r>
            <a:endParaRPr lang="en-US" sz="1400" dirty="0"/>
          </a:p>
        </p:txBody>
      </p:sp>
      <p:sp>
        <p:nvSpPr>
          <p:cNvPr id="10" name="segment Test"/>
          <p:cNvSpPr/>
          <p:nvPr/>
        </p:nvSpPr>
        <p:spPr>
          <a:xfrm>
            <a:off x="10229850" y="1920240"/>
            <a:ext cx="1383030" cy="822960"/>
          </a:xfrm>
          <a:prstGeom prst="rect">
            <a:avLst/>
          </a:prstGeom>
          <a:solidFill>
            <a:schemeClr val="accent2"/>
          </a:solidFill>
          <a:ln w="25400">
            <a:solidFill>
              <a:schemeClr val="bg1"/>
            </a:solidFill>
            <a:prstDash val="solid"/>
          </a:ln>
        </p:spPr>
      </p:sp>
      <p:sp>
        <p:nvSpPr>
          <p:cNvPr id="11" name="Text 8"/>
          <p:cNvSpPr txBox="1"/>
          <p:nvPr/>
        </p:nvSpPr>
        <p:spPr>
          <a:xfrm>
            <a:off x="10229850" y="1920240"/>
            <a:ext cx="1383030" cy="822960"/>
          </a:xfrm>
          <a:prstGeom prst="rect">
            <a:avLst/>
          </a:prstGeom>
          <a:noFill/>
          <a:ln/>
        </p:spPr>
        <p:txBody>
          <a:bodyPr wrap="square" lIns="0" tIns="0" rIns="0" bIns="0" rtlCol="0" anchor="ctr"/>
          <a:lstStyle/>
          <a:p>
            <a:pPr algn="ctr" indent="0" marL="0">
              <a:buNone/>
            </a:pPr>
            <a:r>
              <a:rPr lang="en-US" sz="1800" b="1" dirty="0">
                <a:solidFill>
                  <a:schemeClr val="bg1"/>
                </a:solidFill>
              </a:rPr>
              <a:t>Test</a:t>
            </a:r>
            <a:endParaRPr lang="en-US" sz="1800" dirty="0"/>
          </a:p>
        </p:txBody>
      </p:sp>
      <p:sp>
        <p:nvSpPr>
          <p:cNvPr id="12" name="Text 9"/>
          <p:cNvSpPr txBox="1"/>
          <p:nvPr/>
        </p:nvSpPr>
        <p:spPr>
          <a:xfrm>
            <a:off x="9681210" y="2834640"/>
            <a:ext cx="2480310" cy="365760"/>
          </a:xfrm>
          <a:prstGeom prst="rect">
            <a:avLst/>
          </a:prstGeom>
          <a:noFill/>
          <a:ln/>
        </p:spPr>
        <p:txBody>
          <a:bodyPr wrap="square" lIns="0" tIns="0" rIns="0" bIns="0" rtlCol="0" anchor="t"/>
          <a:lstStyle/>
          <a:p>
            <a:pPr algn="ctr" indent="0" marL="0">
              <a:buNone/>
            </a:pPr>
            <a:r>
              <a:rPr lang="en-US" sz="1400" dirty="0">
                <a:solidFill>
                  <a:schemeClr val="tx1"/>
                </a:solidFill>
              </a:rPr>
              <a:t>Oct – Dec 2024</a:t>
            </a:r>
            <a:endParaRPr lang="en-US" sz="1400" dirty="0"/>
          </a:p>
        </p:txBody>
      </p:sp>
      <p:sp>
        <p:nvSpPr>
          <p:cNvPr id="13" name="Text 10"/>
          <p:cNvSpPr txBox="1"/>
          <p:nvPr/>
        </p:nvSpPr>
        <p:spPr>
          <a:xfrm>
            <a:off x="548640" y="1508760"/>
            <a:ext cx="914400" cy="320040"/>
          </a:xfrm>
          <a:prstGeom prst="rect">
            <a:avLst/>
          </a:prstGeom>
          <a:noFill/>
          <a:ln/>
        </p:spPr>
        <p:txBody>
          <a:bodyPr wrap="square" lIns="0" tIns="0" rIns="0" bIns="0" rtlCol="0" anchor="t"/>
          <a:lstStyle/>
          <a:p>
            <a:pPr indent="0" marL="0">
              <a:buNone/>
            </a:pPr>
            <a:r>
              <a:rPr lang="en-US" sz="1300" dirty="0">
                <a:solidFill>
                  <a:schemeClr val="accent4"/>
                </a:solidFill>
              </a:rPr>
              <a:t>2023</a:t>
            </a:r>
            <a:endParaRPr lang="en-US" sz="1300" dirty="0"/>
          </a:p>
        </p:txBody>
      </p:sp>
      <p:sp>
        <p:nvSpPr>
          <p:cNvPr id="14" name="Text 11"/>
          <p:cNvSpPr txBox="1"/>
          <p:nvPr/>
        </p:nvSpPr>
        <p:spPr>
          <a:xfrm>
            <a:off x="6080760" y="1508760"/>
            <a:ext cx="914400" cy="320040"/>
          </a:xfrm>
          <a:prstGeom prst="rect">
            <a:avLst/>
          </a:prstGeom>
          <a:noFill/>
          <a:ln/>
        </p:spPr>
        <p:txBody>
          <a:bodyPr wrap="square" lIns="0" tIns="0" rIns="0" bIns="0" rtlCol="0" anchor="t"/>
          <a:lstStyle/>
          <a:p>
            <a:pPr indent="0" marL="0">
              <a:buNone/>
            </a:pPr>
            <a:r>
              <a:rPr lang="en-US" sz="1300" dirty="0">
                <a:solidFill>
                  <a:schemeClr val="accent4"/>
                </a:solidFill>
              </a:rPr>
              <a:t>2024</a:t>
            </a:r>
            <a:endParaRPr lang="en-US" sz="1300" dirty="0"/>
          </a:p>
        </p:txBody>
      </p:sp>
      <p:sp>
        <p:nvSpPr>
          <p:cNvPr id="15" name="Shape 12"/>
          <p:cNvSpPr/>
          <p:nvPr/>
        </p:nvSpPr>
        <p:spPr>
          <a:xfrm>
            <a:off x="6080760" y="1554480"/>
            <a:ext cx="914" cy="1188720"/>
          </a:xfrm>
          <a:prstGeom prst="line">
            <a:avLst/>
          </a:prstGeom>
          <a:noFill/>
          <a:ln w="12700">
            <a:solidFill>
              <a:schemeClr val="accent4"/>
            </a:solidFill>
            <a:prstDash val="dash"/>
          </a:ln>
        </p:spPr>
      </p:sp>
      <p:sp>
        <p:nvSpPr>
          <p:cNvPr id="16" name="random card"/>
          <p:cNvSpPr/>
          <p:nvPr/>
        </p:nvSpPr>
        <p:spPr>
          <a:xfrm>
            <a:off x="548640" y="3657600"/>
            <a:ext cx="5394960" cy="2377440"/>
          </a:xfrm>
          <a:prstGeom prst="roundRect">
            <a:avLst>
              <a:gd name="adj" fmla="val 3846"/>
            </a:avLst>
          </a:prstGeom>
          <a:solidFill>
            <a:schemeClr val="bg2"/>
          </a:solidFill>
          <a:ln/>
        </p:spPr>
      </p:sp>
      <p:sp>
        <p:nvSpPr>
          <p:cNvPr id="17" name="icon-circle FaRandom"/>
          <p:cNvSpPr/>
          <p:nvPr/>
        </p:nvSpPr>
        <p:spPr>
          <a:xfrm>
            <a:off x="822960" y="3931920"/>
            <a:ext cx="548640" cy="548640"/>
          </a:xfrm>
          <a:prstGeom prst="ellipse">
            <a:avLst/>
          </a:prstGeom>
          <a:solidFill>
            <a:schemeClr val="accent2"/>
          </a:solidFill>
          <a:ln/>
        </p:spPr>
      </p:sp>
      <p:pic>
        <p:nvPicPr>
          <p:cNvPr id="18" name="icon FaRandom" descr="Random icon">    </p:cNvPr>
          <p:cNvPicPr>
            <a:picLocks noChangeAspect="1"/>
          </p:cNvPicPr>
          <p:nvPr/>
        </p:nvPicPr>
        <p:blipFill>
          <a:blip r:embed="rId1"/>
          <a:stretch>
            <a:fillRect/>
          </a:stretch>
        </p:blipFill>
        <p:spPr>
          <a:xfrm>
            <a:off x="954634" y="4063594"/>
            <a:ext cx="285293" cy="285293"/>
          </a:xfrm>
          <a:prstGeom prst="rect">
            <a:avLst/>
          </a:prstGeom>
        </p:spPr>
      </p:pic>
      <p:sp>
        <p:nvSpPr>
          <p:cNvPr id="19" name="Text 15"/>
          <p:cNvSpPr txBox="1"/>
          <p:nvPr/>
        </p:nvSpPr>
        <p:spPr>
          <a:xfrm>
            <a:off x="1600200" y="3913632"/>
            <a:ext cx="416052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Why not a random split?</a:t>
            </a:r>
            <a:endParaRPr lang="en-US" sz="1600" dirty="0"/>
          </a:p>
        </p:txBody>
      </p:sp>
      <p:sp>
        <p:nvSpPr>
          <p:cNvPr id="20" name="Text 16"/>
          <p:cNvSpPr txBox="1"/>
          <p:nvPr/>
        </p:nvSpPr>
        <p:spPr>
          <a:xfrm>
            <a:off x="1600200" y="4261104"/>
            <a:ext cx="4160520" cy="1463040"/>
          </a:xfrm>
          <a:prstGeom prst="rect">
            <a:avLst/>
          </a:prstGeom>
          <a:noFill/>
          <a:ln/>
        </p:spPr>
        <p:txBody>
          <a:bodyPr wrap="square" lIns="0" tIns="0" rIns="0" bIns="0" rtlCol="0" anchor="t"/>
          <a:lstStyle/>
          <a:p>
            <a:pPr indent="0" marL="0">
              <a:buNone/>
            </a:pPr>
            <a:r>
              <a:rPr lang="en-US" sz="1400" dirty="0">
                <a:solidFill>
                  <a:schemeClr val="tx1"/>
                </a:solidFill>
              </a:rPr>
              <a:t>Training would include collisions from later months, so the model learns future seasonal patterns it could never know in real use – the test score would be too optimistic.</a:t>
            </a:r>
            <a:endParaRPr lang="en-US" sz="1400" dirty="0"/>
          </a:p>
        </p:txBody>
      </p:sp>
      <p:sp>
        <p:nvSpPr>
          <p:cNvPr id="21" name="chrono card"/>
          <p:cNvSpPr/>
          <p:nvPr/>
        </p:nvSpPr>
        <p:spPr>
          <a:xfrm>
            <a:off x="6217920" y="3657600"/>
            <a:ext cx="5394960" cy="2377440"/>
          </a:xfrm>
          <a:prstGeom prst="roundRect">
            <a:avLst>
              <a:gd name="adj" fmla="val 3846"/>
            </a:avLst>
          </a:prstGeom>
          <a:solidFill>
            <a:schemeClr val="bg2"/>
          </a:solidFill>
          <a:ln/>
        </p:spPr>
      </p:sp>
      <p:sp>
        <p:nvSpPr>
          <p:cNvPr id="22" name="icon-circle FaCheckCircle"/>
          <p:cNvSpPr/>
          <p:nvPr/>
        </p:nvSpPr>
        <p:spPr>
          <a:xfrm>
            <a:off x="6492240" y="3931920"/>
            <a:ext cx="548640" cy="548640"/>
          </a:xfrm>
          <a:prstGeom prst="ellipse">
            <a:avLst/>
          </a:prstGeom>
          <a:solidFill>
            <a:schemeClr val="accent5"/>
          </a:solidFill>
          <a:ln/>
        </p:spPr>
      </p:sp>
      <p:pic>
        <p:nvPicPr>
          <p:cNvPr id="23" name="icon FaCheckCircle" descr="CheckCircle icon">    </p:cNvPr>
          <p:cNvPicPr>
            <a:picLocks noChangeAspect="1"/>
          </p:cNvPicPr>
          <p:nvPr/>
        </p:nvPicPr>
        <p:blipFill>
          <a:blip r:embed="rId2"/>
          <a:stretch>
            <a:fillRect/>
          </a:stretch>
        </p:blipFill>
        <p:spPr>
          <a:xfrm>
            <a:off x="6623914" y="4063594"/>
            <a:ext cx="285293" cy="285293"/>
          </a:xfrm>
          <a:prstGeom prst="rect">
            <a:avLst/>
          </a:prstGeom>
        </p:spPr>
      </p:pic>
      <p:sp>
        <p:nvSpPr>
          <p:cNvPr id="24" name="Text 19"/>
          <p:cNvSpPr txBox="1"/>
          <p:nvPr/>
        </p:nvSpPr>
        <p:spPr>
          <a:xfrm>
            <a:off x="7269480" y="3913632"/>
            <a:ext cx="416052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Chronological = realistic</a:t>
            </a:r>
            <a:endParaRPr lang="en-US" sz="1600" dirty="0"/>
          </a:p>
        </p:txBody>
      </p:sp>
      <p:sp>
        <p:nvSpPr>
          <p:cNvPr id="25" name="Text 20"/>
          <p:cNvSpPr txBox="1"/>
          <p:nvPr/>
        </p:nvSpPr>
        <p:spPr>
          <a:xfrm>
            <a:off x="7269480" y="4261104"/>
            <a:ext cx="4160520" cy="1463040"/>
          </a:xfrm>
          <a:prstGeom prst="rect">
            <a:avLst/>
          </a:prstGeom>
          <a:noFill/>
          <a:ln/>
        </p:spPr>
        <p:txBody>
          <a:bodyPr wrap="square" lIns="0" tIns="0" rIns="0" bIns="0" rtlCol="0" anchor="t"/>
          <a:lstStyle/>
          <a:p>
            <a:pPr indent="0" marL="0">
              <a:buNone/>
            </a:pPr>
            <a:r>
              <a:rPr lang="en-US" sz="1400" dirty="0">
                <a:solidFill>
                  <a:schemeClr val="tx1"/>
                </a:solidFill>
              </a:rPr>
              <a:t>Learn from the past, predict the future – exactly how the model is used. Test months are never seen during training.</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One pipeline from raw features to prediction</a:t>
            </a:r>
            <a:endParaRPr lang="en-US" sz="3200" dirty="0"/>
          </a:p>
        </p:txBody>
      </p:sp>
      <p:sp>
        <p:nvSpPr>
          <p:cNvPr id="4" name="stage card"/>
          <p:cNvSpPr/>
          <p:nvPr/>
        </p:nvSpPr>
        <p:spPr>
          <a:xfrm>
            <a:off x="548640" y="1463040"/>
            <a:ext cx="3474720" cy="3200400"/>
          </a:xfrm>
          <a:prstGeom prst="roundRect">
            <a:avLst>
              <a:gd name="adj" fmla="val 2857"/>
            </a:avLst>
          </a:prstGeom>
          <a:solidFill>
            <a:schemeClr val="bg2"/>
          </a:solidFill>
          <a:ln/>
          <a:effectLst>
            <a:outerShdw sx="100000" sy="100000" kx="0" ky="0" algn="bl" rotWithShape="0" blurRad="76200" dist="25400" dir="5400000">
              <a:srgbClr val="000000">
                <a:alpha val="12000"/>
              </a:srgbClr>
            </a:outerShdw>
          </a:effectLst>
        </p:spPr>
      </p:sp>
      <p:sp>
        <p:nvSpPr>
          <p:cNvPr id="5" name="icon-circle FaMagic"/>
          <p:cNvSpPr/>
          <p:nvPr/>
        </p:nvSpPr>
        <p:spPr>
          <a:xfrm>
            <a:off x="822960" y="1691640"/>
            <a:ext cx="548640" cy="548640"/>
          </a:xfrm>
          <a:prstGeom prst="ellipse">
            <a:avLst/>
          </a:prstGeom>
          <a:solidFill>
            <a:schemeClr val="accent1"/>
          </a:solidFill>
          <a:ln/>
        </p:spPr>
      </p:sp>
      <p:pic>
        <p:nvPicPr>
          <p:cNvPr id="6" name="icon FaMagic" descr="Magic icon">    </p:cNvPr>
          <p:cNvPicPr>
            <a:picLocks noChangeAspect="1"/>
          </p:cNvPicPr>
          <p:nvPr/>
        </p:nvPicPr>
        <p:blipFill>
          <a:blip r:embed="rId1"/>
          <a:stretch>
            <a:fillRect/>
          </a:stretch>
        </p:blipFill>
        <p:spPr>
          <a:xfrm>
            <a:off x="954634" y="1823314"/>
            <a:ext cx="285293" cy="285293"/>
          </a:xfrm>
          <a:prstGeom prst="rect">
            <a:avLst/>
          </a:prstGeom>
        </p:spPr>
      </p:pic>
      <p:sp>
        <p:nvSpPr>
          <p:cNvPr id="7" name="Text 3"/>
          <p:cNvSpPr txBox="1"/>
          <p:nvPr/>
        </p:nvSpPr>
        <p:spPr>
          <a:xfrm>
            <a:off x="1508760" y="1691640"/>
            <a:ext cx="2423160" cy="54864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1 · Feature engineering</a:t>
            </a:r>
            <a:endParaRPr lang="en-US" sz="1500" dirty="0"/>
          </a:p>
        </p:txBody>
      </p:sp>
      <p:sp>
        <p:nvSpPr>
          <p:cNvPr id="8" name="Text 4"/>
          <p:cNvSpPr txBox="1"/>
          <p:nvPr/>
        </p:nvSpPr>
        <p:spPr>
          <a:xfrm>
            <a:off x="822960" y="2468880"/>
            <a:ext cx="3017520" cy="210312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chemeClr val="tx1"/>
                </a:solidFill>
              </a:rPr>
              <a:t>Custom AccidentFeatureEngineer transformer</a:t>
            </a:r>
            <a:endParaRPr lang="en-US" sz="1400" dirty="0"/>
          </a:p>
          <a:p>
            <a:pPr marL="228600" indent="-228600">
              <a:spcAft>
                <a:spcPts val="800"/>
              </a:spcAft>
              <a:buSzPct val="100000"/>
              <a:buChar char="•"/>
            </a:pPr>
            <a:r>
              <a:rPr lang="en-US" sz="1400" dirty="0">
                <a:solidFill>
                  <a:schemeClr val="tx1"/>
                </a:solidFill>
              </a:rPr>
              <a:t>Cyclical hour and month (sine/cosine)</a:t>
            </a:r>
            <a:endParaRPr lang="en-US" sz="1400" dirty="0"/>
          </a:p>
          <a:p>
            <a:pPr marL="228600" indent="-228600">
              <a:spcAft>
                <a:spcPts val="800"/>
              </a:spcAft>
              <a:buSzPct val="100000"/>
              <a:buChar char="•"/>
            </a:pPr>
            <a:r>
              <a:rPr lang="en-US" sz="1400" dirty="0">
                <a:solidFill>
                  <a:schemeClr val="tx1"/>
                </a:solidFill>
              </a:rPr>
              <a:t>Darkness, wet road, high-speed road flags</a:t>
            </a:r>
            <a:endParaRPr lang="en-US" sz="1400" dirty="0"/>
          </a:p>
          <a:p>
            <a:pPr marL="228600" indent="-228600">
              <a:spcAft>
                <a:spcPts val="800"/>
              </a:spcAft>
              <a:buSzPct val="100000"/>
              <a:buChar char="•"/>
            </a:pPr>
            <a:r>
              <a:rPr lang="en-US" sz="1400" dirty="0">
                <a:solidFill>
                  <a:schemeClr val="tx1"/>
                </a:solidFill>
              </a:rPr>
              <a:t>Vulnerable road user (pedestrian, cycle, motorcycle)</a:t>
            </a:r>
            <a:endParaRPr lang="en-US" sz="1400" dirty="0"/>
          </a:p>
        </p:txBody>
      </p:sp>
      <p:sp>
        <p:nvSpPr>
          <p:cNvPr id="9" name="Shape 5"/>
          <p:cNvSpPr/>
          <p:nvPr/>
        </p:nvSpPr>
        <p:spPr>
          <a:xfrm>
            <a:off x="4050792" y="3063240"/>
            <a:ext cx="219456" cy="914"/>
          </a:xfrm>
          <a:prstGeom prst="line">
            <a:avLst/>
          </a:prstGeom>
          <a:noFill/>
          <a:ln w="25400">
            <a:solidFill>
              <a:schemeClr val="tx2"/>
            </a:solidFill>
            <a:prstDash val="solid"/>
            <a:tailEnd type="triangle"/>
          </a:ln>
        </p:spPr>
      </p:sp>
      <p:sp>
        <p:nvSpPr>
          <p:cNvPr id="10" name="stage card"/>
          <p:cNvSpPr/>
          <p:nvPr/>
        </p:nvSpPr>
        <p:spPr>
          <a:xfrm>
            <a:off x="4297680" y="1463040"/>
            <a:ext cx="3474720" cy="3200400"/>
          </a:xfrm>
          <a:prstGeom prst="roundRect">
            <a:avLst>
              <a:gd name="adj" fmla="val 2857"/>
            </a:avLst>
          </a:prstGeom>
          <a:solidFill>
            <a:schemeClr val="bg2"/>
          </a:solidFill>
          <a:ln/>
          <a:effectLst>
            <a:outerShdw sx="100000" sy="100000" kx="0" ky="0" algn="bl" rotWithShape="0" blurRad="76200" dist="25400" dir="5400000">
              <a:srgbClr val="000000">
                <a:alpha val="12000"/>
              </a:srgbClr>
            </a:outerShdw>
          </a:effectLst>
        </p:spPr>
      </p:sp>
      <p:sp>
        <p:nvSpPr>
          <p:cNvPr id="11" name="icon-circle FaSlidersH"/>
          <p:cNvSpPr/>
          <p:nvPr/>
        </p:nvSpPr>
        <p:spPr>
          <a:xfrm>
            <a:off x="4572000" y="1691640"/>
            <a:ext cx="548640" cy="548640"/>
          </a:xfrm>
          <a:prstGeom prst="ellipse">
            <a:avLst/>
          </a:prstGeom>
          <a:solidFill>
            <a:schemeClr val="accent1"/>
          </a:solidFill>
          <a:ln/>
        </p:spPr>
      </p:sp>
      <p:pic>
        <p:nvPicPr>
          <p:cNvPr id="12" name="icon FaSlidersH" descr="SlidersH icon">    </p:cNvPr>
          <p:cNvPicPr>
            <a:picLocks noChangeAspect="1"/>
          </p:cNvPicPr>
          <p:nvPr/>
        </p:nvPicPr>
        <p:blipFill>
          <a:blip r:embed="rId2"/>
          <a:stretch>
            <a:fillRect/>
          </a:stretch>
        </p:blipFill>
        <p:spPr>
          <a:xfrm>
            <a:off x="4703674" y="1823314"/>
            <a:ext cx="285293" cy="285293"/>
          </a:xfrm>
          <a:prstGeom prst="rect">
            <a:avLst/>
          </a:prstGeom>
        </p:spPr>
      </p:pic>
      <p:sp>
        <p:nvSpPr>
          <p:cNvPr id="13" name="Text 8"/>
          <p:cNvSpPr txBox="1"/>
          <p:nvPr/>
        </p:nvSpPr>
        <p:spPr>
          <a:xfrm>
            <a:off x="5257800" y="1691640"/>
            <a:ext cx="2423160" cy="54864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2 · ColumnTransformer</a:t>
            </a:r>
            <a:endParaRPr lang="en-US" sz="1500" dirty="0"/>
          </a:p>
        </p:txBody>
      </p:sp>
      <p:sp>
        <p:nvSpPr>
          <p:cNvPr id="14" name="Text 9"/>
          <p:cNvSpPr txBox="1"/>
          <p:nvPr/>
        </p:nvSpPr>
        <p:spPr>
          <a:xfrm>
            <a:off x="4572000" y="2468880"/>
            <a:ext cx="3017520" cy="210312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chemeClr val="tx1"/>
                </a:solidFill>
              </a:rPr>
              <a:t>Median imputation for numbers</a:t>
            </a:r>
            <a:endParaRPr lang="en-US" sz="1400" dirty="0"/>
          </a:p>
          <a:p>
            <a:pPr marL="228600" indent="-228600">
              <a:spcAft>
                <a:spcPts val="800"/>
              </a:spcAft>
              <a:buSzPct val="100000"/>
              <a:buChar char="•"/>
            </a:pPr>
            <a:r>
              <a:rPr lang="en-US" sz="1400" dirty="0">
                <a:solidFill>
                  <a:schemeClr val="tx1"/>
                </a:solidFill>
              </a:rPr>
              <a:t>One-hot encoding for categories</a:t>
            </a:r>
            <a:endParaRPr lang="en-US" sz="1400" dirty="0"/>
          </a:p>
          <a:p>
            <a:pPr marL="228600" indent="-228600">
              <a:spcAft>
                <a:spcPts val="800"/>
              </a:spcAft>
              <a:buSzPct val="100000"/>
              <a:buChar char="•"/>
            </a:pPr>
            <a:r>
              <a:rPr lang="en-US" sz="1400" dirty="0">
                <a:solidFill>
                  <a:schemeClr val="tx1"/>
                </a:solidFill>
              </a:rPr>
              <a:t>Infrequent-category bucket: unseen values never crash</a:t>
            </a:r>
            <a:endParaRPr lang="en-US" sz="1400" dirty="0"/>
          </a:p>
        </p:txBody>
      </p:sp>
      <p:sp>
        <p:nvSpPr>
          <p:cNvPr id="15" name="Shape 10"/>
          <p:cNvSpPr/>
          <p:nvPr/>
        </p:nvSpPr>
        <p:spPr>
          <a:xfrm>
            <a:off x="7799832" y="3063240"/>
            <a:ext cx="219456" cy="914"/>
          </a:xfrm>
          <a:prstGeom prst="line">
            <a:avLst/>
          </a:prstGeom>
          <a:noFill/>
          <a:ln w="25400">
            <a:solidFill>
              <a:schemeClr val="tx2"/>
            </a:solidFill>
            <a:prstDash val="solid"/>
            <a:tailEnd type="triangle"/>
          </a:ln>
        </p:spPr>
      </p:sp>
      <p:sp>
        <p:nvSpPr>
          <p:cNvPr id="16" name="stage card"/>
          <p:cNvSpPr/>
          <p:nvPr/>
        </p:nvSpPr>
        <p:spPr>
          <a:xfrm>
            <a:off x="8046720" y="1463040"/>
            <a:ext cx="3474720" cy="3200400"/>
          </a:xfrm>
          <a:prstGeom prst="roundRect">
            <a:avLst>
              <a:gd name="adj" fmla="val 2857"/>
            </a:avLst>
          </a:prstGeom>
          <a:solidFill>
            <a:schemeClr val="tx2"/>
          </a:solidFill>
          <a:ln/>
          <a:effectLst>
            <a:outerShdw sx="100000" sy="100000" kx="0" ky="0" algn="bl" rotWithShape="0" blurRad="76200" dist="25400" dir="5400000">
              <a:srgbClr val="000000">
                <a:alpha val="12000"/>
              </a:srgbClr>
            </a:outerShdw>
          </a:effectLst>
        </p:spPr>
      </p:sp>
      <p:sp>
        <p:nvSpPr>
          <p:cNvPr id="17" name="icon-circle FaTree"/>
          <p:cNvSpPr/>
          <p:nvPr/>
        </p:nvSpPr>
        <p:spPr>
          <a:xfrm>
            <a:off x="8321040" y="1691640"/>
            <a:ext cx="548640" cy="548640"/>
          </a:xfrm>
          <a:prstGeom prst="ellipse">
            <a:avLst/>
          </a:prstGeom>
          <a:solidFill>
            <a:schemeClr val="accent1"/>
          </a:solidFill>
          <a:ln/>
        </p:spPr>
      </p:sp>
      <p:pic>
        <p:nvPicPr>
          <p:cNvPr id="18" name="icon FaTree" descr="Tree icon">    </p:cNvPr>
          <p:cNvPicPr>
            <a:picLocks noChangeAspect="1"/>
          </p:cNvPicPr>
          <p:nvPr/>
        </p:nvPicPr>
        <p:blipFill>
          <a:blip r:embed="rId3"/>
          <a:stretch>
            <a:fillRect/>
          </a:stretch>
        </p:blipFill>
        <p:spPr>
          <a:xfrm>
            <a:off x="8452714" y="1823314"/>
            <a:ext cx="285293" cy="285293"/>
          </a:xfrm>
          <a:prstGeom prst="rect">
            <a:avLst/>
          </a:prstGeom>
        </p:spPr>
      </p:pic>
      <p:sp>
        <p:nvSpPr>
          <p:cNvPr id="19" name="Text 13"/>
          <p:cNvSpPr txBox="1"/>
          <p:nvPr/>
        </p:nvSpPr>
        <p:spPr>
          <a:xfrm>
            <a:off x="9006840" y="1691640"/>
            <a:ext cx="2423160" cy="548640"/>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3 · LGBMClassifier</a:t>
            </a:r>
            <a:endParaRPr lang="en-US" sz="1500" dirty="0"/>
          </a:p>
        </p:txBody>
      </p:sp>
      <p:sp>
        <p:nvSpPr>
          <p:cNvPr id="20" name="Text 14"/>
          <p:cNvSpPr txBox="1"/>
          <p:nvPr/>
        </p:nvSpPr>
        <p:spPr>
          <a:xfrm>
            <a:off x="8321040" y="2468880"/>
            <a:ext cx="3017520" cy="210312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chemeClr val="bg1"/>
                </a:solidFill>
              </a:rPr>
              <a:t>Gradient-boosted decision trees</a:t>
            </a:r>
            <a:endParaRPr lang="en-US" sz="1400" dirty="0"/>
          </a:p>
          <a:p>
            <a:pPr marL="228600" indent="-228600">
              <a:spcAft>
                <a:spcPts val="800"/>
              </a:spcAft>
              <a:buSzPct val="100000"/>
              <a:buChar char="•"/>
            </a:pPr>
            <a:r>
              <a:rPr lang="en-US" sz="1400" dirty="0">
                <a:solidFill>
                  <a:schemeClr val="bg1"/>
                </a:solidFill>
              </a:rPr>
              <a:t>Fast on 200k rows, mixed feature types</a:t>
            </a:r>
            <a:endParaRPr lang="en-US" sz="1400" dirty="0"/>
          </a:p>
          <a:p>
            <a:pPr marL="228600" indent="-228600">
              <a:spcAft>
                <a:spcPts val="800"/>
              </a:spcAft>
              <a:buSzPct val="100000"/>
              <a:buChar char="•"/>
            </a:pPr>
            <a:r>
              <a:rPr lang="en-US" sz="1400" dirty="0">
                <a:solidFill>
                  <a:schemeClr val="bg1"/>
                </a:solidFill>
              </a:rPr>
              <a:t>Balanced class weights (next slide)</a:t>
            </a:r>
            <a:endParaRPr lang="en-US" sz="1400" dirty="0"/>
          </a:p>
        </p:txBody>
      </p:sp>
      <p:sp>
        <p:nvSpPr>
          <p:cNvPr id="21" name="skew card"/>
          <p:cNvSpPr/>
          <p:nvPr/>
        </p:nvSpPr>
        <p:spPr>
          <a:xfrm>
            <a:off x="548640" y="4937760"/>
            <a:ext cx="5394960" cy="1097280"/>
          </a:xfrm>
          <a:prstGeom prst="roundRect">
            <a:avLst>
              <a:gd name="adj" fmla="val 8333"/>
            </a:avLst>
          </a:prstGeom>
          <a:solidFill>
            <a:schemeClr val="accent6"/>
          </a:solidFill>
          <a:ln/>
        </p:spPr>
      </p:sp>
      <p:sp>
        <p:nvSpPr>
          <p:cNvPr id="22" name="Text 16"/>
          <p:cNvSpPr txBox="1"/>
          <p:nvPr/>
        </p:nvSpPr>
        <p:spPr>
          <a:xfrm>
            <a:off x="822960" y="4937760"/>
            <a:ext cx="4937760" cy="1097280"/>
          </a:xfrm>
          <a:prstGeom prst="rect">
            <a:avLst/>
          </a:prstGeom>
          <a:noFill/>
          <a:ln/>
        </p:spPr>
        <p:txBody>
          <a:bodyPr wrap="square" lIns="0" tIns="0" rIns="0" bIns="0" rtlCol="0" anchor="ctr"/>
          <a:lstStyle/>
          <a:p>
            <a:pPr indent="0" marL="0">
              <a:buNone/>
            </a:pPr>
            <a:r>
              <a:rPr lang="en-US" sz="1500" b="1" dirty="0">
                <a:solidFill>
                  <a:schemeClr val="tx1"/>
                </a:solidFill>
              </a:rPr>
              <a:t>Same code for training and serving </a:t>
            </a:r>
            <a:pPr indent="0" marL="0">
              <a:buNone/>
            </a:pPr>
            <a:r>
              <a:rPr lang="en-US" sz="1500" dirty="0">
                <a:solidFill>
                  <a:schemeClr val="tx1"/>
                </a:solidFill>
              </a:rPr>
              <a:t>→ no training/serving skew</a:t>
            </a:r>
            <a:endParaRPr lang="en-US" sz="1500" dirty="0"/>
          </a:p>
        </p:txBody>
      </p:sp>
      <p:sp>
        <p:nvSpPr>
          <p:cNvPr id="23" name="leak card"/>
          <p:cNvSpPr/>
          <p:nvPr/>
        </p:nvSpPr>
        <p:spPr>
          <a:xfrm>
            <a:off x="6217920" y="4937760"/>
            <a:ext cx="5394960" cy="1097280"/>
          </a:xfrm>
          <a:prstGeom prst="roundRect">
            <a:avLst>
              <a:gd name="adj" fmla="val 8333"/>
            </a:avLst>
          </a:prstGeom>
          <a:solidFill>
            <a:schemeClr val="accent6"/>
          </a:solidFill>
          <a:ln/>
        </p:spPr>
      </p:sp>
      <p:sp>
        <p:nvSpPr>
          <p:cNvPr id="24" name="Text 18"/>
          <p:cNvSpPr txBox="1"/>
          <p:nvPr/>
        </p:nvSpPr>
        <p:spPr>
          <a:xfrm>
            <a:off x="6492240" y="4937760"/>
            <a:ext cx="4937760" cy="1097280"/>
          </a:xfrm>
          <a:prstGeom prst="rect">
            <a:avLst/>
          </a:prstGeom>
          <a:noFill/>
          <a:ln/>
        </p:spPr>
        <p:txBody>
          <a:bodyPr wrap="square" lIns="0" tIns="0" rIns="0" bIns="0" rtlCol="0" anchor="ctr"/>
          <a:lstStyle/>
          <a:p>
            <a:pPr indent="0" marL="0">
              <a:buNone/>
            </a:pPr>
            <a:r>
              <a:rPr lang="en-US" sz="1500" b="1" dirty="0">
                <a:solidFill>
                  <a:schemeClr val="tx1"/>
                </a:solidFill>
              </a:rPr>
              <a:t>Leakage-free inputs: </a:t>
            </a:r>
            <a:pPr indent="0" marL="0">
              <a:buNone/>
            </a:pPr>
            <a:r>
              <a:rPr lang="en-US" sz="1500" dirty="0">
                <a:solidFill>
                  <a:schemeClr val="tx1"/>
                </a:solidFill>
              </a:rPr>
              <a:t>post-outcome columns were removed in Part 1</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Tackling imbalance with class weights</a:t>
            </a:r>
            <a:endParaRPr lang="en-US" sz="3200" dirty="0"/>
          </a:p>
        </p:txBody>
      </p:sp>
      <p:sp>
        <p:nvSpPr>
          <p:cNvPr id="4" name="Text 1"/>
          <p:cNvSpPr txBox="1"/>
          <p:nvPr/>
        </p:nvSpPr>
        <p:spPr>
          <a:xfrm>
            <a:off x="548640" y="1417320"/>
            <a:ext cx="6583680" cy="365760"/>
          </a:xfrm>
          <a:prstGeom prst="rect">
            <a:avLst/>
          </a:prstGeom>
          <a:noFill/>
          <a:ln/>
        </p:spPr>
        <p:txBody>
          <a:bodyPr wrap="square" lIns="0" tIns="0" rIns="0" bIns="0" rtlCol="0" anchor="t"/>
          <a:lstStyle/>
          <a:p>
            <a:pPr indent="0" marL="0">
              <a:buNone/>
            </a:pPr>
            <a:r>
              <a:rPr lang="en-US" sz="1400" dirty="0">
                <a:solidFill>
                  <a:schemeClr val="accent4"/>
                </a:solidFill>
              </a:rPr>
              <a:t>Weight per collision = n ÷ (classes × n in its class)   (approximate values)</a:t>
            </a:r>
            <a:endParaRPr lang="en-US" sz="1400" dirty="0"/>
          </a:p>
        </p:txBody>
      </p:sp>
      <p:sp>
        <p:nvSpPr>
          <p:cNvPr id="5" name="weight card Slight"/>
          <p:cNvSpPr/>
          <p:nvPr/>
        </p:nvSpPr>
        <p:spPr>
          <a:xfrm>
            <a:off x="548640" y="1920240"/>
            <a:ext cx="2011680" cy="2743200"/>
          </a:xfrm>
          <a:prstGeom prst="roundRect">
            <a:avLst>
              <a:gd name="adj" fmla="val 4545"/>
            </a:avLst>
          </a:prstGeom>
          <a:solidFill>
            <a:schemeClr val="accent4"/>
          </a:solidFill>
          <a:ln/>
          <a:effectLst>
            <a:outerShdw sx="100000" sy="100000" kx="0" ky="0" algn="bl" rotWithShape="0" blurRad="76200" dist="25400" dir="5400000">
              <a:srgbClr val="000000">
                <a:alpha val="12000"/>
              </a:srgbClr>
            </a:outerShdw>
          </a:effectLst>
        </p:spPr>
      </p:sp>
      <p:sp>
        <p:nvSpPr>
          <p:cNvPr id="6" name="Text 3"/>
          <p:cNvSpPr txBox="1"/>
          <p:nvPr/>
        </p:nvSpPr>
        <p:spPr>
          <a:xfrm>
            <a:off x="731520" y="2103120"/>
            <a:ext cx="1645920" cy="411480"/>
          </a:xfrm>
          <a:prstGeom prst="rect">
            <a:avLst/>
          </a:prstGeom>
          <a:noFill/>
          <a:ln/>
        </p:spPr>
        <p:txBody>
          <a:bodyPr wrap="square" lIns="0" tIns="0" rIns="0" bIns="0" rtlCol="0" anchor="t"/>
          <a:lstStyle/>
          <a:p>
            <a:pPr indent="0" marL="0">
              <a:buNone/>
            </a:pPr>
            <a:r>
              <a:rPr lang="en-US" sz="1800" b="1" dirty="0">
                <a:solidFill>
                  <a:schemeClr val="bg1"/>
                </a:solidFill>
                <a:latin typeface="Arial" pitchFamily="34" charset="0"/>
                <a:ea typeface="Arial" pitchFamily="34" charset="-122"/>
                <a:cs typeface="Arial" pitchFamily="34" charset="-120"/>
              </a:rPr>
              <a:t>Slight</a:t>
            </a:r>
            <a:endParaRPr lang="en-US" sz="1800" dirty="0"/>
          </a:p>
        </p:txBody>
      </p:sp>
      <p:sp>
        <p:nvSpPr>
          <p:cNvPr id="7" name="Text 4"/>
          <p:cNvSpPr txBox="1"/>
          <p:nvPr/>
        </p:nvSpPr>
        <p:spPr>
          <a:xfrm>
            <a:off x="731520" y="2651760"/>
            <a:ext cx="1645920" cy="914400"/>
          </a:xfrm>
          <a:prstGeom prst="rect">
            <a:avLst/>
          </a:prstGeom>
          <a:noFill/>
          <a:ln/>
        </p:spPr>
        <p:txBody>
          <a:bodyPr wrap="square" lIns="0" tIns="0" rIns="0" bIns="0" rtlCol="0" anchor="ctr"/>
          <a:lstStyle/>
          <a:p>
            <a:pPr indent="0" marL="0">
              <a:buNone/>
            </a:pPr>
            <a:r>
              <a:rPr lang="en-US" sz="4000" b="1" dirty="0">
                <a:solidFill>
                  <a:schemeClr val="bg1"/>
                </a:solidFill>
                <a:latin typeface="Arial" pitchFamily="34" charset="0"/>
                <a:ea typeface="Arial" pitchFamily="34" charset="-122"/>
                <a:cs typeface="Arial" pitchFamily="34" charset="-120"/>
              </a:rPr>
              <a:t>≈ 0.44</a:t>
            </a:r>
            <a:endParaRPr lang="en-US" sz="4000" dirty="0"/>
          </a:p>
        </p:txBody>
      </p:sp>
      <p:sp>
        <p:nvSpPr>
          <p:cNvPr id="8" name="Text 5"/>
          <p:cNvSpPr txBox="1"/>
          <p:nvPr/>
        </p:nvSpPr>
        <p:spPr>
          <a:xfrm>
            <a:off x="731520" y="3931920"/>
            <a:ext cx="1645920" cy="457200"/>
          </a:xfrm>
          <a:prstGeom prst="rect">
            <a:avLst/>
          </a:prstGeom>
          <a:noFill/>
          <a:ln/>
        </p:spPr>
        <p:txBody>
          <a:bodyPr wrap="square" lIns="0" tIns="0" rIns="0" bIns="0" rtlCol="0" anchor="t"/>
          <a:lstStyle/>
          <a:p>
            <a:pPr indent="0" marL="0">
              <a:buNone/>
            </a:pPr>
            <a:r>
              <a:rPr lang="en-US" sz="1400" dirty="0">
                <a:solidFill>
                  <a:schemeClr val="bg1"/>
                </a:solidFill>
              </a:rPr>
              <a:t>75.6% of data</a:t>
            </a:r>
            <a:endParaRPr lang="en-US" sz="1400" dirty="0"/>
          </a:p>
        </p:txBody>
      </p:sp>
      <p:sp>
        <p:nvSpPr>
          <p:cNvPr id="9" name="weight card Serious"/>
          <p:cNvSpPr/>
          <p:nvPr/>
        </p:nvSpPr>
        <p:spPr>
          <a:xfrm>
            <a:off x="2788920" y="1920240"/>
            <a:ext cx="2011680" cy="2743200"/>
          </a:xfrm>
          <a:prstGeom prst="roundRect">
            <a:avLst>
              <a:gd name="adj" fmla="val 4545"/>
            </a:avLst>
          </a:prstGeom>
          <a:solidFill>
            <a:schemeClr val="accent1"/>
          </a:solidFill>
          <a:ln/>
          <a:effectLst>
            <a:outerShdw sx="100000" sy="100000" kx="0" ky="0" algn="bl" rotWithShape="0" blurRad="76200" dist="25400" dir="5400000">
              <a:srgbClr val="000000">
                <a:alpha val="12000"/>
              </a:srgbClr>
            </a:outerShdw>
          </a:effectLst>
        </p:spPr>
      </p:sp>
      <p:sp>
        <p:nvSpPr>
          <p:cNvPr id="10" name="Text 7"/>
          <p:cNvSpPr txBox="1"/>
          <p:nvPr/>
        </p:nvSpPr>
        <p:spPr>
          <a:xfrm>
            <a:off x="2971800" y="2103120"/>
            <a:ext cx="164592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Serious</a:t>
            </a:r>
            <a:endParaRPr lang="en-US" sz="1800" dirty="0"/>
          </a:p>
        </p:txBody>
      </p:sp>
      <p:sp>
        <p:nvSpPr>
          <p:cNvPr id="11" name="Text 8"/>
          <p:cNvSpPr txBox="1"/>
          <p:nvPr/>
        </p:nvSpPr>
        <p:spPr>
          <a:xfrm>
            <a:off x="2971800" y="2651760"/>
            <a:ext cx="1645920" cy="914400"/>
          </a:xfrm>
          <a:prstGeom prst="rect">
            <a:avLst/>
          </a:prstGeom>
          <a:noFill/>
          <a:ln/>
        </p:spPr>
        <p:txBody>
          <a:bodyPr wrap="square" lIns="0" tIns="0" rIns="0" bIns="0" rtlCol="0" anchor="ctr"/>
          <a:lstStyle/>
          <a:p>
            <a:pPr indent="0" marL="0">
              <a:buNone/>
            </a:pPr>
            <a:r>
              <a:rPr lang="en-US" sz="4000" b="1" dirty="0">
                <a:solidFill>
                  <a:schemeClr val="tx1"/>
                </a:solidFill>
                <a:latin typeface="Arial" pitchFamily="34" charset="0"/>
                <a:ea typeface="Arial" pitchFamily="34" charset="-122"/>
                <a:cs typeface="Arial" pitchFamily="34" charset="-120"/>
              </a:rPr>
              <a:t>≈ 1.5</a:t>
            </a:r>
            <a:endParaRPr lang="en-US" sz="4000" dirty="0"/>
          </a:p>
        </p:txBody>
      </p:sp>
      <p:sp>
        <p:nvSpPr>
          <p:cNvPr id="12" name="Text 9"/>
          <p:cNvSpPr txBox="1"/>
          <p:nvPr/>
        </p:nvSpPr>
        <p:spPr>
          <a:xfrm>
            <a:off x="2971800" y="3931920"/>
            <a:ext cx="1645920" cy="457200"/>
          </a:xfrm>
          <a:prstGeom prst="rect">
            <a:avLst/>
          </a:prstGeom>
          <a:noFill/>
          <a:ln/>
        </p:spPr>
        <p:txBody>
          <a:bodyPr wrap="square" lIns="0" tIns="0" rIns="0" bIns="0" rtlCol="0" anchor="t"/>
          <a:lstStyle/>
          <a:p>
            <a:pPr indent="0" marL="0">
              <a:buNone/>
            </a:pPr>
            <a:r>
              <a:rPr lang="en-US" sz="1400" dirty="0">
                <a:solidFill>
                  <a:schemeClr val="tx1"/>
                </a:solidFill>
              </a:rPr>
              <a:t>22.9% of data</a:t>
            </a:r>
            <a:endParaRPr lang="en-US" sz="1400" dirty="0"/>
          </a:p>
        </p:txBody>
      </p:sp>
      <p:sp>
        <p:nvSpPr>
          <p:cNvPr id="13" name="weight card Fatal"/>
          <p:cNvSpPr/>
          <p:nvPr/>
        </p:nvSpPr>
        <p:spPr>
          <a:xfrm>
            <a:off x="5029200" y="1920240"/>
            <a:ext cx="2011680" cy="2743200"/>
          </a:xfrm>
          <a:prstGeom prst="roundRect">
            <a:avLst>
              <a:gd name="adj" fmla="val 4545"/>
            </a:avLst>
          </a:prstGeom>
          <a:solidFill>
            <a:schemeClr val="accent2"/>
          </a:solidFill>
          <a:ln/>
          <a:effectLst>
            <a:outerShdw sx="100000" sy="100000" kx="0" ky="0" algn="bl" rotWithShape="0" blurRad="76200" dist="25400" dir="5400000">
              <a:srgbClr val="000000">
                <a:alpha val="12000"/>
              </a:srgbClr>
            </a:outerShdw>
          </a:effectLst>
        </p:spPr>
      </p:sp>
      <p:sp>
        <p:nvSpPr>
          <p:cNvPr id="14" name="Text 11"/>
          <p:cNvSpPr txBox="1"/>
          <p:nvPr/>
        </p:nvSpPr>
        <p:spPr>
          <a:xfrm>
            <a:off x="5212080" y="2103120"/>
            <a:ext cx="1645920" cy="411480"/>
          </a:xfrm>
          <a:prstGeom prst="rect">
            <a:avLst/>
          </a:prstGeom>
          <a:noFill/>
          <a:ln/>
        </p:spPr>
        <p:txBody>
          <a:bodyPr wrap="square" lIns="0" tIns="0" rIns="0" bIns="0" rtlCol="0" anchor="t"/>
          <a:lstStyle/>
          <a:p>
            <a:pPr indent="0" marL="0">
              <a:buNone/>
            </a:pPr>
            <a:r>
              <a:rPr lang="en-US" sz="1800" b="1" dirty="0">
                <a:solidFill>
                  <a:schemeClr val="bg1"/>
                </a:solidFill>
                <a:latin typeface="Arial" pitchFamily="34" charset="0"/>
                <a:ea typeface="Arial" pitchFamily="34" charset="-122"/>
                <a:cs typeface="Arial" pitchFamily="34" charset="-120"/>
              </a:rPr>
              <a:t>Fatal</a:t>
            </a:r>
            <a:endParaRPr lang="en-US" sz="1800" dirty="0"/>
          </a:p>
        </p:txBody>
      </p:sp>
      <p:sp>
        <p:nvSpPr>
          <p:cNvPr id="15" name="Text 12"/>
          <p:cNvSpPr txBox="1"/>
          <p:nvPr/>
        </p:nvSpPr>
        <p:spPr>
          <a:xfrm>
            <a:off x="5212080" y="2651760"/>
            <a:ext cx="1645920" cy="914400"/>
          </a:xfrm>
          <a:prstGeom prst="rect">
            <a:avLst/>
          </a:prstGeom>
          <a:noFill/>
          <a:ln/>
        </p:spPr>
        <p:txBody>
          <a:bodyPr wrap="square" lIns="0" tIns="0" rIns="0" bIns="0" rtlCol="0" anchor="ctr"/>
          <a:lstStyle/>
          <a:p>
            <a:pPr indent="0" marL="0">
              <a:buNone/>
            </a:pPr>
            <a:r>
              <a:rPr lang="en-US" sz="4000" b="1" dirty="0">
                <a:solidFill>
                  <a:schemeClr val="bg1"/>
                </a:solidFill>
                <a:latin typeface="Arial" pitchFamily="34" charset="0"/>
                <a:ea typeface="Arial" pitchFamily="34" charset="-122"/>
                <a:cs typeface="Arial" pitchFamily="34" charset="-120"/>
              </a:rPr>
              <a:t>≈ 22</a:t>
            </a:r>
            <a:endParaRPr lang="en-US" sz="4000" dirty="0"/>
          </a:p>
        </p:txBody>
      </p:sp>
      <p:sp>
        <p:nvSpPr>
          <p:cNvPr id="16" name="Text 13"/>
          <p:cNvSpPr txBox="1"/>
          <p:nvPr/>
        </p:nvSpPr>
        <p:spPr>
          <a:xfrm>
            <a:off x="5212080" y="3931920"/>
            <a:ext cx="1645920" cy="457200"/>
          </a:xfrm>
          <a:prstGeom prst="rect">
            <a:avLst/>
          </a:prstGeom>
          <a:noFill/>
          <a:ln/>
        </p:spPr>
        <p:txBody>
          <a:bodyPr wrap="square" lIns="0" tIns="0" rIns="0" bIns="0" rtlCol="0" anchor="t"/>
          <a:lstStyle/>
          <a:p>
            <a:pPr indent="0" marL="0">
              <a:buNone/>
            </a:pPr>
            <a:r>
              <a:rPr lang="en-US" sz="1400" dirty="0">
                <a:solidFill>
                  <a:schemeClr val="bg1"/>
                </a:solidFill>
              </a:rPr>
              <a:t>1.5% of data</a:t>
            </a:r>
            <a:endParaRPr lang="en-US" sz="1400" dirty="0"/>
          </a:p>
        </p:txBody>
      </p:sp>
      <p:sp>
        <p:nvSpPr>
          <p:cNvPr id="17" name="50x card"/>
          <p:cNvSpPr/>
          <p:nvPr/>
        </p:nvSpPr>
        <p:spPr>
          <a:xfrm>
            <a:off x="548640" y="4937760"/>
            <a:ext cx="6492240" cy="1097280"/>
          </a:xfrm>
          <a:prstGeom prst="roundRect">
            <a:avLst>
              <a:gd name="adj" fmla="val 8333"/>
            </a:avLst>
          </a:prstGeom>
          <a:solidFill>
            <a:schemeClr val="accent6"/>
          </a:solidFill>
          <a:ln/>
        </p:spPr>
      </p:sp>
      <p:sp>
        <p:nvSpPr>
          <p:cNvPr id="18" name="Text 15"/>
          <p:cNvSpPr txBox="1"/>
          <p:nvPr/>
        </p:nvSpPr>
        <p:spPr>
          <a:xfrm>
            <a:off x="822960" y="4937760"/>
            <a:ext cx="6035040" cy="1097280"/>
          </a:xfrm>
          <a:prstGeom prst="rect">
            <a:avLst/>
          </a:prstGeom>
          <a:noFill/>
          <a:ln/>
        </p:spPr>
        <p:txBody>
          <a:bodyPr wrap="square" lIns="0" tIns="0" rIns="0" bIns="0" rtlCol="0" anchor="ctr"/>
          <a:lstStyle/>
          <a:p>
            <a:pPr indent="0" marL="0">
              <a:buNone/>
            </a:pPr>
            <a:r>
              <a:rPr lang="en-US" sz="1500" b="1" dirty="0">
                <a:solidFill>
                  <a:schemeClr val="tx1"/>
                </a:solidFill>
              </a:rPr>
              <a:t>One missed fatal collision costs the model ~50× </a:t>
            </a:r>
            <a:pPr indent="0" marL="0">
              <a:buNone/>
            </a:pPr>
            <a:r>
              <a:rPr lang="en-US" sz="1500" dirty="0">
                <a:solidFill>
                  <a:schemeClr val="tx1"/>
                </a:solidFill>
              </a:rPr>
              <a:t>more than one missed slight collision during training.</a:t>
            </a:r>
            <a:endParaRPr lang="en-US" sz="1500" dirty="0"/>
          </a:p>
        </p:txBody>
      </p:sp>
      <p:sp>
        <p:nvSpPr>
          <p:cNvPr id="19" name="trade-off card"/>
          <p:cNvSpPr/>
          <p:nvPr/>
        </p:nvSpPr>
        <p:spPr>
          <a:xfrm>
            <a:off x="7406640" y="1463040"/>
            <a:ext cx="4206240" cy="4572000"/>
          </a:xfrm>
          <a:prstGeom prst="roundRect">
            <a:avLst>
              <a:gd name="adj" fmla="val 2174"/>
            </a:avLst>
          </a:prstGeom>
          <a:solidFill>
            <a:schemeClr val="bg2"/>
          </a:solidFill>
          <a:ln/>
        </p:spPr>
      </p:sp>
      <p:sp>
        <p:nvSpPr>
          <p:cNvPr id="20" name="icon-circle FaBalanceScale"/>
          <p:cNvSpPr/>
          <p:nvPr/>
        </p:nvSpPr>
        <p:spPr>
          <a:xfrm>
            <a:off x="7680960" y="1737360"/>
            <a:ext cx="594360" cy="594360"/>
          </a:xfrm>
          <a:prstGeom prst="ellipse">
            <a:avLst/>
          </a:prstGeom>
          <a:solidFill>
            <a:schemeClr val="accent1"/>
          </a:solidFill>
          <a:ln/>
        </p:spPr>
      </p:sp>
      <p:pic>
        <p:nvPicPr>
          <p:cNvPr id="21" name="icon FaBalanceScale" descr="BalanceScale icon">    </p:cNvPr>
          <p:cNvPicPr>
            <a:picLocks noChangeAspect="1"/>
          </p:cNvPicPr>
          <p:nvPr/>
        </p:nvPicPr>
        <p:blipFill>
          <a:blip r:embed="rId1"/>
          <a:stretch>
            <a:fillRect/>
          </a:stretch>
        </p:blipFill>
        <p:spPr>
          <a:xfrm>
            <a:off x="7823606" y="1880006"/>
            <a:ext cx="309067" cy="309067"/>
          </a:xfrm>
          <a:prstGeom prst="rect">
            <a:avLst/>
          </a:prstGeom>
        </p:spPr>
      </p:pic>
      <p:sp>
        <p:nvSpPr>
          <p:cNvPr id="22" name="Text 18"/>
          <p:cNvSpPr txBox="1"/>
          <p:nvPr/>
        </p:nvSpPr>
        <p:spPr>
          <a:xfrm>
            <a:off x="8458200" y="1737360"/>
            <a:ext cx="3017520" cy="594360"/>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The deliberate trade-off</a:t>
            </a:r>
            <a:endParaRPr lang="en-US" sz="1700" dirty="0"/>
          </a:p>
        </p:txBody>
      </p:sp>
      <p:sp>
        <p:nvSpPr>
          <p:cNvPr id="23" name="Text 19"/>
          <p:cNvSpPr txBox="1"/>
          <p:nvPr/>
        </p:nvSpPr>
        <p:spPr>
          <a:xfrm>
            <a:off x="7680960" y="2560320"/>
            <a:ext cx="3749040" cy="338328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chemeClr val="tx1"/>
                </a:solidFill>
              </a:rPr>
              <a:t>More severe predictions, including some false alarms</a:t>
            </a:r>
            <a:endParaRPr lang="en-US" sz="1400" dirty="0"/>
          </a:p>
          <a:p>
            <a:pPr marL="228600" indent="-228600">
              <a:spcAft>
                <a:spcPts val="800"/>
              </a:spcAft>
              <a:buSzPct val="100000"/>
              <a:buChar char="•"/>
            </a:pPr>
            <a:r>
              <a:rPr lang="en-US" sz="1400" dirty="0">
                <a:solidFill>
                  <a:schemeClr val="tx1"/>
                </a:solidFill>
              </a:rPr>
              <a:t>Accuracy goes down, recall on severe classes goes up</a:t>
            </a:r>
            <a:endParaRPr lang="en-US" sz="1400" dirty="0"/>
          </a:p>
          <a:p>
            <a:pPr marL="228600" indent="-228600">
              <a:spcAft>
                <a:spcPts val="800"/>
              </a:spcAft>
              <a:buSzPct val="100000"/>
              <a:buChar char="•"/>
            </a:pPr>
            <a:r>
              <a:rPr lang="en-US" sz="1400" dirty="0">
                <a:solidFill>
                  <a:schemeClr val="tx1"/>
                </a:solidFill>
              </a:rPr>
              <a:t>In road safety a missed fatal crash costs far more than a false alarm</a:t>
            </a:r>
            <a:endParaRPr lang="en-US" sz="1400" dirty="0"/>
          </a:p>
          <a:p>
            <a:pPr marL="228600" indent="-228600">
              <a:spcAft>
                <a:spcPts val="800"/>
              </a:spcAft>
              <a:buSzPct val="100000"/>
              <a:buChar char="•"/>
            </a:pPr>
            <a:r>
              <a:rPr lang="en-US" sz="1400" dirty="0">
                <a:solidFill>
                  <a:schemeClr val="tx1"/>
                </a:solidFill>
              </a:rPr>
              <a:t>Chosen over SMOTE: no synthetic collisions, only real data</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Results on the unseen test period (Oct–Dec 2024)</a:t>
            </a:r>
            <a:endParaRPr lang="en-US" sz="3200" dirty="0"/>
          </a:p>
        </p:txBody>
      </p:sp>
      <p:sp>
        <p:nvSpPr>
          <p:cNvPr id="4" name="Text 1"/>
          <p:cNvSpPr txBox="1"/>
          <p:nvPr/>
        </p:nvSpPr>
        <p:spPr>
          <a:xfrm>
            <a:off x="548640" y="1417320"/>
            <a:ext cx="2743200" cy="777240"/>
          </a:xfrm>
          <a:prstGeom prst="rect">
            <a:avLst/>
          </a:prstGeom>
          <a:noFill/>
          <a:ln/>
        </p:spPr>
        <p:txBody>
          <a:bodyPr wrap="square" lIns="0" tIns="0" rIns="0" bIns="0" rtlCol="0" anchor="b"/>
          <a:lstStyle/>
          <a:p>
            <a:pPr indent="0" marL="0">
              <a:buNone/>
            </a:pPr>
            <a:r>
              <a:rPr lang="en-US" sz="4800" b="1" dirty="0">
                <a:solidFill>
                  <a:schemeClr val="accent2"/>
                </a:solidFill>
                <a:latin typeface="Arial" pitchFamily="34" charset="0"/>
                <a:ea typeface="Arial" pitchFamily="34" charset="-122"/>
                <a:cs typeface="Arial" pitchFamily="34" charset="-120"/>
              </a:rPr>
              <a:t>64.6%</a:t>
            </a:r>
            <a:endParaRPr lang="en-US" sz="4800" dirty="0"/>
          </a:p>
        </p:txBody>
      </p:sp>
      <p:sp>
        <p:nvSpPr>
          <p:cNvPr id="5" name="Text 2"/>
          <p:cNvSpPr txBox="1"/>
          <p:nvPr/>
        </p:nvSpPr>
        <p:spPr>
          <a:xfrm>
            <a:off x="548640" y="2258568"/>
            <a:ext cx="2743200" cy="685800"/>
          </a:xfrm>
          <a:prstGeom prst="rect">
            <a:avLst/>
          </a:prstGeom>
          <a:noFill/>
          <a:ln/>
        </p:spPr>
        <p:txBody>
          <a:bodyPr wrap="square" lIns="0" tIns="0" rIns="0" bIns="0" rtlCol="0" anchor="t"/>
          <a:lstStyle/>
          <a:p>
            <a:pPr indent="0" marL="0">
              <a:buNone/>
            </a:pPr>
            <a:r>
              <a:rPr lang="en-US" sz="1400" dirty="0">
                <a:solidFill>
                  <a:schemeClr val="accent4"/>
                </a:solidFill>
              </a:rPr>
              <a:t>KSI recall – severe crashes caught</a:t>
            </a:r>
            <a:endParaRPr lang="en-US" sz="1400" dirty="0"/>
          </a:p>
        </p:txBody>
      </p:sp>
      <p:sp>
        <p:nvSpPr>
          <p:cNvPr id="6" name="Text 3"/>
          <p:cNvSpPr txBox="1"/>
          <p:nvPr/>
        </p:nvSpPr>
        <p:spPr>
          <a:xfrm>
            <a:off x="548640" y="2971800"/>
            <a:ext cx="2743200" cy="777240"/>
          </a:xfrm>
          <a:prstGeom prst="rect">
            <a:avLst/>
          </a:prstGeom>
          <a:noFill/>
          <a:ln/>
        </p:spPr>
        <p:txBody>
          <a:bodyPr wrap="square" lIns="0" tIns="0" rIns="0" bIns="0" rtlCol="0" anchor="b"/>
          <a:lstStyle/>
          <a:p>
            <a:pPr indent="0" marL="0">
              <a:buNone/>
            </a:pPr>
            <a:r>
              <a:rPr lang="en-US" sz="4800" b="1" dirty="0">
                <a:solidFill>
                  <a:schemeClr val="tx2"/>
                </a:solidFill>
                <a:latin typeface="Arial" pitchFamily="34" charset="0"/>
                <a:ea typeface="Arial" pitchFamily="34" charset="-122"/>
                <a:cs typeface="Arial" pitchFamily="34" charset="-120"/>
              </a:rPr>
              <a:t>0.431</a:t>
            </a:r>
            <a:endParaRPr lang="en-US" sz="4800" dirty="0"/>
          </a:p>
        </p:txBody>
      </p:sp>
      <p:sp>
        <p:nvSpPr>
          <p:cNvPr id="7" name="Text 4"/>
          <p:cNvSpPr txBox="1"/>
          <p:nvPr/>
        </p:nvSpPr>
        <p:spPr>
          <a:xfrm>
            <a:off x="548640" y="3813048"/>
            <a:ext cx="2743200" cy="685800"/>
          </a:xfrm>
          <a:prstGeom prst="rect">
            <a:avLst/>
          </a:prstGeom>
          <a:noFill/>
          <a:ln/>
        </p:spPr>
        <p:txBody>
          <a:bodyPr wrap="square" lIns="0" tIns="0" rIns="0" bIns="0" rtlCol="0" anchor="t"/>
          <a:lstStyle/>
          <a:p>
            <a:pPr indent="0" marL="0">
              <a:buNone/>
            </a:pPr>
            <a:r>
              <a:rPr lang="en-US" sz="1400" dirty="0">
                <a:solidFill>
                  <a:schemeClr val="accent4"/>
                </a:solidFill>
              </a:rPr>
              <a:t>Macro-F1 (always-'Slight' ≈ 0.29)</a:t>
            </a:r>
            <a:endParaRPr lang="en-US" sz="1400" dirty="0"/>
          </a:p>
        </p:txBody>
      </p:sp>
      <p:sp>
        <p:nvSpPr>
          <p:cNvPr id="8" name="Text 5"/>
          <p:cNvSpPr txBox="1"/>
          <p:nvPr/>
        </p:nvSpPr>
        <p:spPr>
          <a:xfrm>
            <a:off x="548640" y="4526280"/>
            <a:ext cx="2743200" cy="777240"/>
          </a:xfrm>
          <a:prstGeom prst="rect">
            <a:avLst/>
          </a:prstGeom>
          <a:noFill/>
          <a:ln/>
        </p:spPr>
        <p:txBody>
          <a:bodyPr wrap="square" lIns="0" tIns="0" rIns="0" bIns="0" rtlCol="0" anchor="b"/>
          <a:lstStyle/>
          <a:p>
            <a:pPr indent="0" marL="0">
              <a:buNone/>
            </a:pPr>
            <a:r>
              <a:rPr lang="en-US" sz="4800" b="1" dirty="0">
                <a:solidFill>
                  <a:schemeClr val="accent4"/>
                </a:solidFill>
                <a:latin typeface="Arial" pitchFamily="34" charset="0"/>
                <a:ea typeface="Arial" pitchFamily="34" charset="-122"/>
                <a:cs typeface="Arial" pitchFamily="34" charset="-120"/>
              </a:rPr>
              <a:t>62.1%</a:t>
            </a:r>
            <a:endParaRPr lang="en-US" sz="4800" dirty="0"/>
          </a:p>
        </p:txBody>
      </p:sp>
      <p:sp>
        <p:nvSpPr>
          <p:cNvPr id="9" name="Text 6"/>
          <p:cNvSpPr txBox="1"/>
          <p:nvPr/>
        </p:nvSpPr>
        <p:spPr>
          <a:xfrm>
            <a:off x="548640" y="5367528"/>
            <a:ext cx="2743200" cy="685800"/>
          </a:xfrm>
          <a:prstGeom prst="rect">
            <a:avLst/>
          </a:prstGeom>
          <a:noFill/>
          <a:ln/>
        </p:spPr>
        <p:txBody>
          <a:bodyPr wrap="square" lIns="0" tIns="0" rIns="0" bIns="0" rtlCol="0" anchor="t"/>
          <a:lstStyle/>
          <a:p>
            <a:pPr indent="0" marL="0">
              <a:buNone/>
            </a:pPr>
            <a:r>
              <a:rPr lang="en-US" sz="1400" dirty="0">
                <a:solidFill>
                  <a:schemeClr val="accent4"/>
                </a:solidFill>
              </a:rPr>
              <a:t>Accuracy – lower by design</a:t>
            </a:r>
            <a:endParaRPr lang="en-US" sz="1400" dirty="0"/>
          </a:p>
        </p:txBody>
      </p:sp>
      <p:graphicFrame>
        <p:nvGraphicFramePr>
          <p:cNvPr id="10" name="recall by class chart" descr=""/>
          <p:cNvGraphicFramePr/>
          <p:nvPr/>
        </p:nvGraphicFramePr>
        <p:xfrm>
          <a:off x="3657600" y="1417320"/>
          <a:ext cx="7955280" cy="4663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Confusion matrix: where the model is right and wrong</a:t>
            </a:r>
            <a:endParaRPr lang="en-US" sz="3200" dirty="0"/>
          </a:p>
        </p:txBody>
      </p:sp>
      <p:graphicFrame>
        <p:nvGraphicFramePr>
          <p:cNvPr id="10" name="confusion matrix"/>
          <p:cNvGraphicFramePr>
            <a:graphicFrameLocks noGrp="1"/>
          </p:cNvGraphicFramePr>
          <p:nvPr>
            <p:extLst>
              <p:ext uri="{D42A27DB-BD31-4B8C-83A1-F6EECF244321}">
                <p14:modId xmlns:p14="http://schemas.microsoft.com/office/powerpoint/2010/main" val="1579011935"/>
              </p:ext>
            </p:extLst>
          </p:nvPr>
        </p:nvGraphicFramePr>
        <p:xfrm>
          <a:off x="548640" y="1554480"/>
          <a:ext cx="6766560" cy="914400"/>
        </p:xfrm>
        <a:graphic>
          <a:graphicData uri="http://schemas.openxmlformats.org/drawingml/2006/table">
            <a:tbl>
              <a:tblPr/>
              <a:tblGrid>
                <a:gridCol w="2103120"/>
                <a:gridCol w="1554480"/>
                <a:gridCol w="1554480"/>
                <a:gridCol w="1554480"/>
              </a:tblGrid>
              <a:tr h="502920">
                <a:tc>
                  <a:txBody>
                    <a:bodyPr/>
                    <a:lstStyle/>
                    <a:p>
                      <a:pPr indent="0" marL="0">
                        <a:buNone/>
                      </a:pPr>
                      <a:r>
                        <a:rPr lang="en-US" sz="1200" b="1" dirty="0">
                          <a:solidFill>
                            <a:schemeClr val="bg1"/>
                          </a:solidFill>
                        </a:rPr>
                        <a:t>Actual ↓  /  Predicted →</a:t>
                      </a:r>
                      <a:endParaRPr lang="en-US" sz="1200" dirty="0"/>
                    </a:p>
                  </a:txBody>
                  <a:tcPr marL="91440" marR="91440" marT="45720" marB="45720" anchor="ctr">
                    <a:lnL w="12700" cap="flat" cmpd="sng" algn="ctr">
                      <a:solidFill>
                        <a:srgbClr val="D5D9DE"/>
                      </a:solidFill>
                      <a:prstDash val="solid"/>
                      <a:round/>
                      <a:headEnd type="none" w="med" len="med"/>
                      <a:tailEnd type="none" w="med" len="med"/>
                    </a:lnL>
                    <a:lnR w="12700" cap="flat" cmpd="sng" algn="ctr">
                      <a:solidFill>
                        <a:srgbClr val="D5D9DE"/>
                      </a:solidFill>
                      <a:prstDash val="solid"/>
                      <a:round/>
                      <a:headEnd type="none" w="med" len="med"/>
                      <a:tailEnd type="none" w="med" len="med"/>
                    </a:lnR>
                    <a:lnT w="12700" cap="flat" cmpd="sng" algn="ctr">
                      <a:solidFill>
                        <a:srgbClr val="D5D9DE"/>
                      </a:solidFill>
                      <a:prstDash val="solid"/>
                      <a:round/>
                      <a:headEnd type="none" w="med" len="med"/>
                      <a:tailEnd type="none" w="med" len="med"/>
                    </a:lnT>
                    <a:lnB w="12700" cap="flat" cmpd="sng" algn="ctr">
                      <a:solidFill>
                        <a:srgbClr val="D5D9DE"/>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Fatal</a:t>
                      </a:r>
                      <a:endParaRPr lang="en-US" sz="1400" dirty="0"/>
                    </a:p>
                  </a:txBody>
                  <a:tcPr marL="91440" marR="91440" marT="45720" marB="45720" anchor="ctr">
                    <a:lnL w="12700" cap="flat" cmpd="sng" algn="ctr">
                      <a:solidFill>
                        <a:srgbClr val="D5D9DE"/>
                      </a:solidFill>
                      <a:prstDash val="solid"/>
                      <a:round/>
                      <a:headEnd type="none" w="med" len="med"/>
                      <a:tailEnd type="none" w="med" len="med"/>
                    </a:lnL>
                    <a:lnR w="12700" cap="flat" cmpd="sng" algn="ctr">
                      <a:solidFill>
                        <a:srgbClr val="D5D9DE"/>
                      </a:solidFill>
                      <a:prstDash val="solid"/>
                      <a:round/>
                      <a:headEnd type="none" w="med" len="med"/>
                      <a:tailEnd type="none" w="med" len="med"/>
                    </a:lnR>
                    <a:lnT w="12700" cap="flat" cmpd="sng" algn="ctr">
                      <a:solidFill>
                        <a:srgbClr val="D5D9DE"/>
                      </a:solidFill>
                      <a:prstDash val="solid"/>
                      <a:round/>
                      <a:headEnd type="none" w="med" len="med"/>
                      <a:tailEnd type="none" w="med" len="med"/>
                    </a:lnT>
                    <a:lnB w="12700" cap="flat" cmpd="sng" algn="ctr">
                      <a:solidFill>
                        <a:srgbClr val="D5D9DE"/>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Serious</a:t>
                      </a:r>
                      <a:endParaRPr lang="en-US" sz="1400" dirty="0"/>
                    </a:p>
                  </a:txBody>
                  <a:tcPr marL="91440" marR="91440" marT="45720" marB="45720" anchor="ctr">
                    <a:lnL w="12700" cap="flat" cmpd="sng" algn="ctr">
                      <a:solidFill>
                        <a:srgbClr val="D5D9DE"/>
                      </a:solidFill>
                      <a:prstDash val="solid"/>
                      <a:round/>
                      <a:headEnd type="none" w="med" len="med"/>
                      <a:tailEnd type="none" w="med" len="med"/>
                    </a:lnL>
                    <a:lnR w="12700" cap="flat" cmpd="sng" algn="ctr">
                      <a:solidFill>
                        <a:srgbClr val="D5D9DE"/>
                      </a:solidFill>
                      <a:prstDash val="solid"/>
                      <a:round/>
                      <a:headEnd type="none" w="med" len="med"/>
                      <a:tailEnd type="none" w="med" len="med"/>
                    </a:lnR>
                    <a:lnT w="12700" cap="flat" cmpd="sng" algn="ctr">
                      <a:solidFill>
                        <a:srgbClr val="D5D9DE"/>
                      </a:solidFill>
                      <a:prstDash val="solid"/>
                      <a:round/>
                      <a:headEnd type="none" w="med" len="med"/>
                      <a:tailEnd type="none" w="med" len="med"/>
                    </a:lnT>
                    <a:lnB w="12700" cap="flat" cmpd="sng" algn="ctr">
                      <a:solidFill>
                        <a:srgbClr val="D5D9DE"/>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Slight</a:t>
                      </a:r>
                      <a:endParaRPr lang="en-US" sz="1400" dirty="0"/>
                    </a:p>
                  </a:txBody>
                  <a:tcPr marL="91440" marR="91440" marT="45720" marB="45720" anchor="ctr">
                    <a:lnL w="12700" cap="flat" cmpd="sng" algn="ctr">
                      <a:solidFill>
                        <a:srgbClr val="D5D9DE"/>
                      </a:solidFill>
                      <a:prstDash val="solid"/>
                      <a:round/>
                      <a:headEnd type="none" w="med" len="med"/>
                      <a:tailEnd type="none" w="med" len="med"/>
                    </a:lnL>
                    <a:lnR w="12700" cap="flat" cmpd="sng" algn="ctr">
                      <a:solidFill>
                        <a:srgbClr val="D5D9DE"/>
                      </a:solidFill>
                      <a:prstDash val="solid"/>
                      <a:round/>
                      <a:headEnd type="none" w="med" len="med"/>
                      <a:tailEnd type="none" w="med" len="med"/>
                    </a:lnR>
                    <a:lnT w="12700" cap="flat" cmpd="sng" algn="ctr">
                      <a:solidFill>
                        <a:srgbClr val="D5D9DE"/>
                      </a:solidFill>
                      <a:prstDash val="solid"/>
                      <a:round/>
                      <a:headEnd type="none" w="med" len="med"/>
                      <a:tailEnd type="none" w="med" len="med"/>
                    </a:lnT>
                    <a:lnB w="12700" cap="flat" cmpd="sng" algn="ctr">
                      <a:solidFill>
                        <a:srgbClr val="D5D9DE"/>
                      </a:solidFill>
                      <a:prstDash val="solid"/>
                      <a:round/>
                      <a:headEnd type="none" w="med" len="med"/>
                      <a:tailEnd type="none" w="med" len="med"/>
                    </a:lnB>
                    <a:solidFill>
                      <a:schemeClr val="tx2"/>
                    </a:solidFill>
                  </a:tcPr>
                </a:tc>
              </a:tr>
              <a:tr h="1051560">
                <a:tc>
                  <a:txBody>
                    <a:bodyPr/>
                    <a:lstStyle/>
                    <a:p>
                      <a:pPr indent="0" marL="0">
                        <a:buNone/>
                      </a:pPr>
                      <a:r>
                        <a:rPr lang="en-US" sz="1400" b="1" dirty="0">
                          <a:solidFill>
                            <a:schemeClr val="tx2"/>
                          </a:solidFill>
                        </a:rPr>
                        <a:t>Fatal  (389)</a:t>
                      </a:r>
                      <a:endParaRPr lang="en-US" sz="1400" dirty="0"/>
                    </a:p>
                  </a:txBody>
                  <a:tcPr marL="91440" marR="91440" marT="45720" marB="45720" anchor="ctr">
                    <a:lnL w="12700" cap="flat" cmpd="sng" algn="ctr">
                      <a:solidFill>
                        <a:srgbClr val="D5D9DE"/>
                      </a:solidFill>
                      <a:prstDash val="solid"/>
                      <a:round/>
                      <a:headEnd type="none" w="med" len="med"/>
                      <a:tailEnd type="none" w="med" len="med"/>
                    </a:lnL>
                    <a:lnR w="12700" cap="flat" cmpd="sng" algn="ctr">
                      <a:solidFill>
                        <a:srgbClr val="D5D9DE"/>
                      </a:solidFill>
                      <a:prstDash val="solid"/>
                      <a:round/>
                      <a:headEnd type="none" w="med" len="med"/>
                      <a:tailEnd type="none" w="med" len="med"/>
                    </a:lnR>
                    <a:lnT w="12700" cap="flat" cmpd="sng" algn="ctr">
                      <a:solidFill>
                        <a:srgbClr val="D5D9DE"/>
                      </a:solidFill>
                      <a:prstDash val="solid"/>
                      <a:round/>
                      <a:headEnd type="none" w="med" len="med"/>
                      <a:tailEnd type="none" w="med" len="med"/>
                    </a:lnT>
                    <a:lnB w="12700" cap="flat" cmpd="sng" algn="ctr">
                      <a:solidFill>
                        <a:srgbClr val="D5D9DE"/>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tx1"/>
                          </a:solidFill>
                        </a:rPr>
                        <a:t>116</a:t>
                      </a:r>
                      <a:endParaRPr lang="en-US" sz="1400" dirty="0"/>
                    </a:p>
                    <a:p>
                      <a:pPr algn="ctr" indent="0" marL="0">
                        <a:buNone/>
                      </a:pPr>
                      <a:r>
                        <a:rPr lang="en-US" sz="1300" dirty="0">
                          <a:solidFill>
                            <a:schemeClr val="accent4"/>
                          </a:solidFill>
                        </a:rPr>
                        <a:t>29.8%</a:t>
                      </a:r>
                      <a:endParaRPr lang="en-US" sz="1400" dirty="0"/>
                    </a:p>
                  </a:txBody>
                  <a:tcPr marL="91440" marR="91440" marT="45720" marB="45720" anchor="ctr">
                    <a:lnL w="12700" cap="flat" cmpd="sng" algn="ctr">
                      <a:solidFill>
                        <a:srgbClr val="D5D9DE"/>
                      </a:solidFill>
                      <a:prstDash val="solid"/>
                      <a:round/>
                      <a:headEnd type="none" w="med" len="med"/>
                      <a:tailEnd type="none" w="med" len="med"/>
                    </a:lnL>
                    <a:lnR w="12700" cap="flat" cmpd="sng" algn="ctr">
                      <a:solidFill>
                        <a:srgbClr val="D5D9DE"/>
                      </a:solidFill>
                      <a:prstDash val="solid"/>
                      <a:round/>
                      <a:headEnd type="none" w="med" len="med"/>
                      <a:tailEnd type="none" w="med" len="med"/>
                    </a:lnR>
                    <a:lnT w="12700" cap="flat" cmpd="sng" algn="ctr">
                      <a:solidFill>
                        <a:srgbClr val="D5D9DE"/>
                      </a:solidFill>
                      <a:prstDash val="solid"/>
                      <a:round/>
                      <a:headEnd type="none" w="med" len="med"/>
                      <a:tailEnd type="none" w="med" len="med"/>
                    </a:lnT>
                    <a:lnB w="12700" cap="flat" cmpd="sng" algn="ctr">
                      <a:solidFill>
                        <a:srgbClr val="D5D9DE"/>
                      </a:solidFill>
                      <a:prstDash val="solid"/>
                      <a:round/>
                      <a:headEnd type="none" w="med" len="med"/>
                      <a:tailEnd type="none" w="med" len="med"/>
                    </a:lnB>
                    <a:solidFill>
                      <a:srgbClr val="FCE7B2"/>
                    </a:solidFill>
                  </a:tcPr>
                </a:tc>
                <a:tc>
                  <a:txBody>
                    <a:bodyPr/>
                    <a:lstStyle/>
                    <a:p>
                      <a:pPr algn="ctr" indent="0" marL="0">
                        <a:buNone/>
                      </a:pPr>
                      <a:r>
                        <a:rPr lang="en-US" sz="1800" dirty="0">
                          <a:solidFill>
                            <a:schemeClr val="tx1"/>
                          </a:solidFill>
                        </a:rPr>
                        <a:t>208</a:t>
                      </a:r>
                      <a:endParaRPr lang="en-US" sz="1400" dirty="0"/>
                    </a:p>
                    <a:p>
                      <a:pPr algn="ctr" indent="0" marL="0">
                        <a:buNone/>
                      </a:pPr>
                      <a:r>
                        <a:rPr lang="en-US" sz="1300" dirty="0">
                          <a:solidFill>
                            <a:schemeClr val="accent4"/>
                          </a:solidFill>
                        </a:rPr>
                        <a:t>53.5%</a:t>
                      </a:r>
                      <a:endParaRPr lang="en-US" sz="1400" dirty="0"/>
                    </a:p>
                  </a:txBody>
                  <a:tcPr marL="91440" marR="91440" marT="45720" marB="45720" anchor="ctr">
                    <a:lnL w="12700" cap="flat" cmpd="sng" algn="ctr">
                      <a:solidFill>
                        <a:srgbClr val="D5D9DE"/>
                      </a:solidFill>
                      <a:prstDash val="solid"/>
                      <a:round/>
                      <a:headEnd type="none" w="med" len="med"/>
                      <a:tailEnd type="none" w="med" len="med"/>
                    </a:lnL>
                    <a:lnR w="12700" cap="flat" cmpd="sng" algn="ctr">
                      <a:solidFill>
                        <a:srgbClr val="D5D9DE"/>
                      </a:solidFill>
                      <a:prstDash val="solid"/>
                      <a:round/>
                      <a:headEnd type="none" w="med" len="med"/>
                      <a:tailEnd type="none" w="med" len="med"/>
                    </a:lnR>
                    <a:lnT w="12700" cap="flat" cmpd="sng" algn="ctr">
                      <a:solidFill>
                        <a:srgbClr val="D5D9DE"/>
                      </a:solidFill>
                      <a:prstDash val="solid"/>
                      <a:round/>
                      <a:headEnd type="none" w="med" len="med"/>
                      <a:tailEnd type="none" w="med" len="med"/>
                    </a:lnT>
                    <a:lnB w="12700" cap="flat" cmpd="sng" algn="ctr">
                      <a:solidFill>
                        <a:srgbClr val="D5D9DE"/>
                      </a:solidFill>
                      <a:prstDash val="solid"/>
                      <a:round/>
                      <a:headEnd type="none" w="med" len="med"/>
                      <a:tailEnd type="none" w="med" len="med"/>
                    </a:lnB>
                    <a:solidFill>
                      <a:srgbClr val="E6E9ED"/>
                    </a:solidFill>
                  </a:tcPr>
                </a:tc>
                <a:tc>
                  <a:txBody>
                    <a:bodyPr/>
                    <a:lstStyle/>
                    <a:p>
                      <a:pPr algn="ctr" indent="0" marL="0">
                        <a:buNone/>
                      </a:pPr>
                      <a:r>
                        <a:rPr lang="en-US" sz="1800" dirty="0">
                          <a:solidFill>
                            <a:schemeClr val="tx1"/>
                          </a:solidFill>
                        </a:rPr>
                        <a:t>65</a:t>
                      </a:r>
                      <a:endParaRPr lang="en-US" sz="1400" dirty="0"/>
                    </a:p>
                    <a:p>
                      <a:pPr algn="ctr" indent="0" marL="0">
                        <a:buNone/>
                      </a:pPr>
                      <a:r>
                        <a:rPr lang="en-US" sz="1300" dirty="0">
                          <a:solidFill>
                            <a:schemeClr val="accent4"/>
                          </a:solidFill>
                        </a:rPr>
                        <a:t>16.7%</a:t>
                      </a:r>
                      <a:endParaRPr lang="en-US" sz="1400" dirty="0"/>
                    </a:p>
                  </a:txBody>
                  <a:tcPr marL="91440" marR="91440" marT="45720" marB="45720" anchor="ctr">
                    <a:lnL w="12700" cap="flat" cmpd="sng" algn="ctr">
                      <a:solidFill>
                        <a:srgbClr val="D5D9DE"/>
                      </a:solidFill>
                      <a:prstDash val="solid"/>
                      <a:round/>
                      <a:headEnd type="none" w="med" len="med"/>
                      <a:tailEnd type="none" w="med" len="med"/>
                    </a:lnL>
                    <a:lnR w="12700" cap="flat" cmpd="sng" algn="ctr">
                      <a:solidFill>
                        <a:srgbClr val="D5D9DE"/>
                      </a:solidFill>
                      <a:prstDash val="solid"/>
                      <a:round/>
                      <a:headEnd type="none" w="med" len="med"/>
                      <a:tailEnd type="none" w="med" len="med"/>
                    </a:lnR>
                    <a:lnT w="12700" cap="flat" cmpd="sng" algn="ctr">
                      <a:solidFill>
                        <a:srgbClr val="D5D9DE"/>
                      </a:solidFill>
                      <a:prstDash val="solid"/>
                      <a:round/>
                      <a:headEnd type="none" w="med" len="med"/>
                      <a:tailEnd type="none" w="med" len="med"/>
                    </a:lnT>
                    <a:lnB w="12700" cap="flat" cmpd="sng" algn="ctr">
                      <a:solidFill>
                        <a:srgbClr val="D5D9DE"/>
                      </a:solidFill>
                      <a:prstDash val="solid"/>
                      <a:round/>
                      <a:headEnd type="none" w="med" len="med"/>
                      <a:tailEnd type="none" w="med" len="med"/>
                    </a:lnB>
                    <a:solidFill>
                      <a:srgbClr val="FFFFFF"/>
                    </a:solidFill>
                  </a:tcPr>
                </a:tc>
              </a:tr>
              <a:tr h="1051560">
                <a:tc>
                  <a:txBody>
                    <a:bodyPr/>
                    <a:lstStyle/>
                    <a:p>
                      <a:pPr indent="0" marL="0">
                        <a:buNone/>
                      </a:pPr>
                      <a:r>
                        <a:rPr lang="en-US" sz="1400" b="1" dirty="0">
                          <a:solidFill>
                            <a:schemeClr val="tx2"/>
                          </a:solidFill>
                        </a:rPr>
                        <a:t>Serious  (5,851)</a:t>
                      </a:r>
                      <a:endParaRPr lang="en-US" sz="1400" dirty="0"/>
                    </a:p>
                  </a:txBody>
                  <a:tcPr marL="91440" marR="91440" marT="45720" marB="45720" anchor="ctr">
                    <a:lnL w="12700" cap="flat" cmpd="sng" algn="ctr">
                      <a:solidFill>
                        <a:srgbClr val="D5D9DE"/>
                      </a:solidFill>
                      <a:prstDash val="solid"/>
                      <a:round/>
                      <a:headEnd type="none" w="med" len="med"/>
                      <a:tailEnd type="none" w="med" len="med"/>
                    </a:lnL>
                    <a:lnR w="12700" cap="flat" cmpd="sng" algn="ctr">
                      <a:solidFill>
                        <a:srgbClr val="D5D9DE"/>
                      </a:solidFill>
                      <a:prstDash val="solid"/>
                      <a:round/>
                      <a:headEnd type="none" w="med" len="med"/>
                      <a:tailEnd type="none" w="med" len="med"/>
                    </a:lnR>
                    <a:lnT w="12700" cap="flat" cmpd="sng" algn="ctr">
                      <a:solidFill>
                        <a:srgbClr val="D5D9DE"/>
                      </a:solidFill>
                      <a:prstDash val="solid"/>
                      <a:round/>
                      <a:headEnd type="none" w="med" len="med"/>
                      <a:tailEnd type="none" w="med" len="med"/>
                    </a:lnT>
                    <a:lnB w="12700" cap="flat" cmpd="sng" algn="ctr">
                      <a:solidFill>
                        <a:srgbClr val="D5D9DE"/>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458</a:t>
                      </a:r>
                      <a:endParaRPr lang="en-US" sz="1400" dirty="0"/>
                    </a:p>
                    <a:p>
                      <a:pPr algn="ctr" indent="0" marL="0">
                        <a:buNone/>
                      </a:pPr>
                      <a:r>
                        <a:rPr lang="en-US" sz="1300" dirty="0">
                          <a:solidFill>
                            <a:schemeClr val="accent4"/>
                          </a:solidFill>
                        </a:rPr>
                        <a:t>7.8%</a:t>
                      </a:r>
                      <a:endParaRPr lang="en-US" sz="1400" dirty="0"/>
                    </a:p>
                  </a:txBody>
                  <a:tcPr marL="91440" marR="91440" marT="45720" marB="45720" anchor="ctr">
                    <a:lnL w="12700" cap="flat" cmpd="sng" algn="ctr">
                      <a:solidFill>
                        <a:srgbClr val="D5D9DE"/>
                      </a:solidFill>
                      <a:prstDash val="solid"/>
                      <a:round/>
                      <a:headEnd type="none" w="med" len="med"/>
                      <a:tailEnd type="none" w="med" len="med"/>
                    </a:lnL>
                    <a:lnR w="12700" cap="flat" cmpd="sng" algn="ctr">
                      <a:solidFill>
                        <a:srgbClr val="D5D9DE"/>
                      </a:solidFill>
                      <a:prstDash val="solid"/>
                      <a:round/>
                      <a:headEnd type="none" w="med" len="med"/>
                      <a:tailEnd type="none" w="med" len="med"/>
                    </a:lnR>
                    <a:lnT w="12700" cap="flat" cmpd="sng" algn="ctr">
                      <a:solidFill>
                        <a:srgbClr val="D5D9DE"/>
                      </a:solidFill>
                      <a:prstDash val="solid"/>
                      <a:round/>
                      <a:headEnd type="none" w="med" len="med"/>
                      <a:tailEnd type="none" w="med" len="med"/>
                    </a:lnT>
                    <a:lnB w="12700" cap="flat" cmpd="sng" algn="ctr">
                      <a:solidFill>
                        <a:srgbClr val="D5D9DE"/>
                      </a:solidFill>
                      <a:prstDash val="solid"/>
                      <a:round/>
                      <a:headEnd type="none" w="med" len="med"/>
                      <a:tailEnd type="none" w="med" len="med"/>
                    </a:lnB>
                    <a:solidFill>
                      <a:srgbClr val="FFFFFF"/>
                    </a:solidFill>
                  </a:tcPr>
                </a:tc>
                <a:tc>
                  <a:txBody>
                    <a:bodyPr/>
                    <a:lstStyle/>
                    <a:p>
                      <a:pPr algn="ctr" indent="0" marL="0">
                        <a:buNone/>
                      </a:pPr>
                      <a:r>
                        <a:rPr lang="en-US" sz="1800" b="1" dirty="0">
                          <a:solidFill>
                            <a:schemeClr val="tx1"/>
                          </a:solidFill>
                        </a:rPr>
                        <a:t>3,248</a:t>
                      </a:r>
                      <a:endParaRPr lang="en-US" sz="1400" dirty="0"/>
                    </a:p>
                    <a:p>
                      <a:pPr algn="ctr" indent="0" marL="0">
                        <a:buNone/>
                      </a:pPr>
                      <a:r>
                        <a:rPr lang="en-US" sz="1300" dirty="0">
                          <a:solidFill>
                            <a:schemeClr val="accent4"/>
                          </a:solidFill>
                        </a:rPr>
                        <a:t>55.5%</a:t>
                      </a:r>
                      <a:endParaRPr lang="en-US" sz="1400" dirty="0"/>
                    </a:p>
                  </a:txBody>
                  <a:tcPr marL="91440" marR="91440" marT="45720" marB="45720" anchor="ctr">
                    <a:lnL w="12700" cap="flat" cmpd="sng" algn="ctr">
                      <a:solidFill>
                        <a:srgbClr val="D5D9DE"/>
                      </a:solidFill>
                      <a:prstDash val="solid"/>
                      <a:round/>
                      <a:headEnd type="none" w="med" len="med"/>
                      <a:tailEnd type="none" w="med" len="med"/>
                    </a:lnL>
                    <a:lnR w="12700" cap="flat" cmpd="sng" algn="ctr">
                      <a:solidFill>
                        <a:srgbClr val="D5D9DE"/>
                      </a:solidFill>
                      <a:prstDash val="solid"/>
                      <a:round/>
                      <a:headEnd type="none" w="med" len="med"/>
                      <a:tailEnd type="none" w="med" len="med"/>
                    </a:lnR>
                    <a:lnT w="12700" cap="flat" cmpd="sng" algn="ctr">
                      <a:solidFill>
                        <a:srgbClr val="D5D9DE"/>
                      </a:solidFill>
                      <a:prstDash val="solid"/>
                      <a:round/>
                      <a:headEnd type="none" w="med" len="med"/>
                      <a:tailEnd type="none" w="med" len="med"/>
                    </a:lnT>
                    <a:lnB w="12700" cap="flat" cmpd="sng" algn="ctr">
                      <a:solidFill>
                        <a:srgbClr val="D5D9DE"/>
                      </a:solidFill>
                      <a:prstDash val="solid"/>
                      <a:round/>
                      <a:headEnd type="none" w="med" len="med"/>
                      <a:tailEnd type="none" w="med" len="med"/>
                    </a:lnB>
                    <a:solidFill>
                      <a:srgbClr val="FCE7B2"/>
                    </a:solidFill>
                  </a:tcPr>
                </a:tc>
                <a:tc>
                  <a:txBody>
                    <a:bodyPr/>
                    <a:lstStyle/>
                    <a:p>
                      <a:pPr algn="ctr" indent="0" marL="0">
                        <a:buNone/>
                      </a:pPr>
                      <a:r>
                        <a:rPr lang="en-US" sz="1800" dirty="0">
                          <a:solidFill>
                            <a:schemeClr val="tx1"/>
                          </a:solidFill>
                        </a:rPr>
                        <a:t>2,145</a:t>
                      </a:r>
                      <a:endParaRPr lang="en-US" sz="1400" dirty="0"/>
                    </a:p>
                    <a:p>
                      <a:pPr algn="ctr" indent="0" marL="0">
                        <a:buNone/>
                      </a:pPr>
                      <a:r>
                        <a:rPr lang="en-US" sz="1300" dirty="0">
                          <a:solidFill>
                            <a:schemeClr val="accent4"/>
                          </a:solidFill>
                        </a:rPr>
                        <a:t>36.7%</a:t>
                      </a:r>
                      <a:endParaRPr lang="en-US" sz="1400" dirty="0"/>
                    </a:p>
                  </a:txBody>
                  <a:tcPr marL="91440" marR="91440" marT="45720" marB="45720" anchor="ctr">
                    <a:lnL w="12700" cap="flat" cmpd="sng" algn="ctr">
                      <a:solidFill>
                        <a:srgbClr val="D5D9DE"/>
                      </a:solidFill>
                      <a:prstDash val="solid"/>
                      <a:round/>
                      <a:headEnd type="none" w="med" len="med"/>
                      <a:tailEnd type="none" w="med" len="med"/>
                    </a:lnL>
                    <a:lnR w="12700" cap="flat" cmpd="sng" algn="ctr">
                      <a:solidFill>
                        <a:srgbClr val="D5D9DE"/>
                      </a:solidFill>
                      <a:prstDash val="solid"/>
                      <a:round/>
                      <a:headEnd type="none" w="med" len="med"/>
                      <a:tailEnd type="none" w="med" len="med"/>
                    </a:lnR>
                    <a:lnT w="12700" cap="flat" cmpd="sng" algn="ctr">
                      <a:solidFill>
                        <a:srgbClr val="D5D9DE"/>
                      </a:solidFill>
                      <a:prstDash val="solid"/>
                      <a:round/>
                      <a:headEnd type="none" w="med" len="med"/>
                      <a:tailEnd type="none" w="med" len="med"/>
                    </a:lnT>
                    <a:lnB w="12700" cap="flat" cmpd="sng" algn="ctr">
                      <a:solidFill>
                        <a:srgbClr val="D5D9DE"/>
                      </a:solidFill>
                      <a:prstDash val="solid"/>
                      <a:round/>
                      <a:headEnd type="none" w="med" len="med"/>
                      <a:tailEnd type="none" w="med" len="med"/>
                    </a:lnB>
                    <a:solidFill>
                      <a:srgbClr val="E6E9ED"/>
                    </a:solidFill>
                  </a:tcPr>
                </a:tc>
              </a:tr>
              <a:tr h="1051560">
                <a:tc>
                  <a:txBody>
                    <a:bodyPr/>
                    <a:lstStyle/>
                    <a:p>
                      <a:pPr indent="0" marL="0">
                        <a:buNone/>
                      </a:pPr>
                      <a:r>
                        <a:rPr lang="en-US" sz="1400" b="1" dirty="0">
                          <a:solidFill>
                            <a:schemeClr val="tx2"/>
                          </a:solidFill>
                        </a:rPr>
                        <a:t>Slight  (19,809)</a:t>
                      </a:r>
                      <a:endParaRPr lang="en-US" sz="1400" dirty="0"/>
                    </a:p>
                  </a:txBody>
                  <a:tcPr marL="91440" marR="91440" marT="45720" marB="45720" anchor="ctr">
                    <a:lnL w="12700" cap="flat" cmpd="sng" algn="ctr">
                      <a:solidFill>
                        <a:srgbClr val="D5D9DE"/>
                      </a:solidFill>
                      <a:prstDash val="solid"/>
                      <a:round/>
                      <a:headEnd type="none" w="med" len="med"/>
                      <a:tailEnd type="none" w="med" len="med"/>
                    </a:lnL>
                    <a:lnR w="12700" cap="flat" cmpd="sng" algn="ctr">
                      <a:solidFill>
                        <a:srgbClr val="D5D9DE"/>
                      </a:solidFill>
                      <a:prstDash val="solid"/>
                      <a:round/>
                      <a:headEnd type="none" w="med" len="med"/>
                      <a:tailEnd type="none" w="med" len="med"/>
                    </a:lnR>
                    <a:lnT w="12700" cap="flat" cmpd="sng" algn="ctr">
                      <a:solidFill>
                        <a:srgbClr val="D5D9DE"/>
                      </a:solidFill>
                      <a:prstDash val="solid"/>
                      <a:round/>
                      <a:headEnd type="none" w="med" len="med"/>
                      <a:tailEnd type="none" w="med" len="med"/>
                    </a:lnT>
                    <a:lnB w="12700" cap="flat" cmpd="sng" algn="ctr">
                      <a:solidFill>
                        <a:srgbClr val="D5D9DE"/>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663</a:t>
                      </a:r>
                      <a:endParaRPr lang="en-US" sz="1400" dirty="0"/>
                    </a:p>
                    <a:p>
                      <a:pPr algn="ctr" indent="0" marL="0">
                        <a:buNone/>
                      </a:pPr>
                      <a:r>
                        <a:rPr lang="en-US" sz="1300" dirty="0">
                          <a:solidFill>
                            <a:schemeClr val="accent4"/>
                          </a:solidFill>
                        </a:rPr>
                        <a:t>3.3%</a:t>
                      </a:r>
                      <a:endParaRPr lang="en-US" sz="1400" dirty="0"/>
                    </a:p>
                  </a:txBody>
                  <a:tcPr marL="91440" marR="91440" marT="45720" marB="45720" anchor="ctr">
                    <a:lnL w="12700" cap="flat" cmpd="sng" algn="ctr">
                      <a:solidFill>
                        <a:srgbClr val="D5D9DE"/>
                      </a:solidFill>
                      <a:prstDash val="solid"/>
                      <a:round/>
                      <a:headEnd type="none" w="med" len="med"/>
                      <a:tailEnd type="none" w="med" len="med"/>
                    </a:lnL>
                    <a:lnR w="12700" cap="flat" cmpd="sng" algn="ctr">
                      <a:solidFill>
                        <a:srgbClr val="D5D9DE"/>
                      </a:solidFill>
                      <a:prstDash val="solid"/>
                      <a:round/>
                      <a:headEnd type="none" w="med" len="med"/>
                      <a:tailEnd type="none" w="med" len="med"/>
                    </a:lnR>
                    <a:lnT w="12700" cap="flat" cmpd="sng" algn="ctr">
                      <a:solidFill>
                        <a:srgbClr val="D5D9DE"/>
                      </a:solidFill>
                      <a:prstDash val="solid"/>
                      <a:round/>
                      <a:headEnd type="none" w="med" len="med"/>
                      <a:tailEnd type="none" w="med" len="med"/>
                    </a:lnT>
                    <a:lnB w="12700" cap="flat" cmpd="sng" algn="ctr">
                      <a:solidFill>
                        <a:srgbClr val="D5D9DE"/>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6,325</a:t>
                      </a:r>
                      <a:endParaRPr lang="en-US" sz="1400" dirty="0"/>
                    </a:p>
                    <a:p>
                      <a:pPr algn="ctr" indent="0" marL="0">
                        <a:buNone/>
                      </a:pPr>
                      <a:r>
                        <a:rPr lang="en-US" sz="1300" dirty="0">
                          <a:solidFill>
                            <a:schemeClr val="accent4"/>
                          </a:solidFill>
                        </a:rPr>
                        <a:t>31.9%</a:t>
                      </a:r>
                      <a:endParaRPr lang="en-US" sz="1400" dirty="0"/>
                    </a:p>
                  </a:txBody>
                  <a:tcPr marL="91440" marR="91440" marT="45720" marB="45720" anchor="ctr">
                    <a:lnL w="12700" cap="flat" cmpd="sng" algn="ctr">
                      <a:solidFill>
                        <a:srgbClr val="D5D9DE"/>
                      </a:solidFill>
                      <a:prstDash val="solid"/>
                      <a:round/>
                      <a:headEnd type="none" w="med" len="med"/>
                      <a:tailEnd type="none" w="med" len="med"/>
                    </a:lnL>
                    <a:lnR w="12700" cap="flat" cmpd="sng" algn="ctr">
                      <a:solidFill>
                        <a:srgbClr val="D5D9DE"/>
                      </a:solidFill>
                      <a:prstDash val="solid"/>
                      <a:round/>
                      <a:headEnd type="none" w="med" len="med"/>
                      <a:tailEnd type="none" w="med" len="med"/>
                    </a:lnR>
                    <a:lnT w="12700" cap="flat" cmpd="sng" algn="ctr">
                      <a:solidFill>
                        <a:srgbClr val="D5D9DE"/>
                      </a:solidFill>
                      <a:prstDash val="solid"/>
                      <a:round/>
                      <a:headEnd type="none" w="med" len="med"/>
                      <a:tailEnd type="none" w="med" len="med"/>
                    </a:lnT>
                    <a:lnB w="12700" cap="flat" cmpd="sng" algn="ctr">
                      <a:solidFill>
                        <a:srgbClr val="D5D9DE"/>
                      </a:solidFill>
                      <a:prstDash val="solid"/>
                      <a:round/>
                      <a:headEnd type="none" w="med" len="med"/>
                      <a:tailEnd type="none" w="med" len="med"/>
                    </a:lnB>
                    <a:solidFill>
                      <a:srgbClr val="E6E9ED"/>
                    </a:solidFill>
                  </a:tcPr>
                </a:tc>
                <a:tc>
                  <a:txBody>
                    <a:bodyPr/>
                    <a:lstStyle/>
                    <a:p>
                      <a:pPr algn="ctr" indent="0" marL="0">
                        <a:buNone/>
                      </a:pPr>
                      <a:r>
                        <a:rPr lang="en-US" sz="1800" b="1" dirty="0">
                          <a:solidFill>
                            <a:schemeClr val="tx1"/>
                          </a:solidFill>
                        </a:rPr>
                        <a:t>12,821</a:t>
                      </a:r>
                      <a:endParaRPr lang="en-US" sz="1400" dirty="0"/>
                    </a:p>
                    <a:p>
                      <a:pPr algn="ctr" indent="0" marL="0">
                        <a:buNone/>
                      </a:pPr>
                      <a:r>
                        <a:rPr lang="en-US" sz="1300" dirty="0">
                          <a:solidFill>
                            <a:schemeClr val="accent4"/>
                          </a:solidFill>
                        </a:rPr>
                        <a:t>64.7%</a:t>
                      </a:r>
                      <a:endParaRPr lang="en-US" sz="1400" dirty="0"/>
                    </a:p>
                  </a:txBody>
                  <a:tcPr marL="91440" marR="91440" marT="45720" marB="45720" anchor="ctr">
                    <a:lnL w="12700" cap="flat" cmpd="sng" algn="ctr">
                      <a:solidFill>
                        <a:srgbClr val="D5D9DE"/>
                      </a:solidFill>
                      <a:prstDash val="solid"/>
                      <a:round/>
                      <a:headEnd type="none" w="med" len="med"/>
                      <a:tailEnd type="none" w="med" len="med"/>
                    </a:lnL>
                    <a:lnR w="12700" cap="flat" cmpd="sng" algn="ctr">
                      <a:solidFill>
                        <a:srgbClr val="D5D9DE"/>
                      </a:solidFill>
                      <a:prstDash val="solid"/>
                      <a:round/>
                      <a:headEnd type="none" w="med" len="med"/>
                      <a:tailEnd type="none" w="med" len="med"/>
                    </a:lnR>
                    <a:lnT w="12700" cap="flat" cmpd="sng" algn="ctr">
                      <a:solidFill>
                        <a:srgbClr val="D5D9DE"/>
                      </a:solidFill>
                      <a:prstDash val="solid"/>
                      <a:round/>
                      <a:headEnd type="none" w="med" len="med"/>
                      <a:tailEnd type="none" w="med" len="med"/>
                    </a:lnT>
                    <a:lnB w="12700" cap="flat" cmpd="sng" algn="ctr">
                      <a:solidFill>
                        <a:srgbClr val="D5D9DE"/>
                      </a:solidFill>
                      <a:prstDash val="solid"/>
                      <a:round/>
                      <a:headEnd type="none" w="med" len="med"/>
                      <a:tailEnd type="none" w="med" len="med"/>
                    </a:lnB>
                    <a:solidFill>
                      <a:srgbClr val="FCE7B2"/>
                    </a:solidFill>
                  </a:tcPr>
                </a:tc>
              </a:tr>
            </a:tbl>
          </a:graphicData>
        </a:graphic>
      </p:graphicFrame>
      <p:sp>
        <p:nvSpPr>
          <p:cNvPr id="5" name="Text 1"/>
          <p:cNvSpPr txBox="1"/>
          <p:nvPr/>
        </p:nvSpPr>
        <p:spPr>
          <a:xfrm>
            <a:off x="548640" y="5715000"/>
            <a:ext cx="6766560" cy="320040"/>
          </a:xfrm>
          <a:prstGeom prst="rect">
            <a:avLst/>
          </a:prstGeom>
          <a:noFill/>
          <a:ln/>
        </p:spPr>
        <p:txBody>
          <a:bodyPr wrap="square" lIns="0" tIns="0" rIns="0" bIns="0" rtlCol="0" anchor="t"/>
          <a:lstStyle/>
          <a:p>
            <a:pPr indent="0" marL="0">
              <a:buNone/>
            </a:pPr>
            <a:r>
              <a:rPr lang="en-US" sz="1200" dirty="0">
                <a:solidFill>
                  <a:schemeClr val="accent4"/>
                </a:solidFill>
              </a:rPr>
              <a:t>Highlighted diagonal = correct predictions; % = share of the actual class</a:t>
            </a:r>
            <a:endParaRPr lang="en-US" sz="1200" dirty="0"/>
          </a:p>
        </p:txBody>
      </p:sp>
      <p:sp>
        <p:nvSpPr>
          <p:cNvPr id="6" name="icon-circle FaCheckCircle"/>
          <p:cNvSpPr/>
          <p:nvPr/>
        </p:nvSpPr>
        <p:spPr>
          <a:xfrm>
            <a:off x="7680960" y="1554480"/>
            <a:ext cx="548640" cy="548640"/>
          </a:xfrm>
          <a:prstGeom prst="ellipse">
            <a:avLst/>
          </a:prstGeom>
          <a:solidFill>
            <a:schemeClr val="accent5"/>
          </a:solidFill>
          <a:ln/>
        </p:spPr>
      </p:sp>
      <p:pic>
        <p:nvPicPr>
          <p:cNvPr id="7" name="icon FaCheckCircle" descr="CheckCircle icon">    </p:cNvPr>
          <p:cNvPicPr>
            <a:picLocks noChangeAspect="1"/>
          </p:cNvPicPr>
          <p:nvPr/>
        </p:nvPicPr>
        <p:blipFill>
          <a:blip r:embed="rId1"/>
          <a:stretch>
            <a:fillRect/>
          </a:stretch>
        </p:blipFill>
        <p:spPr>
          <a:xfrm>
            <a:off x="7812634" y="1686154"/>
            <a:ext cx="285293" cy="285293"/>
          </a:xfrm>
          <a:prstGeom prst="rect">
            <a:avLst/>
          </a:prstGeom>
        </p:spPr>
      </p:pic>
      <p:sp>
        <p:nvSpPr>
          <p:cNvPr id="8" name="Text 3"/>
          <p:cNvSpPr txBox="1"/>
          <p:nvPr/>
        </p:nvSpPr>
        <p:spPr>
          <a:xfrm>
            <a:off x="8458200" y="1536192"/>
            <a:ext cx="315468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83% of fatal crashes flagged</a:t>
            </a:r>
            <a:endParaRPr lang="en-US" sz="1600" dirty="0"/>
          </a:p>
        </p:txBody>
      </p:sp>
      <p:sp>
        <p:nvSpPr>
          <p:cNvPr id="9" name="Text 4"/>
          <p:cNvSpPr txBox="1"/>
          <p:nvPr/>
        </p:nvSpPr>
        <p:spPr>
          <a:xfrm>
            <a:off x="8458200" y="1883664"/>
            <a:ext cx="3154680" cy="685800"/>
          </a:xfrm>
          <a:prstGeom prst="rect">
            <a:avLst/>
          </a:prstGeom>
          <a:noFill/>
          <a:ln/>
        </p:spPr>
        <p:txBody>
          <a:bodyPr wrap="square" lIns="0" tIns="0" rIns="0" bIns="0" rtlCol="0" anchor="t"/>
          <a:lstStyle/>
          <a:p>
            <a:pPr indent="0" marL="0">
              <a:buNone/>
            </a:pPr>
            <a:r>
              <a:rPr lang="en-US" sz="1400" dirty="0">
                <a:solidFill>
                  <a:schemeClr val="tx1"/>
                </a:solidFill>
              </a:rPr>
              <a:t>116 predicted Fatal + 208 predicted Serious = 324 of 389</a:t>
            </a:r>
            <a:endParaRPr lang="en-US" sz="1400" dirty="0"/>
          </a:p>
        </p:txBody>
      </p:sp>
      <p:sp>
        <p:nvSpPr>
          <p:cNvPr id="10" name="icon-circle FaCheckCircle"/>
          <p:cNvSpPr/>
          <p:nvPr/>
        </p:nvSpPr>
        <p:spPr>
          <a:xfrm>
            <a:off x="7680960" y="2880360"/>
            <a:ext cx="548640" cy="548640"/>
          </a:xfrm>
          <a:prstGeom prst="ellipse">
            <a:avLst/>
          </a:prstGeom>
          <a:solidFill>
            <a:schemeClr val="accent5"/>
          </a:solidFill>
          <a:ln/>
        </p:spPr>
      </p:sp>
      <p:pic>
        <p:nvPicPr>
          <p:cNvPr id="11" name="icon FaCheckCircle" descr="CheckCircle icon">    </p:cNvPr>
          <p:cNvPicPr>
            <a:picLocks noChangeAspect="1"/>
          </p:cNvPicPr>
          <p:nvPr/>
        </p:nvPicPr>
        <p:blipFill>
          <a:blip r:embed="rId2"/>
          <a:stretch>
            <a:fillRect/>
          </a:stretch>
        </p:blipFill>
        <p:spPr>
          <a:xfrm>
            <a:off x="7812634" y="3012034"/>
            <a:ext cx="285293" cy="285293"/>
          </a:xfrm>
          <a:prstGeom prst="rect">
            <a:avLst/>
          </a:prstGeom>
        </p:spPr>
      </p:pic>
      <p:sp>
        <p:nvSpPr>
          <p:cNvPr id="12" name="Text 6"/>
          <p:cNvSpPr txBox="1"/>
          <p:nvPr/>
        </p:nvSpPr>
        <p:spPr>
          <a:xfrm>
            <a:off x="8458200" y="2862072"/>
            <a:ext cx="315468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3,248 of 5,851 serious caught</a:t>
            </a:r>
            <a:endParaRPr lang="en-US" sz="1600" dirty="0"/>
          </a:p>
        </p:txBody>
      </p:sp>
      <p:sp>
        <p:nvSpPr>
          <p:cNvPr id="13" name="Text 7"/>
          <p:cNvSpPr txBox="1"/>
          <p:nvPr/>
        </p:nvSpPr>
        <p:spPr>
          <a:xfrm>
            <a:off x="8458200" y="3209544"/>
            <a:ext cx="3154680" cy="685800"/>
          </a:xfrm>
          <a:prstGeom prst="rect">
            <a:avLst/>
          </a:prstGeom>
          <a:noFill/>
          <a:ln/>
        </p:spPr>
        <p:txBody>
          <a:bodyPr wrap="square" lIns="0" tIns="0" rIns="0" bIns="0" rtlCol="0" anchor="t"/>
          <a:lstStyle/>
          <a:p>
            <a:pPr indent="0" marL="0">
              <a:buNone/>
            </a:pPr>
            <a:r>
              <a:rPr lang="en-US" sz="1400" dirty="0">
                <a:solidFill>
                  <a:schemeClr val="tx1"/>
                </a:solidFill>
              </a:rPr>
              <a:t>55.5% recall on the Serious class</a:t>
            </a:r>
            <a:endParaRPr lang="en-US" sz="1400" dirty="0"/>
          </a:p>
        </p:txBody>
      </p:sp>
      <p:sp>
        <p:nvSpPr>
          <p:cNvPr id="14" name="icon-circle FaExclamationTriangle"/>
          <p:cNvSpPr/>
          <p:nvPr/>
        </p:nvSpPr>
        <p:spPr>
          <a:xfrm>
            <a:off x="7680960" y="4206240"/>
            <a:ext cx="548640" cy="548640"/>
          </a:xfrm>
          <a:prstGeom prst="ellipse">
            <a:avLst/>
          </a:prstGeom>
          <a:solidFill>
            <a:schemeClr val="accent2"/>
          </a:solidFill>
          <a:ln/>
        </p:spPr>
      </p:sp>
      <p:pic>
        <p:nvPicPr>
          <p:cNvPr id="15" name="icon FaExclamationTriangle" descr="ExclamationTriangle icon">    </p:cNvPr>
          <p:cNvPicPr>
            <a:picLocks noChangeAspect="1"/>
          </p:cNvPicPr>
          <p:nvPr/>
        </p:nvPicPr>
        <p:blipFill>
          <a:blip r:embed="rId3"/>
          <a:stretch>
            <a:fillRect/>
          </a:stretch>
        </p:blipFill>
        <p:spPr>
          <a:xfrm>
            <a:off x="7812634" y="4337914"/>
            <a:ext cx="285293" cy="285293"/>
          </a:xfrm>
          <a:prstGeom prst="rect">
            <a:avLst/>
          </a:prstGeom>
        </p:spPr>
      </p:pic>
      <p:sp>
        <p:nvSpPr>
          <p:cNvPr id="16" name="Text 9"/>
          <p:cNvSpPr txBox="1"/>
          <p:nvPr/>
        </p:nvSpPr>
        <p:spPr>
          <a:xfrm>
            <a:off x="8458200" y="4187952"/>
            <a:ext cx="315468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Cost: false alarms</a:t>
            </a:r>
            <a:endParaRPr lang="en-US" sz="1600" dirty="0"/>
          </a:p>
        </p:txBody>
      </p:sp>
      <p:sp>
        <p:nvSpPr>
          <p:cNvPr id="17" name="Text 10"/>
          <p:cNvSpPr txBox="1"/>
          <p:nvPr/>
        </p:nvSpPr>
        <p:spPr>
          <a:xfrm>
            <a:off x="8458200" y="4535424"/>
            <a:ext cx="3154680" cy="914400"/>
          </a:xfrm>
          <a:prstGeom prst="rect">
            <a:avLst/>
          </a:prstGeom>
          <a:noFill/>
          <a:ln/>
        </p:spPr>
        <p:txBody>
          <a:bodyPr wrap="square" lIns="0" tIns="0" rIns="0" bIns="0" rtlCol="0" anchor="t"/>
          <a:lstStyle/>
          <a:p>
            <a:pPr indent="0" marL="0">
              <a:buNone/>
            </a:pPr>
            <a:r>
              <a:rPr lang="en-US" sz="1400" dirty="0">
                <a:solidFill>
                  <a:schemeClr val="tx1"/>
                </a:solidFill>
              </a:rPr>
              <a:t>6,325 slight crashes predicted Serious; Fatal precision ≈ 9%</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MLflow: every run tracked, every model versioned</a:t>
            </a:r>
            <a:endParaRPr lang="en-US" sz="3200" dirty="0"/>
          </a:p>
        </p:txBody>
      </p:sp>
      <p:sp>
        <p:nvSpPr>
          <p:cNvPr id="4" name="logged card"/>
          <p:cNvSpPr/>
          <p:nvPr/>
        </p:nvSpPr>
        <p:spPr>
          <a:xfrm>
            <a:off x="548640" y="1463040"/>
            <a:ext cx="4937760" cy="4572000"/>
          </a:xfrm>
          <a:prstGeom prst="roundRect">
            <a:avLst>
              <a:gd name="adj" fmla="val 2000"/>
            </a:avLst>
          </a:prstGeom>
          <a:solidFill>
            <a:schemeClr val="bg2"/>
          </a:solidFill>
          <a:ln/>
        </p:spPr>
      </p:sp>
      <p:sp>
        <p:nvSpPr>
          <p:cNvPr id="5" name="icon-circle FaFlask"/>
          <p:cNvSpPr/>
          <p:nvPr/>
        </p:nvSpPr>
        <p:spPr>
          <a:xfrm>
            <a:off x="822960" y="1737360"/>
            <a:ext cx="594360" cy="594360"/>
          </a:xfrm>
          <a:prstGeom prst="ellipse">
            <a:avLst/>
          </a:prstGeom>
          <a:solidFill>
            <a:schemeClr val="accent1"/>
          </a:solidFill>
          <a:ln/>
        </p:spPr>
      </p:sp>
      <p:pic>
        <p:nvPicPr>
          <p:cNvPr id="6" name="icon FaFlask" descr="Flask icon">    </p:cNvPr>
          <p:cNvPicPr>
            <a:picLocks noChangeAspect="1"/>
          </p:cNvPicPr>
          <p:nvPr/>
        </p:nvPicPr>
        <p:blipFill>
          <a:blip r:embed="rId1"/>
          <a:stretch>
            <a:fillRect/>
          </a:stretch>
        </p:blipFill>
        <p:spPr>
          <a:xfrm>
            <a:off x="965606" y="1880006"/>
            <a:ext cx="309067" cy="309067"/>
          </a:xfrm>
          <a:prstGeom prst="rect">
            <a:avLst/>
          </a:prstGeom>
        </p:spPr>
      </p:pic>
      <p:sp>
        <p:nvSpPr>
          <p:cNvPr id="7" name="Text 3"/>
          <p:cNvSpPr txBox="1"/>
          <p:nvPr/>
        </p:nvSpPr>
        <p:spPr>
          <a:xfrm>
            <a:off x="1600200" y="1737360"/>
            <a:ext cx="3657600" cy="59436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Logged on every run</a:t>
            </a:r>
            <a:endParaRPr lang="en-US" sz="1800" dirty="0"/>
          </a:p>
        </p:txBody>
      </p:sp>
      <p:sp>
        <p:nvSpPr>
          <p:cNvPr id="8" name="Text 4"/>
          <p:cNvSpPr txBox="1"/>
          <p:nvPr/>
        </p:nvSpPr>
        <p:spPr>
          <a:xfrm>
            <a:off x="822960" y="2560320"/>
            <a:ext cx="4480560" cy="777240"/>
          </a:xfrm>
          <a:prstGeom prst="rect">
            <a:avLst/>
          </a:prstGeom>
          <a:noFill/>
          <a:ln/>
        </p:spPr>
        <p:txBody>
          <a:bodyPr wrap="square" lIns="0" tIns="0" rIns="0" bIns="0" rtlCol="0" anchor="t"/>
          <a:lstStyle/>
          <a:p>
            <a:pPr indent="0" marL="0">
              <a:buNone/>
            </a:pPr>
            <a:r>
              <a:rPr lang="en-US" sz="1400" b="1" dirty="0">
                <a:solidFill>
                  <a:schemeClr val="tx2"/>
                </a:solidFill>
              </a:rPr>
              <a:t>Parameters: </a:t>
            </a:r>
            <a:pPr indent="0" marL="0">
              <a:buNone/>
            </a:pPr>
            <a:r>
              <a:rPr lang="en-US" sz="1400" dirty="0">
                <a:solidFill>
                  <a:schemeClr val="tx1"/>
                </a:solidFill>
              </a:rPr>
              <a:t>split dates, LightGBM settings, weighting</a:t>
            </a:r>
            <a:endParaRPr lang="en-US" sz="1400" dirty="0"/>
          </a:p>
        </p:txBody>
      </p:sp>
      <p:sp>
        <p:nvSpPr>
          <p:cNvPr id="9" name="Text 5"/>
          <p:cNvSpPr txBox="1"/>
          <p:nvPr/>
        </p:nvSpPr>
        <p:spPr>
          <a:xfrm>
            <a:off x="822960" y="3401568"/>
            <a:ext cx="4480560" cy="777240"/>
          </a:xfrm>
          <a:prstGeom prst="rect">
            <a:avLst/>
          </a:prstGeom>
          <a:noFill/>
          <a:ln/>
        </p:spPr>
        <p:txBody>
          <a:bodyPr wrap="square" lIns="0" tIns="0" rIns="0" bIns="0" rtlCol="0" anchor="t"/>
          <a:lstStyle/>
          <a:p>
            <a:pPr indent="0" marL="0">
              <a:buNone/>
            </a:pPr>
            <a:r>
              <a:rPr lang="en-US" sz="1400" b="1" dirty="0">
                <a:solidFill>
                  <a:schemeClr val="tx2"/>
                </a:solidFill>
              </a:rPr>
              <a:t>Metrics: </a:t>
            </a:r>
            <a:pPr indent="0" marL="0">
              <a:buNone/>
            </a:pPr>
            <a:r>
              <a:rPr lang="en-US" sz="1400" dirty="0">
                <a:solidFill>
                  <a:schemeClr val="tx1"/>
                </a:solidFill>
              </a:rPr>
              <a:t>macro-F1, per-class recall/precision/F1, KSI false-negative rate</a:t>
            </a:r>
            <a:endParaRPr lang="en-US" sz="1400" dirty="0"/>
          </a:p>
        </p:txBody>
      </p:sp>
      <p:sp>
        <p:nvSpPr>
          <p:cNvPr id="10" name="Text 6"/>
          <p:cNvSpPr txBox="1"/>
          <p:nvPr/>
        </p:nvSpPr>
        <p:spPr>
          <a:xfrm>
            <a:off x="822960" y="4242816"/>
            <a:ext cx="4480560" cy="777240"/>
          </a:xfrm>
          <a:prstGeom prst="rect">
            <a:avLst/>
          </a:prstGeom>
          <a:noFill/>
          <a:ln/>
        </p:spPr>
        <p:txBody>
          <a:bodyPr wrap="square" lIns="0" tIns="0" rIns="0" bIns="0" rtlCol="0" anchor="t"/>
          <a:lstStyle/>
          <a:p>
            <a:pPr indent="0" marL="0">
              <a:buNone/>
            </a:pPr>
            <a:r>
              <a:rPr lang="en-US" sz="1400" b="1" dirty="0">
                <a:solidFill>
                  <a:schemeClr val="tx2"/>
                </a:solidFill>
              </a:rPr>
              <a:t>Artefacts: </a:t>
            </a:r>
            <a:pPr indent="0" marL="0">
              <a:buNone/>
            </a:pPr>
            <a:r>
              <a:rPr lang="en-US" sz="1400" dirty="0">
                <a:solidFill>
                  <a:schemeClr val="tx1"/>
                </a:solidFill>
              </a:rPr>
              <a:t>confusion matrices, classification reports, reference profile</a:t>
            </a:r>
            <a:endParaRPr lang="en-US" sz="1400" dirty="0"/>
          </a:p>
        </p:txBody>
      </p:sp>
      <p:sp>
        <p:nvSpPr>
          <p:cNvPr id="11" name="Text 7"/>
          <p:cNvSpPr txBox="1"/>
          <p:nvPr/>
        </p:nvSpPr>
        <p:spPr>
          <a:xfrm>
            <a:off x="822960" y="5084064"/>
            <a:ext cx="4480560" cy="777240"/>
          </a:xfrm>
          <a:prstGeom prst="rect">
            <a:avLst/>
          </a:prstGeom>
          <a:noFill/>
          <a:ln/>
        </p:spPr>
        <p:txBody>
          <a:bodyPr wrap="square" lIns="0" tIns="0" rIns="0" bIns="0" rtlCol="0" anchor="t"/>
          <a:lstStyle/>
          <a:p>
            <a:pPr indent="0" marL="0">
              <a:buNone/>
            </a:pPr>
            <a:r>
              <a:rPr lang="en-US" sz="1400" b="1" dirty="0">
                <a:solidFill>
                  <a:schemeClr val="tx2"/>
                </a:solidFill>
              </a:rPr>
              <a:t>Model: </a:t>
            </a:r>
            <a:pPr indent="0" marL="0">
              <a:buNone/>
            </a:pPr>
            <a:r>
              <a:rPr lang="en-US" sz="1400" dirty="0">
                <a:solidFill>
                  <a:schemeClr val="tx1"/>
                </a:solidFill>
              </a:rPr>
              <a:t>full pipeline + input signature</a:t>
            </a:r>
            <a:endParaRPr lang="en-US" sz="1400" dirty="0"/>
          </a:p>
        </p:txBody>
      </p:sp>
      <p:sp>
        <p:nvSpPr>
          <p:cNvPr id="12" name="Text 8"/>
          <p:cNvSpPr txBox="1"/>
          <p:nvPr/>
        </p:nvSpPr>
        <p:spPr>
          <a:xfrm>
            <a:off x="5852160" y="1463040"/>
            <a:ext cx="5760720" cy="365760"/>
          </a:xfrm>
          <a:prstGeom prst="rect">
            <a:avLst/>
          </a:prstGeom>
          <a:noFill/>
          <a:ln/>
        </p:spPr>
        <p:txBody>
          <a:bodyPr wrap="square" lIns="0" tIns="0" rIns="0" bIns="0" rtlCol="0" anchor="t"/>
          <a:lstStyle/>
          <a:p>
            <a:pPr indent="0" marL="0">
              <a:buNone/>
            </a:pPr>
            <a:r>
              <a:rPr lang="en-US" sz="1800" b="1" dirty="0">
                <a:solidFill>
                  <a:schemeClr val="tx2"/>
                </a:solidFill>
                <a:latin typeface="Arial" pitchFamily="34" charset="0"/>
                <a:ea typeface="Arial" pitchFamily="34" charset="-122"/>
                <a:cs typeface="Arial" pitchFamily="34" charset="-120"/>
              </a:rPr>
              <a:t>Champion / challenger gate</a:t>
            </a:r>
            <a:endParaRPr lang="en-US" sz="1800" dirty="0"/>
          </a:p>
        </p:txBody>
      </p:sp>
      <p:sp>
        <p:nvSpPr>
          <p:cNvPr id="13" name="new version"/>
          <p:cNvSpPr/>
          <p:nvPr/>
        </p:nvSpPr>
        <p:spPr>
          <a:xfrm>
            <a:off x="5852160" y="2011680"/>
            <a:ext cx="2103120" cy="822960"/>
          </a:xfrm>
          <a:prstGeom prst="roundRect">
            <a:avLst>
              <a:gd name="adj" fmla="val 11111"/>
            </a:avLst>
          </a:prstGeom>
          <a:solidFill>
            <a:schemeClr val="tx2"/>
          </a:solidFill>
          <a:ln/>
        </p:spPr>
      </p:sp>
      <p:sp>
        <p:nvSpPr>
          <p:cNvPr id="14" name="Text 10"/>
          <p:cNvSpPr txBox="1"/>
          <p:nvPr/>
        </p:nvSpPr>
        <p:spPr>
          <a:xfrm>
            <a:off x="5852160" y="2011680"/>
            <a:ext cx="2103120" cy="822960"/>
          </a:xfrm>
          <a:prstGeom prst="rect">
            <a:avLst/>
          </a:prstGeom>
          <a:noFill/>
          <a:ln/>
        </p:spPr>
        <p:txBody>
          <a:bodyPr wrap="square" lIns="0" tIns="0" rIns="0" bIns="0" rtlCol="0" anchor="ctr"/>
          <a:lstStyle/>
          <a:p>
            <a:pPr algn="ctr" indent="0" marL="0">
              <a:buNone/>
            </a:pPr>
            <a:r>
              <a:rPr lang="en-US" sz="1400" b="1" dirty="0">
                <a:solidFill>
                  <a:schemeClr val="bg1"/>
                </a:solidFill>
              </a:rPr>
              <a:t>New model version n</a:t>
            </a:r>
            <a:endParaRPr lang="en-US" sz="1400" dirty="0"/>
          </a:p>
        </p:txBody>
      </p:sp>
      <p:sp>
        <p:nvSpPr>
          <p:cNvPr id="15" name="Shape 11"/>
          <p:cNvSpPr/>
          <p:nvPr/>
        </p:nvSpPr>
        <p:spPr>
          <a:xfrm>
            <a:off x="8001000" y="2423160"/>
            <a:ext cx="457200" cy="914"/>
          </a:xfrm>
          <a:prstGeom prst="line">
            <a:avLst/>
          </a:prstGeom>
          <a:noFill/>
          <a:ln w="25400">
            <a:solidFill>
              <a:schemeClr val="tx2"/>
            </a:solidFill>
            <a:prstDash val="solid"/>
            <a:tailEnd type="triangle"/>
          </a:ln>
        </p:spPr>
      </p:sp>
      <p:sp>
        <p:nvSpPr>
          <p:cNvPr id="16" name="gate diamond"/>
          <p:cNvSpPr/>
          <p:nvPr/>
        </p:nvSpPr>
        <p:spPr>
          <a:xfrm>
            <a:off x="8503920" y="1783080"/>
            <a:ext cx="3108960" cy="1325880"/>
          </a:xfrm>
          <a:prstGeom prst="diamond">
            <a:avLst/>
          </a:prstGeom>
          <a:solidFill>
            <a:schemeClr val="accent1"/>
          </a:solidFill>
          <a:ln/>
        </p:spPr>
      </p:sp>
      <p:sp>
        <p:nvSpPr>
          <p:cNvPr id="17" name="Text 13"/>
          <p:cNvSpPr txBox="1"/>
          <p:nvPr/>
        </p:nvSpPr>
        <p:spPr>
          <a:xfrm>
            <a:off x="8915400" y="1920240"/>
            <a:ext cx="2286000" cy="1051560"/>
          </a:xfrm>
          <a:prstGeom prst="rect">
            <a:avLst/>
          </a:prstGeom>
          <a:noFill/>
          <a:ln/>
        </p:spPr>
        <p:txBody>
          <a:bodyPr wrap="square" lIns="0" tIns="0" rIns="0" bIns="0" rtlCol="0" anchor="ctr"/>
          <a:lstStyle/>
          <a:p>
            <a:pPr algn="ctr" indent="0" marL="0">
              <a:buNone/>
            </a:pPr>
            <a:r>
              <a:rPr lang="en-US" sz="1300" b="1" dirty="0">
                <a:solidFill>
                  <a:schemeClr val="tx1"/>
                </a:solidFill>
              </a:rPr>
              <a:t>Macro-F1 beats champion by ≥ 0.005?</a:t>
            </a:r>
            <a:endParaRPr lang="en-US" sz="1300" dirty="0"/>
          </a:p>
        </p:txBody>
      </p:sp>
      <p:sp>
        <p:nvSpPr>
          <p:cNvPr id="18" name="Shape 14"/>
          <p:cNvSpPr/>
          <p:nvPr/>
        </p:nvSpPr>
        <p:spPr>
          <a:xfrm>
            <a:off x="10058400" y="3154680"/>
            <a:ext cx="914" cy="548640"/>
          </a:xfrm>
          <a:prstGeom prst="line">
            <a:avLst/>
          </a:prstGeom>
          <a:noFill/>
          <a:ln w="25400">
            <a:solidFill>
              <a:schemeClr val="accent5"/>
            </a:solidFill>
            <a:prstDash val="solid"/>
            <a:tailEnd type="triangle"/>
          </a:ln>
        </p:spPr>
      </p:sp>
      <p:sp>
        <p:nvSpPr>
          <p:cNvPr id="19" name="Text 15"/>
          <p:cNvSpPr txBox="1"/>
          <p:nvPr/>
        </p:nvSpPr>
        <p:spPr>
          <a:xfrm>
            <a:off x="10149840" y="3200400"/>
            <a:ext cx="548640" cy="274320"/>
          </a:xfrm>
          <a:prstGeom prst="rect">
            <a:avLst/>
          </a:prstGeom>
          <a:noFill/>
          <a:ln/>
        </p:spPr>
        <p:txBody>
          <a:bodyPr wrap="square" lIns="0" tIns="0" rIns="0" bIns="0" rtlCol="0" anchor="t"/>
          <a:lstStyle/>
          <a:p>
            <a:pPr indent="0" marL="0">
              <a:buNone/>
            </a:pPr>
            <a:r>
              <a:rPr lang="en-US" sz="1200" b="1" dirty="0">
                <a:solidFill>
                  <a:schemeClr val="accent5"/>
                </a:solidFill>
              </a:rPr>
              <a:t>yes</a:t>
            </a:r>
            <a:endParaRPr lang="en-US" sz="1200" dirty="0"/>
          </a:p>
        </p:txBody>
      </p:sp>
      <p:sp>
        <p:nvSpPr>
          <p:cNvPr id="20" name="promote box"/>
          <p:cNvSpPr/>
          <p:nvPr/>
        </p:nvSpPr>
        <p:spPr>
          <a:xfrm>
            <a:off x="8778240" y="3749040"/>
            <a:ext cx="2834640" cy="914400"/>
          </a:xfrm>
          <a:prstGeom prst="roundRect">
            <a:avLst>
              <a:gd name="adj" fmla="val 10000"/>
            </a:avLst>
          </a:prstGeom>
          <a:solidFill>
            <a:schemeClr val="accent5"/>
          </a:solidFill>
          <a:ln/>
        </p:spPr>
      </p:sp>
      <p:sp>
        <p:nvSpPr>
          <p:cNvPr id="21" name="Text 17"/>
          <p:cNvSpPr txBox="1"/>
          <p:nvPr/>
        </p:nvSpPr>
        <p:spPr>
          <a:xfrm>
            <a:off x="8869680" y="3749040"/>
            <a:ext cx="2651760" cy="914400"/>
          </a:xfrm>
          <a:prstGeom prst="rect">
            <a:avLst/>
          </a:prstGeom>
          <a:noFill/>
          <a:ln/>
        </p:spPr>
        <p:txBody>
          <a:bodyPr wrap="square" lIns="0" tIns="0" rIns="0" bIns="0" rtlCol="0" anchor="ctr"/>
          <a:lstStyle/>
          <a:p>
            <a:pPr algn="ctr" indent="0" marL="0">
              <a:buNone/>
            </a:pPr>
            <a:r>
              <a:rPr lang="en-US" sz="1300" b="1" dirty="0">
                <a:solidFill>
                  <a:schemeClr val="bg1"/>
                </a:solidFill>
              </a:rPr>
              <a:t>Move @champion alias, export models/champion</a:t>
            </a:r>
            <a:endParaRPr lang="en-US" sz="1300" dirty="0"/>
          </a:p>
        </p:txBody>
      </p:sp>
      <p:sp>
        <p:nvSpPr>
          <p:cNvPr id="22" name="Shape 18"/>
          <p:cNvSpPr/>
          <p:nvPr/>
        </p:nvSpPr>
        <p:spPr>
          <a:xfrm>
            <a:off x="6903720" y="2880360"/>
            <a:ext cx="914" cy="822960"/>
          </a:xfrm>
          <a:prstGeom prst="line">
            <a:avLst/>
          </a:prstGeom>
          <a:noFill/>
          <a:ln w="25400">
            <a:solidFill>
              <a:schemeClr val="accent4"/>
            </a:solidFill>
            <a:prstDash val="solid"/>
            <a:tailEnd type="triangle"/>
          </a:ln>
        </p:spPr>
      </p:sp>
      <p:sp>
        <p:nvSpPr>
          <p:cNvPr id="23" name="Text 19"/>
          <p:cNvSpPr txBox="1"/>
          <p:nvPr/>
        </p:nvSpPr>
        <p:spPr>
          <a:xfrm>
            <a:off x="6995160" y="3200400"/>
            <a:ext cx="548640" cy="274320"/>
          </a:xfrm>
          <a:prstGeom prst="rect">
            <a:avLst/>
          </a:prstGeom>
          <a:noFill/>
          <a:ln/>
        </p:spPr>
        <p:txBody>
          <a:bodyPr wrap="square" lIns="0" tIns="0" rIns="0" bIns="0" rtlCol="0" anchor="t"/>
          <a:lstStyle/>
          <a:p>
            <a:pPr indent="0" marL="0">
              <a:buNone/>
            </a:pPr>
            <a:r>
              <a:rPr lang="en-US" sz="1200" b="1" dirty="0">
                <a:solidFill>
                  <a:schemeClr val="accent4"/>
                </a:solidFill>
              </a:rPr>
              <a:t>no</a:t>
            </a:r>
            <a:endParaRPr lang="en-US" sz="1200" dirty="0"/>
          </a:p>
        </p:txBody>
      </p:sp>
      <p:sp>
        <p:nvSpPr>
          <p:cNvPr id="24" name="keep box"/>
          <p:cNvSpPr/>
          <p:nvPr/>
        </p:nvSpPr>
        <p:spPr>
          <a:xfrm>
            <a:off x="5852160" y="3749040"/>
            <a:ext cx="2103120" cy="914400"/>
          </a:xfrm>
          <a:prstGeom prst="roundRect">
            <a:avLst>
              <a:gd name="adj" fmla="val 10000"/>
            </a:avLst>
          </a:prstGeom>
          <a:solidFill>
            <a:schemeClr val="bg2"/>
          </a:solidFill>
          <a:ln w="12700">
            <a:solidFill>
              <a:schemeClr val="accent4"/>
            </a:solidFill>
            <a:prstDash val="solid"/>
          </a:ln>
        </p:spPr>
      </p:sp>
      <p:sp>
        <p:nvSpPr>
          <p:cNvPr id="25" name="Text 21"/>
          <p:cNvSpPr txBox="1"/>
          <p:nvPr/>
        </p:nvSpPr>
        <p:spPr>
          <a:xfrm>
            <a:off x="5943600" y="3749040"/>
            <a:ext cx="1920240" cy="914400"/>
          </a:xfrm>
          <a:prstGeom prst="rect">
            <a:avLst/>
          </a:prstGeom>
          <a:noFill/>
          <a:ln/>
        </p:spPr>
        <p:txBody>
          <a:bodyPr wrap="square" lIns="0" tIns="0" rIns="0" bIns="0" rtlCol="0" anchor="ctr"/>
          <a:lstStyle/>
          <a:p>
            <a:pPr algn="ctr" indent="0" marL="0">
              <a:buNone/>
            </a:pPr>
            <a:r>
              <a:rPr lang="en-US" sz="1300" dirty="0">
                <a:solidFill>
                  <a:schemeClr val="tx2"/>
                </a:solidFill>
              </a:rPr>
              <a:t>Keep as version; champion unchanged</a:t>
            </a:r>
            <a:endParaRPr lang="en-US" sz="1300" dirty="0"/>
          </a:p>
        </p:txBody>
      </p:sp>
      <p:sp>
        <p:nvSpPr>
          <p:cNvPr id="26" name="Text 22"/>
          <p:cNvSpPr txBox="1"/>
          <p:nvPr/>
        </p:nvSpPr>
        <p:spPr>
          <a:xfrm>
            <a:off x="5852160" y="4983480"/>
            <a:ext cx="5760720" cy="1005840"/>
          </a:xfrm>
          <a:prstGeom prst="rect">
            <a:avLst/>
          </a:prstGeom>
          <a:noFill/>
          <a:ln/>
        </p:spPr>
        <p:txBody>
          <a:bodyPr wrap="square" lIns="0" tIns="0" rIns="0" bIns="0" rtlCol="0" anchor="t"/>
          <a:lstStyle/>
          <a:p>
            <a:pPr indent="0" marL="0">
              <a:buNone/>
            </a:pPr>
            <a:r>
              <a:rPr lang="en-US" sz="1400" b="1" dirty="0">
                <a:solidFill>
                  <a:schemeClr val="tx1"/>
                </a:solidFill>
              </a:rPr>
              <a:t>Rollback: </a:t>
            </a:r>
            <a:pPr indent="0" marL="0">
              <a:buNone/>
            </a:pPr>
            <a:r>
              <a:rPr lang="en-US" sz="1400" dirty="0">
                <a:solidFill>
                  <a:schemeClr val="tx1"/>
                </a:solidFill>
              </a:rPr>
              <a:t>move the alias back to an older version. Versions are never deleted, so every prediction traces to its model version.</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Serving the model: FastAPI in Docker</a:t>
            </a:r>
            <a:endParaRPr lang="en-US" sz="3200" dirty="0"/>
          </a:p>
        </p:txBody>
      </p:sp>
      <p:sp>
        <p:nvSpPr>
          <p:cNvPr id="4" name="endpoints card"/>
          <p:cNvSpPr/>
          <p:nvPr/>
        </p:nvSpPr>
        <p:spPr>
          <a:xfrm>
            <a:off x="548640" y="1463040"/>
            <a:ext cx="5486400" cy="3291840"/>
          </a:xfrm>
          <a:prstGeom prst="roundRect">
            <a:avLst>
              <a:gd name="adj" fmla="val 2778"/>
            </a:avLst>
          </a:prstGeom>
          <a:solidFill>
            <a:schemeClr val="tx2"/>
          </a:solidFill>
          <a:ln/>
        </p:spPr>
      </p:sp>
      <p:sp>
        <p:nvSpPr>
          <p:cNvPr id="5" name="Text 2"/>
          <p:cNvSpPr txBox="1"/>
          <p:nvPr/>
        </p:nvSpPr>
        <p:spPr>
          <a:xfrm>
            <a:off x="822960" y="1645920"/>
            <a:ext cx="4937760" cy="411480"/>
          </a:xfrm>
          <a:prstGeom prst="rect">
            <a:avLst/>
          </a:prstGeom>
          <a:noFill/>
          <a:ln/>
        </p:spPr>
        <p:txBody>
          <a:bodyPr wrap="square" lIns="0" tIns="0" rIns="0" bIns="0" rtlCol="0" anchor="t"/>
          <a:lstStyle/>
          <a:p>
            <a:pPr indent="0" marL="0">
              <a:buNone/>
            </a:pPr>
            <a:r>
              <a:rPr lang="en-US" sz="1700" b="1" dirty="0">
                <a:solidFill>
                  <a:schemeClr val="accent1"/>
                </a:solidFill>
                <a:latin typeface="Arial" pitchFamily="34" charset="0"/>
                <a:ea typeface="Arial" pitchFamily="34" charset="-122"/>
                <a:cs typeface="Arial" pitchFamily="34" charset="-120"/>
              </a:rPr>
              <a:t>REST endpoints</a:t>
            </a:r>
            <a:endParaRPr lang="en-US" sz="1700" dirty="0"/>
          </a:p>
        </p:txBody>
      </p:sp>
      <p:sp>
        <p:nvSpPr>
          <p:cNvPr id="6" name="Text 3"/>
          <p:cNvSpPr txBox="1"/>
          <p:nvPr/>
        </p:nvSpPr>
        <p:spPr>
          <a:xfrm>
            <a:off x="822960" y="2194560"/>
            <a:ext cx="685800" cy="41148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POST</a:t>
            </a:r>
            <a:endParaRPr lang="en-US" sz="1300" dirty="0"/>
          </a:p>
        </p:txBody>
      </p:sp>
      <p:sp>
        <p:nvSpPr>
          <p:cNvPr id="7" name="Text 4"/>
          <p:cNvSpPr txBox="1"/>
          <p:nvPr/>
        </p:nvSpPr>
        <p:spPr>
          <a:xfrm>
            <a:off x="1508760" y="2194560"/>
            <a:ext cx="1920240" cy="41148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/predict</a:t>
            </a:r>
            <a:endParaRPr lang="en-US" sz="1400" dirty="0"/>
          </a:p>
        </p:txBody>
      </p:sp>
      <p:sp>
        <p:nvSpPr>
          <p:cNvPr id="8" name="Text 5"/>
          <p:cNvSpPr txBox="1"/>
          <p:nvPr/>
        </p:nvSpPr>
        <p:spPr>
          <a:xfrm>
            <a:off x="3474720" y="2194560"/>
            <a:ext cx="2468880" cy="411480"/>
          </a:xfrm>
          <a:prstGeom prst="rect">
            <a:avLst/>
          </a:prstGeom>
          <a:noFill/>
          <a:ln/>
        </p:spPr>
        <p:txBody>
          <a:bodyPr wrap="square" lIns="0" tIns="0" rIns="0" bIns="0" rtlCol="0" anchor="ctr"/>
          <a:lstStyle/>
          <a:p>
            <a:pPr indent="0" marL="0">
              <a:buNone/>
            </a:pPr>
            <a:r>
              <a:rPr lang="en-US" sz="1300" dirty="0">
                <a:solidFill>
                  <a:schemeClr val="bg2"/>
                </a:solidFill>
              </a:rPr>
              <a:t>one collision → class + probabilities</a:t>
            </a:r>
            <a:endParaRPr lang="en-US" sz="1300" dirty="0"/>
          </a:p>
        </p:txBody>
      </p:sp>
      <p:sp>
        <p:nvSpPr>
          <p:cNvPr id="9" name="Text 6"/>
          <p:cNvSpPr txBox="1"/>
          <p:nvPr/>
        </p:nvSpPr>
        <p:spPr>
          <a:xfrm>
            <a:off x="822960" y="2697480"/>
            <a:ext cx="685800" cy="41148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POST</a:t>
            </a:r>
            <a:endParaRPr lang="en-US" sz="1300" dirty="0"/>
          </a:p>
        </p:txBody>
      </p:sp>
      <p:sp>
        <p:nvSpPr>
          <p:cNvPr id="10" name="Text 7"/>
          <p:cNvSpPr txBox="1"/>
          <p:nvPr/>
        </p:nvSpPr>
        <p:spPr>
          <a:xfrm>
            <a:off x="1508760" y="2697480"/>
            <a:ext cx="1920240" cy="41148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/predict/batch</a:t>
            </a:r>
            <a:endParaRPr lang="en-US" sz="1400" dirty="0"/>
          </a:p>
        </p:txBody>
      </p:sp>
      <p:sp>
        <p:nvSpPr>
          <p:cNvPr id="11" name="Text 8"/>
          <p:cNvSpPr txBox="1"/>
          <p:nvPr/>
        </p:nvSpPr>
        <p:spPr>
          <a:xfrm>
            <a:off x="3474720" y="2697480"/>
            <a:ext cx="2468880" cy="411480"/>
          </a:xfrm>
          <a:prstGeom prst="rect">
            <a:avLst/>
          </a:prstGeom>
          <a:noFill/>
          <a:ln/>
        </p:spPr>
        <p:txBody>
          <a:bodyPr wrap="square" lIns="0" tIns="0" rIns="0" bIns="0" rtlCol="0" anchor="ctr"/>
          <a:lstStyle/>
          <a:p>
            <a:pPr indent="0" marL="0">
              <a:buNone/>
            </a:pPr>
            <a:r>
              <a:rPr lang="en-US" sz="1300" dirty="0">
                <a:solidFill>
                  <a:schemeClr val="bg2"/>
                </a:solidFill>
              </a:rPr>
              <a:t>many collisions at once</a:t>
            </a:r>
            <a:endParaRPr lang="en-US" sz="1300" dirty="0"/>
          </a:p>
        </p:txBody>
      </p:sp>
      <p:sp>
        <p:nvSpPr>
          <p:cNvPr id="12" name="Text 9"/>
          <p:cNvSpPr txBox="1"/>
          <p:nvPr/>
        </p:nvSpPr>
        <p:spPr>
          <a:xfrm>
            <a:off x="822960" y="3200400"/>
            <a:ext cx="685800" cy="411480"/>
          </a:xfrm>
          <a:prstGeom prst="rect">
            <a:avLst/>
          </a:prstGeom>
          <a:noFill/>
          <a:ln/>
        </p:spPr>
        <p:txBody>
          <a:bodyPr wrap="square" lIns="0" tIns="0" rIns="0" bIns="0" rtlCol="0" anchor="ctr"/>
          <a:lstStyle/>
          <a:p>
            <a:pPr indent="0" marL="0">
              <a:buNone/>
            </a:pPr>
            <a:r>
              <a:rPr lang="en-US" sz="1300" b="1" dirty="0">
                <a:solidFill>
                  <a:schemeClr val="accent5"/>
                </a:solidFill>
                <a:latin typeface="Courier New" pitchFamily="34" charset="0"/>
                <a:ea typeface="Courier New" pitchFamily="34" charset="-122"/>
                <a:cs typeface="Courier New" pitchFamily="34" charset="-120"/>
              </a:rPr>
              <a:t>GET</a:t>
            </a:r>
            <a:endParaRPr lang="en-US" sz="1300" dirty="0"/>
          </a:p>
        </p:txBody>
      </p:sp>
      <p:sp>
        <p:nvSpPr>
          <p:cNvPr id="13" name="Text 10"/>
          <p:cNvSpPr txBox="1"/>
          <p:nvPr/>
        </p:nvSpPr>
        <p:spPr>
          <a:xfrm>
            <a:off x="1508760" y="3200400"/>
            <a:ext cx="1920240" cy="41148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/health</a:t>
            </a:r>
            <a:endParaRPr lang="en-US" sz="1400" dirty="0"/>
          </a:p>
        </p:txBody>
      </p:sp>
      <p:sp>
        <p:nvSpPr>
          <p:cNvPr id="14" name="Text 11"/>
          <p:cNvSpPr txBox="1"/>
          <p:nvPr/>
        </p:nvSpPr>
        <p:spPr>
          <a:xfrm>
            <a:off x="3474720" y="3200400"/>
            <a:ext cx="2468880" cy="411480"/>
          </a:xfrm>
          <a:prstGeom prst="rect">
            <a:avLst/>
          </a:prstGeom>
          <a:noFill/>
          <a:ln/>
        </p:spPr>
        <p:txBody>
          <a:bodyPr wrap="square" lIns="0" tIns="0" rIns="0" bIns="0" rtlCol="0" anchor="ctr"/>
          <a:lstStyle/>
          <a:p>
            <a:pPr indent="0" marL="0">
              <a:buNone/>
            </a:pPr>
            <a:r>
              <a:rPr lang="en-US" sz="1300" dirty="0">
                <a:solidFill>
                  <a:schemeClr val="bg2"/>
                </a:solidFill>
              </a:rPr>
              <a:t>is the service alive?</a:t>
            </a:r>
            <a:endParaRPr lang="en-US" sz="1300" dirty="0"/>
          </a:p>
        </p:txBody>
      </p:sp>
      <p:sp>
        <p:nvSpPr>
          <p:cNvPr id="15" name="Text 12"/>
          <p:cNvSpPr txBox="1"/>
          <p:nvPr/>
        </p:nvSpPr>
        <p:spPr>
          <a:xfrm>
            <a:off x="822960" y="3703320"/>
            <a:ext cx="685800" cy="411480"/>
          </a:xfrm>
          <a:prstGeom prst="rect">
            <a:avLst/>
          </a:prstGeom>
          <a:noFill/>
          <a:ln/>
        </p:spPr>
        <p:txBody>
          <a:bodyPr wrap="square" lIns="0" tIns="0" rIns="0" bIns="0" rtlCol="0" anchor="ctr"/>
          <a:lstStyle/>
          <a:p>
            <a:pPr indent="0" marL="0">
              <a:buNone/>
            </a:pPr>
            <a:r>
              <a:rPr lang="en-US" sz="1300" b="1" dirty="0">
                <a:solidFill>
                  <a:schemeClr val="accent5"/>
                </a:solidFill>
                <a:latin typeface="Courier New" pitchFamily="34" charset="0"/>
                <a:ea typeface="Courier New" pitchFamily="34" charset="-122"/>
                <a:cs typeface="Courier New" pitchFamily="34" charset="-120"/>
              </a:rPr>
              <a:t>GET</a:t>
            </a:r>
            <a:endParaRPr lang="en-US" sz="1300" dirty="0"/>
          </a:p>
        </p:txBody>
      </p:sp>
      <p:sp>
        <p:nvSpPr>
          <p:cNvPr id="16" name="Text 13"/>
          <p:cNvSpPr txBox="1"/>
          <p:nvPr/>
        </p:nvSpPr>
        <p:spPr>
          <a:xfrm>
            <a:off x="1508760" y="3703320"/>
            <a:ext cx="1920240" cy="41148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/model-info</a:t>
            </a:r>
            <a:endParaRPr lang="en-US" sz="1400" dirty="0"/>
          </a:p>
        </p:txBody>
      </p:sp>
      <p:sp>
        <p:nvSpPr>
          <p:cNvPr id="17" name="Text 14"/>
          <p:cNvSpPr txBox="1"/>
          <p:nvPr/>
        </p:nvSpPr>
        <p:spPr>
          <a:xfrm>
            <a:off x="3474720" y="3703320"/>
            <a:ext cx="2468880" cy="411480"/>
          </a:xfrm>
          <a:prstGeom prst="rect">
            <a:avLst/>
          </a:prstGeom>
          <a:noFill/>
          <a:ln/>
        </p:spPr>
        <p:txBody>
          <a:bodyPr wrap="square" lIns="0" tIns="0" rIns="0" bIns="0" rtlCol="0" anchor="ctr"/>
          <a:lstStyle/>
          <a:p>
            <a:pPr indent="0" marL="0">
              <a:buNone/>
            </a:pPr>
            <a:r>
              <a:rPr lang="en-US" sz="1300" dirty="0">
                <a:solidFill>
                  <a:schemeClr val="bg2"/>
                </a:solidFill>
              </a:rPr>
              <a:t>version, metrics, features</a:t>
            </a:r>
            <a:endParaRPr lang="en-US" sz="1300" dirty="0"/>
          </a:p>
        </p:txBody>
      </p:sp>
      <p:sp>
        <p:nvSpPr>
          <p:cNvPr id="18" name="Text 15"/>
          <p:cNvSpPr txBox="1"/>
          <p:nvPr/>
        </p:nvSpPr>
        <p:spPr>
          <a:xfrm>
            <a:off x="822960" y="4206240"/>
            <a:ext cx="685800" cy="411480"/>
          </a:xfrm>
          <a:prstGeom prst="rect">
            <a:avLst/>
          </a:prstGeom>
          <a:noFill/>
          <a:ln/>
        </p:spPr>
        <p:txBody>
          <a:bodyPr wrap="square" lIns="0" tIns="0" rIns="0" bIns="0" rtlCol="0" anchor="ctr"/>
          <a:lstStyle/>
          <a:p>
            <a:pPr indent="0" marL="0">
              <a:buNone/>
            </a:pPr>
            <a:r>
              <a:rPr lang="en-US" sz="1300" b="1" dirty="0">
                <a:solidFill>
                  <a:schemeClr val="accent5"/>
                </a:solidFill>
                <a:latin typeface="Courier New" pitchFamily="34" charset="0"/>
                <a:ea typeface="Courier New" pitchFamily="34" charset="-122"/>
                <a:cs typeface="Courier New" pitchFamily="34" charset="-120"/>
              </a:rPr>
              <a:t>GET</a:t>
            </a:r>
            <a:endParaRPr lang="en-US" sz="1300" dirty="0"/>
          </a:p>
        </p:txBody>
      </p:sp>
      <p:sp>
        <p:nvSpPr>
          <p:cNvPr id="19" name="Text 16"/>
          <p:cNvSpPr txBox="1"/>
          <p:nvPr/>
        </p:nvSpPr>
        <p:spPr>
          <a:xfrm>
            <a:off x="1508760" y="4206240"/>
            <a:ext cx="1920240" cy="41148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/metrics</a:t>
            </a:r>
            <a:endParaRPr lang="en-US" sz="1400" dirty="0"/>
          </a:p>
        </p:txBody>
      </p:sp>
      <p:sp>
        <p:nvSpPr>
          <p:cNvPr id="20" name="Text 17"/>
          <p:cNvSpPr txBox="1"/>
          <p:nvPr/>
        </p:nvSpPr>
        <p:spPr>
          <a:xfrm>
            <a:off x="3474720" y="4206240"/>
            <a:ext cx="2468880" cy="411480"/>
          </a:xfrm>
          <a:prstGeom prst="rect">
            <a:avLst/>
          </a:prstGeom>
          <a:noFill/>
          <a:ln/>
        </p:spPr>
        <p:txBody>
          <a:bodyPr wrap="square" lIns="0" tIns="0" rIns="0" bIns="0" rtlCol="0" anchor="ctr"/>
          <a:lstStyle/>
          <a:p>
            <a:pPr indent="0" marL="0">
              <a:buNone/>
            </a:pPr>
            <a:r>
              <a:rPr lang="en-US" sz="1300" dirty="0">
                <a:solidFill>
                  <a:schemeClr val="bg2"/>
                </a:solidFill>
              </a:rPr>
              <a:t>latency and error rate</a:t>
            </a:r>
            <a:endParaRPr lang="en-US" sz="1300" dirty="0"/>
          </a:p>
        </p:txBody>
      </p:sp>
      <p:sp>
        <p:nvSpPr>
          <p:cNvPr id="21" name="validation card"/>
          <p:cNvSpPr/>
          <p:nvPr/>
        </p:nvSpPr>
        <p:spPr>
          <a:xfrm>
            <a:off x="548640" y="4983480"/>
            <a:ext cx="5486400" cy="1051560"/>
          </a:xfrm>
          <a:prstGeom prst="roundRect">
            <a:avLst>
              <a:gd name="adj" fmla="val 8696"/>
            </a:avLst>
          </a:prstGeom>
          <a:solidFill>
            <a:schemeClr val="bg2"/>
          </a:solidFill>
          <a:ln/>
        </p:spPr>
      </p:sp>
      <p:sp>
        <p:nvSpPr>
          <p:cNvPr id="22" name="Text 19"/>
          <p:cNvSpPr txBox="1"/>
          <p:nvPr/>
        </p:nvSpPr>
        <p:spPr>
          <a:xfrm>
            <a:off x="822960" y="4983480"/>
            <a:ext cx="5029200" cy="1051560"/>
          </a:xfrm>
          <a:prstGeom prst="rect">
            <a:avLst/>
          </a:prstGeom>
          <a:noFill/>
          <a:ln/>
        </p:spPr>
        <p:txBody>
          <a:bodyPr wrap="square" lIns="0" tIns="0" rIns="0" bIns="0" rtlCol="0" anchor="ctr"/>
          <a:lstStyle/>
          <a:p>
            <a:pPr indent="0" marL="0">
              <a:buNone/>
            </a:pPr>
            <a:r>
              <a:rPr lang="en-US" sz="1400" b="1" dirty="0">
                <a:solidFill>
                  <a:schemeClr val="tx1"/>
                </a:solidFill>
              </a:rPr>
              <a:t>Input validated with pydantic: </a:t>
            </a:r>
            <a:pPr indent="0" marL="0">
              <a:buNone/>
            </a:pPr>
            <a:r>
              <a:rPr lang="en-US" sz="1400" dirty="0">
                <a:solidFill>
                  <a:schemeClr val="tx1"/>
                </a:solidFill>
              </a:rPr>
              <a:t>bad payload → HTTP 422, counted as a failure. Every request logged with its model version.</a:t>
            </a:r>
            <a:endParaRPr lang="en-US" sz="1400" dirty="0"/>
          </a:p>
        </p:txBody>
      </p:sp>
      <p:sp>
        <p:nvSpPr>
          <p:cNvPr id="23" name="Text 20"/>
          <p:cNvSpPr txBox="1"/>
          <p:nvPr/>
        </p:nvSpPr>
        <p:spPr>
          <a:xfrm>
            <a:off x="6400800" y="1463040"/>
            <a:ext cx="5212080" cy="411480"/>
          </a:xfrm>
          <a:prstGeom prst="rect">
            <a:avLst/>
          </a:prstGeom>
          <a:noFill/>
          <a:ln/>
        </p:spPr>
        <p:txBody>
          <a:bodyPr wrap="square" lIns="0" tIns="0" rIns="0" bIns="0" rtlCol="0" anchor="t"/>
          <a:lstStyle/>
          <a:p>
            <a:pPr indent="0" marL="0">
              <a:buNone/>
            </a:pPr>
            <a:r>
              <a:rPr lang="en-US" sz="1700" b="1" dirty="0">
                <a:solidFill>
                  <a:schemeClr val="tx2"/>
                </a:solidFill>
                <a:latin typeface="Arial" pitchFamily="34" charset="0"/>
                <a:ea typeface="Arial" pitchFamily="34" charset="-122"/>
                <a:cs typeface="Arial" pitchFamily="34" charset="-120"/>
              </a:rPr>
              <a:t>docker compose up – three services</a:t>
            </a:r>
            <a:endParaRPr lang="en-US" sz="1700" dirty="0"/>
          </a:p>
        </p:txBody>
      </p:sp>
      <p:sp>
        <p:nvSpPr>
          <p:cNvPr id="24" name="service card"/>
          <p:cNvSpPr/>
          <p:nvPr/>
        </p:nvSpPr>
        <p:spPr>
          <a:xfrm>
            <a:off x="6400800" y="2011680"/>
            <a:ext cx="5212080" cy="1161288"/>
          </a:xfrm>
          <a:prstGeom prst="roundRect">
            <a:avLst>
              <a:gd name="adj" fmla="val 7874"/>
            </a:avLst>
          </a:prstGeom>
          <a:solidFill>
            <a:schemeClr val="bg2"/>
          </a:solidFill>
          <a:ln/>
          <a:effectLst>
            <a:outerShdw sx="100000" sy="100000" kx="0" ky="0" algn="bl" rotWithShape="0" blurRad="76200" dist="25400" dir="5400000">
              <a:srgbClr val="000000">
                <a:alpha val="12000"/>
              </a:srgbClr>
            </a:outerShdw>
          </a:effectLst>
        </p:spPr>
      </p:sp>
      <p:sp>
        <p:nvSpPr>
          <p:cNvPr id="25" name="icon-circle FaBolt"/>
          <p:cNvSpPr/>
          <p:nvPr/>
        </p:nvSpPr>
        <p:spPr>
          <a:xfrm>
            <a:off x="6629400" y="2286000"/>
            <a:ext cx="548640" cy="548640"/>
          </a:xfrm>
          <a:prstGeom prst="ellipse">
            <a:avLst/>
          </a:prstGeom>
          <a:solidFill>
            <a:schemeClr val="accent1"/>
          </a:solidFill>
          <a:ln/>
        </p:spPr>
      </p:sp>
      <p:pic>
        <p:nvPicPr>
          <p:cNvPr id="26" name="icon FaBolt" descr="Bolt icon">    </p:cNvPr>
          <p:cNvPicPr>
            <a:picLocks noChangeAspect="1"/>
          </p:cNvPicPr>
          <p:nvPr/>
        </p:nvPicPr>
        <p:blipFill>
          <a:blip r:embed="rId1"/>
          <a:stretch>
            <a:fillRect/>
          </a:stretch>
        </p:blipFill>
        <p:spPr>
          <a:xfrm>
            <a:off x="6761074" y="2417674"/>
            <a:ext cx="285293" cy="285293"/>
          </a:xfrm>
          <a:prstGeom prst="rect">
            <a:avLst/>
          </a:prstGeom>
        </p:spPr>
      </p:pic>
      <p:sp>
        <p:nvSpPr>
          <p:cNvPr id="27" name="Text 23"/>
          <p:cNvSpPr txBox="1"/>
          <p:nvPr/>
        </p:nvSpPr>
        <p:spPr>
          <a:xfrm>
            <a:off x="7406640" y="2267712"/>
            <a:ext cx="406908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FastAPI model service</a:t>
            </a:r>
            <a:endParaRPr lang="en-US" sz="1600" dirty="0"/>
          </a:p>
        </p:txBody>
      </p:sp>
      <p:sp>
        <p:nvSpPr>
          <p:cNvPr id="28" name="Text 24"/>
          <p:cNvSpPr txBox="1"/>
          <p:nvPr/>
        </p:nvSpPr>
        <p:spPr>
          <a:xfrm>
            <a:off x="7406640" y="2615184"/>
            <a:ext cx="4069080" cy="457200"/>
          </a:xfrm>
          <a:prstGeom prst="rect">
            <a:avLst/>
          </a:prstGeom>
          <a:noFill/>
          <a:ln/>
        </p:spPr>
        <p:txBody>
          <a:bodyPr wrap="square" lIns="0" tIns="0" rIns="0" bIns="0" rtlCol="0" anchor="t"/>
          <a:lstStyle/>
          <a:p>
            <a:pPr indent="0" marL="0">
              <a:buNone/>
            </a:pPr>
            <a:r>
              <a:rPr lang="en-US" sz="1400" dirty="0">
                <a:solidFill>
                  <a:schemeClr val="tx1"/>
                </a:solidFill>
              </a:rPr>
              <a:t>:8000 – champion model baked into the image</a:t>
            </a:r>
            <a:endParaRPr lang="en-US" sz="1400" dirty="0"/>
          </a:p>
        </p:txBody>
      </p:sp>
      <p:sp>
        <p:nvSpPr>
          <p:cNvPr id="29" name="service card"/>
          <p:cNvSpPr/>
          <p:nvPr/>
        </p:nvSpPr>
        <p:spPr>
          <a:xfrm>
            <a:off x="6400800" y="3355848"/>
            <a:ext cx="5212080" cy="1161288"/>
          </a:xfrm>
          <a:prstGeom prst="roundRect">
            <a:avLst>
              <a:gd name="adj" fmla="val 7874"/>
            </a:avLst>
          </a:prstGeom>
          <a:solidFill>
            <a:schemeClr val="bg2"/>
          </a:solidFill>
          <a:ln/>
          <a:effectLst>
            <a:outerShdw sx="100000" sy="100000" kx="0" ky="0" algn="bl" rotWithShape="0" blurRad="76200" dist="25400" dir="5400000">
              <a:srgbClr val="000000">
                <a:alpha val="12000"/>
              </a:srgbClr>
            </a:outerShdw>
          </a:effectLst>
        </p:spPr>
      </p:sp>
      <p:sp>
        <p:nvSpPr>
          <p:cNvPr id="30" name="icon-circle FaFlask"/>
          <p:cNvSpPr/>
          <p:nvPr/>
        </p:nvSpPr>
        <p:spPr>
          <a:xfrm>
            <a:off x="6629400" y="3630168"/>
            <a:ext cx="548640" cy="548640"/>
          </a:xfrm>
          <a:prstGeom prst="ellipse">
            <a:avLst/>
          </a:prstGeom>
          <a:solidFill>
            <a:schemeClr val="accent1"/>
          </a:solidFill>
          <a:ln/>
        </p:spPr>
      </p:sp>
      <p:pic>
        <p:nvPicPr>
          <p:cNvPr id="31" name="icon FaFlask" descr="Flask icon">    </p:cNvPr>
          <p:cNvPicPr>
            <a:picLocks noChangeAspect="1"/>
          </p:cNvPicPr>
          <p:nvPr/>
        </p:nvPicPr>
        <p:blipFill>
          <a:blip r:embed="rId2"/>
          <a:stretch>
            <a:fillRect/>
          </a:stretch>
        </p:blipFill>
        <p:spPr>
          <a:xfrm>
            <a:off x="6761074" y="3761842"/>
            <a:ext cx="285293" cy="285293"/>
          </a:xfrm>
          <a:prstGeom prst="rect">
            <a:avLst/>
          </a:prstGeom>
        </p:spPr>
      </p:pic>
      <p:sp>
        <p:nvSpPr>
          <p:cNvPr id="32" name="Text 27"/>
          <p:cNvSpPr txBox="1"/>
          <p:nvPr/>
        </p:nvSpPr>
        <p:spPr>
          <a:xfrm>
            <a:off x="7406640" y="3611880"/>
            <a:ext cx="406908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MLflow server</a:t>
            </a:r>
            <a:endParaRPr lang="en-US" sz="1600" dirty="0"/>
          </a:p>
        </p:txBody>
      </p:sp>
      <p:sp>
        <p:nvSpPr>
          <p:cNvPr id="33" name="Text 28"/>
          <p:cNvSpPr txBox="1"/>
          <p:nvPr/>
        </p:nvSpPr>
        <p:spPr>
          <a:xfrm>
            <a:off x="7406640" y="3959352"/>
            <a:ext cx="4069080" cy="457200"/>
          </a:xfrm>
          <a:prstGeom prst="rect">
            <a:avLst/>
          </a:prstGeom>
          <a:noFill/>
          <a:ln/>
        </p:spPr>
        <p:txBody>
          <a:bodyPr wrap="square" lIns="0" tIns="0" rIns="0" bIns="0" rtlCol="0" anchor="t"/>
          <a:lstStyle/>
          <a:p>
            <a:pPr indent="0" marL="0">
              <a:buNone/>
            </a:pPr>
            <a:r>
              <a:rPr lang="en-US" sz="1400" dirty="0">
                <a:solidFill>
                  <a:schemeClr val="tx1"/>
                </a:solidFill>
              </a:rPr>
              <a:t>:5000 – experiments and registry</a:t>
            </a:r>
            <a:endParaRPr lang="en-US" sz="1400" dirty="0"/>
          </a:p>
        </p:txBody>
      </p:sp>
      <p:sp>
        <p:nvSpPr>
          <p:cNvPr id="34" name="service card"/>
          <p:cNvSpPr/>
          <p:nvPr/>
        </p:nvSpPr>
        <p:spPr>
          <a:xfrm>
            <a:off x="6400800" y="4700016"/>
            <a:ext cx="5212080" cy="1161288"/>
          </a:xfrm>
          <a:prstGeom prst="roundRect">
            <a:avLst>
              <a:gd name="adj" fmla="val 7874"/>
            </a:avLst>
          </a:prstGeom>
          <a:solidFill>
            <a:schemeClr val="bg2"/>
          </a:solidFill>
          <a:ln/>
          <a:effectLst>
            <a:outerShdw sx="100000" sy="100000" kx="0" ky="0" algn="bl" rotWithShape="0" blurRad="76200" dist="25400" dir="5400000">
              <a:srgbClr val="000000">
                <a:alpha val="12000"/>
              </a:srgbClr>
            </a:outerShdw>
          </a:effectLst>
        </p:spPr>
      </p:sp>
      <p:sp>
        <p:nvSpPr>
          <p:cNvPr id="35" name="icon-circle FaDesktop"/>
          <p:cNvSpPr/>
          <p:nvPr/>
        </p:nvSpPr>
        <p:spPr>
          <a:xfrm>
            <a:off x="6629400" y="4974336"/>
            <a:ext cx="548640" cy="548640"/>
          </a:xfrm>
          <a:prstGeom prst="ellipse">
            <a:avLst/>
          </a:prstGeom>
          <a:solidFill>
            <a:schemeClr val="accent1"/>
          </a:solidFill>
          <a:ln/>
        </p:spPr>
      </p:sp>
      <p:pic>
        <p:nvPicPr>
          <p:cNvPr id="36" name="icon FaDesktop" descr="Desktop icon">    </p:cNvPr>
          <p:cNvPicPr>
            <a:picLocks noChangeAspect="1"/>
          </p:cNvPicPr>
          <p:nvPr/>
        </p:nvPicPr>
        <p:blipFill>
          <a:blip r:embed="rId3"/>
          <a:stretch>
            <a:fillRect/>
          </a:stretch>
        </p:blipFill>
        <p:spPr>
          <a:xfrm>
            <a:off x="6761074" y="5106010"/>
            <a:ext cx="285293" cy="285293"/>
          </a:xfrm>
          <a:prstGeom prst="rect">
            <a:avLst/>
          </a:prstGeom>
        </p:spPr>
      </p:pic>
      <p:sp>
        <p:nvSpPr>
          <p:cNvPr id="37" name="Text 31"/>
          <p:cNvSpPr txBox="1"/>
          <p:nvPr/>
        </p:nvSpPr>
        <p:spPr>
          <a:xfrm>
            <a:off x="7406640" y="4956048"/>
            <a:ext cx="406908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Streamlit UI</a:t>
            </a:r>
            <a:endParaRPr lang="en-US" sz="1600" dirty="0"/>
          </a:p>
        </p:txBody>
      </p:sp>
      <p:sp>
        <p:nvSpPr>
          <p:cNvPr id="38" name="Text 32"/>
          <p:cNvSpPr txBox="1"/>
          <p:nvPr/>
        </p:nvSpPr>
        <p:spPr>
          <a:xfrm>
            <a:off x="7406640" y="5303520"/>
            <a:ext cx="4069080" cy="457200"/>
          </a:xfrm>
          <a:prstGeom prst="rect">
            <a:avLst/>
          </a:prstGeom>
          <a:noFill/>
          <a:ln/>
        </p:spPr>
        <p:txBody>
          <a:bodyPr wrap="square" lIns="0" tIns="0" rIns="0" bIns="0" rtlCol="0" anchor="t"/>
          <a:lstStyle/>
          <a:p>
            <a:pPr indent="0" marL="0">
              <a:buNone/>
            </a:pPr>
            <a:r>
              <a:rPr lang="en-US" sz="1400" dirty="0">
                <a:solidFill>
                  <a:schemeClr val="tx1"/>
                </a:solidFill>
              </a:rPr>
              <a:t>:8502 – prediction form, model card, monitoring</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Monitoring: six signals watched every week</a:t>
            </a:r>
            <a:endParaRPr lang="en-US" sz="3200" dirty="0"/>
          </a:p>
        </p:txBody>
      </p:sp>
      <p:sp>
        <p:nvSpPr>
          <p:cNvPr id="4" name="signal card"/>
          <p:cNvSpPr/>
          <p:nvPr/>
        </p:nvSpPr>
        <p:spPr>
          <a:xfrm>
            <a:off x="548640" y="1463040"/>
            <a:ext cx="3474720" cy="1508760"/>
          </a:xfrm>
          <a:prstGeom prst="roundRect">
            <a:avLst>
              <a:gd name="adj" fmla="val 6061"/>
            </a:avLst>
          </a:prstGeom>
          <a:solidFill>
            <a:schemeClr val="bg2"/>
          </a:solidFill>
          <a:ln/>
        </p:spPr>
      </p:sp>
      <p:sp>
        <p:nvSpPr>
          <p:cNvPr id="5" name="icon-circle FaClipboardCheck"/>
          <p:cNvSpPr/>
          <p:nvPr/>
        </p:nvSpPr>
        <p:spPr>
          <a:xfrm>
            <a:off x="777240" y="1691640"/>
            <a:ext cx="502920" cy="502920"/>
          </a:xfrm>
          <a:prstGeom prst="ellipse">
            <a:avLst/>
          </a:prstGeom>
          <a:solidFill>
            <a:schemeClr val="accent1"/>
          </a:solidFill>
          <a:ln/>
        </p:spPr>
      </p:sp>
      <p:pic>
        <p:nvPicPr>
          <p:cNvPr id="6" name="icon FaClipboardCheck" descr="ClipboardCheck icon">    </p:cNvPr>
          <p:cNvPicPr>
            <a:picLocks noChangeAspect="1"/>
          </p:cNvPicPr>
          <p:nvPr/>
        </p:nvPicPr>
        <p:blipFill>
          <a:blip r:embed="rId1"/>
          <a:stretch>
            <a:fillRect/>
          </a:stretch>
        </p:blipFill>
        <p:spPr>
          <a:xfrm>
            <a:off x="897941" y="1812341"/>
            <a:ext cx="261518" cy="261518"/>
          </a:xfrm>
          <a:prstGeom prst="rect">
            <a:avLst/>
          </a:prstGeom>
        </p:spPr>
      </p:pic>
      <p:sp>
        <p:nvSpPr>
          <p:cNvPr id="7" name="Text 3"/>
          <p:cNvSpPr txBox="1"/>
          <p:nvPr/>
        </p:nvSpPr>
        <p:spPr>
          <a:xfrm>
            <a:off x="1508760" y="1673352"/>
            <a:ext cx="237744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Input data quality</a:t>
            </a:r>
            <a:endParaRPr lang="en-US" sz="1600" dirty="0"/>
          </a:p>
        </p:txBody>
      </p:sp>
      <p:sp>
        <p:nvSpPr>
          <p:cNvPr id="8" name="Text 4"/>
          <p:cNvSpPr txBox="1"/>
          <p:nvPr/>
        </p:nvSpPr>
        <p:spPr>
          <a:xfrm>
            <a:off x="1508760" y="2020824"/>
            <a:ext cx="2377440" cy="868680"/>
          </a:xfrm>
          <a:prstGeom prst="rect">
            <a:avLst/>
          </a:prstGeom>
          <a:noFill/>
          <a:ln/>
        </p:spPr>
        <p:txBody>
          <a:bodyPr wrap="square" lIns="0" tIns="0" rIns="0" bIns="0" rtlCol="0" anchor="t"/>
          <a:lstStyle/>
          <a:p>
            <a:pPr indent="0" marL="0">
              <a:buNone/>
            </a:pPr>
            <a:r>
              <a:rPr lang="en-US" sz="1400" dirty="0">
                <a:solidFill>
                  <a:schemeClr val="tx1"/>
                </a:solidFill>
              </a:rPr>
              <a:t>Missing-rate increase, out-of-range values, unseen categories</a:t>
            </a:r>
            <a:endParaRPr lang="en-US" sz="1400" dirty="0"/>
          </a:p>
        </p:txBody>
      </p:sp>
      <p:sp>
        <p:nvSpPr>
          <p:cNvPr id="9" name="signal card"/>
          <p:cNvSpPr/>
          <p:nvPr/>
        </p:nvSpPr>
        <p:spPr>
          <a:xfrm>
            <a:off x="4297680" y="1463040"/>
            <a:ext cx="3474720" cy="1508760"/>
          </a:xfrm>
          <a:prstGeom prst="roundRect">
            <a:avLst>
              <a:gd name="adj" fmla="val 6061"/>
            </a:avLst>
          </a:prstGeom>
          <a:solidFill>
            <a:schemeClr val="bg2"/>
          </a:solidFill>
          <a:ln/>
        </p:spPr>
      </p:sp>
      <p:sp>
        <p:nvSpPr>
          <p:cNvPr id="10" name="icon-circle FaWaveSquare"/>
          <p:cNvSpPr/>
          <p:nvPr/>
        </p:nvSpPr>
        <p:spPr>
          <a:xfrm>
            <a:off x="4526280" y="1691640"/>
            <a:ext cx="502920" cy="502920"/>
          </a:xfrm>
          <a:prstGeom prst="ellipse">
            <a:avLst/>
          </a:prstGeom>
          <a:solidFill>
            <a:schemeClr val="accent1"/>
          </a:solidFill>
          <a:ln/>
        </p:spPr>
      </p:sp>
      <p:pic>
        <p:nvPicPr>
          <p:cNvPr id="11" name="icon FaWaveSquare" descr="WaveSquare icon">    </p:cNvPr>
          <p:cNvPicPr>
            <a:picLocks noChangeAspect="1"/>
          </p:cNvPicPr>
          <p:nvPr/>
        </p:nvPicPr>
        <p:blipFill>
          <a:blip r:embed="rId2"/>
          <a:stretch>
            <a:fillRect/>
          </a:stretch>
        </p:blipFill>
        <p:spPr>
          <a:xfrm>
            <a:off x="4646981" y="1812341"/>
            <a:ext cx="261518" cy="261518"/>
          </a:xfrm>
          <a:prstGeom prst="rect">
            <a:avLst/>
          </a:prstGeom>
        </p:spPr>
      </p:pic>
      <p:sp>
        <p:nvSpPr>
          <p:cNvPr id="12" name="Text 7"/>
          <p:cNvSpPr txBox="1"/>
          <p:nvPr/>
        </p:nvSpPr>
        <p:spPr>
          <a:xfrm>
            <a:off x="5257800" y="1673352"/>
            <a:ext cx="237744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Feature drift (PSI)</a:t>
            </a:r>
            <a:endParaRPr lang="en-US" sz="1600" dirty="0"/>
          </a:p>
        </p:txBody>
      </p:sp>
      <p:sp>
        <p:nvSpPr>
          <p:cNvPr id="13" name="Text 8"/>
          <p:cNvSpPr txBox="1"/>
          <p:nvPr/>
        </p:nvSpPr>
        <p:spPr>
          <a:xfrm>
            <a:off x="5257800" y="2020824"/>
            <a:ext cx="2377440" cy="868680"/>
          </a:xfrm>
          <a:prstGeom prst="rect">
            <a:avLst/>
          </a:prstGeom>
          <a:noFill/>
          <a:ln/>
        </p:spPr>
        <p:txBody>
          <a:bodyPr wrap="square" lIns="0" tIns="0" rIns="0" bIns="0" rtlCol="0" anchor="t"/>
          <a:lstStyle/>
          <a:p>
            <a:pPr indent="0" marL="0">
              <a:buNone/>
            </a:pPr>
            <a:r>
              <a:rPr lang="en-US" sz="1400" dirty="0">
                <a:solidFill>
                  <a:schemeClr val="tx1"/>
                </a:solidFill>
              </a:rPr>
              <a:t>Each feature's distribution vs the training reference profile</a:t>
            </a:r>
            <a:endParaRPr lang="en-US" sz="1400" dirty="0"/>
          </a:p>
        </p:txBody>
      </p:sp>
      <p:sp>
        <p:nvSpPr>
          <p:cNvPr id="14" name="signal card"/>
          <p:cNvSpPr/>
          <p:nvPr/>
        </p:nvSpPr>
        <p:spPr>
          <a:xfrm>
            <a:off x="8046720" y="1463040"/>
            <a:ext cx="3474720" cy="1508760"/>
          </a:xfrm>
          <a:prstGeom prst="roundRect">
            <a:avLst>
              <a:gd name="adj" fmla="val 6061"/>
            </a:avLst>
          </a:prstGeom>
          <a:solidFill>
            <a:schemeClr val="bg2"/>
          </a:solidFill>
          <a:ln/>
        </p:spPr>
      </p:sp>
      <p:sp>
        <p:nvSpPr>
          <p:cNvPr id="15" name="icon-circle FaChartPie"/>
          <p:cNvSpPr/>
          <p:nvPr/>
        </p:nvSpPr>
        <p:spPr>
          <a:xfrm>
            <a:off x="8275320" y="1691640"/>
            <a:ext cx="502920" cy="502920"/>
          </a:xfrm>
          <a:prstGeom prst="ellipse">
            <a:avLst/>
          </a:prstGeom>
          <a:solidFill>
            <a:schemeClr val="accent1"/>
          </a:solidFill>
          <a:ln/>
        </p:spPr>
      </p:sp>
      <p:pic>
        <p:nvPicPr>
          <p:cNvPr id="16" name="icon FaChartPie" descr="ChartPie icon">    </p:cNvPr>
          <p:cNvPicPr>
            <a:picLocks noChangeAspect="1"/>
          </p:cNvPicPr>
          <p:nvPr/>
        </p:nvPicPr>
        <p:blipFill>
          <a:blip r:embed="rId3"/>
          <a:stretch>
            <a:fillRect/>
          </a:stretch>
        </p:blipFill>
        <p:spPr>
          <a:xfrm>
            <a:off x="8396021" y="1812341"/>
            <a:ext cx="261518" cy="261518"/>
          </a:xfrm>
          <a:prstGeom prst="rect">
            <a:avLst/>
          </a:prstGeom>
        </p:spPr>
      </p:pic>
      <p:sp>
        <p:nvSpPr>
          <p:cNvPr id="17" name="Text 11"/>
          <p:cNvSpPr txBox="1"/>
          <p:nvPr/>
        </p:nvSpPr>
        <p:spPr>
          <a:xfrm>
            <a:off x="9006840" y="1673352"/>
            <a:ext cx="237744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Class drift</a:t>
            </a:r>
            <a:endParaRPr lang="en-US" sz="1600" dirty="0"/>
          </a:p>
        </p:txBody>
      </p:sp>
      <p:sp>
        <p:nvSpPr>
          <p:cNvPr id="18" name="Text 12"/>
          <p:cNvSpPr txBox="1"/>
          <p:nvPr/>
        </p:nvSpPr>
        <p:spPr>
          <a:xfrm>
            <a:off x="9006840" y="2020824"/>
            <a:ext cx="2377440" cy="868680"/>
          </a:xfrm>
          <a:prstGeom prst="rect">
            <a:avLst/>
          </a:prstGeom>
          <a:noFill/>
          <a:ln/>
        </p:spPr>
        <p:txBody>
          <a:bodyPr wrap="square" lIns="0" tIns="0" rIns="0" bIns="0" rtlCol="0" anchor="t"/>
          <a:lstStyle/>
          <a:p>
            <a:pPr indent="0" marL="0">
              <a:buNone/>
            </a:pPr>
            <a:r>
              <a:rPr lang="en-US" sz="1400" dirty="0">
                <a:solidFill>
                  <a:schemeClr val="tx1"/>
                </a:solidFill>
              </a:rPr>
              <a:t>Mix of predicted classes and, when labelled, actual classes</a:t>
            </a:r>
            <a:endParaRPr lang="en-US" sz="1400" dirty="0"/>
          </a:p>
        </p:txBody>
      </p:sp>
      <p:sp>
        <p:nvSpPr>
          <p:cNvPr id="19" name="signal card"/>
          <p:cNvSpPr/>
          <p:nvPr/>
        </p:nvSpPr>
        <p:spPr>
          <a:xfrm>
            <a:off x="548640" y="3154680"/>
            <a:ext cx="3474720" cy="1508760"/>
          </a:xfrm>
          <a:prstGeom prst="roundRect">
            <a:avLst>
              <a:gd name="adj" fmla="val 6061"/>
            </a:avLst>
          </a:prstGeom>
          <a:solidFill>
            <a:schemeClr val="bg2"/>
          </a:solidFill>
          <a:ln/>
        </p:spPr>
      </p:sp>
      <p:sp>
        <p:nvSpPr>
          <p:cNvPr id="20" name="icon-circle FaMapMarkedAlt"/>
          <p:cNvSpPr/>
          <p:nvPr/>
        </p:nvSpPr>
        <p:spPr>
          <a:xfrm>
            <a:off x="777240" y="3383280"/>
            <a:ext cx="502920" cy="502920"/>
          </a:xfrm>
          <a:prstGeom prst="ellipse">
            <a:avLst/>
          </a:prstGeom>
          <a:solidFill>
            <a:schemeClr val="accent1"/>
          </a:solidFill>
          <a:ln/>
        </p:spPr>
      </p:sp>
      <p:pic>
        <p:nvPicPr>
          <p:cNvPr id="21" name="icon FaMapMarkedAlt" descr="MapMarkedAlt icon">    </p:cNvPr>
          <p:cNvPicPr>
            <a:picLocks noChangeAspect="1"/>
          </p:cNvPicPr>
          <p:nvPr/>
        </p:nvPicPr>
        <p:blipFill>
          <a:blip r:embed="rId4"/>
          <a:stretch>
            <a:fillRect/>
          </a:stretch>
        </p:blipFill>
        <p:spPr>
          <a:xfrm>
            <a:off x="897941" y="3503981"/>
            <a:ext cx="261518" cy="261518"/>
          </a:xfrm>
          <a:prstGeom prst="rect">
            <a:avLst/>
          </a:prstGeom>
        </p:spPr>
      </p:pic>
      <p:sp>
        <p:nvSpPr>
          <p:cNvPr id="22" name="Text 15"/>
          <p:cNvSpPr txBox="1"/>
          <p:nvPr/>
        </p:nvSpPr>
        <p:spPr>
          <a:xfrm>
            <a:off x="1508760" y="3364992"/>
            <a:ext cx="237744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Location drift</a:t>
            </a:r>
            <a:endParaRPr lang="en-US" sz="1600" dirty="0"/>
          </a:p>
        </p:txBody>
      </p:sp>
      <p:sp>
        <p:nvSpPr>
          <p:cNvPr id="23" name="Text 16"/>
          <p:cNvSpPr txBox="1"/>
          <p:nvPr/>
        </p:nvSpPr>
        <p:spPr>
          <a:xfrm>
            <a:off x="1508760" y="3712464"/>
            <a:ext cx="2377440" cy="868680"/>
          </a:xfrm>
          <a:prstGeom prst="rect">
            <a:avLst/>
          </a:prstGeom>
          <a:noFill/>
          <a:ln/>
        </p:spPr>
        <p:txBody>
          <a:bodyPr wrap="square" lIns="0" tIns="0" rIns="0" bIns="0" rtlCol="0" anchor="t"/>
          <a:lstStyle/>
          <a:p>
            <a:pPr indent="0" marL="0">
              <a:buNone/>
            </a:pPr>
            <a:r>
              <a:rPr lang="en-US" sz="1400" dirty="0">
                <a:solidFill>
                  <a:schemeClr val="tx1"/>
                </a:solidFill>
              </a:rPr>
              <a:t>Police-force and nation PSI, plus centroid shift in km</a:t>
            </a:r>
            <a:endParaRPr lang="en-US" sz="1400" dirty="0"/>
          </a:p>
        </p:txBody>
      </p:sp>
      <p:sp>
        <p:nvSpPr>
          <p:cNvPr id="24" name="signal card"/>
          <p:cNvSpPr/>
          <p:nvPr/>
        </p:nvSpPr>
        <p:spPr>
          <a:xfrm>
            <a:off x="4297680" y="3154680"/>
            <a:ext cx="3474720" cy="1508760"/>
          </a:xfrm>
          <a:prstGeom prst="roundRect">
            <a:avLst>
              <a:gd name="adj" fmla="val 6061"/>
            </a:avLst>
          </a:prstGeom>
          <a:solidFill>
            <a:schemeClr val="bg2"/>
          </a:solidFill>
          <a:ln/>
        </p:spPr>
      </p:sp>
      <p:sp>
        <p:nvSpPr>
          <p:cNvPr id="25" name="icon-circle FaBullseye"/>
          <p:cNvSpPr/>
          <p:nvPr/>
        </p:nvSpPr>
        <p:spPr>
          <a:xfrm>
            <a:off x="4526280" y="3383280"/>
            <a:ext cx="502920" cy="502920"/>
          </a:xfrm>
          <a:prstGeom prst="ellipse">
            <a:avLst/>
          </a:prstGeom>
          <a:solidFill>
            <a:schemeClr val="accent1"/>
          </a:solidFill>
          <a:ln/>
        </p:spPr>
      </p:sp>
      <p:pic>
        <p:nvPicPr>
          <p:cNvPr id="26" name="icon FaBullseye" descr="Bullseye icon">    </p:cNvPr>
          <p:cNvPicPr>
            <a:picLocks noChangeAspect="1"/>
          </p:cNvPicPr>
          <p:nvPr/>
        </p:nvPicPr>
        <p:blipFill>
          <a:blip r:embed="rId5"/>
          <a:stretch>
            <a:fillRect/>
          </a:stretch>
        </p:blipFill>
        <p:spPr>
          <a:xfrm>
            <a:off x="4646981" y="3503981"/>
            <a:ext cx="261518" cy="261518"/>
          </a:xfrm>
          <a:prstGeom prst="rect">
            <a:avLst/>
          </a:prstGeom>
        </p:spPr>
      </p:pic>
      <p:sp>
        <p:nvSpPr>
          <p:cNvPr id="27" name="Text 19"/>
          <p:cNvSpPr txBox="1"/>
          <p:nvPr/>
        </p:nvSpPr>
        <p:spPr>
          <a:xfrm>
            <a:off x="5257800" y="3364992"/>
            <a:ext cx="237744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Performance</a:t>
            </a:r>
            <a:endParaRPr lang="en-US" sz="1600" dirty="0"/>
          </a:p>
        </p:txBody>
      </p:sp>
      <p:sp>
        <p:nvSpPr>
          <p:cNvPr id="28" name="Text 20"/>
          <p:cNvSpPr txBox="1"/>
          <p:nvPr/>
        </p:nvSpPr>
        <p:spPr>
          <a:xfrm>
            <a:off x="5257800" y="3712464"/>
            <a:ext cx="2377440" cy="868680"/>
          </a:xfrm>
          <a:prstGeom prst="rect">
            <a:avLst/>
          </a:prstGeom>
          <a:noFill/>
          <a:ln/>
        </p:spPr>
        <p:txBody>
          <a:bodyPr wrap="square" lIns="0" tIns="0" rIns="0" bIns="0" rtlCol="0" anchor="t"/>
          <a:lstStyle/>
          <a:p>
            <a:pPr indent="0" marL="0">
              <a:buNone/>
            </a:pPr>
            <a:r>
              <a:rPr lang="en-US" sz="1400" dirty="0">
                <a:solidFill>
                  <a:schemeClr val="tx1"/>
                </a:solidFill>
              </a:rPr>
              <a:t>Macro-F1, per-class recall, KSI false-negative rate</a:t>
            </a:r>
            <a:endParaRPr lang="en-US" sz="1400" dirty="0"/>
          </a:p>
        </p:txBody>
      </p:sp>
      <p:sp>
        <p:nvSpPr>
          <p:cNvPr id="29" name="signal card"/>
          <p:cNvSpPr/>
          <p:nvPr/>
        </p:nvSpPr>
        <p:spPr>
          <a:xfrm>
            <a:off x="8046720" y="3154680"/>
            <a:ext cx="3474720" cy="1508760"/>
          </a:xfrm>
          <a:prstGeom prst="roundRect">
            <a:avLst>
              <a:gd name="adj" fmla="val 6061"/>
            </a:avLst>
          </a:prstGeom>
          <a:solidFill>
            <a:schemeClr val="bg2"/>
          </a:solidFill>
          <a:ln/>
        </p:spPr>
      </p:sp>
      <p:sp>
        <p:nvSpPr>
          <p:cNvPr id="30" name="icon-circle FaTachometerAlt"/>
          <p:cNvSpPr/>
          <p:nvPr/>
        </p:nvSpPr>
        <p:spPr>
          <a:xfrm>
            <a:off x="8275320" y="3383280"/>
            <a:ext cx="502920" cy="502920"/>
          </a:xfrm>
          <a:prstGeom prst="ellipse">
            <a:avLst/>
          </a:prstGeom>
          <a:solidFill>
            <a:schemeClr val="accent1"/>
          </a:solidFill>
          <a:ln/>
        </p:spPr>
      </p:sp>
      <p:pic>
        <p:nvPicPr>
          <p:cNvPr id="31" name="icon FaTachometerAlt" descr="TachometerAlt icon">    </p:cNvPr>
          <p:cNvPicPr>
            <a:picLocks noChangeAspect="1"/>
          </p:cNvPicPr>
          <p:nvPr/>
        </p:nvPicPr>
        <p:blipFill>
          <a:blip r:embed="rId6"/>
          <a:stretch>
            <a:fillRect/>
          </a:stretch>
        </p:blipFill>
        <p:spPr>
          <a:xfrm>
            <a:off x="8396021" y="3503981"/>
            <a:ext cx="261518" cy="261518"/>
          </a:xfrm>
          <a:prstGeom prst="rect">
            <a:avLst/>
          </a:prstGeom>
        </p:spPr>
      </p:pic>
      <p:sp>
        <p:nvSpPr>
          <p:cNvPr id="32" name="Text 23"/>
          <p:cNvSpPr txBox="1"/>
          <p:nvPr/>
        </p:nvSpPr>
        <p:spPr>
          <a:xfrm>
            <a:off x="9006840" y="3364992"/>
            <a:ext cx="237744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Latency &amp; failures</a:t>
            </a:r>
            <a:endParaRPr lang="en-US" sz="1600" dirty="0"/>
          </a:p>
        </p:txBody>
      </p:sp>
      <p:sp>
        <p:nvSpPr>
          <p:cNvPr id="33" name="Text 24"/>
          <p:cNvSpPr txBox="1"/>
          <p:nvPr/>
        </p:nvSpPr>
        <p:spPr>
          <a:xfrm>
            <a:off x="9006840" y="3712464"/>
            <a:ext cx="2377440" cy="868680"/>
          </a:xfrm>
          <a:prstGeom prst="rect">
            <a:avLst/>
          </a:prstGeom>
          <a:noFill/>
          <a:ln/>
        </p:spPr>
        <p:txBody>
          <a:bodyPr wrap="square" lIns="0" tIns="0" rIns="0" bIns="0" rtlCol="0" anchor="t"/>
          <a:lstStyle/>
          <a:p>
            <a:pPr indent="0" marL="0">
              <a:buNone/>
            </a:pPr>
            <a:r>
              <a:rPr lang="en-US" sz="1400" dirty="0">
                <a:solidFill>
                  <a:schemeClr val="tx1"/>
                </a:solidFill>
              </a:rPr>
              <a:t>p50 / p95 latency and error rate from the API log</a:t>
            </a:r>
            <a:endParaRPr lang="en-US" sz="1400" dirty="0"/>
          </a:p>
        </p:txBody>
      </p:sp>
      <p:sp>
        <p:nvSpPr>
          <p:cNvPr id="34" name="Text 25"/>
          <p:cNvSpPr txBox="1"/>
          <p:nvPr/>
        </p:nvSpPr>
        <p:spPr>
          <a:xfrm>
            <a:off x="548640" y="5029200"/>
            <a:ext cx="3291840" cy="457200"/>
          </a:xfrm>
          <a:prstGeom prst="rect">
            <a:avLst/>
          </a:prstGeom>
          <a:noFill/>
          <a:ln/>
        </p:spPr>
        <p:txBody>
          <a:bodyPr wrap="square" lIns="0" tIns="0" rIns="0" bIns="0" rtlCol="0" anchor="ctr"/>
          <a:lstStyle/>
          <a:p>
            <a:pPr indent="0" marL="0">
              <a:buNone/>
            </a:pPr>
            <a:r>
              <a:rPr lang="en-US" sz="1500" b="1" dirty="0">
                <a:solidFill>
                  <a:schemeClr val="tx2"/>
                </a:solidFill>
              </a:rPr>
              <a:t>PSI – Population Stability Index:</a:t>
            </a:r>
            <a:endParaRPr lang="en-US" sz="1500" dirty="0"/>
          </a:p>
        </p:txBody>
      </p:sp>
      <p:sp>
        <p:nvSpPr>
          <p:cNvPr id="35" name="psi band"/>
          <p:cNvSpPr/>
          <p:nvPr/>
        </p:nvSpPr>
        <p:spPr>
          <a:xfrm>
            <a:off x="3931920" y="5029200"/>
            <a:ext cx="2468880" cy="457200"/>
          </a:xfrm>
          <a:prstGeom prst="roundRect">
            <a:avLst>
              <a:gd name="adj" fmla="val 50000"/>
            </a:avLst>
          </a:prstGeom>
          <a:solidFill>
            <a:schemeClr val="accent5"/>
          </a:solidFill>
          <a:ln/>
        </p:spPr>
      </p:sp>
      <p:sp>
        <p:nvSpPr>
          <p:cNvPr id="36" name="Text 27"/>
          <p:cNvSpPr txBox="1"/>
          <p:nvPr/>
        </p:nvSpPr>
        <p:spPr>
          <a:xfrm>
            <a:off x="3931920" y="5029200"/>
            <a:ext cx="2468880" cy="457200"/>
          </a:xfrm>
          <a:prstGeom prst="rect">
            <a:avLst/>
          </a:prstGeom>
          <a:noFill/>
          <a:ln/>
        </p:spPr>
        <p:txBody>
          <a:bodyPr wrap="square" lIns="0" tIns="0" rIns="0" bIns="0" rtlCol="0" anchor="ctr"/>
          <a:lstStyle/>
          <a:p>
            <a:pPr algn="ctr" indent="0" marL="0">
              <a:buNone/>
            </a:pPr>
            <a:r>
              <a:rPr lang="en-US" sz="1400" b="1" dirty="0">
                <a:solidFill>
                  <a:schemeClr val="bg1"/>
                </a:solidFill>
              </a:rPr>
              <a:t>&lt; 0.1  stable</a:t>
            </a:r>
            <a:endParaRPr lang="en-US" sz="1400" dirty="0"/>
          </a:p>
        </p:txBody>
      </p:sp>
      <p:sp>
        <p:nvSpPr>
          <p:cNvPr id="37" name="psi band"/>
          <p:cNvSpPr/>
          <p:nvPr/>
        </p:nvSpPr>
        <p:spPr>
          <a:xfrm>
            <a:off x="6537960" y="5029200"/>
            <a:ext cx="2468880" cy="457200"/>
          </a:xfrm>
          <a:prstGeom prst="roundRect">
            <a:avLst>
              <a:gd name="adj" fmla="val 50000"/>
            </a:avLst>
          </a:prstGeom>
          <a:solidFill>
            <a:schemeClr val="accent1"/>
          </a:solidFill>
          <a:ln/>
        </p:spPr>
      </p:sp>
      <p:sp>
        <p:nvSpPr>
          <p:cNvPr id="38" name="Text 29"/>
          <p:cNvSpPr txBox="1"/>
          <p:nvPr/>
        </p:nvSpPr>
        <p:spPr>
          <a:xfrm>
            <a:off x="6537960" y="5029200"/>
            <a:ext cx="2468880" cy="457200"/>
          </a:xfrm>
          <a:prstGeom prst="rect">
            <a:avLst/>
          </a:prstGeom>
          <a:noFill/>
          <a:ln/>
        </p:spPr>
        <p:txBody>
          <a:bodyPr wrap="square" lIns="0" tIns="0" rIns="0" bIns="0" rtlCol="0" anchor="ctr"/>
          <a:lstStyle/>
          <a:p>
            <a:pPr algn="ctr" indent="0" marL="0">
              <a:buNone/>
            </a:pPr>
            <a:r>
              <a:rPr lang="en-US" sz="1400" b="1" dirty="0">
                <a:solidFill>
                  <a:schemeClr val="tx1"/>
                </a:solidFill>
              </a:rPr>
              <a:t>0.1 – 0.2  moderate</a:t>
            </a:r>
            <a:endParaRPr lang="en-US" sz="1400" dirty="0"/>
          </a:p>
        </p:txBody>
      </p:sp>
      <p:sp>
        <p:nvSpPr>
          <p:cNvPr id="39" name="psi band"/>
          <p:cNvSpPr/>
          <p:nvPr/>
        </p:nvSpPr>
        <p:spPr>
          <a:xfrm>
            <a:off x="9144000" y="5029200"/>
            <a:ext cx="2468880" cy="457200"/>
          </a:xfrm>
          <a:prstGeom prst="roundRect">
            <a:avLst>
              <a:gd name="adj" fmla="val 50000"/>
            </a:avLst>
          </a:prstGeom>
          <a:solidFill>
            <a:schemeClr val="accent2"/>
          </a:solidFill>
          <a:ln/>
        </p:spPr>
      </p:sp>
      <p:sp>
        <p:nvSpPr>
          <p:cNvPr id="40" name="Text 31"/>
          <p:cNvSpPr txBox="1"/>
          <p:nvPr/>
        </p:nvSpPr>
        <p:spPr>
          <a:xfrm>
            <a:off x="9144000" y="5029200"/>
            <a:ext cx="2468880" cy="457200"/>
          </a:xfrm>
          <a:prstGeom prst="rect">
            <a:avLst/>
          </a:prstGeom>
          <a:noFill/>
          <a:ln/>
        </p:spPr>
        <p:txBody>
          <a:bodyPr wrap="square" lIns="0" tIns="0" rIns="0" bIns="0" rtlCol="0" anchor="ctr"/>
          <a:lstStyle/>
          <a:p>
            <a:pPr algn="ctr" indent="0" marL="0">
              <a:buNone/>
            </a:pPr>
            <a:r>
              <a:rPr lang="en-US" sz="1400" b="1" dirty="0">
                <a:solidFill>
                  <a:schemeClr val="bg1"/>
                </a:solidFill>
              </a:rPr>
              <a:t>&gt; 0.2  significant shift</a:t>
            </a:r>
            <a:endParaRPr lang="en-US" sz="1400" dirty="0"/>
          </a:p>
        </p:txBody>
      </p:sp>
      <p:sp>
        <p:nvSpPr>
          <p:cNvPr id="41" name="Text 32"/>
          <p:cNvSpPr txBox="1"/>
          <p:nvPr/>
        </p:nvSpPr>
        <p:spPr>
          <a:xfrm>
            <a:off x="548640" y="5669280"/>
            <a:ext cx="11064240" cy="365760"/>
          </a:xfrm>
          <a:prstGeom prst="rect">
            <a:avLst/>
          </a:prstGeom>
          <a:noFill/>
          <a:ln/>
        </p:spPr>
        <p:txBody>
          <a:bodyPr wrap="square" lIns="0" tIns="0" rIns="0" bIns="0" rtlCol="0" anchor="t"/>
          <a:lstStyle/>
          <a:p>
            <a:pPr indent="0" marL="0">
              <a:buNone/>
            </a:pPr>
            <a:r>
              <a:rPr lang="en-US" sz="1300" dirty="0">
                <a:solidFill>
                  <a:schemeClr val="accent4"/>
                </a:solidFill>
              </a:rPr>
              <a:t>Unlabelled production traffic is checked from the API prediction log; labelled batches add the performance checks.</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Monitoring in action: two real runs</a:t>
            </a:r>
            <a:endParaRPr lang="en-US" sz="3200" dirty="0"/>
          </a:p>
        </p:txBody>
      </p:sp>
      <p:sp>
        <p:nvSpPr>
          <p:cNvPr id="4" name="monitor panel"/>
          <p:cNvSpPr/>
          <p:nvPr/>
        </p:nvSpPr>
        <p:spPr>
          <a:xfrm>
            <a:off x="548640" y="1463040"/>
            <a:ext cx="5394960" cy="3794760"/>
          </a:xfrm>
          <a:prstGeom prst="roundRect">
            <a:avLst>
              <a:gd name="adj" fmla="val 2410"/>
            </a:avLst>
          </a:prstGeom>
          <a:solidFill>
            <a:schemeClr val="bg2"/>
          </a:solidFill>
          <a:ln/>
          <a:effectLst>
            <a:outerShdw sx="100000" sy="100000" kx="0" ky="0" algn="bl" rotWithShape="0" blurRad="76200" dist="25400" dir="5400000">
              <a:srgbClr val="000000">
                <a:alpha val="12000"/>
              </a:srgbClr>
            </a:outerShdw>
          </a:effectLst>
        </p:spPr>
      </p:sp>
      <p:sp>
        <p:nvSpPr>
          <p:cNvPr id="5" name="Text 2"/>
          <p:cNvSpPr txBox="1"/>
          <p:nvPr/>
        </p:nvSpPr>
        <p:spPr>
          <a:xfrm>
            <a:off x="868680" y="1645920"/>
            <a:ext cx="4754880" cy="365760"/>
          </a:xfrm>
          <a:prstGeom prst="rect">
            <a:avLst/>
          </a:prstGeom>
          <a:noFill/>
          <a:ln/>
        </p:spPr>
        <p:txBody>
          <a:bodyPr wrap="square" lIns="0" tIns="0" rIns="0" bIns="0" rtlCol="0" anchor="t"/>
          <a:lstStyle/>
          <a:p>
            <a:pPr indent="0" marL="0">
              <a:buNone/>
            </a:pPr>
            <a:r>
              <a:rPr lang="en-US" sz="1700" b="1" dirty="0">
                <a:solidFill>
                  <a:schemeClr val="tx2"/>
                </a:solidFill>
                <a:latin typeface="Arial" pitchFamily="34" charset="0"/>
                <a:ea typeface="Arial" pitchFamily="34" charset="-122"/>
                <a:cs typeface="Arial" pitchFamily="34" charset="-120"/>
              </a:rPr>
              <a:t>Labelled batch · Oct–Dec 2024</a:t>
            </a:r>
            <a:endParaRPr lang="en-US" sz="1700" dirty="0"/>
          </a:p>
        </p:txBody>
      </p:sp>
      <p:sp>
        <p:nvSpPr>
          <p:cNvPr id="6" name="Text 3"/>
          <p:cNvSpPr txBox="1"/>
          <p:nvPr/>
        </p:nvSpPr>
        <p:spPr>
          <a:xfrm>
            <a:off x="868680" y="2011680"/>
            <a:ext cx="4754880" cy="320040"/>
          </a:xfrm>
          <a:prstGeom prst="rect">
            <a:avLst/>
          </a:prstGeom>
          <a:noFill/>
          <a:ln/>
        </p:spPr>
        <p:txBody>
          <a:bodyPr wrap="square" lIns="0" tIns="0" rIns="0" bIns="0" rtlCol="0" anchor="t"/>
          <a:lstStyle/>
          <a:p>
            <a:pPr indent="0" marL="0">
              <a:buNone/>
            </a:pPr>
            <a:r>
              <a:rPr lang="en-US" sz="1400" dirty="0">
                <a:solidFill>
                  <a:schemeClr val="accent4"/>
                </a:solidFill>
              </a:rPr>
              <a:t>26,342 rows</a:t>
            </a:r>
            <a:endParaRPr lang="en-US" sz="1400" dirty="0"/>
          </a:p>
        </p:txBody>
      </p:sp>
      <p:sp>
        <p:nvSpPr>
          <p:cNvPr id="7" name="decision No retraining needed"/>
          <p:cNvSpPr/>
          <p:nvPr/>
        </p:nvSpPr>
        <p:spPr>
          <a:xfrm>
            <a:off x="868680" y="2514600"/>
            <a:ext cx="4754880" cy="868680"/>
          </a:xfrm>
          <a:prstGeom prst="roundRect">
            <a:avLst>
              <a:gd name="adj" fmla="val 10526"/>
            </a:avLst>
          </a:prstGeom>
          <a:solidFill>
            <a:schemeClr val="accent5"/>
          </a:solidFill>
          <a:ln/>
        </p:spPr>
      </p:sp>
      <p:pic>
        <p:nvPicPr>
          <p:cNvPr id="8" name="decision icon" descr="decision icon">    </p:cNvPr>
          <p:cNvPicPr>
            <a:picLocks noChangeAspect="1"/>
          </p:cNvPicPr>
          <p:nvPr/>
        </p:nvPicPr>
        <p:blipFill>
          <a:blip r:embed="rId1"/>
          <a:stretch>
            <a:fillRect/>
          </a:stretch>
        </p:blipFill>
        <p:spPr>
          <a:xfrm>
            <a:off x="1097280" y="2697480"/>
            <a:ext cx="502920" cy="502920"/>
          </a:xfrm>
          <a:prstGeom prst="rect">
            <a:avLst/>
          </a:prstGeom>
        </p:spPr>
      </p:pic>
      <p:sp>
        <p:nvSpPr>
          <p:cNvPr id="9" name="Text 5"/>
          <p:cNvSpPr txBox="1"/>
          <p:nvPr/>
        </p:nvSpPr>
        <p:spPr>
          <a:xfrm>
            <a:off x="1783080" y="2514600"/>
            <a:ext cx="3749040" cy="8686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No retraining needed</a:t>
            </a:r>
            <a:endParaRPr lang="en-US" sz="2200" dirty="0"/>
          </a:p>
        </p:txBody>
      </p:sp>
      <p:sp>
        <p:nvSpPr>
          <p:cNvPr id="10" name="Text 6"/>
          <p:cNvSpPr txBox="1"/>
          <p:nvPr/>
        </p:nvSpPr>
        <p:spPr>
          <a:xfrm>
            <a:off x="868680" y="3611880"/>
            <a:ext cx="4754880" cy="15544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Macro-F1 stable at 0.431</a:t>
            </a:r>
            <a:endParaRPr lang="en-US" sz="1500" dirty="0"/>
          </a:p>
          <a:p>
            <a:pPr marL="228600" indent="-228600">
              <a:spcAft>
                <a:spcPts val="800"/>
              </a:spcAft>
              <a:buSzPct val="100000"/>
              <a:buChar char="•"/>
            </a:pPr>
            <a:r>
              <a:rPr lang="en-US" sz="1500" dirty="0">
                <a:solidFill>
                  <a:schemeClr val="tx1"/>
                </a:solidFill>
              </a:rPr>
              <a:t>Predicted class mix unchanged (Fatal 4.7%, Serious 37.5%)</a:t>
            </a:r>
            <a:endParaRPr lang="en-US" sz="1500" dirty="0"/>
          </a:p>
          <a:p>
            <a:pPr marL="228600" indent="-228600">
              <a:spcAft>
                <a:spcPts val="800"/>
              </a:spcAft>
              <a:buSzPct val="100000"/>
              <a:buChar char="•"/>
            </a:pPr>
            <a:r>
              <a:rPr lang="en-US" sz="1500" dirty="0">
                <a:solidFill>
                  <a:schemeClr val="tx1"/>
                </a:solidFill>
              </a:rPr>
              <a:t>Warnings only: temperature drift (winter), small missing-rate rise</a:t>
            </a:r>
            <a:endParaRPr lang="en-US" sz="1500" dirty="0"/>
          </a:p>
        </p:txBody>
      </p:sp>
      <p:sp>
        <p:nvSpPr>
          <p:cNvPr id="11" name="monitor panel"/>
          <p:cNvSpPr/>
          <p:nvPr/>
        </p:nvSpPr>
        <p:spPr>
          <a:xfrm>
            <a:off x="6217920" y="1463040"/>
            <a:ext cx="5394960" cy="3794760"/>
          </a:xfrm>
          <a:prstGeom prst="roundRect">
            <a:avLst>
              <a:gd name="adj" fmla="val 2410"/>
            </a:avLst>
          </a:prstGeom>
          <a:solidFill>
            <a:schemeClr val="bg2"/>
          </a:solidFill>
          <a:ln/>
          <a:effectLst>
            <a:outerShdw sx="100000" sy="100000" kx="0" ky="0" algn="bl" rotWithShape="0" blurRad="76200" dist="25400" dir="5400000">
              <a:srgbClr val="000000">
                <a:alpha val="12000"/>
              </a:srgbClr>
            </a:outerShdw>
          </a:effectLst>
        </p:spPr>
      </p:sp>
      <p:sp>
        <p:nvSpPr>
          <p:cNvPr id="12" name="Text 8"/>
          <p:cNvSpPr txBox="1"/>
          <p:nvPr/>
        </p:nvSpPr>
        <p:spPr>
          <a:xfrm>
            <a:off x="6537960" y="1645920"/>
            <a:ext cx="4754880" cy="365760"/>
          </a:xfrm>
          <a:prstGeom prst="rect">
            <a:avLst/>
          </a:prstGeom>
          <a:noFill/>
          <a:ln/>
        </p:spPr>
        <p:txBody>
          <a:bodyPr wrap="square" lIns="0" tIns="0" rIns="0" bIns="0" rtlCol="0" anchor="t"/>
          <a:lstStyle/>
          <a:p>
            <a:pPr indent="0" marL="0">
              <a:buNone/>
            </a:pPr>
            <a:r>
              <a:rPr lang="en-US" sz="1700" b="1" dirty="0">
                <a:solidFill>
                  <a:schemeClr val="tx2"/>
                </a:solidFill>
                <a:latin typeface="Arial" pitchFamily="34" charset="0"/>
                <a:ea typeface="Arial" pitchFamily="34" charset="-122"/>
                <a:cs typeface="Arial" pitchFamily="34" charset="-120"/>
              </a:rPr>
              <a:t>Simulated drift · rural, night, wet</a:t>
            </a:r>
            <a:endParaRPr lang="en-US" sz="1700" dirty="0"/>
          </a:p>
        </p:txBody>
      </p:sp>
      <p:sp>
        <p:nvSpPr>
          <p:cNvPr id="13" name="Text 9"/>
          <p:cNvSpPr txBox="1"/>
          <p:nvPr/>
        </p:nvSpPr>
        <p:spPr>
          <a:xfrm>
            <a:off x="6537960" y="2011680"/>
            <a:ext cx="4754880" cy="320040"/>
          </a:xfrm>
          <a:prstGeom prst="rect">
            <a:avLst/>
          </a:prstGeom>
          <a:noFill/>
          <a:ln/>
        </p:spPr>
        <p:txBody>
          <a:bodyPr wrap="square" lIns="0" tIns="0" rIns="0" bIns="0" rtlCol="0" anchor="t"/>
          <a:lstStyle/>
          <a:p>
            <a:pPr indent="0" marL="0">
              <a:buNone/>
            </a:pPr>
            <a:r>
              <a:rPr lang="en-US" sz="1400" dirty="0">
                <a:solidFill>
                  <a:schemeClr val="accent4"/>
                </a:solidFill>
              </a:rPr>
              <a:t>9,361 rows</a:t>
            </a:r>
            <a:endParaRPr lang="en-US" sz="1400" dirty="0"/>
          </a:p>
        </p:txBody>
      </p:sp>
      <p:sp>
        <p:nvSpPr>
          <p:cNvPr id="14" name="decision RETRAIN"/>
          <p:cNvSpPr/>
          <p:nvPr/>
        </p:nvSpPr>
        <p:spPr>
          <a:xfrm>
            <a:off x="6537960" y="2514600"/>
            <a:ext cx="4754880" cy="868680"/>
          </a:xfrm>
          <a:prstGeom prst="roundRect">
            <a:avLst>
              <a:gd name="adj" fmla="val 10526"/>
            </a:avLst>
          </a:prstGeom>
          <a:solidFill>
            <a:schemeClr val="accent2"/>
          </a:solidFill>
          <a:ln/>
        </p:spPr>
      </p:sp>
      <p:pic>
        <p:nvPicPr>
          <p:cNvPr id="15" name="decision icon" descr="decision icon">    </p:cNvPr>
          <p:cNvPicPr>
            <a:picLocks noChangeAspect="1"/>
          </p:cNvPicPr>
          <p:nvPr/>
        </p:nvPicPr>
        <p:blipFill>
          <a:blip r:embed="rId2"/>
          <a:stretch>
            <a:fillRect/>
          </a:stretch>
        </p:blipFill>
        <p:spPr>
          <a:xfrm>
            <a:off x="6766560" y="2697480"/>
            <a:ext cx="502920" cy="502920"/>
          </a:xfrm>
          <a:prstGeom prst="rect">
            <a:avLst/>
          </a:prstGeom>
        </p:spPr>
      </p:pic>
      <p:sp>
        <p:nvSpPr>
          <p:cNvPr id="16" name="Text 11"/>
          <p:cNvSpPr txBox="1"/>
          <p:nvPr/>
        </p:nvSpPr>
        <p:spPr>
          <a:xfrm>
            <a:off x="7452360" y="2514600"/>
            <a:ext cx="3749040" cy="8686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RETRAIN</a:t>
            </a:r>
            <a:endParaRPr lang="en-US" sz="2200" dirty="0"/>
          </a:p>
        </p:txBody>
      </p:sp>
      <p:sp>
        <p:nvSpPr>
          <p:cNvPr id="17" name="Text 12"/>
          <p:cNvSpPr txBox="1"/>
          <p:nvPr/>
        </p:nvSpPr>
        <p:spPr>
          <a:xfrm>
            <a:off x="6537960" y="3611880"/>
            <a:ext cx="4754880" cy="15544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7 key features drifted (PSI &gt; 0.2)</a:t>
            </a:r>
            <a:endParaRPr lang="en-US" sz="1500" dirty="0"/>
          </a:p>
          <a:p>
            <a:pPr marL="228600" indent="-228600">
              <a:spcAft>
                <a:spcPts val="800"/>
              </a:spcAft>
              <a:buSzPct val="100000"/>
              <a:buChar char="•"/>
            </a:pPr>
            <a:r>
              <a:rPr lang="en-US" sz="1500" dirty="0">
                <a:solidFill>
                  <a:schemeClr val="tx1"/>
                </a:solidFill>
              </a:rPr>
              <a:t>Police-force location PSI 0.817</a:t>
            </a:r>
            <a:endParaRPr lang="en-US" sz="1500" dirty="0"/>
          </a:p>
          <a:p>
            <a:pPr marL="228600" indent="-228600">
              <a:spcAft>
                <a:spcPts val="800"/>
              </a:spcAft>
              <a:buSzPct val="100000"/>
              <a:buChar char="•"/>
            </a:pPr>
            <a:r>
              <a:rPr lang="en-US" sz="1500" dirty="0">
                <a:solidFill>
                  <a:schemeClr val="tx1"/>
                </a:solidFill>
              </a:rPr>
              <a:t>Centroid moved 43.7 km</a:t>
            </a:r>
            <a:endParaRPr lang="en-US" sz="1500" dirty="0"/>
          </a:p>
          <a:p>
            <a:pPr marL="228600" indent="-228600">
              <a:spcAft>
                <a:spcPts val="800"/>
              </a:spcAft>
              <a:buSzPct val="100000"/>
              <a:buChar char="•"/>
            </a:pPr>
            <a:r>
              <a:rPr lang="en-US" sz="1500" dirty="0">
                <a:solidFill>
                  <a:schemeClr val="tx1"/>
                </a:solidFill>
              </a:rPr>
              <a:t>Predicted fatal share 4.7% → 13.2%</a:t>
            </a:r>
            <a:endParaRPr lang="en-US" sz="1500" dirty="0"/>
          </a:p>
        </p:txBody>
      </p:sp>
      <p:sp>
        <p:nvSpPr>
          <p:cNvPr id="18" name="Text 13"/>
          <p:cNvSpPr txBox="1"/>
          <p:nvPr/>
        </p:nvSpPr>
        <p:spPr>
          <a:xfrm>
            <a:off x="548640" y="5532120"/>
            <a:ext cx="11064240" cy="411480"/>
          </a:xfrm>
          <a:prstGeom prst="rect">
            <a:avLst/>
          </a:prstGeom>
          <a:noFill/>
          <a:ln/>
        </p:spPr>
        <p:txBody>
          <a:bodyPr wrap="square" lIns="0" tIns="0" rIns="0" bIns="0" rtlCol="0" anchor="t"/>
          <a:lstStyle/>
          <a:p>
            <a:pPr indent="0" marL="0">
              <a:buNone/>
            </a:pPr>
            <a:r>
              <a:rPr lang="en-US" sz="1600" b="1" dirty="0">
                <a:solidFill>
                  <a:schemeClr val="tx2"/>
                </a:solidFill>
              </a:rPr>
              <a:t>Takeaway: </a:t>
            </a:r>
            <a:pPr indent="0" marL="0">
              <a:buNone/>
            </a:pPr>
            <a:r>
              <a:rPr lang="en-US" sz="1600" dirty="0">
                <a:solidFill>
                  <a:schemeClr val="tx2"/>
                </a:solidFill>
              </a:rPr>
              <a:t>the monitor stays quiet when nothing has changed and raises the alarm when the data really shifts.</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Retraining policy and model lifecycle</a:t>
            </a:r>
            <a:endParaRPr lang="en-US" sz="3200" dirty="0"/>
          </a:p>
        </p:txBody>
      </p:sp>
      <p:sp>
        <p:nvSpPr>
          <p:cNvPr id="4" name="triggers card"/>
          <p:cNvSpPr/>
          <p:nvPr/>
        </p:nvSpPr>
        <p:spPr>
          <a:xfrm>
            <a:off x="548640" y="1463040"/>
            <a:ext cx="6400800" cy="4572000"/>
          </a:xfrm>
          <a:prstGeom prst="roundRect">
            <a:avLst>
              <a:gd name="adj" fmla="val 2000"/>
            </a:avLst>
          </a:prstGeom>
          <a:solidFill>
            <a:schemeClr val="bg2"/>
          </a:solidFill>
          <a:ln/>
        </p:spPr>
      </p:sp>
      <p:sp>
        <p:nvSpPr>
          <p:cNvPr id="5" name="icon-circle FaSyncAlt"/>
          <p:cNvSpPr/>
          <p:nvPr/>
        </p:nvSpPr>
        <p:spPr>
          <a:xfrm>
            <a:off x="822960" y="1691640"/>
            <a:ext cx="548640" cy="548640"/>
          </a:xfrm>
          <a:prstGeom prst="ellipse">
            <a:avLst/>
          </a:prstGeom>
          <a:solidFill>
            <a:schemeClr val="accent2"/>
          </a:solidFill>
          <a:ln/>
        </p:spPr>
      </p:sp>
      <p:pic>
        <p:nvPicPr>
          <p:cNvPr id="6" name="icon FaSyncAlt" descr="SyncAlt icon">    </p:cNvPr>
          <p:cNvPicPr>
            <a:picLocks noChangeAspect="1"/>
          </p:cNvPicPr>
          <p:nvPr/>
        </p:nvPicPr>
        <p:blipFill>
          <a:blip r:embed="rId1"/>
          <a:stretch>
            <a:fillRect/>
          </a:stretch>
        </p:blipFill>
        <p:spPr>
          <a:xfrm>
            <a:off x="954634" y="1823314"/>
            <a:ext cx="285293" cy="285293"/>
          </a:xfrm>
          <a:prstGeom prst="rect">
            <a:avLst/>
          </a:prstGeom>
        </p:spPr>
      </p:pic>
      <p:sp>
        <p:nvSpPr>
          <p:cNvPr id="7" name="Text 3"/>
          <p:cNvSpPr txBox="1"/>
          <p:nvPr/>
        </p:nvSpPr>
        <p:spPr>
          <a:xfrm>
            <a:off x="1554480" y="1691640"/>
            <a:ext cx="5120640" cy="54864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Retrain if ANY of these holds</a:t>
            </a:r>
            <a:endParaRPr lang="en-US" sz="1800" dirty="0"/>
          </a:p>
        </p:txBody>
      </p:sp>
      <p:sp>
        <p:nvSpPr>
          <p:cNvPr id="8" name="trigger number"/>
          <p:cNvSpPr/>
          <p:nvPr/>
        </p:nvSpPr>
        <p:spPr>
          <a:xfrm>
            <a:off x="868680" y="2468880"/>
            <a:ext cx="384048" cy="384048"/>
          </a:xfrm>
          <a:prstGeom prst="ellipse">
            <a:avLst/>
          </a:prstGeom>
          <a:solidFill>
            <a:schemeClr val="tx2"/>
          </a:solidFill>
          <a:ln/>
        </p:spPr>
      </p:sp>
      <p:sp>
        <p:nvSpPr>
          <p:cNvPr id="9" name="Text 5"/>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1</a:t>
            </a:r>
            <a:endParaRPr lang="en-US" sz="1300" dirty="0"/>
          </a:p>
        </p:txBody>
      </p:sp>
      <p:sp>
        <p:nvSpPr>
          <p:cNvPr id="10" name="Text 6"/>
          <p:cNvSpPr txBox="1"/>
          <p:nvPr/>
        </p:nvSpPr>
        <p:spPr>
          <a:xfrm>
            <a:off x="1417320" y="2468880"/>
            <a:ext cx="5303520" cy="384048"/>
          </a:xfrm>
          <a:prstGeom prst="rect">
            <a:avLst/>
          </a:prstGeom>
          <a:noFill/>
          <a:ln/>
        </p:spPr>
        <p:txBody>
          <a:bodyPr wrap="square" lIns="0" tIns="0" rIns="0" bIns="0" rtlCol="0" anchor="ctr"/>
          <a:lstStyle/>
          <a:p>
            <a:pPr indent="0" marL="0">
              <a:buNone/>
            </a:pPr>
            <a:r>
              <a:rPr lang="en-US" sz="1500" dirty="0">
                <a:solidFill>
                  <a:schemeClr val="tx1"/>
                </a:solidFill>
              </a:rPr>
              <a:t>More than 3 key features with PSI &gt; 0.2</a:t>
            </a:r>
            <a:endParaRPr lang="en-US" sz="1500" dirty="0"/>
          </a:p>
        </p:txBody>
      </p:sp>
      <p:sp>
        <p:nvSpPr>
          <p:cNvPr id="11" name="trigger number"/>
          <p:cNvSpPr/>
          <p:nvPr/>
        </p:nvSpPr>
        <p:spPr>
          <a:xfrm>
            <a:off x="868680" y="3035808"/>
            <a:ext cx="384048" cy="384048"/>
          </a:xfrm>
          <a:prstGeom prst="ellipse">
            <a:avLst/>
          </a:prstGeom>
          <a:solidFill>
            <a:schemeClr val="tx2"/>
          </a:solidFill>
          <a:ln/>
        </p:spPr>
      </p:sp>
      <p:sp>
        <p:nvSpPr>
          <p:cNvPr id="12" name="Text 8"/>
          <p:cNvSpPr txBox="1"/>
          <p:nvPr/>
        </p:nvSpPr>
        <p:spPr>
          <a:xfrm>
            <a:off x="868680" y="3035808"/>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2</a:t>
            </a:r>
            <a:endParaRPr lang="en-US" sz="1300" dirty="0"/>
          </a:p>
        </p:txBody>
      </p:sp>
      <p:sp>
        <p:nvSpPr>
          <p:cNvPr id="13" name="Text 9"/>
          <p:cNvSpPr txBox="1"/>
          <p:nvPr/>
        </p:nvSpPr>
        <p:spPr>
          <a:xfrm>
            <a:off x="1417320" y="3035808"/>
            <a:ext cx="5303520" cy="384048"/>
          </a:xfrm>
          <a:prstGeom prst="rect">
            <a:avLst/>
          </a:prstGeom>
          <a:noFill/>
          <a:ln/>
        </p:spPr>
        <p:txBody>
          <a:bodyPr wrap="square" lIns="0" tIns="0" rIns="0" bIns="0" rtlCol="0" anchor="ctr"/>
          <a:lstStyle/>
          <a:p>
            <a:pPr indent="0" marL="0">
              <a:buNone/>
            </a:pPr>
            <a:r>
              <a:rPr lang="en-US" sz="1500" dirty="0">
                <a:solidFill>
                  <a:schemeClr val="tx1"/>
                </a:solidFill>
              </a:rPr>
              <a:t>Class distribution PSI &gt; 0.1</a:t>
            </a:r>
            <a:endParaRPr lang="en-US" sz="1500" dirty="0"/>
          </a:p>
        </p:txBody>
      </p:sp>
      <p:sp>
        <p:nvSpPr>
          <p:cNvPr id="14" name="trigger number"/>
          <p:cNvSpPr/>
          <p:nvPr/>
        </p:nvSpPr>
        <p:spPr>
          <a:xfrm>
            <a:off x="868680" y="3602736"/>
            <a:ext cx="384048" cy="384048"/>
          </a:xfrm>
          <a:prstGeom prst="ellipse">
            <a:avLst/>
          </a:prstGeom>
          <a:solidFill>
            <a:schemeClr val="tx2"/>
          </a:solidFill>
          <a:ln/>
        </p:spPr>
      </p:sp>
      <p:sp>
        <p:nvSpPr>
          <p:cNvPr id="15" name="Text 11"/>
          <p:cNvSpPr txBox="1"/>
          <p:nvPr/>
        </p:nvSpPr>
        <p:spPr>
          <a:xfrm>
            <a:off x="868680" y="3602736"/>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3</a:t>
            </a:r>
            <a:endParaRPr lang="en-US" sz="1300" dirty="0"/>
          </a:p>
        </p:txBody>
      </p:sp>
      <p:sp>
        <p:nvSpPr>
          <p:cNvPr id="16" name="Text 12"/>
          <p:cNvSpPr txBox="1"/>
          <p:nvPr/>
        </p:nvSpPr>
        <p:spPr>
          <a:xfrm>
            <a:off x="1417320" y="3602736"/>
            <a:ext cx="5303520" cy="384048"/>
          </a:xfrm>
          <a:prstGeom prst="rect">
            <a:avLst/>
          </a:prstGeom>
          <a:noFill/>
          <a:ln/>
        </p:spPr>
        <p:txBody>
          <a:bodyPr wrap="square" lIns="0" tIns="0" rIns="0" bIns="0" rtlCol="0" anchor="ctr"/>
          <a:lstStyle/>
          <a:p>
            <a:pPr indent="0" marL="0">
              <a:buNone/>
            </a:pPr>
            <a:r>
              <a:rPr lang="en-US" sz="1500" dirty="0">
                <a:solidFill>
                  <a:schemeClr val="tx1"/>
                </a:solidFill>
              </a:rPr>
              <a:t>Location (police-force) PSI &gt; 0.2</a:t>
            </a:r>
            <a:endParaRPr lang="en-US" sz="1500" dirty="0"/>
          </a:p>
        </p:txBody>
      </p:sp>
      <p:sp>
        <p:nvSpPr>
          <p:cNvPr id="17" name="trigger number"/>
          <p:cNvSpPr/>
          <p:nvPr/>
        </p:nvSpPr>
        <p:spPr>
          <a:xfrm>
            <a:off x="868680" y="4169664"/>
            <a:ext cx="384048" cy="384048"/>
          </a:xfrm>
          <a:prstGeom prst="ellipse">
            <a:avLst/>
          </a:prstGeom>
          <a:solidFill>
            <a:schemeClr val="tx2"/>
          </a:solidFill>
          <a:ln/>
        </p:spPr>
      </p:sp>
      <p:sp>
        <p:nvSpPr>
          <p:cNvPr id="18" name="Text 14"/>
          <p:cNvSpPr txBox="1"/>
          <p:nvPr/>
        </p:nvSpPr>
        <p:spPr>
          <a:xfrm>
            <a:off x="868680" y="4169664"/>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4</a:t>
            </a:r>
            <a:endParaRPr lang="en-US" sz="1300" dirty="0"/>
          </a:p>
        </p:txBody>
      </p:sp>
      <p:sp>
        <p:nvSpPr>
          <p:cNvPr id="19" name="Text 15"/>
          <p:cNvSpPr txBox="1"/>
          <p:nvPr/>
        </p:nvSpPr>
        <p:spPr>
          <a:xfrm>
            <a:off x="1417320" y="4169664"/>
            <a:ext cx="5303520" cy="384048"/>
          </a:xfrm>
          <a:prstGeom prst="rect">
            <a:avLst/>
          </a:prstGeom>
          <a:noFill/>
          <a:ln/>
        </p:spPr>
        <p:txBody>
          <a:bodyPr wrap="square" lIns="0" tIns="0" rIns="0" bIns="0" rtlCol="0" anchor="ctr"/>
          <a:lstStyle/>
          <a:p>
            <a:pPr indent="0" marL="0">
              <a:buNone/>
            </a:pPr>
            <a:r>
              <a:rPr lang="en-US" sz="1500" dirty="0">
                <a:solidFill>
                  <a:schemeClr val="tx1"/>
                </a:solidFill>
              </a:rPr>
              <a:t>Macro-F1 drops by more than 0.05</a:t>
            </a:r>
            <a:endParaRPr lang="en-US" sz="1500" dirty="0"/>
          </a:p>
        </p:txBody>
      </p:sp>
      <p:sp>
        <p:nvSpPr>
          <p:cNvPr id="20" name="trigger number"/>
          <p:cNvSpPr/>
          <p:nvPr/>
        </p:nvSpPr>
        <p:spPr>
          <a:xfrm>
            <a:off x="868680" y="4736592"/>
            <a:ext cx="384048" cy="384048"/>
          </a:xfrm>
          <a:prstGeom prst="ellipse">
            <a:avLst/>
          </a:prstGeom>
          <a:solidFill>
            <a:schemeClr val="tx2"/>
          </a:solidFill>
          <a:ln/>
        </p:spPr>
      </p:sp>
      <p:sp>
        <p:nvSpPr>
          <p:cNvPr id="21" name="Text 17"/>
          <p:cNvSpPr txBox="1"/>
          <p:nvPr/>
        </p:nvSpPr>
        <p:spPr>
          <a:xfrm>
            <a:off x="868680" y="4736592"/>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5</a:t>
            </a:r>
            <a:endParaRPr lang="en-US" sz="1300" dirty="0"/>
          </a:p>
        </p:txBody>
      </p:sp>
      <p:sp>
        <p:nvSpPr>
          <p:cNvPr id="22" name="Text 18"/>
          <p:cNvSpPr txBox="1"/>
          <p:nvPr/>
        </p:nvSpPr>
        <p:spPr>
          <a:xfrm>
            <a:off x="1417320" y="4736592"/>
            <a:ext cx="5303520" cy="384048"/>
          </a:xfrm>
          <a:prstGeom prst="rect">
            <a:avLst/>
          </a:prstGeom>
          <a:noFill/>
          <a:ln/>
        </p:spPr>
        <p:txBody>
          <a:bodyPr wrap="square" lIns="0" tIns="0" rIns="0" bIns="0" rtlCol="0" anchor="ctr"/>
          <a:lstStyle/>
          <a:p>
            <a:pPr indent="0" marL="0">
              <a:buNone/>
            </a:pPr>
            <a:r>
              <a:rPr lang="en-US" sz="1500" dirty="0">
                <a:solidFill>
                  <a:schemeClr val="tx1"/>
                </a:solidFill>
              </a:rPr>
              <a:t>KSI false-negative rate rises by more than 0.05</a:t>
            </a:r>
            <a:endParaRPr lang="en-US" sz="1500" dirty="0"/>
          </a:p>
        </p:txBody>
      </p:sp>
      <p:sp>
        <p:nvSpPr>
          <p:cNvPr id="23" name="trigger number"/>
          <p:cNvSpPr/>
          <p:nvPr/>
        </p:nvSpPr>
        <p:spPr>
          <a:xfrm>
            <a:off x="868680" y="5303520"/>
            <a:ext cx="384048" cy="384048"/>
          </a:xfrm>
          <a:prstGeom prst="ellipse">
            <a:avLst/>
          </a:prstGeom>
          <a:solidFill>
            <a:schemeClr val="tx2"/>
          </a:solidFill>
          <a:ln/>
        </p:spPr>
      </p:sp>
      <p:sp>
        <p:nvSpPr>
          <p:cNvPr id="24" name="Text 20"/>
          <p:cNvSpPr txBox="1"/>
          <p:nvPr/>
        </p:nvSpPr>
        <p:spPr>
          <a:xfrm>
            <a:off x="868680" y="5303520"/>
            <a:ext cx="384048" cy="384048"/>
          </a:xfrm>
          <a:prstGeom prst="rect">
            <a:avLst/>
          </a:prstGeom>
          <a:noFill/>
          <a:ln/>
        </p:spPr>
        <p:txBody>
          <a:bodyPr wrap="square" lIns="0" tIns="0" rIns="0" bIns="0" rtlCol="0" anchor="ctr"/>
          <a:lstStyle/>
          <a:p>
            <a:pPr algn="ctr" indent="0" marL="0">
              <a:buNone/>
            </a:pPr>
            <a:r>
              <a:rPr lang="en-US" sz="1300" b="1" dirty="0">
                <a:solidFill>
                  <a:schemeClr val="accent1"/>
                </a:solidFill>
              </a:rPr>
              <a:t>6</a:t>
            </a:r>
            <a:endParaRPr lang="en-US" sz="1300" dirty="0"/>
          </a:p>
        </p:txBody>
      </p:sp>
      <p:sp>
        <p:nvSpPr>
          <p:cNvPr id="25" name="Text 21"/>
          <p:cNvSpPr txBox="1"/>
          <p:nvPr/>
        </p:nvSpPr>
        <p:spPr>
          <a:xfrm>
            <a:off x="1417320" y="5303520"/>
            <a:ext cx="5303520" cy="384048"/>
          </a:xfrm>
          <a:prstGeom prst="rect">
            <a:avLst/>
          </a:prstGeom>
          <a:noFill/>
          <a:ln/>
        </p:spPr>
        <p:txBody>
          <a:bodyPr wrap="square" lIns="0" tIns="0" rIns="0" bIns="0" rtlCol="0" anchor="ctr"/>
          <a:lstStyle/>
          <a:p>
            <a:pPr indent="0" marL="0">
              <a:buNone/>
            </a:pPr>
            <a:r>
              <a:rPr lang="en-US" sz="1500" dirty="0">
                <a:solidFill>
                  <a:schemeClr val="tx1"/>
                </a:solidFill>
              </a:rPr>
              <a:t>Champion older than 180 days (scheduled refresh)</a:t>
            </a:r>
            <a:endParaRPr lang="en-US" sz="1500" dirty="0"/>
          </a:p>
        </p:txBody>
      </p:sp>
      <p:sp>
        <p:nvSpPr>
          <p:cNvPr id="26" name="warnings card"/>
          <p:cNvSpPr/>
          <p:nvPr/>
        </p:nvSpPr>
        <p:spPr>
          <a:xfrm>
            <a:off x="7223760" y="1463040"/>
            <a:ext cx="4389120" cy="3017520"/>
          </a:xfrm>
          <a:prstGeom prst="roundRect">
            <a:avLst>
              <a:gd name="adj" fmla="val 3030"/>
            </a:avLst>
          </a:prstGeom>
          <a:solidFill>
            <a:schemeClr val="accent6"/>
          </a:solidFill>
          <a:ln/>
        </p:spPr>
      </p:sp>
      <p:sp>
        <p:nvSpPr>
          <p:cNvPr id="27" name="icon-circle FaExclamationTriangle"/>
          <p:cNvSpPr/>
          <p:nvPr/>
        </p:nvSpPr>
        <p:spPr>
          <a:xfrm>
            <a:off x="7498080" y="1691640"/>
            <a:ext cx="548640" cy="548640"/>
          </a:xfrm>
          <a:prstGeom prst="ellipse">
            <a:avLst/>
          </a:prstGeom>
          <a:solidFill>
            <a:schemeClr val="accent1"/>
          </a:solidFill>
          <a:ln/>
        </p:spPr>
      </p:sp>
      <p:pic>
        <p:nvPicPr>
          <p:cNvPr id="28" name="icon FaExclamationTriangle" descr="ExclamationTriangle icon">    </p:cNvPr>
          <p:cNvPicPr>
            <a:picLocks noChangeAspect="1"/>
          </p:cNvPicPr>
          <p:nvPr/>
        </p:nvPicPr>
        <p:blipFill>
          <a:blip r:embed="rId2"/>
          <a:stretch>
            <a:fillRect/>
          </a:stretch>
        </p:blipFill>
        <p:spPr>
          <a:xfrm>
            <a:off x="7629754" y="1823314"/>
            <a:ext cx="285293" cy="285293"/>
          </a:xfrm>
          <a:prstGeom prst="rect">
            <a:avLst/>
          </a:prstGeom>
        </p:spPr>
      </p:pic>
      <p:sp>
        <p:nvSpPr>
          <p:cNvPr id="29" name="Text 24"/>
          <p:cNvSpPr txBox="1"/>
          <p:nvPr/>
        </p:nvSpPr>
        <p:spPr>
          <a:xfrm>
            <a:off x="8229600" y="1691640"/>
            <a:ext cx="3291840" cy="548640"/>
          </a:xfrm>
          <a:prstGeom prst="rect">
            <a:avLst/>
          </a:prstGeom>
          <a:noFill/>
          <a:ln/>
        </p:spPr>
        <p:txBody>
          <a:bodyPr wrap="square" lIns="0" tIns="0" rIns="0" bIns="0" rtlCol="0" anchor="ctr"/>
          <a:lstStyle/>
          <a:p>
            <a:pPr indent="0" marL="0">
              <a:buNone/>
            </a:pPr>
            <a:r>
              <a:rPr lang="en-US" sz="1600" b="1" dirty="0">
                <a:solidFill>
                  <a:schemeClr val="tx2"/>
                </a:solidFill>
                <a:latin typeface="Arial" pitchFamily="34" charset="0"/>
                <a:ea typeface="Arial" pitchFamily="34" charset="-122"/>
                <a:cs typeface="Arial" pitchFamily="34" charset="-120"/>
              </a:rPr>
              <a:t>Warnings only – fix upstream</a:t>
            </a:r>
            <a:endParaRPr lang="en-US" sz="1600" dirty="0"/>
          </a:p>
        </p:txBody>
      </p:sp>
      <p:sp>
        <p:nvSpPr>
          <p:cNvPr id="30" name="Text 25"/>
          <p:cNvSpPr txBox="1"/>
          <p:nvPr/>
        </p:nvSpPr>
        <p:spPr>
          <a:xfrm>
            <a:off x="7498080" y="2423160"/>
            <a:ext cx="3931920" cy="118872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Missing-rate rise &gt; 10 points</a:t>
            </a:r>
            <a:endParaRPr lang="en-US" sz="1500" dirty="0"/>
          </a:p>
          <a:p>
            <a:pPr marL="228600" indent="-228600">
              <a:spcAft>
                <a:spcPts val="800"/>
              </a:spcAft>
              <a:buSzPct val="100000"/>
              <a:buChar char="•"/>
            </a:pPr>
            <a:r>
              <a:rPr lang="en-US" sz="1500" dirty="0">
                <a:solidFill>
                  <a:schemeClr val="tx1"/>
                </a:solidFill>
              </a:rPr>
              <a:t>API error rate &gt; 2%</a:t>
            </a:r>
            <a:endParaRPr lang="en-US" sz="1500" dirty="0"/>
          </a:p>
          <a:p>
            <a:pPr marL="228600" indent="-228600">
              <a:spcAft>
                <a:spcPts val="800"/>
              </a:spcAft>
              <a:buSzPct val="100000"/>
              <a:buChar char="•"/>
            </a:pPr>
            <a:r>
              <a:rPr lang="en-US" sz="1500" dirty="0">
                <a:solidFill>
                  <a:schemeClr val="tx1"/>
                </a:solidFill>
              </a:rPr>
              <a:t>p95 latency &gt; 300 ms</a:t>
            </a:r>
            <a:endParaRPr lang="en-US" sz="1500" dirty="0"/>
          </a:p>
        </p:txBody>
      </p:sp>
      <p:sp>
        <p:nvSpPr>
          <p:cNvPr id="31" name="Text 26"/>
          <p:cNvSpPr txBox="1"/>
          <p:nvPr/>
        </p:nvSpPr>
        <p:spPr>
          <a:xfrm>
            <a:off x="7498080" y="3611880"/>
            <a:ext cx="3931920" cy="731520"/>
          </a:xfrm>
          <a:prstGeom prst="rect">
            <a:avLst/>
          </a:prstGeom>
          <a:noFill/>
          <a:ln/>
        </p:spPr>
        <p:txBody>
          <a:bodyPr wrap="square" lIns="0" tIns="0" rIns="0" bIns="0" rtlCol="0" anchor="t"/>
          <a:lstStyle/>
          <a:p>
            <a:pPr indent="0" marL="0">
              <a:buNone/>
            </a:pPr>
            <a:r>
              <a:rPr lang="en-US" sz="1400" i="1" dirty="0">
                <a:solidFill>
                  <a:schemeClr val="tx2"/>
                </a:solidFill>
              </a:rPr>
              <a:t>Retraining on broken data would make the model worse</a:t>
            </a:r>
            <a:endParaRPr lang="en-US" sz="1400" dirty="0"/>
          </a:p>
        </p:txBody>
      </p:sp>
      <p:sp>
        <p:nvSpPr>
          <p:cNvPr id="32" name="dag card"/>
          <p:cNvSpPr/>
          <p:nvPr/>
        </p:nvSpPr>
        <p:spPr>
          <a:xfrm>
            <a:off x="7223760" y="4709160"/>
            <a:ext cx="4389120" cy="1325880"/>
          </a:xfrm>
          <a:prstGeom prst="roundRect">
            <a:avLst>
              <a:gd name="adj" fmla="val 6897"/>
            </a:avLst>
          </a:prstGeom>
          <a:solidFill>
            <a:schemeClr val="tx2"/>
          </a:solidFill>
          <a:ln/>
        </p:spPr>
      </p:sp>
      <p:sp>
        <p:nvSpPr>
          <p:cNvPr id="33" name="Text 28"/>
          <p:cNvSpPr txBox="1"/>
          <p:nvPr/>
        </p:nvSpPr>
        <p:spPr>
          <a:xfrm>
            <a:off x="7498080" y="4709160"/>
            <a:ext cx="3931920" cy="1325880"/>
          </a:xfrm>
          <a:prstGeom prst="rect">
            <a:avLst/>
          </a:prstGeom>
          <a:noFill/>
          <a:ln/>
        </p:spPr>
        <p:txBody>
          <a:bodyPr wrap="square" lIns="0" tIns="0" rIns="0" bIns="0" rtlCol="0" anchor="ctr"/>
          <a:lstStyle/>
          <a:p>
            <a:pPr indent="0" marL="0">
              <a:buNone/>
            </a:pPr>
            <a:r>
              <a:rPr lang="en-US" sz="1500" b="1" dirty="0">
                <a:solidFill>
                  <a:schemeClr val="accent1"/>
                </a:solidFill>
              </a:rPr>
              <a:t>Every Monday (Airflow): </a:t>
            </a:r>
            <a:pPr indent="0" marL="0">
              <a:buNone/>
            </a:pPr>
            <a:r>
              <a:rPr lang="en-US" sz="1500" dirty="0">
                <a:solidFill>
                  <a:schemeClr val="bg1"/>
                </a:solidFill>
              </a:rPr>
              <a:t>monitor → branch → retrain or skip → champion gate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Limitations and future work</a:t>
            </a:r>
            <a:endParaRPr lang="en-US" sz="3200" dirty="0"/>
          </a:p>
        </p:txBody>
      </p:sp>
      <p:sp>
        <p:nvSpPr>
          <p:cNvPr id="4" name="limitations card"/>
          <p:cNvSpPr/>
          <p:nvPr/>
        </p:nvSpPr>
        <p:spPr>
          <a:xfrm>
            <a:off x="548640" y="1463040"/>
            <a:ext cx="5394960" cy="4023360"/>
          </a:xfrm>
          <a:prstGeom prst="roundRect">
            <a:avLst>
              <a:gd name="adj" fmla="val 2273"/>
            </a:avLst>
          </a:prstGeom>
          <a:solidFill>
            <a:schemeClr val="bg2"/>
          </a:solidFill>
          <a:ln/>
        </p:spPr>
      </p:sp>
      <p:sp>
        <p:nvSpPr>
          <p:cNvPr id="5" name="icon-circle FaExclamationTriangle"/>
          <p:cNvSpPr/>
          <p:nvPr/>
        </p:nvSpPr>
        <p:spPr>
          <a:xfrm>
            <a:off x="868680" y="1737360"/>
            <a:ext cx="640080" cy="640080"/>
          </a:xfrm>
          <a:prstGeom prst="ellipse">
            <a:avLst/>
          </a:prstGeom>
          <a:solidFill>
            <a:schemeClr val="accent2"/>
          </a:solidFill>
          <a:ln/>
        </p:spPr>
      </p:sp>
      <p:pic>
        <p:nvPicPr>
          <p:cNvPr id="6" name="icon FaExclamationTriangle" descr="ExclamationTriangle icon">    </p:cNvPr>
          <p:cNvPicPr>
            <a:picLocks noChangeAspect="1"/>
          </p:cNvPicPr>
          <p:nvPr/>
        </p:nvPicPr>
        <p:blipFill>
          <a:blip r:embed="rId1"/>
          <a:stretch>
            <a:fillRect/>
          </a:stretch>
        </p:blipFill>
        <p:spPr>
          <a:xfrm>
            <a:off x="1022299" y="1890979"/>
            <a:ext cx="332842" cy="332842"/>
          </a:xfrm>
          <a:prstGeom prst="rect">
            <a:avLst/>
          </a:prstGeom>
        </p:spPr>
      </p:pic>
      <p:sp>
        <p:nvSpPr>
          <p:cNvPr id="7" name="Text 3"/>
          <p:cNvSpPr txBox="1"/>
          <p:nvPr/>
        </p:nvSpPr>
        <p:spPr>
          <a:xfrm>
            <a:off x="1737360" y="1737360"/>
            <a:ext cx="3657600" cy="6400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Limitations</a:t>
            </a:r>
            <a:endParaRPr lang="en-US" sz="2000" dirty="0"/>
          </a:p>
        </p:txBody>
      </p:sp>
      <p:sp>
        <p:nvSpPr>
          <p:cNvPr id="8" name="Text 4"/>
          <p:cNvSpPr txBox="1"/>
          <p:nvPr/>
        </p:nvSpPr>
        <p:spPr>
          <a:xfrm>
            <a:off x="868680" y="2651760"/>
            <a:ext cx="4846320" cy="265176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Weather at 1° grid – regional, not street-level</a:t>
            </a:r>
            <a:endParaRPr lang="en-US" sz="1600" dirty="0"/>
          </a:p>
          <a:p>
            <a:pPr marL="228600" indent="-228600">
              <a:spcAft>
                <a:spcPts val="800"/>
              </a:spcAft>
              <a:buSzPct val="100000"/>
              <a:buChar char="•"/>
            </a:pPr>
            <a:r>
              <a:rPr lang="en-US" sz="1600" dirty="0">
                <a:solidFill>
                  <a:schemeClr val="tx1"/>
                </a:solidFill>
              </a:rPr>
              <a:t>Unrecorded factors (speed at impact, seatbelts) cap performance</a:t>
            </a:r>
            <a:endParaRPr lang="en-US" sz="1600" dirty="0"/>
          </a:p>
          <a:p>
            <a:pPr marL="228600" indent="-228600">
              <a:spcAft>
                <a:spcPts val="800"/>
              </a:spcAft>
              <a:buSzPct val="100000"/>
              <a:buChar char="•"/>
            </a:pPr>
            <a:r>
              <a:rPr lang="en-US" sz="1600" dirty="0">
                <a:solidFill>
                  <a:schemeClr val="tx1"/>
                </a:solidFill>
              </a:rPr>
              <a:t>Probabilities not calibrated</a:t>
            </a:r>
            <a:endParaRPr lang="en-US" sz="1600" dirty="0"/>
          </a:p>
          <a:p>
            <a:pPr marL="228600" indent="-228600">
              <a:spcAft>
                <a:spcPts val="800"/>
              </a:spcAft>
              <a:buSzPct val="100000"/>
              <a:buChar char="•"/>
            </a:pPr>
            <a:r>
              <a:rPr lang="en-US" sz="1600" dirty="0">
                <a:solidFill>
                  <a:schemeClr val="tx1"/>
                </a:solidFill>
              </a:rPr>
              <a:t>Fatal precision ≈ 9% – many false alarms</a:t>
            </a:r>
            <a:endParaRPr lang="en-US" sz="1600" dirty="0"/>
          </a:p>
        </p:txBody>
      </p:sp>
      <p:sp>
        <p:nvSpPr>
          <p:cNvPr id="9" name="future card"/>
          <p:cNvSpPr/>
          <p:nvPr/>
        </p:nvSpPr>
        <p:spPr>
          <a:xfrm>
            <a:off x="6217920" y="1463040"/>
            <a:ext cx="5394960" cy="4023360"/>
          </a:xfrm>
          <a:prstGeom prst="roundRect">
            <a:avLst>
              <a:gd name="adj" fmla="val 2273"/>
            </a:avLst>
          </a:prstGeom>
          <a:solidFill>
            <a:schemeClr val="bg2"/>
          </a:solidFill>
          <a:ln/>
        </p:spPr>
      </p:sp>
      <p:sp>
        <p:nvSpPr>
          <p:cNvPr id="10" name="icon-circle FaRocket"/>
          <p:cNvSpPr/>
          <p:nvPr/>
        </p:nvSpPr>
        <p:spPr>
          <a:xfrm>
            <a:off x="6537960" y="1737360"/>
            <a:ext cx="640080" cy="640080"/>
          </a:xfrm>
          <a:prstGeom prst="ellipse">
            <a:avLst/>
          </a:prstGeom>
          <a:solidFill>
            <a:schemeClr val="accent5"/>
          </a:solidFill>
          <a:ln/>
        </p:spPr>
      </p:sp>
      <p:pic>
        <p:nvPicPr>
          <p:cNvPr id="11" name="icon FaRocket" descr="Rocket icon">    </p:cNvPr>
          <p:cNvPicPr>
            <a:picLocks noChangeAspect="1"/>
          </p:cNvPicPr>
          <p:nvPr/>
        </p:nvPicPr>
        <p:blipFill>
          <a:blip r:embed="rId2"/>
          <a:stretch>
            <a:fillRect/>
          </a:stretch>
        </p:blipFill>
        <p:spPr>
          <a:xfrm>
            <a:off x="6691579" y="1890979"/>
            <a:ext cx="332842" cy="332842"/>
          </a:xfrm>
          <a:prstGeom prst="rect">
            <a:avLst/>
          </a:prstGeom>
        </p:spPr>
      </p:pic>
      <p:sp>
        <p:nvSpPr>
          <p:cNvPr id="12" name="Text 7"/>
          <p:cNvSpPr txBox="1"/>
          <p:nvPr/>
        </p:nvSpPr>
        <p:spPr>
          <a:xfrm>
            <a:off x="7406640" y="1737360"/>
            <a:ext cx="3657600" cy="6400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Future work</a:t>
            </a:r>
            <a:endParaRPr lang="en-US" sz="2000" dirty="0"/>
          </a:p>
        </p:txBody>
      </p:sp>
      <p:sp>
        <p:nvSpPr>
          <p:cNvPr id="13" name="Text 8"/>
          <p:cNvSpPr txBox="1"/>
          <p:nvPr/>
        </p:nvSpPr>
        <p:spPr>
          <a:xfrm>
            <a:off x="6537960" y="2651760"/>
            <a:ext cx="4846320" cy="265176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Probability calibration and threshold tuning for a target KSI recall</a:t>
            </a:r>
            <a:endParaRPr lang="en-US" sz="1600" dirty="0"/>
          </a:p>
          <a:p>
            <a:pPr marL="228600" indent="-228600">
              <a:spcAft>
                <a:spcPts val="800"/>
              </a:spcAft>
              <a:buSzPct val="100000"/>
              <a:buChar char="•"/>
            </a:pPr>
            <a:r>
              <a:rPr lang="en-US" sz="1600" dirty="0">
                <a:solidFill>
                  <a:schemeClr val="tx1"/>
                </a:solidFill>
              </a:rPr>
              <a:t>OpenStreetMap road context as extra features</a:t>
            </a:r>
            <a:endParaRPr lang="en-US" sz="1600" dirty="0"/>
          </a:p>
          <a:p>
            <a:pPr marL="228600" indent="-228600">
              <a:spcAft>
                <a:spcPts val="800"/>
              </a:spcAft>
              <a:buSzPct val="100000"/>
              <a:buChar char="•"/>
            </a:pPr>
            <a:r>
              <a:rPr lang="en-US" sz="1600" dirty="0">
                <a:solidFill>
                  <a:schemeClr val="tx1"/>
                </a:solidFill>
              </a:rPr>
              <a:t>Tracked comparison with XGBoost / random forest</a:t>
            </a:r>
            <a:endParaRPr lang="en-US" sz="1600" dirty="0"/>
          </a:p>
          <a:p>
            <a:pPr marL="228600" indent="-228600">
              <a:spcAft>
                <a:spcPts val="800"/>
              </a:spcAft>
              <a:buSzPct val="100000"/>
              <a:buChar char="•"/>
            </a:pPr>
            <a:r>
              <a:rPr lang="en-US" sz="1600" dirty="0">
                <a:solidFill>
                  <a:schemeClr val="tx1"/>
                </a:solidFill>
              </a:rPr>
              <a:t>Canary deployment of new champions</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914400"/>
          </a:xfrm>
          <a:prstGeom prst="rect">
            <a:avLst/>
          </a:prstGeom>
          <a:noFill/>
          <a:ln/>
        </p:spPr>
        <p:txBody>
          <a:bodyPr wrap="square" lIns="0" tIns="0" rIns="0" bIns="0" rtlCol="0" anchor="ctr"/>
          <a:lstStyle/>
          <a:p>
            <a:pPr algn="l" indent="0" marL="0">
              <a:buNone/>
            </a:pPr>
            <a:r>
              <a:rPr lang="en-US" sz="3600" b="1" dirty="0">
                <a:solidFill>
                  <a:schemeClr val="bg1"/>
                </a:solidFill>
              </a:rPr>
              <a:t>Summary: a model with a full lifecycle</a:t>
            </a:r>
            <a:endParaRPr lang="en-US" sz="3600" dirty="0"/>
          </a:p>
        </p:txBody>
      </p:sp>
      <p:sp>
        <p:nvSpPr>
          <p:cNvPr id="4" name="icon-circle FaBrain"/>
          <p:cNvSpPr/>
          <p:nvPr/>
        </p:nvSpPr>
        <p:spPr>
          <a:xfrm>
            <a:off x="731520" y="1920240"/>
            <a:ext cx="731520" cy="731520"/>
          </a:xfrm>
          <a:prstGeom prst="ellipse">
            <a:avLst/>
          </a:prstGeom>
          <a:solidFill>
            <a:schemeClr val="accent1"/>
          </a:solidFill>
          <a:ln/>
        </p:spPr>
      </p:sp>
      <p:pic>
        <p:nvPicPr>
          <p:cNvPr id="5" name="icon FaBrain" descr="Brain icon">    </p:cNvPr>
          <p:cNvPicPr>
            <a:picLocks noChangeAspect="1"/>
          </p:cNvPicPr>
          <p:nvPr/>
        </p:nvPicPr>
        <p:blipFill>
          <a:blip r:embed="rId1"/>
          <a:stretch>
            <a:fillRect/>
          </a:stretch>
        </p:blipFill>
        <p:spPr>
          <a:xfrm>
            <a:off x="907085" y="2095805"/>
            <a:ext cx="380390" cy="380390"/>
          </a:xfrm>
          <a:prstGeom prst="rect">
            <a:avLst/>
          </a:prstGeom>
        </p:spPr>
      </p:pic>
      <p:sp>
        <p:nvSpPr>
          <p:cNvPr id="6" name="Text 2"/>
          <p:cNvSpPr txBox="1"/>
          <p:nvPr/>
        </p:nvSpPr>
        <p:spPr>
          <a:xfrm>
            <a:off x="731520" y="2834640"/>
            <a:ext cx="3291840" cy="365760"/>
          </a:xfrm>
          <a:prstGeom prst="rect">
            <a:avLst/>
          </a:prstGeom>
          <a:noFill/>
          <a:ln/>
        </p:spPr>
        <p:txBody>
          <a:bodyPr wrap="square" lIns="0" tIns="0" rIns="0" bIns="0" rtlCol="0" anchor="t"/>
          <a:lstStyle/>
          <a:p>
            <a:pPr indent="0" marL="0">
              <a:buNone/>
            </a:pPr>
            <a:r>
              <a:rPr lang="en-US" sz="1700" b="1" dirty="0">
                <a:solidFill>
                  <a:schemeClr val="accent1"/>
                </a:solidFill>
                <a:latin typeface="Arial" pitchFamily="34" charset="0"/>
                <a:ea typeface="Arial" pitchFamily="34" charset="-122"/>
                <a:cs typeface="Arial" pitchFamily="34" charset="-120"/>
              </a:rPr>
              <a:t>Built</a:t>
            </a:r>
            <a:endParaRPr lang="en-US" sz="1700" dirty="0"/>
          </a:p>
        </p:txBody>
      </p:sp>
      <p:sp>
        <p:nvSpPr>
          <p:cNvPr id="7" name="Text 3"/>
          <p:cNvSpPr txBox="1"/>
          <p:nvPr/>
        </p:nvSpPr>
        <p:spPr>
          <a:xfrm>
            <a:off x="731520" y="3246120"/>
            <a:ext cx="3291840" cy="2194560"/>
          </a:xfrm>
          <a:prstGeom prst="rect">
            <a:avLst/>
          </a:prstGeom>
          <a:noFill/>
          <a:ln/>
        </p:spPr>
        <p:txBody>
          <a:bodyPr wrap="square" lIns="0" tIns="0" rIns="0" bIns="0" rtlCol="0" anchor="t"/>
          <a:lstStyle/>
          <a:p>
            <a:pPr indent="0" marL="0">
              <a:buNone/>
            </a:pPr>
            <a:r>
              <a:rPr lang="en-US" sz="1400" dirty="0">
                <a:solidFill>
                  <a:schemeClr val="bg1"/>
                </a:solidFill>
              </a:rPr>
              <a:t>LightGBM pipeline with class weights and a chronological split – 64.6% KSI recall, 83% of fatal crashes flagged as severe</a:t>
            </a:r>
            <a:endParaRPr lang="en-US" sz="1400" dirty="0"/>
          </a:p>
        </p:txBody>
      </p:sp>
      <p:sp>
        <p:nvSpPr>
          <p:cNvPr id="8" name="icon-circle FaDocker"/>
          <p:cNvSpPr/>
          <p:nvPr/>
        </p:nvSpPr>
        <p:spPr>
          <a:xfrm>
            <a:off x="4389120" y="1920240"/>
            <a:ext cx="731520" cy="731520"/>
          </a:xfrm>
          <a:prstGeom prst="ellipse">
            <a:avLst/>
          </a:prstGeom>
          <a:solidFill>
            <a:schemeClr val="accent1"/>
          </a:solidFill>
          <a:ln/>
        </p:spPr>
      </p:sp>
      <p:pic>
        <p:nvPicPr>
          <p:cNvPr id="9" name="icon FaDocker" descr="Docker icon">    </p:cNvPr>
          <p:cNvPicPr>
            <a:picLocks noChangeAspect="1"/>
          </p:cNvPicPr>
          <p:nvPr/>
        </p:nvPicPr>
        <p:blipFill>
          <a:blip r:embed="rId2"/>
          <a:stretch>
            <a:fillRect/>
          </a:stretch>
        </p:blipFill>
        <p:spPr>
          <a:xfrm>
            <a:off x="4564685" y="2095805"/>
            <a:ext cx="380390" cy="380390"/>
          </a:xfrm>
          <a:prstGeom prst="rect">
            <a:avLst/>
          </a:prstGeom>
        </p:spPr>
      </p:pic>
      <p:sp>
        <p:nvSpPr>
          <p:cNvPr id="10" name="Text 5"/>
          <p:cNvSpPr txBox="1"/>
          <p:nvPr/>
        </p:nvSpPr>
        <p:spPr>
          <a:xfrm>
            <a:off x="4389120" y="2834640"/>
            <a:ext cx="3291840" cy="365760"/>
          </a:xfrm>
          <a:prstGeom prst="rect">
            <a:avLst/>
          </a:prstGeom>
          <a:noFill/>
          <a:ln/>
        </p:spPr>
        <p:txBody>
          <a:bodyPr wrap="square" lIns="0" tIns="0" rIns="0" bIns="0" rtlCol="0" anchor="t"/>
          <a:lstStyle/>
          <a:p>
            <a:pPr indent="0" marL="0">
              <a:buNone/>
            </a:pPr>
            <a:r>
              <a:rPr lang="en-US" sz="1700" b="1" dirty="0">
                <a:solidFill>
                  <a:schemeClr val="accent1"/>
                </a:solidFill>
                <a:latin typeface="Arial" pitchFamily="34" charset="0"/>
                <a:ea typeface="Arial" pitchFamily="34" charset="-122"/>
                <a:cs typeface="Arial" pitchFamily="34" charset="-120"/>
              </a:rPr>
              <a:t>Operationalised</a:t>
            </a:r>
            <a:endParaRPr lang="en-US" sz="1700" dirty="0"/>
          </a:p>
        </p:txBody>
      </p:sp>
      <p:sp>
        <p:nvSpPr>
          <p:cNvPr id="11" name="Text 6"/>
          <p:cNvSpPr txBox="1"/>
          <p:nvPr/>
        </p:nvSpPr>
        <p:spPr>
          <a:xfrm>
            <a:off x="4389120" y="3246120"/>
            <a:ext cx="3291840" cy="2194560"/>
          </a:xfrm>
          <a:prstGeom prst="rect">
            <a:avLst/>
          </a:prstGeom>
          <a:noFill/>
          <a:ln/>
        </p:spPr>
        <p:txBody>
          <a:bodyPr wrap="square" lIns="0" tIns="0" rIns="0" bIns="0" rtlCol="0" anchor="t"/>
          <a:lstStyle/>
          <a:p>
            <a:pPr indent="0" marL="0">
              <a:buNone/>
            </a:pPr>
            <a:r>
              <a:rPr lang="en-US" sz="1400" dirty="0">
                <a:solidFill>
                  <a:schemeClr val="bg1"/>
                </a:solidFill>
              </a:rPr>
              <a:t>MLflow tracking and registry with a champion gate; FastAPI in Docker with a Streamlit front end</a:t>
            </a:r>
            <a:endParaRPr lang="en-US" sz="1400" dirty="0"/>
          </a:p>
        </p:txBody>
      </p:sp>
      <p:sp>
        <p:nvSpPr>
          <p:cNvPr id="12" name="icon-circle FaHeartbeat"/>
          <p:cNvSpPr/>
          <p:nvPr/>
        </p:nvSpPr>
        <p:spPr>
          <a:xfrm>
            <a:off x="8046720" y="1920240"/>
            <a:ext cx="731520" cy="731520"/>
          </a:xfrm>
          <a:prstGeom prst="ellipse">
            <a:avLst/>
          </a:prstGeom>
          <a:solidFill>
            <a:schemeClr val="accent1"/>
          </a:solidFill>
          <a:ln/>
        </p:spPr>
      </p:sp>
      <p:pic>
        <p:nvPicPr>
          <p:cNvPr id="13" name="icon FaHeartbeat" descr="Heartbeat icon">    </p:cNvPr>
          <p:cNvPicPr>
            <a:picLocks noChangeAspect="1"/>
          </p:cNvPicPr>
          <p:nvPr/>
        </p:nvPicPr>
        <p:blipFill>
          <a:blip r:embed="rId3"/>
          <a:stretch>
            <a:fillRect/>
          </a:stretch>
        </p:blipFill>
        <p:spPr>
          <a:xfrm>
            <a:off x="8222285" y="2095805"/>
            <a:ext cx="380390" cy="380390"/>
          </a:xfrm>
          <a:prstGeom prst="rect">
            <a:avLst/>
          </a:prstGeom>
        </p:spPr>
      </p:pic>
      <p:sp>
        <p:nvSpPr>
          <p:cNvPr id="14" name="Text 8"/>
          <p:cNvSpPr txBox="1"/>
          <p:nvPr/>
        </p:nvSpPr>
        <p:spPr>
          <a:xfrm>
            <a:off x="8046720" y="2834640"/>
            <a:ext cx="3291840" cy="365760"/>
          </a:xfrm>
          <a:prstGeom prst="rect">
            <a:avLst/>
          </a:prstGeom>
          <a:noFill/>
          <a:ln/>
        </p:spPr>
        <p:txBody>
          <a:bodyPr wrap="square" lIns="0" tIns="0" rIns="0" bIns="0" rtlCol="0" anchor="t"/>
          <a:lstStyle/>
          <a:p>
            <a:pPr indent="0" marL="0">
              <a:buNone/>
            </a:pPr>
            <a:r>
              <a:rPr lang="en-US" sz="1700" b="1" dirty="0">
                <a:solidFill>
                  <a:schemeClr val="accent1"/>
                </a:solidFill>
                <a:latin typeface="Arial" pitchFamily="34" charset="0"/>
                <a:ea typeface="Arial" pitchFamily="34" charset="-122"/>
                <a:cs typeface="Arial" pitchFamily="34" charset="-120"/>
              </a:rPr>
              <a:t>Kept healthy</a:t>
            </a:r>
            <a:endParaRPr lang="en-US" sz="1700" dirty="0"/>
          </a:p>
        </p:txBody>
      </p:sp>
      <p:sp>
        <p:nvSpPr>
          <p:cNvPr id="15" name="Text 9"/>
          <p:cNvSpPr txBox="1"/>
          <p:nvPr/>
        </p:nvSpPr>
        <p:spPr>
          <a:xfrm>
            <a:off x="8046720" y="3246120"/>
            <a:ext cx="3291840" cy="2194560"/>
          </a:xfrm>
          <a:prstGeom prst="rect">
            <a:avLst/>
          </a:prstGeom>
          <a:noFill/>
          <a:ln/>
        </p:spPr>
        <p:txBody>
          <a:bodyPr wrap="square" lIns="0" tIns="0" rIns="0" bIns="0" rtlCol="0" anchor="t"/>
          <a:lstStyle/>
          <a:p>
            <a:pPr indent="0" marL="0">
              <a:buNone/>
            </a:pPr>
            <a:r>
              <a:rPr lang="en-US" sz="1400" dirty="0">
                <a:solidFill>
                  <a:schemeClr val="bg1"/>
                </a:solidFill>
              </a:rPr>
              <a:t>Drift, location, recall and latency monitoring with an explicit retraining policy, run weekly by Airflow</a:t>
            </a:r>
            <a:endParaRPr lang="en-US" sz="1400" dirty="0"/>
          </a:p>
        </p:txBody>
      </p:sp>
      <p:sp>
        <p:nvSpPr>
          <p:cNvPr id="16" name="Text 10"/>
          <p:cNvSpPr txBox="1"/>
          <p:nvPr/>
        </p:nvSpPr>
        <p:spPr>
          <a:xfrm>
            <a:off x="731520" y="5120640"/>
            <a:ext cx="10698480" cy="457200"/>
          </a:xfrm>
          <a:prstGeom prst="rect">
            <a:avLst/>
          </a:prstGeom>
          <a:noFill/>
          <a:ln/>
        </p:spPr>
        <p:txBody>
          <a:bodyPr wrap="square" lIns="0" tIns="0" rIns="0" bIns="0" rtlCol="0" anchor="t"/>
          <a:lstStyle/>
          <a:p>
            <a:pPr indent="0" marL="0">
              <a:buNone/>
            </a:pPr>
            <a:r>
              <a:rPr lang="en-US" sz="2000" b="1" dirty="0">
                <a:solidFill>
                  <a:schemeClr val="accent1"/>
                </a:solidFill>
              </a:rPr>
              <a:t>Thank you – questions?</a:t>
            </a:r>
            <a:endParaRPr lang="en-US" sz="2000" dirty="0"/>
          </a:p>
        </p:txBody>
      </p:sp>
    </p:spTree>
  </p:cSld>
  <p:clrMapOvr>
    <a:masterClrMapping/>
  </p:clrMapOvr>
</p:sld>
</file>

<file path=ppt/theme/theme1.xml><?xml version="1.0" encoding="utf-8"?>
<a:theme xmlns:a="http://schemas.openxmlformats.org/drawingml/2006/main" name="Road Safety">
  <a:themeElements>
    <a:clrScheme name="Road Safety">
      <a:dk1>
        <a:srgbClr val="1B1F24"/>
      </a:dk1>
      <a:lt1>
        <a:srgbClr val="FFFFFF"/>
      </a:lt1>
      <a:dk2>
        <a:srgbClr val="232A33"/>
      </a:dk2>
      <a:lt2>
        <a:srgbClr val="F1F3F5"/>
      </a:lt2>
      <a:accent1>
        <a:srgbClr val="F2A900"/>
      </a:accent1>
      <a:accent2>
        <a:srgbClr val="C8323F"/>
      </a:accent2>
      <a:accent3>
        <a:srgbClr val="3A6EA5"/>
      </a:accent3>
      <a:accent4>
        <a:srgbClr val="6C757D"/>
      </a:accent4>
      <a:accent5>
        <a:srgbClr val="2A9D8F"/>
      </a:accent5>
      <a:accent6>
        <a:srgbClr val="FCE7B2"/>
      </a:accent6>
      <a:hlink>
        <a:srgbClr val="3A6EA5"/>
      </a:hlink>
      <a:folHlink>
        <a:srgbClr val="6C757D"/>
      </a:folHlink>
    </a:clrScheme>
    <a:fontScheme name="Road Safet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Part 2 – Accident Severity MLOps Pipeline</dc:title>
  <dc:subject>PptxGenJS Presentation</dc:subject>
  <dc:creator>Project 4 – Data Engineering and MLOps</dc:creator>
  <cp:lastModifiedBy>Project 4 – Data Engineering and MLOps</cp:lastModifiedBy>
  <cp:revision>1</cp:revision>
  <dcterms:created xsi:type="dcterms:W3CDTF">2026-10-07T06:10:49Z</dcterms:created>
  <dcterms:modified xsi:type="dcterms:W3CDTF">2026-10-07T06:10:49Z</dcterms:modified>
</cp:coreProperties>
</file>